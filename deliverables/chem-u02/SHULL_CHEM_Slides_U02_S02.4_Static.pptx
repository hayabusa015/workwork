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title. PROVISIONAL/OPEN: verbatim DECISIONS title now in the panel. Scope boundary (Matt, 2026-10-04): S2.4 owns what an ion's configuration IS and valence-electron-based charge prediction at the end of the section (main group only). U3.7 and U3.4 own the energetics. PROVISIONAL: group 14 and transition metals are not predicted by the rule here. Not taught here: Lewis dot preview (PROVISIONAL, omitted; belongs to a later unit). Transition-metal valence counting (PROVISIONAL, brief slide 6) also omitted. Image slot empty. Prompt subject: a glass tube of neon gas glowing orange on a dark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Hook. Ask first, answer later. Do not say 'want' or 'need' of atoms; describe outcomes. Image slot empty. Prompt subject: a row of glowing noble gas discharge tubes against a dark background.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write the three terms. Noble gas configuration = outer s and p sublevels full (2 for He, 8 for the rest); say 'full' means s and p, not the whole shell. Image slot empty. Prompt subject: a worn chemistry notebook open to a hand-ruled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Cl: 10 core + 7 valence = 17. Valence = highest n only. Figure shows the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Main-group only. PROVISIONAL: transition-metal valence counting is deliberately left out (brief slide 6; Matt to decide whether d electrons count). Say only that their ions lose the outer s electrons first (slide 13). Lewis dot preview omitted: belongs to a later unit (S5.1),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example, do together. Answers on next slide. Image slot empty. Prompt subject: a block of red phosphorus beside a piece of calcium metal.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P: n = 3, 3s2 3p3 = 5. Ca: n = 4, 4s2 = 2. Both agree with group number. Image slot empty. Prompt subject: a pencil resting on a page of handwritten configurations.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means outer s and p. Argon's 3d is empty, so n = 3 is not completely full; this fixes the 'full shell = 8' misconception. Avoid personifying atoms.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Electrons = atomic number minus charge. Protons never change. Here we only describe what an ion is; the charge-prediction rule comes at the end of the section (slide 18). Anion charge is also written plain (1−) because the superscript minus is faint. Image slot empty. Prompt subject: a bowl of table salt crystals on dark slate.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MERGED slide (was two: Na+ orbitals and Cl- orbitals). Na loses its 3s1, leaving the neon configuration; Cl's added electron goes into the open 3p spot, not a new level, and matches argon. The slide shows the Na+ diagram above the Cl- diagram. The state line under each diagram gives the plain, large charge so the minus is legible. Do not yet say why these charges: the rule comes at the end of the section.</a:t>
            </a:r>
          </a:p>
          <a:p>
            <a:r>
              <a:t>STATIC FINAL STATE: print and handout copy, no animation. This slide shows the final state of the build (Na and Cl).</a:t>
            </a:r>
          </a:p>
          <a:p>
            <a:r>
              <a:t>Animated version: SHULL_CHEM_Slides_U02_S02.4.pptx has the click-by-click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MERGED slide (was two card slides: Mg2+/Al3+/Ca2+ and O2-/S2-/Br-). Mg2+ and Ca2+ now appear in the Ca walk-through and the worked example; S2- in the worked example. Br keeps its full 3d10. Charge lines are plain so anion minus signs are legible. Image slot empty. Prompt subject: a sealed ampoule of dark red-brown liquid bromine in a 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Isoelectronic = same electron count and configuration. Sizes differ; the reason is Unit 3, only pointed to here (one-line pointer, not taught).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PROVISIONAL (simplified): 'why 4s leaves first' is a student-language account (once 3d has electrons it sits lower than 4s). It is not a full energetics explanation; do not extend it. Matches S2.3 wording. Image slot empty. Prompt subject: a polished iron nail and a copper coin on dark slate.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 26, Fe2+ 24 [Ar]3d6, Fe3+ 23 [Ar]3d5. Present 3d5 as an observed electron count, not proof of a cause. This slide shows the finished Fe3+ diagram. The path to it: the 4s electrons leave first (Fe+ with 25 electrons, then Fe2+), then one 3d electron (Fe3+); only the end state is drawn here.</a:t>
            </a:r>
          </a:p>
          <a:p>
            <a:r>
              <a:t>STATIC FINAL STATE: print and handout copy, no animation. This slide shows the final state of the build (Fe).</a:t>
            </a:r>
          </a:p>
          <a:p>
            <a:r>
              <a:t>Animated version: SHULL_CHEM_Slides_U02_S02.4.pptx has the click-by-click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rule as iron. Cu is the taught exception: [Ar] 4s1 3d10. Image slot empty. Prompt subject: a galvanized zinc sheet beside a length of copper wire.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Zn2+ = Cu+ = [Ar] 3d10 (28 e). Cu2+ = [Ar] 3d9 (27 e). Not noble-gas configurations; these are stable anyway. Image slot empty. Prompt subject: a pencil resting on a page of handwritten calculations.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NEW. Closing synthesis, step 1: Ca walk-through in four moves: count (2 valence), move (lose 2; gaining 6 is more), result ([Ar], 18 electrons), charge (20 protons minus 18 electrons = 2+). Valence-electron reasoning only. Do not teach ionization energy; Unit 3 (U3.4, U3.7) explains the energy side. Scope boundary set by Matt 2026-10-04; DECISIONS.md not changed. Avoid 'wants' or 'needs' language for atoms. The picture slot shows the finished Ca2+ diagram (the two valence arrows removed).</a:t>
            </a:r>
          </a:p>
          <a:p>
            <a:r>
              <a:t>STATIC FINAL STATE: print and handout copy, no animation. This slide shows the final state of the build (Ca).</a:t>
            </a:r>
          </a:p>
          <a:p>
            <a:r>
              <a:t>Animated version: SHULL_CHEM_Slides_U02_S02.4.pptx has the click-by-click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NEW. Rule by group (period 3 examples; hand-built, every count asserted in the figure script). Main group: lose or gain the fewest electrons to reach 8 (2 in period 1). PROVISIONAL: group 14 (4 lost or 4 gained, no 'fewest') and the transition metals are not predicted by this rule here; transition-metal ions were covered on the iron and Zn/Cu slides. Pointer only: the energy side (why that charge is favoured) is Unit 3, U3.4 and U3.7; do not teach ionization energy. Charges are written plain and large (3−, 2−, 1−) because the superscript minus is faint.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worked example (replaces the earlier Mg2+/S2- configuration example, which this one subsumes). Do together; work area empty on purpose. Answers on next slide. Image slot empty. Prompt subject: four sample vials of magnesium, aluminum, sulfur, and bromine on a dark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Mg: 12 e to 10, Mg2+, [Ne]. Al: 13 to 10, Al3+, [Ne]. S: 16 to 18, S2-, [Ar]. Br: 35 to 36, Br-, [Kr] (3d10 already full). All numbers re-added in the figure script assertions. Anion charges are written plain (2−, 1−) on the slide for legibility. Same pattern, same rule: Mg2+ and S2- were the old example's ions. The picture slot shows the S2- diagram (two down arrows added); Mg, Al and Br stay in the text.</a:t>
            </a:r>
          </a:p>
          <a:p>
            <a:r>
              <a:t>STATIC FINAL STATE: print and handout copy, no animation. This slide shows the final state of the build (S).</a:t>
            </a:r>
          </a:p>
          <a:p>
            <a:r>
              <a:t>Animated version: SHULL_CHEM_Slides_U02_S02.4.pptx has the click-by-click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Answers. 1) Al 3, Se 6, Xe 8. 2) Ca2+: 20 to 18 electrons, 1s2 2s2 2p6 3s2 3p6 = [Ar], argon. 3) O: group 16, 6 valence, gain 2, O2- (charge 2−), 10 electrons, 1s2 2s2 2p6 = [Ne]. 4) Fe3+: [Ar] 3d5; the two 4s electrons leave first, then one 3d. (The 'which leave first' part is not printed on the tile.) 5) Cu2+ [Ar] 3d9 (27 e); Zn2+ [Ar] 3d10 (28 e). The slide tile 4 carries Fe3+, Cu2+, Zn2+ together, so items 4 and 5 share one tile. If time, oral extras using the rule: K 1 valence, lose 1, K+, [Ar]; Se 6 valence, gain 2, Se2-, [Kr]; Al 3 valence, lose 3, Al3+, [Ne]. Group 14 (Si, C) and transition metals: not predicted by the rule here (PROVISIONAL). Tile 3 was changed from 'write the O2- configuration' to a predict-then-write prompt so the new rule is checked. Image slot empty. Prompt subject: a periodic table wall chart photographed at a shallow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Boundary (Matt, 2026-10-04): S2.4 owns valence-electron-based charge prediction (main group). Why that charge is favoured and the energy it takes: U3.4 and U3.7. Group 14 and transition metals not predicted by the rule here (PROVISIONAL). DECISIONS.md not changed. Image slot empty. Prompt subject: a long laboratory bench receding into shadow.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2.4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Stability &amp;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valence electrons, explain why noble gases are stable, write ion configurations, and predict main-group ion charges.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7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Who Reacts, Who Doesn't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Helium, neon, and argon barely react with anything. Sodium and chlorine react easily.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different about the electrons in He, Ne, and Ar?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8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Words You Need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these before we go further. Everything after this slide uses them.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 in the outermost energy level.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 ELECTRON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 in an inner, filled energy level.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 GAS CONFIGURATION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Outer s and p sublevels full: 2 or 8 electrons.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are the electrons in the outermost energy level, the one with the highest 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core_valence_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 or Valence? Find the Highest n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 has 17 electrons. Only the ones in n = 3 are valence.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fill n = 1 and n = 2. That is 10 electrons.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is the highest level, n = 3. That is 7 electrons.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CHECK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 + 7 = 17, the atomic number of chlorine.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valence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From the Table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 main-group elements, the group number gives you the count.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 and 2: the group number.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13 to 18: the units digit.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EXCEPTION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 is in group 18 and has 2 valence electrons, not 8.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SKIPS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3 to 12, the transition metals. Their ions follow the rule on slide 13.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Valence Electrons of P and Ca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each configuration to find the number of valence electrons in phosphorus and calcium.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Highest n for each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 count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against the group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are the s and p electrons in the highest n only.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Phosphorus and Calcium,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the group number last. It should agree with your count.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the highest 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every electron in it.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n = 3, so 3s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+ 3 = 5 valence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n = 4, so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valence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 has 5 valence electrons (group 15). Ca has 2 (group 2).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noble_gas_confi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Noble Gases Barely React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 at the outer s and p sublevels of each one.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OCTET AND DUET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Ne, Ar, and Kr have 8 electrons in their outer s and p sublevels. Helium has 2.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FULL MEANS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 means s and p. Argon's 3d sublevel is empty, so n = 3 is not completely full.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WE USE IT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Later in this section we compare ions to these four configurations.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Makes an 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Atoms become ions by gaining or losing electrons. The nucleus does not change.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CATION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Loses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Positive charge.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 → Na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11 electrons become 10.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1+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ANION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Gains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Negative charge.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 → Cl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17 electrons become 18.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1−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= atomic number − charge. Protons never change.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 Loses One, Cl Gains One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leave from the highest n first. A gained electron fills the open 3p spot.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SODIUM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leaves: 11 → 10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charge 1+. Matches [Ne].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electron fills 3p: 17 → 18.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charge 1−. Matches [Ar].</a:t>
            </a:r>
            <a:endParaRPr lang="en-US" sz="1600" dirty="0"/>
          </a:p>
        </p:txBody>
      </p:sp>
      <p:sp>
        <p:nvSpPr>
          <p:cNvPr id="8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CHECK</a:t>
            </a:r>
            <a:endParaRPr lang="en-US" sz="1200" dirty="0"/>
          </a:p>
        </p:txBody>
      </p:sp>
      <p:sp>
        <p:nvSpPr>
          <p:cNvPr id="9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11 − 1 = 10 and 17 + 1 = 18.</a:t>
            </a:r>
            <a:endParaRPr lang="en-US" sz="1600" dirty="0"/>
          </a:p>
        </p:txBody>
      </p:sp>
      <p:sp>
        <p:nvSpPr>
          <p:cNvPr id="10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1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4" name="BUILD backdrop"/>
          <p:cNvSpPr/>
          <p:nvPr/>
        </p:nvSpPr>
        <p:spPr>
          <a:xfrm>
            <a:off x="914400" y="2651760"/>
            <a:ext cx="461772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BUILD boxes and labels"/>
          <p:cNvGrpSpPr/>
          <p:nvPr/>
        </p:nvGrpSpPr>
        <p:grpSpPr>
          <a:xfrm>
            <a:off x="932688" y="2798063"/>
            <a:ext cx="4617720" cy="749808"/>
            <a:chOff x="932688" y="2798063"/>
            <a:chExt cx="4617720" cy="749808"/>
          </a:xfrm>
        </p:grpSpPr>
        <p:sp>
          <p:nvSpPr>
            <p:cNvPr id="15" name="BUILD title"/>
            <p:cNvSpPr txBox="1"/>
            <p:nvPr/>
          </p:nvSpPr>
          <p:spPr>
            <a:xfrm>
              <a:off x="932688" y="2798063"/>
              <a:ext cx="868680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Na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+</a:t>
              </a:r>
            </a:p>
          </p:txBody>
        </p:sp>
        <p:sp>
          <p:nvSpPr>
            <p:cNvPr id="16" name="BUILD box 1s 1"/>
            <p:cNvSpPr/>
            <p:nvPr/>
          </p:nvSpPr>
          <p:spPr>
            <a:xfrm>
              <a:off x="1856231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 label 1s"/>
            <p:cNvSpPr txBox="1"/>
            <p:nvPr/>
          </p:nvSpPr>
          <p:spPr>
            <a:xfrm>
              <a:off x="1764791" y="3273551"/>
              <a:ext cx="6400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1s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</a:t>
              </a:r>
            </a:p>
          </p:txBody>
        </p:sp>
        <p:sp>
          <p:nvSpPr>
            <p:cNvPr id="18" name="BUILD box 2s 1"/>
            <p:cNvSpPr/>
            <p:nvPr/>
          </p:nvSpPr>
          <p:spPr>
            <a:xfrm>
              <a:off x="2569463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label 2s"/>
            <p:cNvSpPr txBox="1"/>
            <p:nvPr/>
          </p:nvSpPr>
          <p:spPr>
            <a:xfrm>
              <a:off x="2478023" y="3273551"/>
              <a:ext cx="6400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2s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</a:t>
              </a:r>
            </a:p>
          </p:txBody>
        </p:sp>
        <p:sp>
          <p:nvSpPr>
            <p:cNvPr id="20" name="BUILD box 2p 1"/>
            <p:cNvSpPr/>
            <p:nvPr/>
          </p:nvSpPr>
          <p:spPr>
            <a:xfrm>
              <a:off x="3282696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BUILD box 2p 2"/>
            <p:cNvSpPr/>
            <p:nvPr/>
          </p:nvSpPr>
          <p:spPr>
            <a:xfrm>
              <a:off x="3785615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BUILD box 2p 3"/>
            <p:cNvSpPr/>
            <p:nvPr/>
          </p:nvSpPr>
          <p:spPr>
            <a:xfrm>
              <a:off x="4288536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BUILD label 2p"/>
            <p:cNvSpPr txBox="1"/>
            <p:nvPr/>
          </p:nvSpPr>
          <p:spPr>
            <a:xfrm>
              <a:off x="3191256" y="3273551"/>
              <a:ext cx="16459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2p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6</a:t>
              </a:r>
            </a:p>
          </p:txBody>
        </p:sp>
        <p:sp>
          <p:nvSpPr>
            <p:cNvPr id="24" name="BUILD box 3s 1"/>
            <p:cNvSpPr/>
            <p:nvPr/>
          </p:nvSpPr>
          <p:spPr>
            <a:xfrm>
              <a:off x="5001768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BUILD label 3s"/>
            <p:cNvSpPr txBox="1"/>
            <p:nvPr/>
          </p:nvSpPr>
          <p:spPr>
            <a:xfrm>
              <a:off x="4910328" y="3273551"/>
              <a:ext cx="6400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0</a:t>
              </a:r>
            </a:p>
          </p:txBody>
        </p:sp>
      </p:grpSp>
      <p:sp>
        <p:nvSpPr>
          <p:cNvPr id="26" name="BUILD arrow 1s box1 up"/>
          <p:cNvSpPr/>
          <p:nvPr/>
        </p:nvSpPr>
        <p:spPr>
          <a:xfrm>
            <a:off x="1936241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1s box1 down"/>
          <p:cNvSpPr/>
          <p:nvPr/>
        </p:nvSpPr>
        <p:spPr>
          <a:xfrm>
            <a:off x="2119121" y="28849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arrow 2s box1 up"/>
          <p:cNvSpPr/>
          <p:nvPr/>
        </p:nvSpPr>
        <p:spPr>
          <a:xfrm>
            <a:off x="2649473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UILD arrow 2s box1 down"/>
          <p:cNvSpPr/>
          <p:nvPr/>
        </p:nvSpPr>
        <p:spPr>
          <a:xfrm>
            <a:off x="2832353" y="28849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UILD arrow 2p box1 up"/>
          <p:cNvSpPr/>
          <p:nvPr/>
        </p:nvSpPr>
        <p:spPr>
          <a:xfrm>
            <a:off x="3362706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BUILD arrow 2p box2 up"/>
          <p:cNvSpPr/>
          <p:nvPr/>
        </p:nvSpPr>
        <p:spPr>
          <a:xfrm>
            <a:off x="3865626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BUILD arrow 2p box3 up"/>
          <p:cNvSpPr/>
          <p:nvPr/>
        </p:nvSpPr>
        <p:spPr>
          <a:xfrm>
            <a:off x="4368546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BUILD arrow 2p box1 down"/>
          <p:cNvSpPr/>
          <p:nvPr/>
        </p:nvSpPr>
        <p:spPr>
          <a:xfrm>
            <a:off x="3545586" y="28849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BUILD arrow 2p box2 down"/>
          <p:cNvSpPr/>
          <p:nvPr/>
        </p:nvSpPr>
        <p:spPr>
          <a:xfrm>
            <a:off x="4048505" y="28849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BUILD arrow 2p box3 down"/>
          <p:cNvSpPr/>
          <p:nvPr/>
        </p:nvSpPr>
        <p:spPr>
          <a:xfrm>
            <a:off x="4551425" y="28849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BUILD state"/>
          <p:cNvSpPr txBox="1"/>
          <p:nvPr/>
        </p:nvSpPr>
        <p:spPr>
          <a:xfrm>
            <a:off x="932688" y="3584447"/>
            <a:ext cx="458114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Na</a:t>
            </a:r>
            <a:r>
              <a:rPr sz="1800" b="1" baseline="30000">
                <a:solidFill>
                  <a:srgbClr val="14161B"/>
                </a:solidFill>
                <a:latin typeface="Trade Gothic Next"/>
              </a:rPr>
              <a:t>+</a:t>
            </a:r>
            <a:r>
              <a:rPr sz="1800" b="1">
                <a:solidFill>
                  <a:srgbClr val="14161B"/>
                </a:solidFill>
                <a:latin typeface="Trade Gothic Next"/>
              </a:rPr>
              <a:t>: charge 1+, 10 electrons</a:t>
            </a:r>
          </a:p>
        </p:txBody>
      </p:sp>
      <p:sp>
        <p:nvSpPr>
          <p:cNvPr id="38" name="BUILD backdrop"/>
          <p:cNvSpPr/>
          <p:nvPr/>
        </p:nvSpPr>
        <p:spPr>
          <a:xfrm>
            <a:off x="914400" y="4023360"/>
            <a:ext cx="461772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9" name="BUILD boxes and labels"/>
          <p:cNvGrpSpPr/>
          <p:nvPr/>
        </p:nvGrpSpPr>
        <p:grpSpPr>
          <a:xfrm>
            <a:off x="932688" y="4114800"/>
            <a:ext cx="3904488" cy="804672"/>
            <a:chOff x="932688" y="4114800"/>
            <a:chExt cx="3904488" cy="804672"/>
          </a:xfrm>
        </p:grpSpPr>
        <p:sp>
          <p:nvSpPr>
            <p:cNvPr id="40" name="BUILD title"/>
            <p:cNvSpPr txBox="1"/>
            <p:nvPr/>
          </p:nvSpPr>
          <p:spPr>
            <a:xfrm>
              <a:off x="932688" y="4114800"/>
              <a:ext cx="868680" cy="56692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Cl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−</a:t>
              </a:r>
            </a:p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[Ne]</a:t>
              </a:r>
            </a:p>
          </p:txBody>
        </p:sp>
        <p:sp>
          <p:nvSpPr>
            <p:cNvPr id="41" name="BUILD box 3s 1"/>
            <p:cNvSpPr/>
            <p:nvPr/>
          </p:nvSpPr>
          <p:spPr>
            <a:xfrm>
              <a:off x="2569463" y="4169664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BUILD label 3s"/>
            <p:cNvSpPr txBox="1"/>
            <p:nvPr/>
          </p:nvSpPr>
          <p:spPr>
            <a:xfrm>
              <a:off x="2478023" y="4645152"/>
              <a:ext cx="6400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</a:t>
              </a:r>
            </a:p>
          </p:txBody>
        </p:sp>
        <p:sp>
          <p:nvSpPr>
            <p:cNvPr id="43" name="BUILD box 3p 1"/>
            <p:cNvSpPr/>
            <p:nvPr/>
          </p:nvSpPr>
          <p:spPr>
            <a:xfrm>
              <a:off x="3282696" y="4169664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BUILD box 3p 2"/>
            <p:cNvSpPr/>
            <p:nvPr/>
          </p:nvSpPr>
          <p:spPr>
            <a:xfrm>
              <a:off x="3785615" y="4169664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BUILD box 3p 3"/>
            <p:cNvSpPr/>
            <p:nvPr/>
          </p:nvSpPr>
          <p:spPr>
            <a:xfrm>
              <a:off x="4288536" y="4169664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BUILD label 3p"/>
            <p:cNvSpPr txBox="1"/>
            <p:nvPr/>
          </p:nvSpPr>
          <p:spPr>
            <a:xfrm>
              <a:off x="3191256" y="4645152"/>
              <a:ext cx="16459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3p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6</a:t>
              </a:r>
            </a:p>
          </p:txBody>
        </p:sp>
      </p:grpSp>
      <p:sp>
        <p:nvSpPr>
          <p:cNvPr id="47" name="BUILD arrow 3s box1 up"/>
          <p:cNvSpPr/>
          <p:nvPr/>
        </p:nvSpPr>
        <p:spPr>
          <a:xfrm>
            <a:off x="2649473" y="42565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BUILD arrow 3s box1 down"/>
          <p:cNvSpPr/>
          <p:nvPr/>
        </p:nvSpPr>
        <p:spPr>
          <a:xfrm>
            <a:off x="2832353" y="42565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BUILD arrow 3p box1 up"/>
          <p:cNvSpPr/>
          <p:nvPr/>
        </p:nvSpPr>
        <p:spPr>
          <a:xfrm>
            <a:off x="3362706" y="42565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BUILD arrow 3p box2 up"/>
          <p:cNvSpPr/>
          <p:nvPr/>
        </p:nvSpPr>
        <p:spPr>
          <a:xfrm>
            <a:off x="3865626" y="42565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BUILD arrow 3p box3 up"/>
          <p:cNvSpPr/>
          <p:nvPr/>
        </p:nvSpPr>
        <p:spPr>
          <a:xfrm>
            <a:off x="4368546" y="42565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BUILD arrow 3p box1 down"/>
          <p:cNvSpPr/>
          <p:nvPr/>
        </p:nvSpPr>
        <p:spPr>
          <a:xfrm>
            <a:off x="3545586" y="42565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BUILD arrow 3p box2 down"/>
          <p:cNvSpPr/>
          <p:nvPr/>
        </p:nvSpPr>
        <p:spPr>
          <a:xfrm>
            <a:off x="4048505" y="42565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BUILD arrow 3p box3 down"/>
          <p:cNvSpPr/>
          <p:nvPr/>
        </p:nvSpPr>
        <p:spPr>
          <a:xfrm>
            <a:off x="4551425" y="42565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BUILD state"/>
          <p:cNvSpPr txBox="1"/>
          <p:nvPr/>
        </p:nvSpPr>
        <p:spPr>
          <a:xfrm>
            <a:off x="932688" y="4956047"/>
            <a:ext cx="458114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Cl ion: charge 1−, 18 electrons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More Ions, Same Move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Remove from the highest n, or fill the open spots in s and p.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ALUMINUM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[Ne]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13 → 10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3+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[Ne], 10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2−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BROMINE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4p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4p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[Kr], 36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1−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cation loses from the highest n. An anion fills open spots in s and p.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isoelectronic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Electrons, Different Atoms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Isoelectronic means the same number of electrons and the same configuration.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ALL TEN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of these has 10 electrons: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DIFFERENT NUCLEI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proton counts differ, so these are different particles. Their sizes differ too. Unit 3 explains why.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IT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= protons − charge. Check any column.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Transition Metal Ions: 4s Leaves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This is the rule that surprises people. Watch the order.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RULE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Remove electrons from the outermost s first: 4s.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Then take from 3d if more must go.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REASON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Once 3d has electrons, it sits lower in energy than 4s.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 4s electrons leave first, even though 4s filled first.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Transition-metal ions lose their ns electrons before their (n−1)d electrons.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Iron: Fe, Fe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Fe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Both 4s electrons go first. The third comes out of 3d.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26 electrons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pPr indent="0" marL="0">
              <a:buNone/>
            </a:pPr>
            <a:r>
              <a:rPr lang="en-US" sz="1200" b="1" baseline="30000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24 electrons. Both 4s electrons left.</a:t>
            </a:r>
            <a:endParaRPr lang="en-US" sz="1600" dirty="0"/>
          </a:p>
        </p:txBody>
      </p:sp>
      <p:sp>
        <p:nvSpPr>
          <p:cNvPr id="8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pPr indent="0" marL="0">
              <a:buNone/>
            </a:pPr>
            <a:r>
              <a:rPr lang="en-US" sz="1200" b="1" baseline="30000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endParaRPr lang="en-US" sz="1200" dirty="0"/>
          </a:p>
        </p:txBody>
      </p:sp>
      <p:sp>
        <p:nvSpPr>
          <p:cNvPr id="9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23 electrons. One 3d electron leaves too.</a:t>
            </a:r>
            <a:endParaRPr lang="en-US" sz="1600" dirty="0"/>
          </a:p>
        </p:txBody>
      </p:sp>
      <p:sp>
        <p:nvSpPr>
          <p:cNvPr id="10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1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4" name="BUILD backdrop"/>
          <p:cNvSpPr/>
          <p:nvPr/>
        </p:nvSpPr>
        <p:spPr>
          <a:xfrm>
            <a:off x="914400" y="2651760"/>
            <a:ext cx="46177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BUILD boxes and labels"/>
          <p:cNvGrpSpPr/>
          <p:nvPr/>
        </p:nvGrpSpPr>
        <p:grpSpPr>
          <a:xfrm>
            <a:off x="932688" y="2925318"/>
            <a:ext cx="4581142" cy="1281684"/>
            <a:chOff x="932688" y="2925318"/>
            <a:chExt cx="4581142" cy="1281684"/>
          </a:xfrm>
        </p:grpSpPr>
        <p:sp>
          <p:nvSpPr>
            <p:cNvPr id="15" name="BUILD title"/>
            <p:cNvSpPr txBox="1"/>
            <p:nvPr/>
          </p:nvSpPr>
          <p:spPr>
            <a:xfrm>
              <a:off x="1024128" y="2925318"/>
              <a:ext cx="4398264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Fe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3+</a:t>
              </a:r>
              <a:r>
                <a:rPr sz="1800" b="1">
                  <a:solidFill>
                    <a:srgbClr val="14161B"/>
                  </a:solidFill>
                  <a:latin typeface="Trade Gothic Next"/>
                </a:rPr>
                <a:t>  Z = 26  [Ar] CORE</a:t>
              </a:r>
            </a:p>
          </p:txBody>
        </p:sp>
        <p:sp>
          <p:nvSpPr>
            <p:cNvPr id="16" name="BUILD box 4s 1"/>
            <p:cNvSpPr/>
            <p:nvPr/>
          </p:nvSpPr>
          <p:spPr>
            <a:xfrm>
              <a:off x="1024128" y="3236214"/>
              <a:ext cx="659891" cy="659891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 label 4s"/>
            <p:cNvSpPr txBox="1"/>
            <p:nvPr/>
          </p:nvSpPr>
          <p:spPr>
            <a:xfrm>
              <a:off x="932688" y="3932682"/>
              <a:ext cx="842772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4s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0</a:t>
              </a:r>
            </a:p>
          </p:txBody>
        </p:sp>
        <p:sp>
          <p:nvSpPr>
            <p:cNvPr id="18" name="BUILD box 3d 1"/>
            <p:cNvSpPr/>
            <p:nvPr/>
          </p:nvSpPr>
          <p:spPr>
            <a:xfrm>
              <a:off x="1940052" y="3236214"/>
              <a:ext cx="659891" cy="659891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box 3d 2"/>
            <p:cNvSpPr/>
            <p:nvPr/>
          </p:nvSpPr>
          <p:spPr>
            <a:xfrm>
              <a:off x="2645664" y="3236214"/>
              <a:ext cx="659891" cy="659891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BUILD box 3d 3"/>
            <p:cNvSpPr/>
            <p:nvPr/>
          </p:nvSpPr>
          <p:spPr>
            <a:xfrm>
              <a:off x="3351276" y="3236214"/>
              <a:ext cx="659891" cy="659891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BUILD box 3d 4"/>
            <p:cNvSpPr/>
            <p:nvPr/>
          </p:nvSpPr>
          <p:spPr>
            <a:xfrm>
              <a:off x="4056888" y="3236214"/>
              <a:ext cx="659891" cy="659891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BUILD box 3d 5"/>
            <p:cNvSpPr/>
            <p:nvPr/>
          </p:nvSpPr>
          <p:spPr>
            <a:xfrm>
              <a:off x="4762500" y="3236214"/>
              <a:ext cx="659891" cy="659891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BUILD label 3d"/>
            <p:cNvSpPr txBox="1"/>
            <p:nvPr/>
          </p:nvSpPr>
          <p:spPr>
            <a:xfrm>
              <a:off x="1848611" y="3932682"/>
              <a:ext cx="3665219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3d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5</a:t>
              </a:r>
            </a:p>
          </p:txBody>
        </p:sp>
      </p:grpSp>
      <p:sp>
        <p:nvSpPr>
          <p:cNvPr id="26" name="BUILD arrow 3d box1 up"/>
          <p:cNvSpPr/>
          <p:nvPr/>
        </p:nvSpPr>
        <p:spPr>
          <a:xfrm>
            <a:off x="2055533" y="3361593"/>
            <a:ext cx="164972" cy="409133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3d box2 up"/>
          <p:cNvSpPr/>
          <p:nvPr/>
        </p:nvSpPr>
        <p:spPr>
          <a:xfrm>
            <a:off x="2761145" y="3361593"/>
            <a:ext cx="164972" cy="409133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arrow 3d box3 up"/>
          <p:cNvSpPr/>
          <p:nvPr/>
        </p:nvSpPr>
        <p:spPr>
          <a:xfrm>
            <a:off x="3466757" y="3361593"/>
            <a:ext cx="164972" cy="409133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UILD arrow 3d box4 up"/>
          <p:cNvSpPr/>
          <p:nvPr/>
        </p:nvSpPr>
        <p:spPr>
          <a:xfrm>
            <a:off x="4172369" y="3361593"/>
            <a:ext cx="164972" cy="409133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UILD arrow 3d box5 up"/>
          <p:cNvSpPr/>
          <p:nvPr/>
        </p:nvSpPr>
        <p:spPr>
          <a:xfrm>
            <a:off x="4877981" y="3361593"/>
            <a:ext cx="164972" cy="409133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BUILD caption"/>
          <p:cNvSpPr txBox="1"/>
          <p:nvPr/>
        </p:nvSpPr>
        <p:spPr>
          <a:xfrm>
            <a:off x="1024128" y="4243578"/>
            <a:ext cx="43982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Highest n is 4: 4s leaves first</a:t>
            </a:r>
          </a:p>
        </p:txBody>
      </p:sp>
      <p:sp>
        <p:nvSpPr>
          <p:cNvPr id="35" name="BUILD state"/>
          <p:cNvSpPr txBox="1"/>
          <p:nvPr/>
        </p:nvSpPr>
        <p:spPr>
          <a:xfrm>
            <a:off x="1024128" y="4536186"/>
            <a:ext cx="439826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Fe: charge 0, 26 electrons</a:t>
            </a:r>
          </a:p>
        </p:txBody>
      </p:sp>
      <p:sp>
        <p:nvSpPr>
          <p:cNvPr id="36" name="BUILD state"/>
          <p:cNvSpPr txBox="1"/>
          <p:nvPr/>
        </p:nvSpPr>
        <p:spPr>
          <a:xfrm>
            <a:off x="1024128" y="4828794"/>
            <a:ext cx="439826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Fe</a:t>
            </a:r>
            <a:r>
              <a:rPr sz="1800" b="1" baseline="30000">
                <a:solidFill>
                  <a:srgbClr val="14161B"/>
                </a:solidFill>
                <a:latin typeface="Trade Gothic Next"/>
              </a:rPr>
              <a:t>3+</a:t>
            </a:r>
            <a:r>
              <a:rPr sz="1800" b="1">
                <a:solidFill>
                  <a:srgbClr val="14161B"/>
                </a:solidFill>
                <a:latin typeface="Trade Gothic Next"/>
              </a:rPr>
              <a:t>: charge 3+, 23 electrons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Zn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rule as iron.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[Ar] shorthand for Zn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to remove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Which sublevel they leave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ion's shorthand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the 4s electrons first. Only then take from 3d.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None of these ends at a noble gas configuration.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4s first, then 3d.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 30 → 28. Cu 29 → 28 or 27.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4s, then one 3d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→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9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and Cu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are both [Ar]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Cu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is [Ar]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9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Calcium Forms Ca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valence electrons first. The count tells you the move.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ATOM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valence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2, not gain 6: the fewest wins.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ION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both 4s electrons: [Ar].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18 electrons, 20 protons.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20 − 18 = 2+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 has 2 valence electrons. Losing both leaves [Ar], so Ca forms Ca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3" name="BUILD backdrop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1" name="BUILD boxes and labels"/>
          <p:cNvGrpSpPr/>
          <p:nvPr/>
        </p:nvGrpSpPr>
        <p:grpSpPr>
          <a:xfrm>
            <a:off x="795528" y="2487168"/>
            <a:ext cx="4443983" cy="1234439"/>
            <a:chOff x="795528" y="2487168"/>
            <a:chExt cx="4443983" cy="1234439"/>
          </a:xfrm>
        </p:grpSpPr>
        <p:sp>
          <p:nvSpPr>
            <p:cNvPr id="14" name="BUILD title"/>
            <p:cNvSpPr txBox="1"/>
            <p:nvPr/>
          </p:nvSpPr>
          <p:spPr>
            <a:xfrm>
              <a:off x="795528" y="2487168"/>
              <a:ext cx="4443983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Ca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2+</a:t>
              </a:r>
              <a:r>
                <a:rPr sz="1800" b="1">
                  <a:solidFill>
                    <a:srgbClr val="14161B"/>
                  </a:solidFill>
                  <a:latin typeface="Trade Gothic Next"/>
                </a:rPr>
                <a:t>  Z = 20  [Ne] CORE</a:t>
              </a:r>
            </a:p>
          </p:txBody>
        </p:sp>
        <p:sp>
          <p:nvSpPr>
            <p:cNvPr id="15" name="BUILD box 3s 1"/>
            <p:cNvSpPr/>
            <p:nvPr/>
          </p:nvSpPr>
          <p:spPr>
            <a:xfrm>
              <a:off x="1184147" y="2798063"/>
              <a:ext cx="612648" cy="6126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BUILD label 3s"/>
            <p:cNvSpPr txBox="1"/>
            <p:nvPr/>
          </p:nvSpPr>
          <p:spPr>
            <a:xfrm>
              <a:off x="1092707" y="3447287"/>
              <a:ext cx="795528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</a:t>
              </a:r>
            </a:p>
          </p:txBody>
        </p:sp>
        <p:sp>
          <p:nvSpPr>
            <p:cNvPr id="17" name="BUILD box 3p 1"/>
            <p:cNvSpPr/>
            <p:nvPr/>
          </p:nvSpPr>
          <p:spPr>
            <a:xfrm>
              <a:off x="2052827" y="2798063"/>
              <a:ext cx="612648" cy="6126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BUILD box 3p 2"/>
            <p:cNvSpPr/>
            <p:nvPr/>
          </p:nvSpPr>
          <p:spPr>
            <a:xfrm>
              <a:off x="2711196" y="2798063"/>
              <a:ext cx="612648" cy="6126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box 3p 3"/>
            <p:cNvSpPr/>
            <p:nvPr/>
          </p:nvSpPr>
          <p:spPr>
            <a:xfrm>
              <a:off x="3369564" y="2798063"/>
              <a:ext cx="612648" cy="6126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BUILD label 3p"/>
            <p:cNvSpPr txBox="1"/>
            <p:nvPr/>
          </p:nvSpPr>
          <p:spPr>
            <a:xfrm>
              <a:off x="1961387" y="3447287"/>
              <a:ext cx="2112264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3p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6</a:t>
              </a:r>
            </a:p>
          </p:txBody>
        </p:sp>
        <p:sp>
          <p:nvSpPr>
            <p:cNvPr id="21" name="BUILD box 4s 1"/>
            <p:cNvSpPr/>
            <p:nvPr/>
          </p:nvSpPr>
          <p:spPr>
            <a:xfrm>
              <a:off x="4238244" y="2798063"/>
              <a:ext cx="612648" cy="6126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BUILD label 4s"/>
            <p:cNvSpPr txBox="1"/>
            <p:nvPr/>
          </p:nvSpPr>
          <p:spPr>
            <a:xfrm>
              <a:off x="4146804" y="3447287"/>
              <a:ext cx="795528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4s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0</a:t>
              </a:r>
            </a:p>
          </p:txBody>
        </p:sp>
      </p:grpSp>
      <p:sp>
        <p:nvSpPr>
          <p:cNvPr id="23" name="BUILD arrow 3s box1 up"/>
          <p:cNvSpPr/>
          <p:nvPr/>
        </p:nvSpPr>
        <p:spPr>
          <a:xfrm>
            <a:off x="1291361" y="2914467"/>
            <a:ext cx="153162" cy="379841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UILD arrow 3s box1 down"/>
          <p:cNvSpPr/>
          <p:nvPr/>
        </p:nvSpPr>
        <p:spPr>
          <a:xfrm>
            <a:off x="1536420" y="2914467"/>
            <a:ext cx="153162" cy="379841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UILD arrow 3p box1 up"/>
          <p:cNvSpPr/>
          <p:nvPr/>
        </p:nvSpPr>
        <p:spPr>
          <a:xfrm>
            <a:off x="2160041" y="2914467"/>
            <a:ext cx="153162" cy="379841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UILD arrow 3p box2 up"/>
          <p:cNvSpPr/>
          <p:nvPr/>
        </p:nvSpPr>
        <p:spPr>
          <a:xfrm>
            <a:off x="2818409" y="2914467"/>
            <a:ext cx="153162" cy="379841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3p box3 up"/>
          <p:cNvSpPr/>
          <p:nvPr/>
        </p:nvSpPr>
        <p:spPr>
          <a:xfrm>
            <a:off x="3476777" y="2914467"/>
            <a:ext cx="153162" cy="379841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arrow 3p box1 down"/>
          <p:cNvSpPr/>
          <p:nvPr/>
        </p:nvSpPr>
        <p:spPr>
          <a:xfrm>
            <a:off x="2405100" y="2914467"/>
            <a:ext cx="153162" cy="379841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UILD arrow 3p box2 down"/>
          <p:cNvSpPr/>
          <p:nvPr/>
        </p:nvSpPr>
        <p:spPr>
          <a:xfrm>
            <a:off x="3063468" y="2914467"/>
            <a:ext cx="153162" cy="379841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UILD arrow 3p box3 down"/>
          <p:cNvSpPr/>
          <p:nvPr/>
        </p:nvSpPr>
        <p:spPr>
          <a:xfrm>
            <a:off x="3721836" y="2914467"/>
            <a:ext cx="153162" cy="379841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BUILD caption"/>
          <p:cNvSpPr txBox="1"/>
          <p:nvPr/>
        </p:nvSpPr>
        <p:spPr>
          <a:xfrm>
            <a:off x="795528" y="3758183"/>
            <a:ext cx="4443983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Valence electrons leave first: this is the outermost level</a:t>
            </a:r>
          </a:p>
        </p:txBody>
      </p:sp>
      <p:sp>
        <p:nvSpPr>
          <p:cNvPr id="36" name="BUILD state"/>
          <p:cNvSpPr txBox="1"/>
          <p:nvPr/>
        </p:nvSpPr>
        <p:spPr>
          <a:xfrm>
            <a:off x="795528" y="4306824"/>
            <a:ext cx="444398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Ca: charge 0, 20 electrons</a:t>
            </a:r>
          </a:p>
        </p:txBody>
      </p:sp>
      <p:sp>
        <p:nvSpPr>
          <p:cNvPr id="37" name="BUILD state"/>
          <p:cNvSpPr txBox="1"/>
          <p:nvPr/>
        </p:nvSpPr>
        <p:spPr>
          <a:xfrm>
            <a:off x="795528" y="4599432"/>
            <a:ext cx="444398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Ca</a:t>
            </a:r>
            <a:r>
              <a:rPr sz="1800" b="1" baseline="30000">
                <a:solidFill>
                  <a:srgbClr val="14161B"/>
                </a:solidFill>
                <a:latin typeface="Trade Gothic Next"/>
              </a:rPr>
              <a:t>2+</a:t>
            </a:r>
            <a:r>
              <a:rPr sz="1800" b="1">
                <a:solidFill>
                  <a:srgbClr val="14161B"/>
                </a:solidFill>
                <a:latin typeface="Trade Gothic Next"/>
              </a:rPr>
              <a:t> = [Ar]: charge 2+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charge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Predict the Charge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or gain the fewest electrons to reach 8. Unit 3 will explain the energy side.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1, 2, 13 lose all their valence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Charges 1+, 2+, 3+.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GAIN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15, 16, 17 gain 3, 2, 1 to reach 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Charges 3−, 2−, 1−.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PREDICTED HERE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14 and the transition metals. Group 18 is already full.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Predict the Ions of Mg, Al, S, Br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valence electrons to predict each ion. Give the move, the result, and the charge.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group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group 13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group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group 17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or gain how many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 gas and charge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or gain the fewest electrons to reach 8 valence electrons.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Mg, Al, S, and Br Ions,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Count, move, result, charge. Check the electron count at the end.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line reads: valence,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move, noble gas, charge.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2, lose 2, [Ne], 2+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3, lose 3, [Ne], 3+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6, gain 2, [Ar], 2−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7, gain 1, [Kr], 1−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Al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S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Br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Each move ends at a noble gas configuration.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BUILD backdrop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BUILD boxes and labels"/>
          <p:cNvGrpSpPr/>
          <p:nvPr/>
        </p:nvGrpSpPr>
        <p:grpSpPr>
          <a:xfrm>
            <a:off x="891540" y="2651759"/>
            <a:ext cx="3749040" cy="1426464"/>
            <a:chOff x="891540" y="2651759"/>
            <a:chExt cx="3749040" cy="1426464"/>
          </a:xfrm>
        </p:grpSpPr>
        <p:sp>
          <p:nvSpPr>
            <p:cNvPr id="13" name="BUILD title"/>
            <p:cNvSpPr txBox="1"/>
            <p:nvPr/>
          </p:nvSpPr>
          <p:spPr>
            <a:xfrm>
              <a:off x="941832" y="2651759"/>
              <a:ext cx="3648456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SULFUR ION  Z = 16  [Ne] CORE</a:t>
              </a:r>
            </a:p>
          </p:txBody>
        </p:sp>
        <p:sp>
          <p:nvSpPr>
            <p:cNvPr id="14" name="BUILD box 3s 1"/>
            <p:cNvSpPr/>
            <p:nvPr/>
          </p:nvSpPr>
          <p:spPr>
            <a:xfrm>
              <a:off x="982980" y="2962655"/>
              <a:ext cx="804672" cy="80467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BUILD label 3s"/>
            <p:cNvSpPr txBox="1"/>
            <p:nvPr/>
          </p:nvSpPr>
          <p:spPr>
            <a:xfrm>
              <a:off x="891540" y="3803903"/>
              <a:ext cx="987552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3s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2</a:t>
              </a:r>
            </a:p>
          </p:txBody>
        </p:sp>
        <p:sp>
          <p:nvSpPr>
            <p:cNvPr id="16" name="BUILD box 3p 1"/>
            <p:cNvSpPr/>
            <p:nvPr/>
          </p:nvSpPr>
          <p:spPr>
            <a:xfrm>
              <a:off x="2043684" y="2962655"/>
              <a:ext cx="804672" cy="80467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 box 3p 2"/>
            <p:cNvSpPr/>
            <p:nvPr/>
          </p:nvSpPr>
          <p:spPr>
            <a:xfrm>
              <a:off x="2894076" y="2962655"/>
              <a:ext cx="804672" cy="80467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BUILD box 3p 3"/>
            <p:cNvSpPr/>
            <p:nvPr/>
          </p:nvSpPr>
          <p:spPr>
            <a:xfrm>
              <a:off x="3744468" y="2962655"/>
              <a:ext cx="804672" cy="80467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label 3p"/>
            <p:cNvSpPr txBox="1"/>
            <p:nvPr/>
          </p:nvSpPr>
          <p:spPr>
            <a:xfrm>
              <a:off x="1952244" y="3803903"/>
              <a:ext cx="2688336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3p</a:t>
              </a:r>
              <a:r>
                <a:rPr sz="1800" b="1" baseline="30000">
                  <a:solidFill>
                    <a:srgbClr val="14161B"/>
                  </a:solidFill>
                  <a:latin typeface="Trade Gothic Next"/>
                </a:rPr>
                <a:t>6</a:t>
              </a:r>
            </a:p>
          </p:txBody>
        </p:sp>
      </p:grpSp>
      <p:sp>
        <p:nvSpPr>
          <p:cNvPr id="20" name="BUILD arrow 3s box1 up"/>
          <p:cNvSpPr/>
          <p:nvPr/>
        </p:nvSpPr>
        <p:spPr>
          <a:xfrm>
            <a:off x="1123797" y="3115543"/>
            <a:ext cx="201168" cy="49889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UILD arrow 3s box1 down"/>
          <p:cNvSpPr/>
          <p:nvPr/>
        </p:nvSpPr>
        <p:spPr>
          <a:xfrm>
            <a:off x="1445666" y="3115543"/>
            <a:ext cx="201168" cy="49889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UILD arrow 3p box1 up"/>
          <p:cNvSpPr/>
          <p:nvPr/>
        </p:nvSpPr>
        <p:spPr>
          <a:xfrm>
            <a:off x="2184501" y="3115543"/>
            <a:ext cx="201168" cy="49889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UILD arrow 3p box2 up"/>
          <p:cNvSpPr/>
          <p:nvPr/>
        </p:nvSpPr>
        <p:spPr>
          <a:xfrm>
            <a:off x="3034893" y="3115543"/>
            <a:ext cx="201168" cy="49889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UILD arrow 3p box3 up"/>
          <p:cNvSpPr/>
          <p:nvPr/>
        </p:nvSpPr>
        <p:spPr>
          <a:xfrm>
            <a:off x="3885285" y="3115543"/>
            <a:ext cx="201168" cy="49889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UILD arrow 3p box1 down"/>
          <p:cNvSpPr/>
          <p:nvPr/>
        </p:nvSpPr>
        <p:spPr>
          <a:xfrm>
            <a:off x="2506370" y="3115543"/>
            <a:ext cx="201168" cy="49889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UILD arrow 3p box2 down"/>
          <p:cNvSpPr/>
          <p:nvPr/>
        </p:nvSpPr>
        <p:spPr>
          <a:xfrm>
            <a:off x="3356762" y="3115543"/>
            <a:ext cx="201168" cy="49889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3p box3 down"/>
          <p:cNvSpPr/>
          <p:nvPr/>
        </p:nvSpPr>
        <p:spPr>
          <a:xfrm>
            <a:off x="4207154" y="3115543"/>
            <a:ext cx="201168" cy="49889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caption"/>
          <p:cNvSpPr txBox="1"/>
          <p:nvPr/>
        </p:nvSpPr>
        <p:spPr>
          <a:xfrm>
            <a:off x="941832" y="4114799"/>
            <a:ext cx="3648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6 valence + 2 gained = 8</a:t>
            </a:r>
          </a:p>
        </p:txBody>
      </p:sp>
      <p:sp>
        <p:nvSpPr>
          <p:cNvPr id="29" name="BUILD state"/>
          <p:cNvSpPr txBox="1"/>
          <p:nvPr/>
        </p:nvSpPr>
        <p:spPr>
          <a:xfrm>
            <a:off x="941832" y="4407407"/>
            <a:ext cx="36484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S ion: charge 2−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Yourself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these in your notes. We compare in a minute.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in Al, Se, and Xe?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</a:t>
            </a:r>
            <a:pPr indent="0" marL="0">
              <a:buNone/>
            </a:pPr>
            <a:r>
              <a:rPr lang="en-US" sz="12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it. Name the matching noble gas.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Predict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Predict O's ion. Write its full configuration.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ions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shorthand for Fe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Zn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5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3 Picks Up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From Here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 can predict the charge of a main-group ion from its valence electrons. Unit 3 explains the energy side.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7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2026-10-04T20:08:16Z</dcterms:created>
  <dcterms:modified xsi:type="dcterms:W3CDTF">2026-10-04T20:08:16Z</dcterms:modified>
</cp:coreProperties>
</file>