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title. PROVISIONAL/OPEN: verbatim DECISIONS title now in the panel. Scope boundary (Matt, 2026-10-04): S2.4 owns what an ion's configuration IS and valence-electron-based charge prediction at the end of the section (main group only). U3.7 and U3.4 own the energetics. PROVISIONAL: group 14 and transition metals are not predicted by the rule here. Not taught here: Lewis dot preview (PROVISIONAL, omitted; belongs to a later unit). Transition-metal valence counting (PROVISIONAL, brief slide 6) also omitted. Image slot empty. Prompt subject: a glass tube of neon gas glowing orange on a dark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Ask first, answer later. Do not say 'want' or 'need' of atoms; describe outcomes. Image slot empty. Prompt subject: a row of glowing noble gas discharge tubes against a dark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the three terms. Noble gas configuration = outer s and p sublevels full (2 for He, 8 for the rest); say 'full' means s and p, not the whole shell. Image slot empty. Prompt subject: a worn chemistry notebook open to a hand-ruled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Cl: 10 core + 7 valence = 17. Valence = highest n only. Figure shows the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Main-group only. PROVISIONAL: transition-metal valence counting is deliberately left out (brief slide 6; Matt to decide whether d electrons count). Say only that their ions lose the outer s electrons first (slide 13). Lewis dot preview omitted: belongs to a later unit (S5.1), PROVISIONAL.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example, do together. Answers on next slide. Image slot empty. Prompt subject: a block of red phosphorus beside a piece of calcium metal.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P: n = 3, 3s2 3p3 = 5. Ca: n = 4, 4s2 = 2. Both agree with group number. Image slot empty. Prompt subject: a pencil resting on a page of handwritten configurations.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means outer s and p. Argon's 3d is empty, so n = 3 is not completely full; this fixes the 'full shell = 8' misconception. Avoid personifying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Electrons = atomic number minus charge. Protons never change. Here we only describe what an ion is; the charge-prediction rule comes at the end of the section (slide 18). Anion charge is also written plain (1−) because the superscript minus is faint. Image slot empty. Prompt subject: a bowl of table salt crystals on dark slate.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MERGED slide (was two: Na+ orbitals and Cl- orbitals). Na loses its 3s1, leaving the neon configuration; Cl's added electron goes into the open 3p spot, not a new level, and matches argon. Click build replaces the static figure: sodium builds first, then the chlorine build covers it in the same slot (the 20-content-slide cap leaves no room for a second slide). The state line under each diagram gives the plain, large charge so the minus is legible. The static PNG chem_u02_s2.4_na_cl_ions.png stays on disk for print. Do not yet say why these charges: the rule comes at the end of the section.</a:t>
            </a:r>
          </a:p>
          <a:p>
            <a:r>
              <a:t>STATIC FINAL STATE: print and handout copy, no animation. This slide shows the final state of the click build (Na); the animated deck shows it one click at a time.</a:t>
            </a:r>
          </a:p>
          <a:p>
            <a:r>
              <a:t>STATIC FINAL STATE: print and handout copy, no animation. This slide shows the final state of the click build (Cl); the animated deck shows it one click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MERGED slide (was two card slides: Mg2+/Al3+/Ca2+ and O2-/S2-/Br-). Mg2+ and Ca2+ now appear in the Ca walk-through and the worked example; S2- in the worked example. Br keeps its full 3d10. Charge lines are plain so anion minus signs are legible. Image slot empty. Prompt subject: a sealed ampoule of dark red-brown liquid bromine in a 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Isoelectronic = same electron count and configuration. Sizes differ; the reason is Unit 3, only pointed to here (one-line pointer, not taught).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PROVISIONAL (simplified): 'why 4s leaves first' is a student-language account (once 3d has electrons it sits lower than 4s). It is not a full energetics explanation; do not extend it. Matches S2.3 wording. Image slot empty. Prompt subject: a polished iron nail and a copper coin on dark slate.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 26, Fe2+ 24 [Ar]3d6, Fe3+ 23 [Ar]3d5. Present 3d5 as an observed electron count, not proof of a cause. Click build replaces the static figure: one slide carries Fe, Fe2+ and Fe3+ (the 4s arrows leave first, then one 3d). Click 3 passes through Fe+ (25 electrons), named on the slide so no species goes unlabelled. The static PNG chem_u02_s2.4_fe_ions_orbitals.png stays on disk for print.</a:t>
            </a:r>
          </a:p>
          <a:p>
            <a:r>
              <a:t>STATIC FINAL STATE: print and handout copy, no animation. This slide shows the final state of the click build (Fe); the animated deck shows it one click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rule as iron. Cu is the taught exception: [Ar] 4s1 3d10. Image slot empty. Prompt subject: a galvanized zinc sheet beside a length of copper wire.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Zn2+ = Cu+ = [Ar] 3d10 (28 e). Cu2+ = [Ar] 3d9 (27 e). Not noble-gas configurations; these are stable anyway. Image slot empty. Prompt subject: a pencil resting on a page of handwritten calculations.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NEW. Closing synthesis, step 1: Ca walk-through in four moves: count (2 valence), move (lose 2; gaining 6 is more), result ([Ar], 18 electrons), charge (20 protons minus 18 electrons = 2+). Valence-electron reasoning only. Do not teach ionization energy; Unit 3 (U3.4, U3.7) explains the energy side. Scope boundary set by Matt 2026-10-04; DECISIONS.md not changed. Avoid 'wants' or 'needs' language for atoms. The picture slot holds the Ca click build (valence arrows highlighted, then removed one per click).</a:t>
            </a:r>
          </a:p>
          <a:p>
            <a:r>
              <a:t>STATIC FINAL STATE: print and handout copy, no animation. This slide shows the final state of the click build (Ca); the animated deck shows it one click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NEW. Rule by group (period 3 examples; hand-built, every count asserted in the figure script). Main group: lose or gain the fewest electrons to reach 8 (2 in period 1). PROVISIONAL: group 14 (4 lost or 4 gained, no 'fewest') and the transition metals are not predicted by this rule here; transition-metal ions were covered on the iron and Zn/Cu slides. Pointer only: the energy side (why that charge is favoured) is Unit 3, U3.4 and U3.7; do not teach ionization energy. Charges are written plain and large (3−, 2−, 1−) because the superscript minus is faint.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worked example (replaces the earlier Mg2+/S2- configuration example, which this one subsumes). Do together; work area empty on purpose. Answers on next slide. Image slot empty. Prompt subject: four sample vials of magnesium, aluminum, sulfur, and bromine on a dark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Mg: 12 e to 10, Mg2+, [Ne]. Al: 13 to 10, Al3+, [Ne]. S: 16 to 18, S2-, [Ar]. Br: 35 to 36, Br-, [Kr] (3d10 already full). All numbers re-added in the figure script assertions. Anion charges are written plain (2−, 1−) on the slide for legibility. Same pattern, same rule: Mg2+ and S2- were the old example's ions. The picture slot holds a click build for S only (two down arrows added); Mg, Al and Br stay in the text.</a:t>
            </a:r>
          </a:p>
          <a:p>
            <a:r>
              <a:t>STATIC FINAL STATE: print and handout copy, no animation. This slide shows the final state of the click build (S); the animated deck shows it one click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Answers. 1) Al 3, Se 6, Xe 8. 2) Ca2+: 20 to 18 electrons, 1s2 2s2 2p6 3s2 3p6 = [Ar], argon. 3) O: group 16, 6 valence, gain 2, O2- (charge 2−), 10 electrons, 1s2 2s2 2p6 = [Ne]. 4) Fe3+: [Ar] 3d5; the two 4s electrons leave first, then one 3d. (The 'which leave first' part is not printed on the tile.) 5) Cu2+ [Ar] 3d9 (27 e); Zn2+ [Ar] 3d10 (28 e). The slide tile 4 carries Fe3+, Cu2+, Zn2+ together, so items 4 and 5 share one tile. If time, oral extras using the rule: K 1 valence, lose 1, K+, [Ar]; Se 6 valence, gain 2, Se2-, [Kr]; Al 3 valence, lose 3, Al3+, [Ne]. Group 14 (Si, C) and transition metals: not predicted by the rule here (PROVISIONAL). Tile 3 was changed from 'write the O2- configuration' to a predict-then-write prompt so the new rule is checked. Image slot empty. Prompt subject: a periodic table wall chart photographed at a shallow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Boundary (Matt, 2026-10-04): S2.4 owns valence-electron-based charge prediction (main group). Why that charge is favoured and the energy it takes: U3.4 and U3.7. Group 14 and transition metals not predicted by the rule here (PROVISIONAL). DECISIONS.md not changed. Image slot empty. Prompt subject: a long laboratory bench receding into shadow.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UNIT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5532120" y="1554480"/>
            <a:ext cx="6656832" cy="374904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5532120" y="1554480"/>
            <a:ext cx="6656832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HERO IMAGE  •  16:9  •  1920×1080 min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685800" y="1188720"/>
            <a:ext cx="46177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Goes Here</a:t>
            </a:r>
            <a:endParaRPr lang="en-US" sz="40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685800" y="3246120"/>
            <a:ext cx="4434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sentence on what this unit is actually about.</a:t>
            </a:r>
            <a:endParaRPr lang="en-US" sz="1700" dirty="0"/>
          </a:p>
        </p:txBody>
      </p:sp>
      <p:sp>
        <p:nvSpPr>
          <p:cNvPr id="10" name="Shape 4"/>
          <p:cNvSpPr/>
          <p:nvPr/>
        </p:nvSpPr>
        <p:spPr>
          <a:xfrm>
            <a:off x="685800" y="5074920"/>
            <a:ext cx="1417320" cy="329184"/>
          </a:xfrm>
          <a:prstGeom prst="rect">
            <a:avLst>
              <a:gd name="adj" fmla="val 50000"/>
            </a:avLst>
          </a:prstGeom>
          <a:solidFill>
            <a:srgbClr val="A3E635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85800" y="5102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MR. SHULL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SECTION_TITL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777240"/>
            <a:ext cx="7086600" cy="3986784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5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IMAGE  •  16:9</a:t>
            </a:r>
            <a:endParaRPr lang="en-US" sz="1200" dirty="0"/>
          </a:p>
        </p:txBody>
      </p:sp>
      <p:sp>
        <p:nvSpPr>
          <p:cNvPr id="6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100" dirty="0"/>
          </a:p>
        </p:txBody>
      </p:sp>
      <p:sp>
        <p:nvSpPr>
          <p:cNvPr id="8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1.1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Name</a:t>
            </a:r>
            <a:endParaRPr lang="en-US" sz="2800" dirty="0"/>
          </a:p>
        </p:txBody>
      </p:sp>
      <p:sp>
        <p:nvSpPr>
          <p:cNvPr id="9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students should be able to do by the end.</a:t>
            </a:r>
            <a:endParaRPr lang="en-US" sz="1600" dirty="0"/>
          </a:p>
        </p:txBody>
      </p:sp>
      <p:sp>
        <p:nvSpPr>
          <p:cNvPr id="10" name="Text 4"/>
          <p:cNvSpPr txBox="1"/>
          <p:nvPr/>
        </p:nvSpPr>
        <p:spPr>
          <a:xfrm>
            <a:off x="777240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GROUPED_CONCEP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77440"/>
            <a:ext cx="466344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8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9" name="Shape 3"/>
          <p:cNvSpPr/>
          <p:nvPr/>
        </p:nvSpPr>
        <p:spPr>
          <a:xfrm>
            <a:off x="5532120" y="2377440"/>
            <a:ext cx="3154680" cy="2624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first idea, in one or two lines.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8915400" y="2377440"/>
            <a:ext cx="3154680" cy="2624328"/>
          </a:xfrm>
          <a:prstGeom prst="rect">
            <a:avLst/>
          </a:prstGeom>
          <a:solidFill>
            <a:srgbClr val="2E3338"/>
          </a:solidFill>
          <a:ln w="12700">
            <a:solidFill>
              <a:srgbClr val="2E3338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contrasting idea.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85800" y="532180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6" name="Text 6"/>
          <p:cNvSpPr txBox="1"/>
          <p:nvPr/>
        </p:nvSpPr>
        <p:spPr>
          <a:xfrm>
            <a:off x="886968" y="5376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8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DIVIDER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9262872" cy="68580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4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FULL-BLEED CONCEPT IMAGE  •  one image, no decoration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481328"/>
            <a:ext cx="3703320" cy="3675888"/>
          </a:xfrm>
          <a:prstGeom prst="rect">
            <a:avLst/>
          </a:prstGeom>
          <a:solidFill>
            <a:srgbClr val="14161B"/>
          </a:solidFill>
          <a:ln w="15875">
            <a:solidFill>
              <a:srgbClr val="A3E635"/>
            </a:solidFill>
            <a:prstDash val="solid"/>
          </a:ln>
        </p:spPr>
      </p:sp>
      <p:sp>
        <p:nvSpPr>
          <p:cNvPr id="8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1.2  •  SECTION NAME</a:t>
            </a:r>
            <a:endParaRPr lang="en-US" sz="1100" dirty="0"/>
          </a:p>
        </p:txBody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Big Idea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Of This Section</a:t>
            </a:r>
            <a:endParaRPr lang="en-US" sz="26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Students see the story before the first bullet.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PROCESS_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10820095" cy="201168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8" name="Shape 3"/>
          <p:cNvSpPr/>
          <p:nvPr/>
        </p:nvSpPr>
        <p:spPr>
          <a:xfrm>
            <a:off x="3246120" y="2487168"/>
            <a:ext cx="5669280" cy="1828800"/>
          </a:xfrm>
          <a:prstGeom prst="rect">
            <a:avLst/>
          </a:prstGeom>
          <a:solidFill>
            <a:srgbClr val="2E3338"/>
          </a:solidFill>
          <a:ln w="12700">
            <a:solidFill>
              <a:srgbClr val="BDB6AA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3246120" y="2487168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 BAND  •  3:1  •  generate 16:9 and centre-crop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832104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123444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6"/>
          <p:cNvSpPr txBox="1"/>
          <p:nvPr>
            <p:ph idx="111" type="body" hasCustomPrompt="1"/>
          </p:nvPr>
        </p:nvSpPr>
        <p:spPr>
          <a:xfrm>
            <a:off x="832104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3447288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3593592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8"/>
          <p:cNvSpPr txBox="1"/>
          <p:nvPr>
            <p:ph idx="114" type="body" hasCustomPrompt="1"/>
          </p:nvPr>
        </p:nvSpPr>
        <p:spPr>
          <a:xfrm>
            <a:off x="3995928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593592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18" name="Shape 8"/>
          <p:cNvSpPr/>
          <p:nvPr/>
        </p:nvSpPr>
        <p:spPr>
          <a:xfrm>
            <a:off x="6208776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6355080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6757416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3</a:t>
            </a:r>
            <a:endParaRPr lang="en-US" sz="12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355080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8970264" y="4617720"/>
            <a:ext cx="2615184" cy="1188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9116568" y="4736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9518904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4</a:t>
            </a:r>
            <a:endParaRPr lang="en-US" sz="1200" dirty="0"/>
          </a:p>
        </p:txBody>
      </p:sp>
      <p:sp>
        <p:nvSpPr>
          <p:cNvPr id="25" name="Text 12"/>
          <p:cNvSpPr txBox="1"/>
          <p:nvPr>
            <p:ph idx="123" type="body" hasCustomPrompt="1"/>
          </p:nvPr>
        </p:nvSpPr>
        <p:spPr>
          <a:xfrm>
            <a:off x="9116568" y="5120640"/>
            <a:ext cx="2322576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changed, and why.</a:t>
            </a:r>
            <a:endParaRPr lang="en-US" sz="1600" dirty="0"/>
          </a:p>
        </p:txBody>
      </p:sp>
      <p:sp>
        <p:nvSpPr>
          <p:cNvPr id="26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7" name="Text 13"/>
          <p:cNvSpPr txBox="1"/>
          <p:nvPr>
            <p:ph idx="12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CEPT_IMAGE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868680"/>
            <a:ext cx="5349240" cy="41605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298448"/>
            <a:ext cx="4983480" cy="2798064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6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  •  16:9</a:t>
            </a:r>
            <a:endParaRPr lang="en-US" sz="1200" dirty="0"/>
          </a:p>
        </p:txBody>
      </p:sp>
      <p:sp>
        <p:nvSpPr>
          <p:cNvPr id="7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9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Headline</a:t>
            </a:r>
            <a:endParaRPr lang="en-US" sz="2800" dirty="0"/>
          </a:p>
        </p:txBody>
      </p:sp>
      <p:sp>
        <p:nvSpPr>
          <p:cNvPr id="10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Keep it to what the image cannot say on its own.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685800" y="3520440"/>
            <a:ext cx="4892040" cy="114300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86968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13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question this slide is asking.</a:t>
            </a:r>
            <a:endParaRPr lang="en-US" sz="1600" dirty="0"/>
          </a:p>
        </p:txBody>
      </p:sp>
      <p:sp>
        <p:nvSpPr>
          <p:cNvPr id="14" name="Text 7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5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MPARISON_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412480" y="960120"/>
            <a:ext cx="3090672" cy="173736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641080" y="1088136"/>
            <a:ext cx="2633472" cy="148132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ONE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job each.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429768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TWO</a:t>
            </a:r>
            <a:endParaRPr lang="en-US" sz="1200" dirty="0"/>
          </a:p>
        </p:txBody>
      </p:sp>
      <p:sp>
        <p:nvSpPr>
          <p:cNvPr id="15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 a wall of bullets.</a:t>
            </a:r>
            <a:endParaRPr lang="en-US" sz="1600" dirty="0"/>
          </a:p>
        </p:txBody>
      </p:sp>
      <p:sp>
        <p:nvSpPr>
          <p:cNvPr id="16" name="Shape 6"/>
          <p:cNvSpPr/>
          <p:nvPr/>
        </p:nvSpPr>
        <p:spPr>
          <a:xfrm>
            <a:off x="7909560" y="2788920"/>
            <a:ext cx="3401568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ITEM THREE</a:t>
            </a:r>
            <a:endParaRPr lang="en-US" sz="1200" dirty="0"/>
          </a:p>
        </p:txBody>
      </p:sp>
      <p:sp>
        <p:nvSpPr>
          <p:cNvPr id="18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third parallel item.</a:t>
            </a:r>
            <a:endParaRPr lang="en-US" sz="1600" dirty="0"/>
          </a:p>
        </p:txBody>
      </p:sp>
      <p:sp>
        <p:nvSpPr>
          <p:cNvPr id="19" name="Shape 7"/>
          <p:cNvSpPr/>
          <p:nvPr/>
        </p:nvSpPr>
        <p:spPr>
          <a:xfrm>
            <a:off x="685800" y="541324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0" name="Text 8"/>
          <p:cNvSpPr txBox="1"/>
          <p:nvPr/>
        </p:nvSpPr>
        <p:spPr>
          <a:xfrm>
            <a:off x="886968" y="5468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1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2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DIAGRAM_ANNOT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5074920" cy="32461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8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Hand-built diagram here.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Anything with a number or a label is built, not generated.</a:t>
            </a:r>
            <a:endParaRPr lang="en-US" sz="2000" dirty="0"/>
          </a:p>
        </p:txBody>
      </p:sp>
      <p:sp>
        <p:nvSpPr>
          <p:cNvPr id="9" name="Shape 3"/>
          <p:cNvSpPr/>
          <p:nvPr/>
        </p:nvSpPr>
        <p:spPr>
          <a:xfrm>
            <a:off x="6126480" y="2395728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0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ONE</a:t>
            </a:r>
            <a:endParaRPr lang="en-US" sz="1200" dirty="0"/>
          </a:p>
        </p:txBody>
      </p:sp>
      <p:sp>
        <p:nvSpPr>
          <p:cNvPr id="11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6126480" y="3529584"/>
            <a:ext cx="5532120" cy="98755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3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TWO</a:t>
            </a:r>
            <a:endParaRPr lang="en-US" sz="1200" dirty="0"/>
          </a:p>
        </p:txBody>
      </p:sp>
      <p:sp>
        <p:nvSpPr>
          <p:cNvPr id="14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6126480" y="4663440"/>
            <a:ext cx="5532120" cy="97840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6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LABEL THREE</a:t>
            </a:r>
            <a:endParaRPr lang="en-US" sz="1200" dirty="0"/>
          </a:p>
        </p:txBody>
      </p:sp>
      <p:sp>
        <p:nvSpPr>
          <p:cNvPr id="17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part of the diagram means.</a:t>
            </a:r>
            <a:endParaRPr lang="en-US" sz="1600" dirty="0"/>
          </a:p>
        </p:txBody>
      </p:sp>
      <p:sp>
        <p:nvSpPr>
          <p:cNvPr id="18" name="Text 6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19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EXAMPLE_PROBL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8915400" y="960120"/>
            <a:ext cx="2587752" cy="1325880"/>
          </a:xfrm>
          <a:prstGeom prst="rect">
            <a:avLst/>
          </a:prstGeom>
          <a:solidFill>
            <a:srgbClr val="EDF0E5"/>
          </a:solidFill>
          <a:ln w="25400">
            <a:solidFill>
              <a:srgbClr val="A3E635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262872" y="1088136"/>
            <a:ext cx="1901952" cy="1069848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SUPPORTING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685800" y="2395728"/>
            <a:ext cx="5394960" cy="105156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886968" y="2523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8580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the problem hands you.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3474720" y="3611880"/>
            <a:ext cx="2606040" cy="173736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you are solving for.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6263640" y="2395728"/>
            <a:ext cx="5239512" cy="29535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6464808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 AREA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Leave this blank in the projected copy. It is filled live on the board.</a:t>
            </a:r>
            <a:endParaRPr lang="en-US" sz="1900" dirty="0"/>
          </a:p>
        </p:txBody>
      </p:sp>
      <p:sp>
        <p:nvSpPr>
          <p:cNvPr id="22" name="Shape 10"/>
          <p:cNvSpPr/>
          <p:nvPr/>
        </p:nvSpPr>
        <p:spPr>
          <a:xfrm>
            <a:off x="685800" y="5532120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3" name="Text 11"/>
          <p:cNvSpPr txBox="1"/>
          <p:nvPr/>
        </p:nvSpPr>
        <p:spPr>
          <a:xfrm>
            <a:off x="886968" y="5586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24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25" name="Text 12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6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WORKED_SOLU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160520" cy="256032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3867912" cy="2267712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DATA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074920" y="2395728"/>
            <a:ext cx="3154680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1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FORMULA</a:t>
            </a:r>
            <a:endParaRPr lang="en-US" sz="1200" dirty="0"/>
          </a:p>
        </p:txBody>
      </p:sp>
      <p:sp>
        <p:nvSpPr>
          <p:cNvPr id="12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relationship, before any numbers.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8412480" y="2395728"/>
            <a:ext cx="3090672" cy="25603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8613648" y="2560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</a:t>
            </a:r>
            <a:endParaRPr lang="en-US" sz="9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completed work,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step by step.</a:t>
            </a:r>
            <a:endParaRPr lang="en-US" sz="1900" dirty="0"/>
          </a:p>
        </p:txBody>
      </p:sp>
      <p:sp>
        <p:nvSpPr>
          <p:cNvPr id="16" name="Shape 7"/>
          <p:cNvSpPr/>
          <p:nvPr/>
        </p:nvSpPr>
        <p:spPr>
          <a:xfrm>
            <a:off x="685800" y="5138928"/>
            <a:ext cx="10820095" cy="566928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7" name="Text 8"/>
          <p:cNvSpPr txBox="1"/>
          <p:nvPr/>
        </p:nvSpPr>
        <p:spPr>
          <a:xfrm>
            <a:off x="886968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MUST WRITE</a:t>
            </a:r>
            <a:endParaRPr lang="en-US" sz="900" dirty="0"/>
          </a:p>
        </p:txBody>
      </p:sp>
      <p:sp>
        <p:nvSpPr>
          <p:cNvPr id="18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one sentence students copy down.</a:t>
            </a:r>
            <a:endParaRPr lang="en-US" sz="1600" dirty="0"/>
          </a:p>
        </p:txBody>
      </p:sp>
      <p:sp>
        <p:nvSpPr>
          <p:cNvPr id="19" name="Text 9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0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GIVENS_EQUATION_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5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Slide Headline Goes Here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line that frames what students should look for.</a:t>
            </a:r>
            <a:endParaRPr lang="en-US" sz="1700" dirty="0"/>
          </a:p>
        </p:txBody>
      </p:sp>
      <p:sp>
        <p:nvSpPr>
          <p:cNvPr id="7" name="Shape 2"/>
          <p:cNvSpPr/>
          <p:nvPr/>
        </p:nvSpPr>
        <p:spPr>
          <a:xfrm>
            <a:off x="685800" y="2395728"/>
            <a:ext cx="4663440" cy="2624328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8" name="Shape 3"/>
          <p:cNvSpPr/>
          <p:nvPr/>
        </p:nvSpPr>
        <p:spPr>
          <a:xfrm>
            <a:off x="832104" y="2542032"/>
            <a:ext cx="4370832" cy="2331720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dash"/>
          </a:ln>
        </p:spPr>
      </p:sp>
      <p:sp>
        <p:nvSpPr>
          <p:cNvPr id="9" name="Text 4"/>
          <p:cNvSpPr txBox="1"/>
          <p:nvPr>
            <p:ph idx="107" hasCustomPrompt="1"/>
          </p:nvPr>
        </p:nvSpPr>
        <p:spPr>
          <a:xfrm>
            <a:off x="832104" y="2542032"/>
            <a:ext cx="4370832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 IMAGE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5577840" y="2395728"/>
            <a:ext cx="5925312" cy="960120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5779008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6"/>
          <p:cNvSpPr txBox="1"/>
          <p:nvPr>
            <p:ph idx="110" type="body" hasCustomPrompt="1"/>
          </p:nvPr>
        </p:nvSpPr>
        <p:spPr>
          <a:xfrm>
            <a:off x="5779008" y="2743200"/>
            <a:ext cx="5522976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State the problem in one sentence.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5577840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4" name="Text 7"/>
          <p:cNvSpPr txBox="1"/>
          <p:nvPr>
            <p:ph idx="112" type="body" hasCustomPrompt="1"/>
          </p:nvPr>
        </p:nvSpPr>
        <p:spPr>
          <a:xfrm>
            <a:off x="5779008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15" name="Text 7"/>
          <p:cNvSpPr txBox="1"/>
          <p:nvPr>
            <p:ph idx="113" type="body" hasCustomPrompt="1"/>
          </p:nvPr>
        </p:nvSpPr>
        <p:spPr>
          <a:xfrm>
            <a:off x="5779008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Values the problem supplies.</a:t>
            </a:r>
            <a:endParaRPr lang="en-US" sz="1600" dirty="0"/>
          </a:p>
        </p:txBody>
      </p:sp>
      <p:sp>
        <p:nvSpPr>
          <p:cNvPr id="16" name="Shape 7"/>
          <p:cNvSpPr/>
          <p:nvPr/>
        </p:nvSpPr>
        <p:spPr>
          <a:xfrm>
            <a:off x="8631936" y="3520440"/>
            <a:ext cx="2871216" cy="1499616"/>
          </a:xfrm>
          <a:prstGeom prst="rect">
            <a:avLst/>
          </a:prstGeom>
          <a:solidFill>
            <a:srgbClr val="EDF0E5"/>
          </a:solidFill>
          <a:ln w="12700">
            <a:solidFill>
              <a:srgbClr val="C8CDC2"/>
            </a:solidFill>
            <a:prstDash val="solid"/>
          </a:ln>
        </p:spPr>
      </p:sp>
      <p:sp>
        <p:nvSpPr>
          <p:cNvPr id="17" name="Text 8"/>
          <p:cNvSpPr txBox="1"/>
          <p:nvPr>
            <p:ph idx="115" type="body" hasCustomPrompt="1"/>
          </p:nvPr>
        </p:nvSpPr>
        <p:spPr>
          <a:xfrm>
            <a:off x="8833104" y="3685032"/>
            <a:ext cx="2468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EQUATION</a:t>
            </a:r>
            <a:endParaRPr lang="en-US" sz="1200" dirty="0"/>
          </a:p>
        </p:txBody>
      </p:sp>
      <p:sp>
        <p:nvSpPr>
          <p:cNvPr id="18" name="Text 8"/>
          <p:cNvSpPr txBox="1"/>
          <p:nvPr>
            <p:ph idx="116" type="body" hasCustomPrompt="1"/>
          </p:nvPr>
        </p:nvSpPr>
        <p:spPr>
          <a:xfrm>
            <a:off x="8833104" y="3977640"/>
            <a:ext cx="246888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relationship you will use.</a:t>
            </a:r>
            <a:endParaRPr lang="en-US" sz="1600" dirty="0"/>
          </a:p>
        </p:txBody>
      </p:sp>
      <p:sp>
        <p:nvSpPr>
          <p:cNvPr id="19" name="Shape 8"/>
          <p:cNvSpPr/>
          <p:nvPr/>
        </p:nvSpPr>
        <p:spPr>
          <a:xfrm>
            <a:off x="5577840" y="5193792"/>
            <a:ext cx="5925312" cy="777240"/>
          </a:xfrm>
          <a:prstGeom prst="rect">
            <a:avLst/>
          </a:prstGeom>
          <a:solidFill>
            <a:srgbClr val="EDF0E5"/>
          </a:solidFill>
          <a:ln w="19050">
            <a:solidFill>
              <a:srgbClr val="A3E635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5779008" y="5285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ANSWER</a:t>
            </a:r>
            <a:endParaRPr lang="en-US" sz="900" dirty="0"/>
          </a:p>
        </p:txBody>
      </p:sp>
      <p:sp>
        <p:nvSpPr>
          <p:cNvPr id="21" name="Text 10"/>
          <p:cNvSpPr txBox="1"/>
          <p:nvPr>
            <p:ph idx="119" type="body" hasCustomPrompt="1"/>
          </p:nvPr>
        </p:nvSpPr>
        <p:spPr>
          <a:xfrm>
            <a:off x="5779008" y="5504688"/>
            <a:ext cx="5522976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with units</a:t>
            </a:r>
            <a:endParaRPr lang="en-US" sz="2000" dirty="0"/>
          </a:p>
        </p:txBody>
      </p:sp>
      <p:sp>
        <p:nvSpPr>
          <p:cNvPr id="22" name="Text 10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23" name="Text 11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DECK_INDEX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E635"/>
          </a:solidFill>
          <a:ln/>
        </p:spPr>
      </p:sp>
      <p:sp>
        <p:nvSpPr>
          <p:cNvPr id="4" name="Text 2"/>
          <p:cNvSpPr txBox="1"/>
          <p:nvPr>
            <p:ph idx="102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00  •  CHEMISTRY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" y="676656"/>
            <a:ext cx="1371600" cy="0"/>
          </a:xfrm>
          <a:prstGeom prst="line">
            <a:avLst/>
          </a:prstGeom>
          <a:noFill/>
          <a:ln w="22225">
            <a:solidFill>
              <a:srgbClr val="A3E635"/>
            </a:solidFill>
            <a:prstDash val="solid"/>
          </a:ln>
        </p:spPr>
      </p:sp>
      <p:sp>
        <p:nvSpPr>
          <p:cNvPr id="6" name="Text 3"/>
          <p:cNvSpPr txBox="1"/>
          <p:nvPr>
            <p:ph idx="104" type="title" hasCustomPrompt="1"/>
          </p:nvPr>
        </p:nvSpPr>
        <p:spPr>
          <a:xfrm>
            <a:off x="685800" y="1097280"/>
            <a:ext cx="3200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6000"/>
              </a:lnSpc>
              <a:buNone/>
              <a:def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Template Slide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Family</a:t>
            </a:r>
            <a:endParaRPr lang="en-US" sz="3000" dirty="0"/>
          </a:p>
        </p:txBody>
      </p:sp>
      <p:sp>
        <p:nvSpPr>
          <p:cNvPr id="7" name="Text 3"/>
          <p:cNvSpPr txBox="1"/>
          <p:nvPr>
            <p:ph idx="105" type="body" hasCustomPrompt="1"/>
          </p:nvPr>
        </p:nvSpPr>
        <p:spPr>
          <a:xfrm>
            <a:off x="685800" y="2514600"/>
            <a:ext cx="3200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Twelve layouts shared by Chemistry, Physics, and Geology.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New slide → Layout → pick one. Never build from scratch.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443484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459943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503834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Title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59943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unit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76656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93115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737006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Section Title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93115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opens a section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098280" y="1097280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262872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701784" y="12252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Grouped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262872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two contrasting ideas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3484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59943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03834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Divider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9943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visual reset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6656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93115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737006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Process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693115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four numbered steps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098280" y="2212848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262872" y="2340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9701784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Concept Image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262872" y="26883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panel + key question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43484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59943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503834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459943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parallel items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76656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93115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737006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Diagram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693115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figure + annotation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9098280" y="3328416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9262872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09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9701784" y="3456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926287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empty work area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43484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459943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503834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459943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pairs with 09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76656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693115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11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737006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Given/Eq/Ans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693115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any course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9098280" y="4443984"/>
            <a:ext cx="2148840" cy="932688"/>
          </a:xfrm>
          <a:prstGeom prst="rect">
            <a:avLst/>
          </a:prstGeom>
          <a:solidFill>
            <a:srgbClr val="2E3338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9262872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9701784" y="45720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Deck Index</a:t>
            </a:r>
            <a:endParaRPr lang="en-US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9262872" y="491947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delete before class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685800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SHULL SCIENCE</a:t>
            </a:r>
            <a:endParaRPr lang="en-US" sz="1000" dirty="0"/>
          </a:p>
        </p:txBody>
      </p:sp>
      <p:sp>
        <p:nvSpPr>
          <p:cNvPr id="57" name="Text 52"/>
          <p:cNvSpPr txBox="1"/>
          <p:nvPr>
            <p:ph idx="15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U00 • S0.0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4" type="body" hasCustomPrompt="1"/>
          </p:nvPr>
        </p:nvSpPr>
        <p:spPr>
          <a:xfrm>
            <a:off x="777240" y="502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2.4</a:t>
            </a:r>
            <a:endParaRPr lang="en-US" sz="4400" dirty="0"/>
          </a:p>
        </p:txBody>
      </p:sp>
      <p:sp>
        <p:nvSpPr>
          <p:cNvPr id="3" name="Text 4"/>
          <p:cNvSpPr txBox="1"/>
          <p:nvPr>
            <p:ph idx="106" type="title" hasCustomPrompt="1"/>
          </p:nvPr>
        </p:nvSpPr>
        <p:spPr>
          <a:xfrm>
            <a:off x="777240" y="1847088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Stability &amp;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</a:t>
            </a:r>
            <a:endParaRPr lang="en-US" sz="2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</a:t>
            </a:r>
            <a:endParaRPr lang="en-US" sz="2800" dirty="0"/>
          </a:p>
        </p:txBody>
      </p:sp>
      <p:sp>
        <p:nvSpPr>
          <p:cNvPr id="4" name="Text 4"/>
          <p:cNvSpPr txBox="1"/>
          <p:nvPr>
            <p:ph idx="107" type="body" hasCustomPrompt="1"/>
          </p:nvPr>
        </p:nvSpPr>
        <p:spPr>
          <a:xfrm>
            <a:off x="77724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 valence electrons, explain why noble gases are stable, write ion configurations, and predict main-group ion charges.</a:t>
            </a:r>
            <a:endParaRPr lang="en-US" sz="1600" dirty="0"/>
          </a:p>
        </p:txBody>
      </p:sp>
      <p:sp>
        <p:nvSpPr>
          <p:cNvPr id="5" name="Text 5"/>
          <p:cNvSpPr txBox="1"/>
          <p:nvPr>
            <p:ph idx="109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7" name="Text 3"/>
          <p:cNvSpPr txBox="1"/>
          <p:nvPr>
            <p:ph idx="103" hasCustomPrompt="1"/>
          </p:nvPr>
        </p:nvSpPr>
        <p:spPr>
          <a:xfrm>
            <a:off x="4480560" y="777240"/>
            <a:ext cx="7086600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7" type="title" hasCustomPrompt="1"/>
          </p:nvPr>
        </p:nvSpPr>
        <p:spPr>
          <a:xfrm>
            <a:off x="685800" y="11887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Who Reacts, Who Doesn't</a:t>
            </a:r>
            <a:endParaRPr lang="en-US" sz="2800" dirty="0"/>
          </a:p>
        </p:txBody>
      </p:sp>
      <p:sp>
        <p:nvSpPr>
          <p:cNvPr id="3" name="Text 5"/>
          <p:cNvSpPr txBox="1"/>
          <p:nvPr>
            <p:ph idx="108" type="body" hasCustomPrompt="1"/>
          </p:nvPr>
        </p:nvSpPr>
        <p:spPr>
          <a:xfrm>
            <a:off x="685800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Helium, neon, and argon barely react with anything. Sodium and chlorine react easily.</a:t>
            </a:r>
            <a:endParaRPr lang="en-US" sz="1600" dirty="0"/>
          </a:p>
        </p:txBody>
      </p:sp>
      <p:sp>
        <p:nvSpPr>
          <p:cNvPr id="4" name="Text 7"/>
          <p:cNvSpPr txBox="1"/>
          <p:nvPr>
            <p:ph idx="111" type="body" hasCustomPrompt="1"/>
          </p:nvPr>
        </p:nvSpPr>
        <p:spPr>
          <a:xfrm>
            <a:off x="886968" y="3950208"/>
            <a:ext cx="4489704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is different about the electrons in He, Ne, and Ar?</a:t>
            </a:r>
            <a:endParaRPr lang="en-US" sz="1600" dirty="0"/>
          </a:p>
        </p:txBody>
      </p:sp>
      <p:sp>
        <p:nvSpPr>
          <p:cNvPr id="5" name="Text 4"/>
          <p:cNvSpPr txBox="1"/>
          <p:nvPr>
            <p:ph idx="105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6" name="Text 8"/>
          <p:cNvSpPr txBox="1"/>
          <p:nvPr>
            <p:ph idx="113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8" name="Text 4"/>
          <p:cNvSpPr txBox="1"/>
          <p:nvPr>
            <p:ph idx="104" hasCustomPrompt="1"/>
          </p:nvPr>
        </p:nvSpPr>
        <p:spPr>
          <a:xfrm>
            <a:off x="6355080" y="1298448"/>
            <a:ext cx="498348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Words You Need First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these before we go further. Everything after this slide uses them.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 electron in the outermost energy level.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CORE ELECTRON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 electron in an inner, filled energy level.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NOBLE GAS CONFIGURATION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Outer s and p sublevels full: 2 or 8 electrons.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are the electrons in the outermost energy level, the one with the highest n.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core_valence_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Core or Valence? Find the Highest n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Chlorine has 17 electrons. Only the ones in n = 3 are valence.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CORE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fill n = 1 and n = 2. That is 10 electrons.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5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is the highest level, n = 3. That is 7 electrons.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CHECK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 + 7 = 17, the atomic number of chlorine.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valence_b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From the Table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For main-group elements, the group number gives you the count.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 and 2: the group number.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13 to 18: the units digit.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EXCEPTION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Helium is in group 18 and has 2 valence electrons, not 8.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THIS SKIPS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3 to 12, the transition metals. Their ions follow the rule on slide 13.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Valence Electrons of P and Ca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We do this one together. Copy the setup, not just the answer.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Use each configuration to find the number of valence electrons in phosphorus and calcium.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P: [Ne] 3s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Highest n for each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 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against the group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are the s and p electrons in the highest n only.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Phosphorus and Calcium,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the group number last. It should agree with your count.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Find the highest 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 every electron in it.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P: n = 3, so 3s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3p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 + 3 = 5 valence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Ca: n = 4, so 4s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 valence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 has 5 valence electrons (group 15). Ca has 2 (group 2).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noble_gas_confi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Noble Gases Barely React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Look at the outer s and p sublevels of each one.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OCTET AND DUET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Ne, Ar, and Kr have 8 electrons in their outer s and p sublevels. Helium has 2.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FULL MEANS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Full means s and p. Argon's 3d sublevel is empty, so n = 3 is not completely full.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HOW WE USE IT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Later in this section we compare ions to these four configurations.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What Makes an Ion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Atoms become ions by gaining or losing electrons. The nucleus does not change.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CATION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Loses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Positive charge.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 → Na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11 electrons become 10.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1+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ANION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Gains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Negative charge.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Cl → Cl</a:t>
            </a:r>
            <a:pPr indent="0" marL="0">
              <a:buNone/>
            </a:pPr>
            <a:r>
              <a:rPr lang="en-US" sz="1600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17 electrons become 18.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1−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= atomic number − charge. Protons never change.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 Loses One, Cl Gains One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leave from the highest n first. A gained electron fills the open 3p spot.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SODIUM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leaves: 11 → 10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Na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charge 1+. Matches [Ne].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CHLORINE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One electron fills 3p: 17 → 18.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Cl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charge 1−. Matches [Ar].</a:t>
            </a:r>
            <a:endParaRPr lang="en-US" sz="1600" dirty="0"/>
          </a:p>
        </p:txBody>
      </p:sp>
      <p:sp>
        <p:nvSpPr>
          <p:cNvPr id="8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CHECK</a:t>
            </a:r>
            <a:endParaRPr lang="en-US" sz="1200" dirty="0"/>
          </a:p>
        </p:txBody>
      </p:sp>
      <p:sp>
        <p:nvSpPr>
          <p:cNvPr id="9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11 − 1 = 10 and 17 + 1 = 18.</a:t>
            </a:r>
            <a:endParaRPr lang="en-US" sz="1600" dirty="0"/>
          </a:p>
        </p:txBody>
      </p:sp>
      <p:sp>
        <p:nvSpPr>
          <p:cNvPr id="10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1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4" name="BUILD backdrop"/>
          <p:cNvSpPr/>
          <p:nvPr/>
        </p:nvSpPr>
        <p:spPr>
          <a:xfrm>
            <a:off x="914400" y="2651760"/>
            <a:ext cx="4617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BUILD boxes and labels"/>
          <p:cNvGrpSpPr/>
          <p:nvPr/>
        </p:nvGrpSpPr>
        <p:grpSpPr>
          <a:xfrm>
            <a:off x="932688" y="2798063"/>
            <a:ext cx="4617720" cy="749808"/>
            <a:chOff x="932688" y="2798063"/>
            <a:chExt cx="4617720" cy="749808"/>
          </a:xfrm>
        </p:grpSpPr>
        <p:sp>
          <p:nvSpPr>
            <p:cNvPr id="15" name="BUILD title"/>
            <p:cNvSpPr txBox="1"/>
            <p:nvPr/>
          </p:nvSpPr>
          <p:spPr>
            <a:xfrm>
              <a:off x="932688" y="2798063"/>
              <a:ext cx="868680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Na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+</a:t>
              </a:r>
            </a:p>
          </p:txBody>
        </p:sp>
        <p:sp>
          <p:nvSpPr>
            <p:cNvPr id="16" name="BUILD box 1s 1"/>
            <p:cNvSpPr/>
            <p:nvPr/>
          </p:nvSpPr>
          <p:spPr>
            <a:xfrm>
              <a:off x="1856231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UILD label 1s"/>
            <p:cNvSpPr txBox="1"/>
            <p:nvPr/>
          </p:nvSpPr>
          <p:spPr>
            <a:xfrm>
              <a:off x="1764791" y="3273551"/>
              <a:ext cx="6400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1s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2</a:t>
              </a:r>
            </a:p>
          </p:txBody>
        </p:sp>
        <p:sp>
          <p:nvSpPr>
            <p:cNvPr id="18" name="BUILD box 2s 1"/>
            <p:cNvSpPr/>
            <p:nvPr/>
          </p:nvSpPr>
          <p:spPr>
            <a:xfrm>
              <a:off x="2569463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UILD label 2s"/>
            <p:cNvSpPr txBox="1"/>
            <p:nvPr/>
          </p:nvSpPr>
          <p:spPr>
            <a:xfrm>
              <a:off x="2478023" y="3273551"/>
              <a:ext cx="6400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2s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2</a:t>
              </a:r>
            </a:p>
          </p:txBody>
        </p:sp>
        <p:sp>
          <p:nvSpPr>
            <p:cNvPr id="20" name="BUILD box 2p 1"/>
            <p:cNvSpPr/>
            <p:nvPr/>
          </p:nvSpPr>
          <p:spPr>
            <a:xfrm>
              <a:off x="3282696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UILD box 2p 2"/>
            <p:cNvSpPr/>
            <p:nvPr/>
          </p:nvSpPr>
          <p:spPr>
            <a:xfrm>
              <a:off x="3785615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UILD box 2p 3"/>
            <p:cNvSpPr/>
            <p:nvPr/>
          </p:nvSpPr>
          <p:spPr>
            <a:xfrm>
              <a:off x="4288536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BUILD label 2p"/>
            <p:cNvSpPr txBox="1"/>
            <p:nvPr/>
          </p:nvSpPr>
          <p:spPr>
            <a:xfrm>
              <a:off x="3191256" y="3273551"/>
              <a:ext cx="16459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2p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6</a:t>
              </a:r>
            </a:p>
          </p:txBody>
        </p:sp>
        <p:sp>
          <p:nvSpPr>
            <p:cNvPr id="24" name="BUILD box 3s 1"/>
            <p:cNvSpPr/>
            <p:nvPr/>
          </p:nvSpPr>
          <p:spPr>
            <a:xfrm>
              <a:off x="5001768" y="2798063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BUILD label 3s"/>
            <p:cNvSpPr txBox="1"/>
            <p:nvPr/>
          </p:nvSpPr>
          <p:spPr>
            <a:xfrm>
              <a:off x="4910328" y="3273551"/>
              <a:ext cx="6400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3s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0</a:t>
              </a:r>
            </a:p>
          </p:txBody>
        </p:sp>
      </p:grpSp>
      <p:sp>
        <p:nvSpPr>
          <p:cNvPr id="26" name="BUILD arrow 1s box1 up"/>
          <p:cNvSpPr/>
          <p:nvPr/>
        </p:nvSpPr>
        <p:spPr>
          <a:xfrm>
            <a:off x="1936241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ILD arrow 1s box1 down"/>
          <p:cNvSpPr/>
          <p:nvPr/>
        </p:nvSpPr>
        <p:spPr>
          <a:xfrm>
            <a:off x="2119121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ILD arrow 2s box1 up"/>
          <p:cNvSpPr/>
          <p:nvPr/>
        </p:nvSpPr>
        <p:spPr>
          <a:xfrm>
            <a:off x="2649473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ILD arrow 2s box1 down"/>
          <p:cNvSpPr/>
          <p:nvPr/>
        </p:nvSpPr>
        <p:spPr>
          <a:xfrm>
            <a:off x="2832353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UILD arrow 2p box1 up"/>
          <p:cNvSpPr/>
          <p:nvPr/>
        </p:nvSpPr>
        <p:spPr>
          <a:xfrm>
            <a:off x="3362706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UILD arrow 2p box2 up"/>
          <p:cNvSpPr/>
          <p:nvPr/>
        </p:nvSpPr>
        <p:spPr>
          <a:xfrm>
            <a:off x="3865626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UILD arrow 2p box3 up"/>
          <p:cNvSpPr/>
          <p:nvPr/>
        </p:nvSpPr>
        <p:spPr>
          <a:xfrm>
            <a:off x="4368546" y="28849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UILD arrow 2p box1 down"/>
          <p:cNvSpPr/>
          <p:nvPr/>
        </p:nvSpPr>
        <p:spPr>
          <a:xfrm>
            <a:off x="3545586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UILD arrow 2p box2 down"/>
          <p:cNvSpPr/>
          <p:nvPr/>
        </p:nvSpPr>
        <p:spPr>
          <a:xfrm>
            <a:off x="4048505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ILD arrow 2p box3 down"/>
          <p:cNvSpPr/>
          <p:nvPr/>
        </p:nvSpPr>
        <p:spPr>
          <a:xfrm>
            <a:off x="4551425" y="28849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UILD state"/>
          <p:cNvSpPr txBox="1"/>
          <p:nvPr/>
        </p:nvSpPr>
        <p:spPr>
          <a:xfrm>
            <a:off x="932688" y="3584447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Na</a:t>
            </a:r>
            <a:r>
              <a:rPr sz="1800" b="1" baseline="30000">
                <a:solidFill>
                  <a:srgbClr val="14161B"/>
                </a:solidFill>
                <a:latin typeface="Trade Gothic Next"/>
              </a:rPr>
              <a:t>+</a:t>
            </a:r>
            <a:r>
              <a:rPr sz="1800" b="1">
                <a:solidFill>
                  <a:srgbClr val="14161B"/>
                </a:solidFill>
                <a:latin typeface="Trade Gothic Next"/>
              </a:rPr>
              <a:t>: charge 1+, 10 electrons</a:t>
            </a:r>
          </a:p>
        </p:txBody>
      </p:sp>
      <p:sp>
        <p:nvSpPr>
          <p:cNvPr id="38" name="BUILD backdrop"/>
          <p:cNvSpPr/>
          <p:nvPr/>
        </p:nvSpPr>
        <p:spPr>
          <a:xfrm>
            <a:off x="914400" y="4023360"/>
            <a:ext cx="46177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9" name="BUILD boxes and labels"/>
          <p:cNvGrpSpPr/>
          <p:nvPr/>
        </p:nvGrpSpPr>
        <p:grpSpPr>
          <a:xfrm>
            <a:off x="932688" y="4114800"/>
            <a:ext cx="3904488" cy="804672"/>
            <a:chOff x="932688" y="4114800"/>
            <a:chExt cx="3904488" cy="804672"/>
          </a:xfrm>
        </p:grpSpPr>
        <p:sp>
          <p:nvSpPr>
            <p:cNvPr id="40" name="BUILD title"/>
            <p:cNvSpPr txBox="1"/>
            <p:nvPr/>
          </p:nvSpPr>
          <p:spPr>
            <a:xfrm>
              <a:off x="932688" y="4114800"/>
              <a:ext cx="86868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Cl ion</a:t>
              </a:r>
            </a:p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[Ne]</a:t>
              </a:r>
            </a:p>
          </p:txBody>
        </p:sp>
        <p:sp>
          <p:nvSpPr>
            <p:cNvPr id="41" name="BUILD box 3s 1"/>
            <p:cNvSpPr/>
            <p:nvPr/>
          </p:nvSpPr>
          <p:spPr>
            <a:xfrm>
              <a:off x="2569463" y="4169664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BUILD label 3s"/>
            <p:cNvSpPr txBox="1"/>
            <p:nvPr/>
          </p:nvSpPr>
          <p:spPr>
            <a:xfrm>
              <a:off x="2478023" y="4645152"/>
              <a:ext cx="64008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3s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2</a:t>
              </a:r>
            </a:p>
          </p:txBody>
        </p:sp>
        <p:sp>
          <p:nvSpPr>
            <p:cNvPr id="43" name="BUILD box 3p 1"/>
            <p:cNvSpPr/>
            <p:nvPr/>
          </p:nvSpPr>
          <p:spPr>
            <a:xfrm>
              <a:off x="3282696" y="4169664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BUILD box 3p 2"/>
            <p:cNvSpPr/>
            <p:nvPr/>
          </p:nvSpPr>
          <p:spPr>
            <a:xfrm>
              <a:off x="3785615" y="4169664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BUILD box 3p 3"/>
            <p:cNvSpPr/>
            <p:nvPr/>
          </p:nvSpPr>
          <p:spPr>
            <a:xfrm>
              <a:off x="4288536" y="4169664"/>
              <a:ext cx="4572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BUILD label 3p"/>
            <p:cNvSpPr txBox="1"/>
            <p:nvPr/>
          </p:nvSpPr>
          <p:spPr>
            <a:xfrm>
              <a:off x="3191256" y="4645152"/>
              <a:ext cx="1645920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3p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6</a:t>
              </a:r>
            </a:p>
          </p:txBody>
        </p:sp>
      </p:grpSp>
      <p:sp>
        <p:nvSpPr>
          <p:cNvPr id="47" name="BUILD arrow 3s box1 up"/>
          <p:cNvSpPr/>
          <p:nvPr/>
        </p:nvSpPr>
        <p:spPr>
          <a:xfrm>
            <a:off x="2649473" y="42565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UILD arrow 3s box1 down"/>
          <p:cNvSpPr/>
          <p:nvPr/>
        </p:nvSpPr>
        <p:spPr>
          <a:xfrm>
            <a:off x="2832353" y="42565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UILD arrow 3p box1 up"/>
          <p:cNvSpPr/>
          <p:nvPr/>
        </p:nvSpPr>
        <p:spPr>
          <a:xfrm>
            <a:off x="3362706" y="42565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UILD arrow 3p box2 up"/>
          <p:cNvSpPr/>
          <p:nvPr/>
        </p:nvSpPr>
        <p:spPr>
          <a:xfrm>
            <a:off x="3865626" y="42565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UILD arrow 3p box3 up"/>
          <p:cNvSpPr/>
          <p:nvPr/>
        </p:nvSpPr>
        <p:spPr>
          <a:xfrm>
            <a:off x="4368546" y="4256532"/>
            <a:ext cx="114300" cy="283464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UILD arrow 3p box1 down"/>
          <p:cNvSpPr/>
          <p:nvPr/>
        </p:nvSpPr>
        <p:spPr>
          <a:xfrm>
            <a:off x="3545586" y="42565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UILD arrow 3p box2 down"/>
          <p:cNvSpPr/>
          <p:nvPr/>
        </p:nvSpPr>
        <p:spPr>
          <a:xfrm>
            <a:off x="4048505" y="42565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UILD arrow 3p box3 down"/>
          <p:cNvSpPr/>
          <p:nvPr/>
        </p:nvSpPr>
        <p:spPr>
          <a:xfrm>
            <a:off x="4551425" y="4256532"/>
            <a:ext cx="114300" cy="283464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BUILD state"/>
          <p:cNvSpPr txBox="1"/>
          <p:nvPr/>
        </p:nvSpPr>
        <p:spPr>
          <a:xfrm>
            <a:off x="932688" y="4956047"/>
            <a:ext cx="45811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Cl ion: charge 1−, 18 electrons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More Ions, Same Move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Remove from the highest n, or fill the open spots in s and p.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88696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ALUMINUM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88696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Al: [Ne] 3s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[Ne]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13 → 10 electrons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3+</a:t>
            </a:r>
            <a:endParaRPr lang="en-US" sz="1600" dirty="0"/>
          </a:p>
        </p:txBody>
      </p:sp>
      <p:sp>
        <p:nvSpPr>
          <p:cNvPr id="6" name="Text 6"/>
          <p:cNvSpPr txBox="1"/>
          <p:nvPr>
            <p:ph idx="112" type="body" hasCustomPrompt="1"/>
          </p:nvPr>
        </p:nvSpPr>
        <p:spPr>
          <a:xfrm>
            <a:off x="449884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OXYGEN</a:t>
            </a:r>
            <a:endParaRPr lang="en-US" sz="1200" dirty="0"/>
          </a:p>
        </p:txBody>
      </p:sp>
      <p:sp>
        <p:nvSpPr>
          <p:cNvPr id="7" name="Text 6"/>
          <p:cNvSpPr txBox="1"/>
          <p:nvPr>
            <p:ph idx="113" type="body" hasCustomPrompt="1"/>
          </p:nvPr>
        </p:nvSpPr>
        <p:spPr>
          <a:xfrm>
            <a:off x="449884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O: 1s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2−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1s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[Ne], 10 electrons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2−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8110728" y="29535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BROMINE</a:t>
            </a:r>
            <a:endParaRPr lang="en-US" sz="1200" dirty="0"/>
          </a:p>
        </p:txBody>
      </p:sp>
      <p:sp>
        <p:nvSpPr>
          <p:cNvPr id="9" name="Text 7"/>
          <p:cNvSpPr txBox="1"/>
          <p:nvPr>
            <p:ph idx="116" type="body" hasCustomPrompt="1"/>
          </p:nvPr>
        </p:nvSpPr>
        <p:spPr>
          <a:xfrm>
            <a:off x="8110728" y="3246120"/>
            <a:ext cx="2999232" cy="16733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4p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4p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= [Kr], 36 electrons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1−</a:t>
            </a:r>
            <a:endParaRPr lang="en-US" sz="1600" dirty="0"/>
          </a:p>
        </p:txBody>
      </p:sp>
      <p:sp>
        <p:nvSpPr>
          <p:cNvPr id="10" name="Text 9"/>
          <p:cNvSpPr txBox="1"/>
          <p:nvPr>
            <p:ph idx="119" type="body" hasCustomPrompt="1"/>
          </p:nvPr>
        </p:nvSpPr>
        <p:spPr>
          <a:xfrm>
            <a:off x="2240280" y="548640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 cation loses from the highest n. An anion fills open spots in s and p.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0"/>
          <p:cNvSpPr txBox="1"/>
          <p:nvPr>
            <p:ph idx="121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8641080" y="1088136"/>
            <a:ext cx="26334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isoelectronic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Same Electrons, Different Atoms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Isoelectronic means the same number of electrons and the same configuration.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ALL TEN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of these has 10 electrons: 1s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2p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DIFFERENT NUCLEI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proton counts differ, so these are different particles. Their sizes differ too. Unit 3 explains why.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 IT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= protons − charge. Check any column.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Transition Metal Ions: 4s Leaves First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This is the rule that surprises people. Watch the order.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RULE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Remove electrons from the outermost s first: 4s.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Then take from 3d if more must go.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REASON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Once 3d has electrons, it sits lower in energy than 4s.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So 4s electrons leave first, even though 4s filled first.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Transition-metal ions lose their ns electrons before their (n−1)d electrons.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Iron: Fe, Fe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Fe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Both 4s electrons go first. The third comes out of 3d.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Fe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26 electrons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Fe</a:t>
            </a:r>
            <a:pPr indent="0" marL="0">
              <a:buNone/>
            </a:pPr>
            <a:r>
              <a:rPr lang="en-US" sz="1200" b="1" baseline="30000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[Ar]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24 electrons. Both 4s electrons left.</a:t>
            </a:r>
            <a:endParaRPr lang="en-US" sz="1600" dirty="0"/>
          </a:p>
        </p:txBody>
      </p:sp>
      <p:sp>
        <p:nvSpPr>
          <p:cNvPr id="8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Fe</a:t>
            </a:r>
            <a:pPr indent="0" marL="0">
              <a:buNone/>
            </a:pPr>
            <a:r>
              <a:rPr lang="en-US" sz="1200" b="1" baseline="30000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endParaRPr lang="en-US" sz="1200" dirty="0"/>
          </a:p>
        </p:txBody>
      </p:sp>
      <p:sp>
        <p:nvSpPr>
          <p:cNvPr id="9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[Ar]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23 electrons. One 3d electron leaves too.</a:t>
            </a:r>
            <a:endParaRPr lang="en-US" sz="1600" dirty="0"/>
          </a:p>
        </p:txBody>
      </p:sp>
      <p:sp>
        <p:nvSpPr>
          <p:cNvPr id="10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1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3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14" name="BUILD backdrop"/>
          <p:cNvSpPr/>
          <p:nvPr/>
        </p:nvSpPr>
        <p:spPr>
          <a:xfrm>
            <a:off x="914400" y="2651760"/>
            <a:ext cx="46177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BUILD boxes and labels"/>
          <p:cNvGrpSpPr/>
          <p:nvPr/>
        </p:nvGrpSpPr>
        <p:grpSpPr>
          <a:xfrm>
            <a:off x="932688" y="2925318"/>
            <a:ext cx="4581142" cy="1281684"/>
            <a:chOff x="932688" y="2925318"/>
            <a:chExt cx="4581142" cy="1281684"/>
          </a:xfrm>
        </p:grpSpPr>
        <p:sp>
          <p:nvSpPr>
            <p:cNvPr id="15" name="BUILD title"/>
            <p:cNvSpPr txBox="1"/>
            <p:nvPr/>
          </p:nvSpPr>
          <p:spPr>
            <a:xfrm>
              <a:off x="1024128" y="2925318"/>
              <a:ext cx="439826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Fe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3+</a:t>
              </a:r>
              <a:r>
                <a:rPr sz="1800" b="1">
                  <a:solidFill>
                    <a:srgbClr val="14161B"/>
                  </a:solidFill>
                  <a:latin typeface="Trade Gothic Next"/>
                </a:rPr>
                <a:t>  Z = 26  [Ar] CORE</a:t>
              </a:r>
            </a:p>
          </p:txBody>
        </p:sp>
        <p:sp>
          <p:nvSpPr>
            <p:cNvPr id="16" name="BUILD box 4s 1"/>
            <p:cNvSpPr/>
            <p:nvPr/>
          </p:nvSpPr>
          <p:spPr>
            <a:xfrm>
              <a:off x="1024128" y="3236214"/>
              <a:ext cx="659891" cy="65989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UILD label 4s"/>
            <p:cNvSpPr txBox="1"/>
            <p:nvPr/>
          </p:nvSpPr>
          <p:spPr>
            <a:xfrm>
              <a:off x="932688" y="3932682"/>
              <a:ext cx="842772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4s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0</a:t>
              </a:r>
            </a:p>
          </p:txBody>
        </p:sp>
        <p:sp>
          <p:nvSpPr>
            <p:cNvPr id="18" name="BUILD box 3d 1"/>
            <p:cNvSpPr/>
            <p:nvPr/>
          </p:nvSpPr>
          <p:spPr>
            <a:xfrm>
              <a:off x="1940052" y="3236214"/>
              <a:ext cx="659891" cy="65989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UILD box 3d 2"/>
            <p:cNvSpPr/>
            <p:nvPr/>
          </p:nvSpPr>
          <p:spPr>
            <a:xfrm>
              <a:off x="2645664" y="3236214"/>
              <a:ext cx="659891" cy="65989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UILD box 3d 3"/>
            <p:cNvSpPr/>
            <p:nvPr/>
          </p:nvSpPr>
          <p:spPr>
            <a:xfrm>
              <a:off x="3351276" y="3236214"/>
              <a:ext cx="659891" cy="65989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UILD box 3d 4"/>
            <p:cNvSpPr/>
            <p:nvPr/>
          </p:nvSpPr>
          <p:spPr>
            <a:xfrm>
              <a:off x="4056888" y="3236214"/>
              <a:ext cx="659891" cy="65989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UILD box 3d 5"/>
            <p:cNvSpPr/>
            <p:nvPr/>
          </p:nvSpPr>
          <p:spPr>
            <a:xfrm>
              <a:off x="4762500" y="3236214"/>
              <a:ext cx="659891" cy="65989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BUILD label 3d"/>
            <p:cNvSpPr txBox="1"/>
            <p:nvPr/>
          </p:nvSpPr>
          <p:spPr>
            <a:xfrm>
              <a:off x="1848611" y="3932682"/>
              <a:ext cx="3665219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3d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5</a:t>
              </a:r>
            </a:p>
          </p:txBody>
        </p:sp>
      </p:grpSp>
      <p:sp>
        <p:nvSpPr>
          <p:cNvPr id="26" name="BUILD arrow 3d box1 up"/>
          <p:cNvSpPr/>
          <p:nvPr/>
        </p:nvSpPr>
        <p:spPr>
          <a:xfrm>
            <a:off x="2055533" y="3361593"/>
            <a:ext cx="164972" cy="409133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ILD arrow 3d box2 up"/>
          <p:cNvSpPr/>
          <p:nvPr/>
        </p:nvSpPr>
        <p:spPr>
          <a:xfrm>
            <a:off x="2761145" y="3361593"/>
            <a:ext cx="164972" cy="409133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ILD arrow 3d box3 up"/>
          <p:cNvSpPr/>
          <p:nvPr/>
        </p:nvSpPr>
        <p:spPr>
          <a:xfrm>
            <a:off x="3466757" y="3361593"/>
            <a:ext cx="164972" cy="409133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ILD arrow 3d box4 up"/>
          <p:cNvSpPr/>
          <p:nvPr/>
        </p:nvSpPr>
        <p:spPr>
          <a:xfrm>
            <a:off x="4172369" y="3361593"/>
            <a:ext cx="164972" cy="409133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UILD arrow 3d box5 up"/>
          <p:cNvSpPr/>
          <p:nvPr/>
        </p:nvSpPr>
        <p:spPr>
          <a:xfrm>
            <a:off x="4877981" y="3361593"/>
            <a:ext cx="164972" cy="409133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UILD caption"/>
          <p:cNvSpPr txBox="1"/>
          <p:nvPr/>
        </p:nvSpPr>
        <p:spPr>
          <a:xfrm>
            <a:off x="1024128" y="4243578"/>
            <a:ext cx="43982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D730E"/>
                </a:solidFill>
                <a:latin typeface="Trade Gothic Next"/>
              </a:rPr>
              <a:t>Highest n is 4: 4s leaves first</a:t>
            </a:r>
          </a:p>
        </p:txBody>
      </p:sp>
      <p:sp>
        <p:nvSpPr>
          <p:cNvPr id="35" name="BUILD state"/>
          <p:cNvSpPr txBox="1"/>
          <p:nvPr/>
        </p:nvSpPr>
        <p:spPr>
          <a:xfrm>
            <a:off x="1024128" y="4536186"/>
            <a:ext cx="43982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Fe: charge 0, 26 electrons</a:t>
            </a:r>
          </a:p>
        </p:txBody>
      </p:sp>
      <p:sp>
        <p:nvSpPr>
          <p:cNvPr id="36" name="BUILD state"/>
          <p:cNvSpPr txBox="1"/>
          <p:nvPr/>
        </p:nvSpPr>
        <p:spPr>
          <a:xfrm>
            <a:off x="1024128" y="4828794"/>
            <a:ext cx="43982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Fe</a:t>
            </a:r>
            <a:r>
              <a:rPr sz="1800" b="1" baseline="30000">
                <a:solidFill>
                  <a:srgbClr val="14161B"/>
                </a:solidFill>
                <a:latin typeface="Trade Gothic Next"/>
              </a:rPr>
              <a:t>3+</a:t>
            </a:r>
            <a:r>
              <a:rPr sz="1800" b="1">
                <a:solidFill>
                  <a:srgbClr val="14161B"/>
                </a:solidFill>
                <a:latin typeface="Trade Gothic Next"/>
              </a:rPr>
              <a:t>: charge 3+, 23 electrons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Zn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Cu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Cu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Same rule as iron. Copy the setup, not just the answer.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the [Ar] shorthand for Zn</a:t>
            </a:r>
            <a:pPr indent="0" marL="0">
              <a:buNone/>
            </a:pPr>
            <a:r>
              <a:rPr lang="en-US" sz="1600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Cu</a:t>
            </a:r>
            <a:pPr indent="0" marL="0">
              <a:buNone/>
            </a:pPr>
            <a:r>
              <a:rPr lang="en-US" sz="1600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Cu</a:t>
            </a:r>
            <a:pPr indent="0" marL="0">
              <a:buNone/>
            </a:pPr>
            <a:r>
              <a:rPr lang="en-US" sz="1600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Cu: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3d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Electrons to remove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Which sublevel they leave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ion's shorthand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Take the 4s electrons first. Only then take from 3d.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Cu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Cu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None of these ends at a noble gas configuration.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Take 4s first, then 3d.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 30 → 28. Cu 29 → 28 or 27.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[Ar] 3d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Cu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[Ar] 3d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Cu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: 4s, then one 3d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→ [Ar] 3d</a:t>
            </a:r>
            <a:pPr indent="0" marL="0">
              <a:buNone/>
            </a:pPr>
            <a:r>
              <a:rPr lang="en-US" sz="19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9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Zn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and Cu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are both [Ar] 3d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10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 Cu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 is [Ar] 3d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9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Why Calcium Forms Ca</a:t>
            </a:r>
            <a:pPr algn="l" indent="0" marL="0">
              <a:buNone/>
            </a:pPr>
            <a:r>
              <a:rPr lang="en-US" sz="28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 valence electrons first. The count tells you the move.</a:t>
            </a:r>
            <a:endParaRPr lang="en-US" sz="1700" dirty="0"/>
          </a:p>
        </p:txBody>
      </p:sp>
      <p:sp>
        <p:nvSpPr>
          <p:cNvPr id="4" name="Text 4"/>
          <p:cNvSpPr txBox="1"/>
          <p:nvPr>
            <p:ph idx="108" type="body" hasCustomPrompt="1"/>
          </p:nvPr>
        </p:nvSpPr>
        <p:spPr>
          <a:xfrm>
            <a:off x="573328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ATOM</a:t>
            </a:r>
            <a:endParaRPr lang="en-US" sz="1200" dirty="0"/>
          </a:p>
        </p:txBody>
      </p:sp>
      <p:sp>
        <p:nvSpPr>
          <p:cNvPr id="5" name="Text 4"/>
          <p:cNvSpPr txBox="1"/>
          <p:nvPr>
            <p:ph idx="109" type="body" hasCustomPrompt="1"/>
          </p:nvPr>
        </p:nvSpPr>
        <p:spPr>
          <a:xfrm>
            <a:off x="573328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Ca: [Ar] 4s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 valence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2, not gain 6: the fewest wins.</a:t>
            </a:r>
            <a:endParaRPr lang="en-US" sz="1600" dirty="0"/>
          </a:p>
        </p:txBody>
      </p:sp>
      <p:sp>
        <p:nvSpPr>
          <p:cNvPr id="6" name="Text 5"/>
          <p:cNvSpPr txBox="1"/>
          <p:nvPr>
            <p:ph idx="111" type="body" hasCustomPrompt="1"/>
          </p:nvPr>
        </p:nvSpPr>
        <p:spPr>
          <a:xfrm>
            <a:off x="9116568" y="2542032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THE ION</a:t>
            </a:r>
            <a:endParaRPr lang="en-US" sz="1200" dirty="0"/>
          </a:p>
        </p:txBody>
      </p:sp>
      <p:sp>
        <p:nvSpPr>
          <p:cNvPr id="7" name="Text 5"/>
          <p:cNvSpPr txBox="1"/>
          <p:nvPr>
            <p:ph idx="112" type="body" hasCustomPrompt="1"/>
          </p:nvPr>
        </p:nvSpPr>
        <p:spPr>
          <a:xfrm>
            <a:off x="9116568" y="2834640"/>
            <a:ext cx="2752344" cy="1965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both 4s electrons: [Ar].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18 electrons, 20 protons.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Charge: 20 − 18 = 2+</a:t>
            </a:r>
            <a:endParaRPr lang="en-US" sz="1600" dirty="0"/>
          </a:p>
        </p:txBody>
      </p:sp>
      <p:sp>
        <p:nvSpPr>
          <p:cNvPr id="8" name="Text 7"/>
          <p:cNvSpPr txBox="1"/>
          <p:nvPr>
            <p:ph idx="115" type="body" hasCustomPrompt="1"/>
          </p:nvPr>
        </p:nvSpPr>
        <p:spPr>
          <a:xfrm>
            <a:off x="2240280" y="539496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 has 2 valence electrons. Losing both leaves [Ar], so Ca forms Ca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0" name="Text 8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2" name="Text 3"/>
          <p:cNvSpPr txBox="1"/>
          <p:nvPr>
            <p:ph idx="106" hasCustomPrompt="1"/>
          </p:nvPr>
        </p:nvSpPr>
        <p:spPr>
          <a:xfrm>
            <a:off x="685800" y="2377440"/>
            <a:ext cx="46634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BUILD backdrop"/>
          <p:cNvSpPr/>
          <p:nvPr/>
        </p:nvSpPr>
        <p:spPr>
          <a:xfrm>
            <a:off x="685800" y="2377440"/>
            <a:ext cx="4663440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" name="BUILD boxes and labels"/>
          <p:cNvGrpSpPr/>
          <p:nvPr/>
        </p:nvGrpSpPr>
        <p:grpSpPr>
          <a:xfrm>
            <a:off x="795528" y="2487168"/>
            <a:ext cx="4443983" cy="1234439"/>
            <a:chOff x="795528" y="2487168"/>
            <a:chExt cx="4443983" cy="1234439"/>
          </a:xfrm>
        </p:grpSpPr>
        <p:sp>
          <p:nvSpPr>
            <p:cNvPr id="14" name="BUILD title"/>
            <p:cNvSpPr txBox="1"/>
            <p:nvPr/>
          </p:nvSpPr>
          <p:spPr>
            <a:xfrm>
              <a:off x="795528" y="2487168"/>
              <a:ext cx="4443983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Ca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2+</a:t>
              </a:r>
              <a:r>
                <a:rPr sz="1800" b="1">
                  <a:solidFill>
                    <a:srgbClr val="14161B"/>
                  </a:solidFill>
                  <a:latin typeface="Trade Gothic Next"/>
                </a:rPr>
                <a:t>  Z = 20  [Ne] CORE</a:t>
              </a:r>
            </a:p>
          </p:txBody>
        </p:sp>
        <p:sp>
          <p:nvSpPr>
            <p:cNvPr id="15" name="BUILD box 3s 1"/>
            <p:cNvSpPr/>
            <p:nvPr/>
          </p:nvSpPr>
          <p:spPr>
            <a:xfrm>
              <a:off x="1184147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BUILD label 3s"/>
            <p:cNvSpPr txBox="1"/>
            <p:nvPr/>
          </p:nvSpPr>
          <p:spPr>
            <a:xfrm>
              <a:off x="1092707" y="3447287"/>
              <a:ext cx="795528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3s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2</a:t>
              </a:r>
            </a:p>
          </p:txBody>
        </p:sp>
        <p:sp>
          <p:nvSpPr>
            <p:cNvPr id="17" name="BUILD box 3p 1"/>
            <p:cNvSpPr/>
            <p:nvPr/>
          </p:nvSpPr>
          <p:spPr>
            <a:xfrm>
              <a:off x="2052827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BUILD box 3p 2"/>
            <p:cNvSpPr/>
            <p:nvPr/>
          </p:nvSpPr>
          <p:spPr>
            <a:xfrm>
              <a:off x="2711196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UILD box 3p 3"/>
            <p:cNvSpPr/>
            <p:nvPr/>
          </p:nvSpPr>
          <p:spPr>
            <a:xfrm>
              <a:off x="3369564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UILD label 3p"/>
            <p:cNvSpPr txBox="1"/>
            <p:nvPr/>
          </p:nvSpPr>
          <p:spPr>
            <a:xfrm>
              <a:off x="1961387" y="3447287"/>
              <a:ext cx="2112264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3p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6</a:t>
              </a:r>
            </a:p>
          </p:txBody>
        </p:sp>
        <p:sp>
          <p:nvSpPr>
            <p:cNvPr id="21" name="BUILD box 4s 1"/>
            <p:cNvSpPr/>
            <p:nvPr/>
          </p:nvSpPr>
          <p:spPr>
            <a:xfrm>
              <a:off x="4238244" y="2798063"/>
              <a:ext cx="612648" cy="61264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UILD label 4s"/>
            <p:cNvSpPr txBox="1"/>
            <p:nvPr/>
          </p:nvSpPr>
          <p:spPr>
            <a:xfrm>
              <a:off x="4146804" y="3447287"/>
              <a:ext cx="795528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4s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0</a:t>
              </a:r>
            </a:p>
          </p:txBody>
        </p:sp>
      </p:grpSp>
      <p:sp>
        <p:nvSpPr>
          <p:cNvPr id="23" name="BUILD arrow 3s box1 up"/>
          <p:cNvSpPr/>
          <p:nvPr/>
        </p:nvSpPr>
        <p:spPr>
          <a:xfrm>
            <a:off x="1291361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UILD arrow 3s box1 down"/>
          <p:cNvSpPr/>
          <p:nvPr/>
        </p:nvSpPr>
        <p:spPr>
          <a:xfrm>
            <a:off x="1536420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UILD arrow 3p box1 up"/>
          <p:cNvSpPr/>
          <p:nvPr/>
        </p:nvSpPr>
        <p:spPr>
          <a:xfrm>
            <a:off x="2160041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UILD arrow 3p box2 up"/>
          <p:cNvSpPr/>
          <p:nvPr/>
        </p:nvSpPr>
        <p:spPr>
          <a:xfrm>
            <a:off x="2818409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ILD arrow 3p box3 up"/>
          <p:cNvSpPr/>
          <p:nvPr/>
        </p:nvSpPr>
        <p:spPr>
          <a:xfrm>
            <a:off x="3476777" y="2914467"/>
            <a:ext cx="153162" cy="379841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ILD arrow 3p box1 down"/>
          <p:cNvSpPr/>
          <p:nvPr/>
        </p:nvSpPr>
        <p:spPr>
          <a:xfrm>
            <a:off x="2405100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ILD arrow 3p box2 down"/>
          <p:cNvSpPr/>
          <p:nvPr/>
        </p:nvSpPr>
        <p:spPr>
          <a:xfrm>
            <a:off x="3063468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UILD arrow 3p box3 down"/>
          <p:cNvSpPr/>
          <p:nvPr/>
        </p:nvSpPr>
        <p:spPr>
          <a:xfrm>
            <a:off x="3721836" y="2914467"/>
            <a:ext cx="153162" cy="379841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ILD caption"/>
          <p:cNvSpPr txBox="1"/>
          <p:nvPr/>
        </p:nvSpPr>
        <p:spPr>
          <a:xfrm>
            <a:off x="795528" y="3758183"/>
            <a:ext cx="444398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D730E"/>
                </a:solidFill>
                <a:latin typeface="Trade Gothic Next"/>
              </a:rPr>
              <a:t>Valence electrons leave first: this is the outermost level</a:t>
            </a:r>
          </a:p>
        </p:txBody>
      </p:sp>
      <p:sp>
        <p:nvSpPr>
          <p:cNvPr id="36" name="BUILD state"/>
          <p:cNvSpPr txBox="1"/>
          <p:nvPr/>
        </p:nvSpPr>
        <p:spPr>
          <a:xfrm>
            <a:off x="795528" y="4306824"/>
            <a:ext cx="444398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Ca: charge 0, 20 electrons</a:t>
            </a:r>
          </a:p>
        </p:txBody>
      </p:sp>
      <p:sp>
        <p:nvSpPr>
          <p:cNvPr id="37" name="BUILD state"/>
          <p:cNvSpPr txBox="1"/>
          <p:nvPr/>
        </p:nvSpPr>
        <p:spPr>
          <a:xfrm>
            <a:off x="795528" y="4599432"/>
            <a:ext cx="444398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Ca</a:t>
            </a:r>
            <a:r>
              <a:rPr sz="1800" b="1" baseline="30000">
                <a:solidFill>
                  <a:srgbClr val="14161B"/>
                </a:solidFill>
                <a:latin typeface="Trade Gothic Next"/>
              </a:rPr>
              <a:t>2+</a:t>
            </a:r>
            <a:r>
              <a:rPr sz="1800" b="1">
                <a:solidFill>
                  <a:srgbClr val="14161B"/>
                </a:solidFill>
                <a:latin typeface="Trade Gothic Next"/>
              </a:rPr>
              <a:t> = [Ar]: charge 2+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Work/templates/slide/assets/chem_u02_s2.4_charge_b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4617720" cy="2743200"/>
          </a:xfrm>
          <a:prstGeom prst="rect">
            <a:avLst/>
          </a:prstGeom>
        </p:spPr>
      </p:pic>
      <p:sp>
        <p:nvSpPr>
          <p:cNvPr id="3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Predict the Charge</a:t>
            </a:r>
            <a:endParaRPr lang="en-US" sz="2800" dirty="0"/>
          </a:p>
        </p:txBody>
      </p:sp>
      <p:sp>
        <p:nvSpPr>
          <p:cNvPr id="4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or gain the fewest electrons to reach 8. Unit 3 will explain the energy side.</a:t>
            </a:r>
            <a:endParaRPr lang="en-US" sz="1700" dirty="0"/>
          </a:p>
        </p:txBody>
      </p:sp>
      <p:sp>
        <p:nvSpPr>
          <p:cNvPr id="5" name="Text 4"/>
          <p:cNvSpPr txBox="1"/>
          <p:nvPr>
            <p:ph idx="108" type="body" hasCustomPrompt="1"/>
          </p:nvPr>
        </p:nvSpPr>
        <p:spPr>
          <a:xfrm>
            <a:off x="6327648" y="256032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</a:t>
            </a:r>
            <a:endParaRPr lang="en-US" sz="1200" dirty="0"/>
          </a:p>
        </p:txBody>
      </p:sp>
      <p:sp>
        <p:nvSpPr>
          <p:cNvPr id="6" name="Text 4"/>
          <p:cNvSpPr txBox="1"/>
          <p:nvPr>
            <p:ph idx="109" type="body" hasCustomPrompt="1"/>
          </p:nvPr>
        </p:nvSpPr>
        <p:spPr>
          <a:xfrm>
            <a:off x="6327648" y="2852928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1, 2, 13 lose all their valence electrons.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Charges 1+, 2+, 3+.</a:t>
            </a:r>
            <a:endParaRPr lang="en-US" sz="1600" dirty="0"/>
          </a:p>
        </p:txBody>
      </p:sp>
      <p:sp>
        <p:nvSpPr>
          <p:cNvPr id="7" name="Text 5"/>
          <p:cNvSpPr txBox="1"/>
          <p:nvPr>
            <p:ph idx="111" type="body" hasCustomPrompt="1"/>
          </p:nvPr>
        </p:nvSpPr>
        <p:spPr>
          <a:xfrm>
            <a:off x="6327648" y="36941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GAIN</a:t>
            </a:r>
            <a:endParaRPr lang="en-US" sz="1200" dirty="0"/>
          </a:p>
        </p:txBody>
      </p:sp>
      <p:sp>
        <p:nvSpPr>
          <p:cNvPr id="8" name="Text 5"/>
          <p:cNvSpPr txBox="1"/>
          <p:nvPr>
            <p:ph idx="112" type="body" hasCustomPrompt="1"/>
          </p:nvPr>
        </p:nvSpPr>
        <p:spPr>
          <a:xfrm>
            <a:off x="6327648" y="3986784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Groups 15, 16, 17 gain 3, 2, 1 to reach 8.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Charges 3−, 2−, 1−.</a:t>
            </a:r>
            <a:endParaRPr lang="en-US" sz="1600" dirty="0"/>
          </a:p>
        </p:txBody>
      </p:sp>
      <p:sp>
        <p:nvSpPr>
          <p:cNvPr id="9" name="Text 6"/>
          <p:cNvSpPr txBox="1"/>
          <p:nvPr>
            <p:ph idx="114" type="body" hasCustomPrompt="1"/>
          </p:nvPr>
        </p:nvSpPr>
        <p:spPr>
          <a:xfrm>
            <a:off x="6327648" y="4828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NOT PREDICTED HERE</a:t>
            </a:r>
            <a:endParaRPr lang="en-US" sz="1200" dirty="0"/>
          </a:p>
        </p:txBody>
      </p:sp>
      <p:sp>
        <p:nvSpPr>
          <p:cNvPr id="10" name="Text 6"/>
          <p:cNvSpPr txBox="1"/>
          <p:nvPr>
            <p:ph idx="115" type="body" hasCustomPrompt="1"/>
          </p:nvPr>
        </p:nvSpPr>
        <p:spPr>
          <a:xfrm>
            <a:off x="6327648" y="5120640"/>
            <a:ext cx="5129784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Group 14 and the transition metals. Group 18 is already full.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7"/>
          <p:cNvSpPr txBox="1"/>
          <p:nvPr>
            <p:ph idx="117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3"/>
          <p:cNvSpPr txBox="1"/>
          <p:nvPr>
            <p:ph idx="106" type="body" hasCustomPrompt="1"/>
          </p:nvPr>
        </p:nvSpPr>
        <p:spPr>
          <a:xfrm>
            <a:off x="914400" y="26517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Example: Predict the Ions of Mg, Al, S, Br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We do this one together. Copy the setup, not just the answer.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886968" y="2798064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Use valence electrons to predict each ion. Give the move, the result, and the charge.</a:t>
            </a:r>
            <a:endParaRPr lang="en-US" sz="1600" dirty="0"/>
          </a:p>
        </p:txBody>
      </p:sp>
      <p:sp>
        <p:nvSpPr>
          <p:cNvPr id="5" name="Text 7"/>
          <p:cNvSpPr txBox="1"/>
          <p:nvPr>
            <p:ph idx="112" type="body" hasCustomPrompt="1"/>
          </p:nvPr>
        </p:nvSpPr>
        <p:spPr>
          <a:xfrm>
            <a:off x="88696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GIVEN</a:t>
            </a:r>
            <a:endParaRPr lang="en-US" sz="12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8696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Mg: group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Al: group 13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S: group 16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Br: group 17</a:t>
            </a:r>
            <a:endParaRPr lang="en-US" sz="16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675888" y="3776472"/>
            <a:ext cx="220370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NEED</a:t>
            </a:r>
            <a:endParaRPr lang="en-US" sz="1200" dirty="0"/>
          </a:p>
        </p:txBody>
      </p:sp>
      <p:sp>
        <p:nvSpPr>
          <p:cNvPr id="8" name="Text 8"/>
          <p:cNvSpPr txBox="1"/>
          <p:nvPr>
            <p:ph idx="116" type="body" hasCustomPrompt="1"/>
          </p:nvPr>
        </p:nvSpPr>
        <p:spPr>
          <a:xfrm>
            <a:off x="3675888" y="4069080"/>
            <a:ext cx="2203704" cy="107899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or gain how many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Noble gas and charge</a:t>
            </a:r>
            <a:endParaRPr lang="en-US" sz="16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464808" y="2880360"/>
            <a:ext cx="4837176" cy="2286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9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2240280" y="5605272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Lose or gain the fewest electrons to reach 8 valence electrons.</a:t>
            </a:r>
            <a:endParaRPr lang="en-US" sz="1600" dirty="0"/>
          </a:p>
        </p:txBody>
      </p:sp>
      <p:sp>
        <p:nvSpPr>
          <p:cNvPr id="11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2" name="Text 13"/>
          <p:cNvSpPr txBox="1"/>
          <p:nvPr>
            <p:ph idx="124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4" name="Text 4"/>
          <p:cNvSpPr txBox="1"/>
          <p:nvPr>
            <p:ph idx="107" hasCustomPrompt="1"/>
          </p:nvPr>
        </p:nvSpPr>
        <p:spPr>
          <a:xfrm>
            <a:off x="9262872" y="1088136"/>
            <a:ext cx="19019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Mg, Al, S, and Br Ions, Worked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Count, move, result, charge. Check the electron count at the end.</a:t>
            </a:r>
            <a:endParaRPr lang="en-US" sz="1700" dirty="0"/>
          </a:p>
        </p:txBody>
      </p:sp>
      <p:sp>
        <p:nvSpPr>
          <p:cNvPr id="4" name="Text 5"/>
          <p:cNvSpPr txBox="1"/>
          <p:nvPr>
            <p:ph idx="109" type="body" hasCustomPrompt="1"/>
          </p:nvPr>
        </p:nvSpPr>
        <p:spPr>
          <a:xfrm>
            <a:off x="5276088" y="2560320"/>
            <a:ext cx="2752344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SETUP</a:t>
            </a:r>
            <a:endParaRPr lang="en-US" sz="1200" dirty="0"/>
          </a:p>
        </p:txBody>
      </p:sp>
      <p:sp>
        <p:nvSpPr>
          <p:cNvPr id="5" name="Text 5"/>
          <p:cNvSpPr txBox="1"/>
          <p:nvPr>
            <p:ph idx="110" type="body" hasCustomPrompt="1"/>
          </p:nvPr>
        </p:nvSpPr>
        <p:spPr>
          <a:xfrm>
            <a:off x="5276088" y="2852928"/>
            <a:ext cx="2752344" cy="190195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Each line reads: valence,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move, noble gas, charge.</a:t>
            </a:r>
            <a:endParaRPr lang="en-US" sz="1600" dirty="0"/>
          </a:p>
        </p:txBody>
      </p:sp>
      <p:sp>
        <p:nvSpPr>
          <p:cNvPr id="6" name="Text 7"/>
          <p:cNvSpPr txBox="1"/>
          <p:nvPr>
            <p:ph idx="113" type="body" hasCustomPrompt="1"/>
          </p:nvPr>
        </p:nvSpPr>
        <p:spPr>
          <a:xfrm>
            <a:off x="8613648" y="2871216"/>
            <a:ext cx="2688336" cy="1920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Mg: 2, lose 2, [Ne], 2+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Al: 3, lose 3, [Ne], 3+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S: 6, gain 2, [Ar], 2−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Br: 7, gain 1, [Kr], 1−</a:t>
            </a:r>
            <a:endParaRPr lang="en-US" sz="1900" dirty="0"/>
          </a:p>
        </p:txBody>
      </p:sp>
      <p:sp>
        <p:nvSpPr>
          <p:cNvPr id="7" name="Text 9"/>
          <p:cNvSpPr txBox="1"/>
          <p:nvPr>
            <p:ph idx="116" type="body" hasCustomPrompt="1"/>
          </p:nvPr>
        </p:nvSpPr>
        <p:spPr>
          <a:xfrm>
            <a:off x="2240280" y="5212080"/>
            <a:ext cx="8991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Mg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Al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S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2−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Br</a:t>
            </a:r>
            <a:pPr indent="0" marL="0">
              <a:buNone/>
            </a:pPr>
            <a:r>
              <a:rPr lang="en-US" sz="1600" b="1" baseline="30000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−</a:t>
            </a:r>
            <a:pPr indent="0" marL="0">
              <a:buNone/>
            </a:pPr>
            <a:r>
              <a:rPr lang="en-US" sz="1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 Each move ends at a noble gas configuration.</a:t>
            </a:r>
            <a:endParaRPr lang="en-US" sz="1600" dirty="0"/>
          </a:p>
        </p:txBody>
      </p:sp>
      <p:sp>
        <p:nvSpPr>
          <p:cNvPr id="8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9" name="Text 10"/>
          <p:cNvSpPr txBox="1"/>
          <p:nvPr>
            <p:ph idx="118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1" name="Text 4"/>
          <p:cNvSpPr txBox="1"/>
          <p:nvPr>
            <p:ph idx="107" hasCustomPrompt="1"/>
          </p:nvPr>
        </p:nvSpPr>
        <p:spPr>
          <a:xfrm>
            <a:off x="832104" y="2542032"/>
            <a:ext cx="38679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BUILD backdrop"/>
          <p:cNvSpPr/>
          <p:nvPr/>
        </p:nvSpPr>
        <p:spPr>
          <a:xfrm>
            <a:off x="832104" y="2542032"/>
            <a:ext cx="3867912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BUILD boxes and labels"/>
          <p:cNvGrpSpPr/>
          <p:nvPr/>
        </p:nvGrpSpPr>
        <p:grpSpPr>
          <a:xfrm>
            <a:off x="891540" y="2651759"/>
            <a:ext cx="3749040" cy="1426464"/>
            <a:chOff x="891540" y="2651759"/>
            <a:chExt cx="3749040" cy="1426464"/>
          </a:xfrm>
        </p:grpSpPr>
        <p:sp>
          <p:nvSpPr>
            <p:cNvPr id="13" name="BUILD title"/>
            <p:cNvSpPr txBox="1"/>
            <p:nvPr/>
          </p:nvSpPr>
          <p:spPr>
            <a:xfrm>
              <a:off x="941832" y="2651759"/>
              <a:ext cx="364845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SULFUR ION  Z = 16  [Ne] CORE</a:t>
              </a:r>
            </a:p>
          </p:txBody>
        </p:sp>
        <p:sp>
          <p:nvSpPr>
            <p:cNvPr id="14" name="BUILD box 3s 1"/>
            <p:cNvSpPr/>
            <p:nvPr/>
          </p:nvSpPr>
          <p:spPr>
            <a:xfrm>
              <a:off x="982980" y="2962655"/>
              <a:ext cx="804672" cy="8046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BUILD label 3s"/>
            <p:cNvSpPr txBox="1"/>
            <p:nvPr/>
          </p:nvSpPr>
          <p:spPr>
            <a:xfrm>
              <a:off x="891540" y="3803903"/>
              <a:ext cx="987552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3s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2</a:t>
              </a:r>
            </a:p>
          </p:txBody>
        </p:sp>
        <p:sp>
          <p:nvSpPr>
            <p:cNvPr id="16" name="BUILD box 3p 1"/>
            <p:cNvSpPr/>
            <p:nvPr/>
          </p:nvSpPr>
          <p:spPr>
            <a:xfrm>
              <a:off x="2043684" y="2962655"/>
              <a:ext cx="804672" cy="8046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UILD box 3p 2"/>
            <p:cNvSpPr/>
            <p:nvPr/>
          </p:nvSpPr>
          <p:spPr>
            <a:xfrm>
              <a:off x="2894076" y="2962655"/>
              <a:ext cx="804672" cy="8046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BUILD box 3p 3"/>
            <p:cNvSpPr/>
            <p:nvPr/>
          </p:nvSpPr>
          <p:spPr>
            <a:xfrm>
              <a:off x="3744468" y="2962655"/>
              <a:ext cx="804672" cy="80467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14161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UILD label 3p"/>
            <p:cNvSpPr txBox="1"/>
            <p:nvPr/>
          </p:nvSpPr>
          <p:spPr>
            <a:xfrm>
              <a:off x="1952244" y="3803903"/>
              <a:ext cx="2688336" cy="27432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1">
                  <a:solidFill>
                    <a:srgbClr val="14161B"/>
                  </a:solidFill>
                  <a:latin typeface="Trade Gothic Next"/>
                </a:rPr>
                <a:t>3p</a:t>
              </a:r>
              <a:r>
                <a:rPr sz="1800" b="1" baseline="30000">
                  <a:solidFill>
                    <a:srgbClr val="14161B"/>
                  </a:solidFill>
                  <a:latin typeface="Trade Gothic Next"/>
                </a:rPr>
                <a:t>6</a:t>
              </a:r>
            </a:p>
          </p:txBody>
        </p:sp>
      </p:grpSp>
      <p:sp>
        <p:nvSpPr>
          <p:cNvPr id="20" name="BUILD arrow 3s box1 up"/>
          <p:cNvSpPr/>
          <p:nvPr/>
        </p:nvSpPr>
        <p:spPr>
          <a:xfrm>
            <a:off x="1123797" y="3115543"/>
            <a:ext cx="201168" cy="498896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UILD arrow 3s box1 down"/>
          <p:cNvSpPr/>
          <p:nvPr/>
        </p:nvSpPr>
        <p:spPr>
          <a:xfrm>
            <a:off x="1445666" y="3115543"/>
            <a:ext cx="201168" cy="498896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UILD arrow 3p box1 up"/>
          <p:cNvSpPr/>
          <p:nvPr/>
        </p:nvSpPr>
        <p:spPr>
          <a:xfrm>
            <a:off x="2184501" y="3115543"/>
            <a:ext cx="201168" cy="498896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UILD arrow 3p box2 up"/>
          <p:cNvSpPr/>
          <p:nvPr/>
        </p:nvSpPr>
        <p:spPr>
          <a:xfrm>
            <a:off x="3034893" y="3115543"/>
            <a:ext cx="201168" cy="498896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UILD arrow 3p box3 up"/>
          <p:cNvSpPr/>
          <p:nvPr/>
        </p:nvSpPr>
        <p:spPr>
          <a:xfrm>
            <a:off x="3885285" y="3115543"/>
            <a:ext cx="201168" cy="498896"/>
          </a:xfrm>
          <a:prstGeom prst="up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UILD arrow 3p box1 down"/>
          <p:cNvSpPr/>
          <p:nvPr/>
        </p:nvSpPr>
        <p:spPr>
          <a:xfrm>
            <a:off x="2506370" y="3115543"/>
            <a:ext cx="201168" cy="498896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UILD arrow 3p box2 down"/>
          <p:cNvSpPr/>
          <p:nvPr/>
        </p:nvSpPr>
        <p:spPr>
          <a:xfrm>
            <a:off x="3356762" y="3115543"/>
            <a:ext cx="201168" cy="498896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ILD arrow 3p box3 down"/>
          <p:cNvSpPr/>
          <p:nvPr/>
        </p:nvSpPr>
        <p:spPr>
          <a:xfrm>
            <a:off x="4207154" y="3115543"/>
            <a:ext cx="201168" cy="498896"/>
          </a:xfrm>
          <a:prstGeom prst="downArrow">
            <a:avLst>
              <a:gd name="adj1" fmla="val 34000"/>
              <a:gd name="adj2" fmla="val 70000"/>
            </a:avLst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ILD caption"/>
          <p:cNvSpPr txBox="1"/>
          <p:nvPr/>
        </p:nvSpPr>
        <p:spPr>
          <a:xfrm>
            <a:off x="941832" y="4114799"/>
            <a:ext cx="3648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D730E"/>
                </a:solidFill>
                <a:latin typeface="Trade Gothic Next"/>
              </a:rPr>
              <a:t>6 valence + 2 gained = 8</a:t>
            </a:r>
          </a:p>
        </p:txBody>
      </p:sp>
      <p:sp>
        <p:nvSpPr>
          <p:cNvPr id="29" name="BUILD state"/>
          <p:cNvSpPr txBox="1"/>
          <p:nvPr/>
        </p:nvSpPr>
        <p:spPr>
          <a:xfrm>
            <a:off x="941832" y="4407407"/>
            <a:ext cx="36484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4161B"/>
                </a:solidFill>
                <a:latin typeface="Trade Gothic Next"/>
              </a:rPr>
              <a:t>S ion: charge 2−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>
            <p:ph idx="103" type="title" hasCustomPrompt="1"/>
          </p:nvPr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Check Yourself</a:t>
            </a:r>
            <a:endParaRPr lang="en-US" sz="2800" dirty="0"/>
          </a:p>
        </p:txBody>
      </p:sp>
      <p:sp>
        <p:nvSpPr>
          <p:cNvPr id="3" name="Text 2"/>
          <p:cNvSpPr txBox="1"/>
          <p:nvPr>
            <p:ph idx="104" type="body" hasCustomPrompt="1"/>
          </p:nvPr>
        </p:nvSpPr>
        <p:spPr>
          <a:xfrm>
            <a:off x="685800" y="184708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Work these in your notes. We compare in a minute.</a:t>
            </a:r>
            <a:endParaRPr lang="en-US" sz="1700" dirty="0"/>
          </a:p>
        </p:txBody>
      </p:sp>
      <p:sp>
        <p:nvSpPr>
          <p:cNvPr id="4" name="Text 6"/>
          <p:cNvSpPr txBox="1"/>
          <p:nvPr>
            <p:ph idx="110" type="body" hasCustomPrompt="1"/>
          </p:nvPr>
        </p:nvSpPr>
        <p:spPr>
          <a:xfrm>
            <a:off x="123444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</a:t>
            </a:r>
            <a:endParaRPr lang="en-US" sz="1200" dirty="0"/>
          </a:p>
        </p:txBody>
      </p:sp>
      <p:sp>
        <p:nvSpPr>
          <p:cNvPr id="5" name="Text 6"/>
          <p:cNvSpPr txBox="1"/>
          <p:nvPr>
            <p:ph idx="111" type="body" hasCustomPrompt="1"/>
          </p:nvPr>
        </p:nvSpPr>
        <p:spPr>
          <a:xfrm>
            <a:off x="832104" y="5120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Valence electrons in Al, Se, and Xe?</a:t>
            </a:r>
            <a:endParaRPr lang="en-US" sz="1600" dirty="0"/>
          </a:p>
        </p:txBody>
      </p:sp>
      <p:sp>
        <p:nvSpPr>
          <p:cNvPr id="6" name="Text 8"/>
          <p:cNvSpPr txBox="1"/>
          <p:nvPr>
            <p:ph idx="114" type="body" hasCustomPrompt="1"/>
          </p:nvPr>
        </p:nvSpPr>
        <p:spPr>
          <a:xfrm>
            <a:off x="3995928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Ca</a:t>
            </a:r>
            <a:pPr indent="0" marL="0">
              <a:buNone/>
            </a:pPr>
            <a:r>
              <a:rPr lang="en-US" sz="1200" b="1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endParaRPr lang="en-US" sz="1200" dirty="0"/>
          </a:p>
        </p:txBody>
      </p:sp>
      <p:sp>
        <p:nvSpPr>
          <p:cNvPr id="7" name="Text 8"/>
          <p:cNvSpPr txBox="1"/>
          <p:nvPr>
            <p:ph idx="115" type="body" hasCustomPrompt="1"/>
          </p:nvPr>
        </p:nvSpPr>
        <p:spPr>
          <a:xfrm>
            <a:off x="3593592" y="5120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Write it. Name the matching noble gas.</a:t>
            </a:r>
            <a:endParaRPr lang="en-US" sz="1600" dirty="0"/>
          </a:p>
        </p:txBody>
      </p:sp>
      <p:sp>
        <p:nvSpPr>
          <p:cNvPr id="8" name="Text 10"/>
          <p:cNvSpPr txBox="1"/>
          <p:nvPr>
            <p:ph idx="118" type="body" hasCustomPrompt="1"/>
          </p:nvPr>
        </p:nvSpPr>
        <p:spPr>
          <a:xfrm>
            <a:off x="6757416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Predict</a:t>
            </a:r>
            <a:endParaRPr lang="en-US" sz="1200" dirty="0"/>
          </a:p>
        </p:txBody>
      </p:sp>
      <p:sp>
        <p:nvSpPr>
          <p:cNvPr id="9" name="Text 10"/>
          <p:cNvSpPr txBox="1"/>
          <p:nvPr>
            <p:ph idx="119" type="body" hasCustomPrompt="1"/>
          </p:nvPr>
        </p:nvSpPr>
        <p:spPr>
          <a:xfrm>
            <a:off x="6355080" y="5120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Predict O's ion. Write its full configuration.</a:t>
            </a:r>
            <a:endParaRPr lang="en-US" sz="1600" dirty="0"/>
          </a:p>
        </p:txBody>
      </p:sp>
      <p:sp>
        <p:nvSpPr>
          <p:cNvPr id="10" name="Text 12"/>
          <p:cNvSpPr txBox="1"/>
          <p:nvPr>
            <p:ph idx="122" type="body" hasCustomPrompt="1"/>
          </p:nvPr>
        </p:nvSpPr>
        <p:spPr>
          <a:xfrm>
            <a:off x="9518904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Three ions</a:t>
            </a:r>
            <a:endParaRPr lang="en-US" sz="1200" dirty="0"/>
          </a:p>
        </p:txBody>
      </p:sp>
      <p:sp>
        <p:nvSpPr>
          <p:cNvPr id="11" name="Text 12"/>
          <p:cNvSpPr txBox="1"/>
          <p:nvPr>
            <p:ph idx="123" type="body" hasCustomPrompt="1"/>
          </p:nvPr>
        </p:nvSpPr>
        <p:spPr>
          <a:xfrm>
            <a:off x="9116568" y="51206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[Ar] shorthand for Fe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3+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Cu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, and Zn</a:t>
            </a:r>
            <a:pPr indent="0" marL="0">
              <a:buNone/>
            </a:pPr>
            <a:r>
              <a:rPr lang="en-US" sz="1600" baseline="300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2+</a:t>
            </a:r>
            <a:pPr indent="0" marL="0">
              <a:buNone/>
            </a:pPr>
            <a:r>
              <a:rPr lang="en-US" sz="160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Text 1"/>
          <p:cNvSpPr txBox="1"/>
          <p:nvPr>
            <p:ph idx="101" type="body" hasCustomPrompt="1"/>
          </p:nvPr>
        </p:nvSpPr>
        <p:spPr>
          <a:xfrm>
            <a:off x="685800" y="3840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4161B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02  •  CHEMISTRY</a:t>
            </a:r>
            <a:endParaRPr lang="en-US" sz="1100" dirty="0"/>
          </a:p>
        </p:txBody>
      </p:sp>
      <p:sp>
        <p:nvSpPr>
          <p:cNvPr id="13" name="Text 13"/>
          <p:cNvSpPr txBox="1"/>
          <p:nvPr>
            <p:ph idx="125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2E3338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15" name="Text 4"/>
          <p:cNvSpPr txBox="1"/>
          <p:nvPr>
            <p:ph idx="107" hasCustomPrompt="1"/>
          </p:nvPr>
        </p:nvSpPr>
        <p:spPr>
          <a:xfrm>
            <a:off x="3246120" y="2487168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 txBox="1"/>
          <p:nvPr>
            <p:ph idx="106" type="body" hasCustomPrompt="1"/>
          </p:nvPr>
        </p:nvSpPr>
        <p:spPr>
          <a:xfrm>
            <a:off x="841248" y="1755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3E63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5"/>
          <p:cNvSpPr txBox="1"/>
          <p:nvPr>
            <p:ph idx="107" type="title" hasCustomPrompt="1"/>
          </p:nvPr>
        </p:nvSpPr>
        <p:spPr>
          <a:xfrm>
            <a:off x="841248" y="2304288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Unit 3 Picks Up</a:t>
            </a:r>
            <a:endParaRPr lang="en-US" sz="26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EDF0E5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From Here</a:t>
            </a:r>
            <a:endParaRPr lang="en-US" sz="2600" dirty="0"/>
          </a:p>
        </p:txBody>
      </p:sp>
      <p:sp>
        <p:nvSpPr>
          <p:cNvPr id="4" name="Text 5"/>
          <p:cNvSpPr txBox="1"/>
          <p:nvPr>
            <p:ph idx="108" type="body" hasCustomPrompt="1"/>
          </p:nvPr>
        </p:nvSpPr>
        <p:spPr>
          <a:xfrm>
            <a:off x="841248" y="385876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You can predict the charge of a main-group ion from its valence electrons. Unit 3 explains the energy side.</a:t>
            </a:r>
            <a:endParaRPr lang="en-US" sz="1600" dirty="0"/>
          </a:p>
        </p:txBody>
      </p:sp>
      <p:sp>
        <p:nvSpPr>
          <p:cNvPr id="5" name="Text 6"/>
          <p:cNvSpPr txBox="1"/>
          <p:nvPr>
            <p:ph idx="110" type="body" hasCustomPrompt="1"/>
          </p:nvPr>
        </p:nvSpPr>
        <p:spPr>
          <a:xfrm>
            <a:off x="8762695" y="6382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BDB6AA"/>
                </a:solidFill>
                <a:latin typeface="Trade Gothic Next" pitchFamily="34" charset="0"/>
                <a:ea typeface="Trade Gothic Next" pitchFamily="34" charset="-122"/>
                <a:cs typeface="Trade Gothic Next" pitchFamily="34" charset="-120"/>
              </a:rPr>
              <a:t>U02 • S02.4</a:t>
            </a:r>
            <a:endParaRPr lang="en-US" sz="1000" dirty="0"/>
          </a:p>
        </p:txBody>
      </p:sp>
      <p:sp>
        <p:nvSpPr>
          <p:cNvPr id="7" name="Text 2"/>
          <p:cNvSpPr txBox="1"/>
          <p:nvPr>
            <p:ph idx="102" hasCustomPrompt="1"/>
          </p:nvPr>
        </p:nvSpPr>
        <p:spPr>
          <a:xfrm>
            <a:off x="2926080" y="0"/>
            <a:ext cx="926287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SHULL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SHULL Science — Slide Template (CHEMISTRY)</dc:title>
  <dc:subject>PptxGenJS Presentation</dc:subject>
  <dc:creator>Matthew Shull</dc:creator>
  <cp:lastModifiedBy>Matthew Shull</cp:lastModifiedBy>
  <cp:revision>1</cp:revision>
  <dcterms:created xsi:type="dcterms:W3CDTF">2026-10-04T19:58:48Z</dcterms:created>
  <dcterms:modified xsi:type="dcterms:W3CDTF">2026-10-04T19:58:48Z</dcterms:modified>
</cp:coreProperties>
</file>