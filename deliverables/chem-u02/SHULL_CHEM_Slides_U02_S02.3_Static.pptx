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build (see scripts/add_click_builds.py): the three 2p boxes fly in, then one arrow per click: up, up, up (Hund: singles first), then down in box 1 (Pauli: a pair has opposite spins). Result: 2p^4 with one pair and two singles, so 2 unpaired electrons. Have students draw each arrow in their notes at the same click. Same filling as the oxygen example later in this deck.</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built one click at a time (the longhand first, then the noble gas before it in brackets).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build for germanium (Z = 32), on text boxes, one per segment. The CLICK BUILD line at the end says exactly what each click does. Teach it in this order: write the longhand first; find the noble gas that comes BEFORE germanium and highlight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[Ar] sits against the remaining segments, in the space the highlighted block occupied, so the line reads [Ar] 4s^2 3d^10 4p^2 after click 3; click 4 writes the finished line as the answer to copy. Cl stays on the previous slide as the static example. A static export or print of this slide shows every shape at once (the highlight, the replaced segments and [Ar] overlap); for a handout use the --preview export of scripts/add_click_builds.py.</a:t>
            </a:r>
          </a:p>
          <a:p>
            <a:r>
              <a:t>STATIC FINAL STATE: print and handout copy, no animation. This slide shows the final state of the click build (Ge);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then work it. Answer on the next slide. Fe, Z = 26. Fill 4s before 3d, and we write 4s ahead of 3d (filling-order notation, PROVISIONAL convention).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[Ar] 4s^2 3d^6, 18 + 2 + 6 = 26. The 3d boxes hold one pair and four singles, so 4 unpaired. Longhand: 1s^2 2s^2 2p^6 3s^2 3p^6 4s^2 3d^6.</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click build (the CLICK BUILD line at the end gives the clicks). Boxes for 4s and 3d only; the [Ar] core (18 electrons) is not drawn. Click 1: the atom as the rules predict, [Ar] 4s^2 3d^9 (4s before 3d; 18 + 2 + 9 = 29). Click 2: one 4s arrow leaves. Click 3: a 3d down arrow arrives in the fifth box. End: [Ar] 4s^1 3d^10, 18 + 1 + 10 = 29, one unpaired electron (the 4s). Same electron count before and after: an electron MOVES,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STATIC FINAL STATE: print and handout copy, no animation. This slide shows the final state of the click build (Cu);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click build. Click 1: predicted [Ar] 4s^2 3d^4 (18 + 2 + 4 = 24): four up arrows in 3d and one empty box. Click 2: one 4s arrow leaves. Click 3: an up arrow arrives in the fifth 3d box. End: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STATIC FINAL STATE: print and handout copy, no animation. This slide shows the final state of the click build (Cr);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(PROVISIONAL: the script checks only that the electron totals are 41 and 74; confirm the configurations against a source before quoting or testing):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Replay the Chromium click build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click build: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replay the Copper click build (slide 'Exception: Copper'):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9.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Up arrow in 1s box 1"/>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Down arrow in 1s box 1"/>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Up arrow in 2s box 1"/>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Down arrow in 2s box 1"/>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Up arrow in 2p box 1"/>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Up arrow in 2p box 2"/>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Up arrow in 2p box 3"/>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Up arrow in 2p box 1"/>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Up arrow in 2p box 2"/>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Up arrow in 2p box 3"/>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Down arrow in 2p box 1"/>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Up arrow in 1s box 1"/>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Down arrow in 1s box 1"/>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Up arrow in 2s box 1"/>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Down arrow in 2s box 1"/>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Up arrow in 2p box 1"/>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Up arrow in 2p box 2"/>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Up arrow in 2p box 3"/>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Down arrow in 2p box 1"/>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then the shorthand [Ar] 4s2 3d10 4p2, where [Ar] stands for the first 18 electrons."/>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88920"/>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caption"/>
          <p:cNvSpPr txBox="1"/>
          <p:nvPr/>
        </p:nvSpPr>
        <p:spPr>
          <a:xfrm>
            <a:off x="1024128" y="3099815"/>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Longhand</a:t>
            </a:r>
          </a:p>
        </p:txBody>
      </p:sp>
      <p:sp>
        <p:nvSpPr>
          <p:cNvPr id="17" name="BUILD longhand"/>
          <p:cNvSpPr txBox="1"/>
          <p:nvPr/>
        </p:nvSpPr>
        <p:spPr>
          <a:xfrm>
            <a:off x="1024128" y="3374135"/>
            <a:ext cx="4398264" cy="310896"/>
          </a:xfrm>
          <a:prstGeom prst="rect">
            <a:avLst/>
          </a:prstGeom>
          <a:noFill/>
        </p:spPr>
        <p:txBody>
          <a:bodyPr wrap="squar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r>
              <a:rPr sz="1800" b="1">
                <a:solidFill>
                  <a:srgbClr val="14161B"/>
                </a:solidFill>
                <a:latin typeface="Trade Gothic Next"/>
              </a:rPr>
              <a:t> 2s</a:t>
            </a:r>
            <a:r>
              <a:rPr sz="1800" b="1" baseline="30000">
                <a:solidFill>
                  <a:srgbClr val="14161B"/>
                </a:solidFill>
                <a:latin typeface="Trade Gothic Next"/>
              </a:rPr>
              <a:t>2</a:t>
            </a:r>
            <a:r>
              <a:rPr sz="1800" b="1">
                <a:solidFill>
                  <a:srgbClr val="14161B"/>
                </a:solidFill>
                <a:latin typeface="Trade Gothic Next"/>
              </a:rPr>
              <a:t> 2p</a:t>
            </a:r>
            <a:r>
              <a:rPr sz="1800" b="1" baseline="30000">
                <a:solidFill>
                  <a:srgbClr val="14161B"/>
                </a:solidFill>
                <a:latin typeface="Trade Gothic Next"/>
              </a:rPr>
              <a:t>6</a:t>
            </a:r>
            <a:r>
              <a:rPr sz="1800" b="1">
                <a:solidFill>
                  <a:srgbClr val="14161B"/>
                </a:solidFill>
                <a:latin typeface="Trade Gothic Next"/>
              </a:rPr>
              <a:t> 3s</a:t>
            </a:r>
            <a:r>
              <a:rPr sz="1800" b="1" baseline="30000">
                <a:solidFill>
                  <a:srgbClr val="14161B"/>
                </a:solidFill>
                <a:latin typeface="Trade Gothic Next"/>
              </a:rPr>
              <a:t>2</a:t>
            </a:r>
            <a:r>
              <a:rPr sz="1800" b="1">
                <a:solidFill>
                  <a:srgbClr val="14161B"/>
                </a:solidFill>
                <a:latin typeface="Trade Gothic Next"/>
              </a:rPr>
              <a:t> 3p</a:t>
            </a:r>
            <a:r>
              <a:rPr sz="1800" b="1" baseline="30000">
                <a:solidFill>
                  <a:srgbClr val="14161B"/>
                </a:solidFill>
                <a:latin typeface="Trade Gothic Next"/>
              </a:rPr>
              <a:t>6</a:t>
            </a:r>
            <a:r>
              <a:rPr sz="1800" b="1">
                <a:solidFill>
                  <a:srgbClr val="14161B"/>
                </a:solidFill>
                <a:latin typeface="Trade Gothic Next"/>
              </a:rPr>
              <a:t>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18" name="BUILD caption"/>
          <p:cNvSpPr txBox="1"/>
          <p:nvPr/>
        </p:nvSpPr>
        <p:spPr>
          <a:xfrm>
            <a:off x="1024128" y="3721607"/>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Shorthand</a:t>
            </a:r>
          </a:p>
        </p:txBody>
      </p:sp>
      <p:sp>
        <p:nvSpPr>
          <p:cNvPr id="19" name="BUILD Ar bracket"/>
          <p:cNvSpPr txBox="1"/>
          <p:nvPr/>
        </p:nvSpPr>
        <p:spPr>
          <a:xfrm>
            <a:off x="2143867" y="4014215"/>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
        <p:nvSpPr>
          <p:cNvPr id="20" name="BUILD segment 4s"/>
          <p:cNvSpPr txBox="1"/>
          <p:nvPr/>
        </p:nvSpPr>
        <p:spPr>
          <a:xfrm>
            <a:off x="2748282" y="3995927"/>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1" name="BUILD segment 3d"/>
          <p:cNvSpPr txBox="1"/>
          <p:nvPr/>
        </p:nvSpPr>
        <p:spPr>
          <a:xfrm>
            <a:off x="3251791" y="3995927"/>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2" name="BUILD segment 4p"/>
          <p:cNvSpPr txBox="1"/>
          <p:nvPr/>
        </p:nvSpPr>
        <p:spPr>
          <a:xfrm>
            <a:off x="3851275" y="3995927"/>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3" name="BUILD caption"/>
          <p:cNvSpPr txBox="1"/>
          <p:nvPr/>
        </p:nvSpPr>
        <p:spPr>
          <a:xfrm>
            <a:off x="1024128" y="4434840"/>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[Ar] stands for the first 18 electrons: the noble gas before germanium</a:t>
            </a:r>
          </a:p>
        </p:txBody>
      </p:sp>
      <p:sp>
        <p:nvSpPr>
          <p:cNvPr id="24" name="BUILD sum"/>
          <p:cNvSpPr txBox="1"/>
          <p:nvPr/>
        </p:nvSpPr>
        <p:spPr>
          <a:xfrm>
            <a:off x="1024128" y="4983479"/>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 electrons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shorthand,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longhand and shorthand for iron.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Argon is the core.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Up arrow in 4s box 1"/>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Down arrow in 4s box 1"/>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Up arrow in 3d box 1"/>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Up arrow in 3d box 2"/>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Up arrow in 3d box 3"/>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Up arrow in 3d box 4"/>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Up arrow in 3d box 5"/>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Down arrow in 3d box 1"/>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[Ar] 18 + 2 + 6 = 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Watch what the real atom does.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grpSp>
      <p:sp>
        <p:nvSpPr>
          <p:cNvPr id="24" name="BUILD arrow 4s box1 up" descr="Up arrow in 4s box 1"/>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Up arrow in 3d box 1"/>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Up arrow in 3d box 2"/>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Up arrow in 3d box 3"/>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Up arrow in 3d box 4"/>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Up arrow in 3d box 5"/>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Down arrow in 3d box 1"/>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Down arrow in 3d box 2"/>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Down arrow in 3d box 3"/>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Down arrow in 3d box 4"/>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Down arrow in 3d box 5"/>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before and after.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5</a:t>
              </a:r>
            </a:p>
          </p:txBody>
        </p:sp>
      </p:grpSp>
      <p:sp>
        <p:nvSpPr>
          <p:cNvPr id="24" name="BUILD arrow 4s box1 up" descr="Up arrow in 4s box 1"/>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Up arrow in 3d box 1"/>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Up arrow in 3d box 2"/>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Up arrow in 3d box 3"/>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Up arrow in 3d box 4"/>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Up arrow in 3d box 5"/>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2026-10-04T19:55:47Z</dcterms:created>
  <dcterms:modified xsi:type="dcterms:W3CDTF">2026-10-04T19:55:47Z</dcterms:modified>
</cp:coreProperties>
</file>