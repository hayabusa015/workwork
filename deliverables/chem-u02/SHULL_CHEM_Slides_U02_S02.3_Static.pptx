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2p boxes hold the oxygen filling: one up arrow in each box first (Hund: singles first), then a down arrow in box 1 (Pauli: a pair has opposite spins). Result: 2p^4 with one pair and two singles, so 2 unpaired electrons. Have students draw the arrows in their notes in that order. Same filling as the oxygen example later in this deck.</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orbital-diagram example, after oxygen. Students copy the setup, then work it; answer on the next slide. Fe, Z = 26. Fill 4s before 3d, and we write 4s ahead of 3d (filling-order notation, PROVISIONAL convention). Only the 4s and 3d boxes are drawn; the first 18 electrons (through 3p) are just counted. The next slide counts them as 'the first 18 electrons'; the noble-gas shorthand has not been taught yet at this point, so do not name it and let the shorthand slides do that.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1s^2 2s^2 2p^6 3s^2 3p^6 4s^2 3d^6, 2+2+6+2+6+2+6 = 26. The diagram draws only 4s and 3d; the first 18 electrons (through 3p) are counted, not drawn, so its sum reads first 18 + 2 + 6 = 26. The 3d boxes hold one pair and four singles, so 4 unpaired. The 4s pair is drawn first, then the 3d boxes (Hund: one up arrow in each box, then pair). No [Ar] appears on this slide: the noble-gas shorthand is taught two slides later (slide 15), so say 'the first 18 electrons' here.</a:t>
            </a:r>
          </a:p>
          <a:p>
            <a:r>
              <a:t>STATIC FINAL STATE: print and handout copy, no animation. This slide shows the final state of the build.</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(the longhand first, then the noble gas before it in brackets); in the animated deck that slide is built one click at a time, in the static deck it shows the finished line.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for germanium (Z = 32). Teach it in this order: write the longhand first; find the noble gas that comes BEFORE germanium and mark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This slide shows the longhand line, the shorthand line under it, and the check sum. Cl stays on the previous slide as the static example.</a:t>
            </a:r>
          </a:p>
          <a:p>
            <a:r>
              <a:t>STATIC FINAL STATE: print and handout copy, no animation. This slide shows the final state of the build (Ge).</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Notation-only example: no orbital diagram. Students copy the setup, then work it. Answer on the next slide: Al, Z = 13, 1s^2 2s^2 2p^6 3s^2 3p^1, 2+2+6+2+1 = 13; shorthand [Ne] 3s^2 3p^1, 10+2+1 = 13. Common error: [Ar] as the core. Argon (Z = 18) is bigger than aluminum's 13 electrons, so it cannot be a core. The core is the noble gas that ends the previous period (neon, period 2). Image prompt (aside slot): a roll of aluminum foil partly unrolled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longhand 1s^2 2s^2 2p^6 3s^2 3p^1, 2+2+6+2+1 = 13. Shorthand [Ne] 3s^2 3p^1: [Ne] stands for the first 10 (1s^2 2s^2 2p^6), then 10+2+1 = 13. Notation only; no diagram is drawn. If students use [Ar] as the core, have them add it: 18 + 2 + 1 = 21, not 13. Image prompt (data slot): the aluminum square of a periodic table wall chart, photographed close and slightly off-axis.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Notation-only example: no orbital diagram. Answers on the next slide. (a) Br, Z = 35: [Ar] 4s^2 3d^10 4p^5, 18+2+10+5 = 35. (b) Ni, Z = 28: [Ar] 4s^2 3d^8, 18+2+8 = 28. Common error: [Kr] because krypton is 'close' (Kr is Z = 36, one more than bromine, so [Kr] would already hold 36 electrons). Both are period 4, so the core is the noble gas that ends period 3, argon. Nickel follows the rules; the only exceptions taught are Cr and Cu. Image prompt (aside slot): a nickel-plated metal bar and a sealed amber ampoule of bromine on a white tray.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 Z = 35: [Ar] 4s^2 3d^10 4p^5, 18+2+10+5 = 35. (b) Ni, Z = 28: [Ar] 4s^2 3d^8, 18+2+8 = 28. Notation only; no diagram is drawn. Fill 4s before 3d, and write 4s ahead of 3d (filling-order notation, PROVISIONAL convention). Ni is not an exception. A student who writes [Kr] for either one has counted 36 electrons before writing anything else. Image prompt (data slot): the period 4 row of a periodic table wall chart, photographed close and slightly off-axis.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Boxes for 4s and 3d only; the [Ar] core (18 electrons) is not drawn. The atom as the rules predict: [Ar] 4s^2 3d^9 (4s before 3d; 18 + 2 + 9 = 29). The measured ground state: [Ar] 4s^1 3d^10, 18 + 1 + 10 = 29, one unpaired electron (the 4s). Same electron count before and after: an electron MOVES from 4s to 3d,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STATIC FINAL STATE: print and handout copy, no animation. This slide shows the final state of the build (Cu).</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The atom as the rules predict: [Ar] 4s^2 3d^4 (18 + 2 + 4 = 24): four up arrows in 3d and one empty box. The measured ground state: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STATIC FINAL STATE: print and handout copy, no animation. This slide shows the final state of the build (Cr).</a:t>
            </a:r>
          </a:p>
          <a:p>
            <a:r>
              <a:t>Animated version: SHULL_CHEM_Slides_U02_S02.3.pptx has the click-by-click build.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(checked against a secondary dataset, the mendeleev PyPI package, for Cr, Cu, Nb, Mo, W, Ag and Au; NIST was not reachable from here; still PROVISIONAL until Matt or a source confirms. The script itself checks only that the electron totals are 41 and 74):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Revisit the Chromium exception slide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exception slide: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go back to the Copper exception slide ('Exception: Copper', a click build in the animated deck):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9.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
            <a:extLst>
              <a:ext uri="{C183D7F6-B498-43B3-948B-1728B52AA6E4}">
                <adec:decorative xmlns:adec="http://schemas.microsoft.com/office/drawing/2017/decorative" val="1"/>
              </a:ext>
            </a:extLst>
          </p:cNvPr>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
            <a:extLst>
              <a:ext uri="{C183D7F6-B498-43B3-948B-1728B52AA6E4}">
                <adec:decorative xmlns:adec="http://schemas.microsoft.com/office/drawing/2017/decorative" val="1"/>
              </a:ext>
            </a:extLst>
          </p:cNvPr>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
            <a:extLst>
              <a:ext uri="{C183D7F6-B498-43B3-948B-1728B52AA6E4}">
                <adec:decorative xmlns:adec="http://schemas.microsoft.com/office/drawing/2017/decorative" val="1"/>
              </a:ext>
            </a:extLst>
          </p:cNvPr>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
            <a:extLst>
              <a:ext uri="{C183D7F6-B498-43B3-948B-1728B52AA6E4}">
                <adec:decorative xmlns:adec="http://schemas.microsoft.com/office/drawing/2017/decorative" val="1"/>
              </a:ext>
            </a:extLst>
          </p:cNvPr>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
            <a:extLst>
              <a:ext uri="{C183D7F6-B498-43B3-948B-1728B52AA6E4}">
                <adec:decorative xmlns:adec="http://schemas.microsoft.com/office/drawing/2017/decorative" val="1"/>
              </a:ext>
            </a:extLst>
          </p:cNvPr>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
            <a:extLst>
              <a:ext uri="{C183D7F6-B498-43B3-948B-1728B52AA6E4}">
                <adec:decorative xmlns:adec="http://schemas.microsoft.com/office/drawing/2017/decorative" val="1"/>
              </a:ext>
            </a:extLst>
          </p:cNvPr>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
            <a:extLst>
              <a:ext uri="{C183D7F6-B498-43B3-948B-1728B52AA6E4}">
                <adec:decorative xmlns:adec="http://schemas.microsoft.com/office/drawing/2017/decorative" val="1"/>
              </a:ext>
            </a:extLst>
          </p:cNvPr>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
            <a:extLst>
              <a:ext uri="{C183D7F6-B498-43B3-948B-1728B52AA6E4}">
                <adec:decorative xmlns:adec="http://schemas.microsoft.com/office/drawing/2017/decorative" val="1"/>
              </a:ext>
            </a:extLst>
          </p:cNvPr>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
            <a:extLst>
              <a:ext uri="{C183D7F6-B498-43B3-948B-1728B52AA6E4}">
                <adec:decorative xmlns:adec="http://schemas.microsoft.com/office/drawing/2017/decorative" val="1"/>
              </a:ext>
            </a:extLst>
          </p:cNvPr>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
            <a:extLst>
              <a:ext uri="{C183D7F6-B498-43B3-948B-1728B52AA6E4}">
                <adec:decorative xmlns:adec="http://schemas.microsoft.com/office/drawing/2017/decorative" val="1"/>
              </a:ext>
            </a:extLst>
          </p:cNvPr>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
            <a:extLst>
              <a:ext uri="{C183D7F6-B498-43B3-948B-1728B52AA6E4}">
                <adec:decorative xmlns:adec="http://schemas.microsoft.com/office/drawing/2017/decorative" val="1"/>
              </a:ext>
            </a:extLst>
          </p:cNvPr>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full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Full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
            <a:extLst>
              <a:ext uri="{C183D7F6-B498-43B3-948B-1728B52AA6E4}">
                <adec:decorative xmlns:adec="http://schemas.microsoft.com/office/drawing/2017/decorative" val="1"/>
              </a:ext>
            </a:extLst>
          </p:cNvPr>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
            <a:extLst>
              <a:ext uri="{C183D7F6-B498-43B3-948B-1728B52AA6E4}">
                <adec:decorative xmlns:adec="http://schemas.microsoft.com/office/drawing/2017/decorative" val="1"/>
              </a:ext>
            </a:extLst>
          </p:cNvPr>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
            <a:extLst>
              <a:ext uri="{C183D7F6-B498-43B3-948B-1728B52AA6E4}">
                <adec:decorative xmlns:adec="http://schemas.microsoft.com/office/drawing/2017/decorative" val="1"/>
              </a:ext>
            </a:extLst>
          </p:cNvPr>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
            <a:extLst>
              <a:ext uri="{C183D7F6-B498-43B3-948B-1728B52AA6E4}">
                <adec:decorative xmlns:adec="http://schemas.microsoft.com/office/drawing/2017/decorative" val="1"/>
              </a:ext>
            </a:extLst>
          </p:cNvPr>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
            <a:extLst>
              <a:ext uri="{C183D7F6-B498-43B3-948B-1728B52AA6E4}">
                <adec:decorative xmlns:adec="http://schemas.microsoft.com/office/drawing/2017/decorative" val="1"/>
              </a:ext>
            </a:extLst>
          </p:cNvPr>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
            <a:extLst>
              <a:ext uri="{C183D7F6-B498-43B3-948B-1728B52AA6E4}">
                <adec:decorative xmlns:adec="http://schemas.microsoft.com/office/drawing/2017/decorative" val="1"/>
              </a:ext>
            </a:extLst>
          </p:cNvPr>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
            <a:extLst>
              <a:ext uri="{C183D7F6-B498-43B3-948B-1728B52AA6E4}">
                <adec:decorative xmlns:adec="http://schemas.microsoft.com/office/drawing/2017/decorative" val="1"/>
              </a:ext>
            </a:extLst>
          </p:cNvPr>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
            <a:extLst>
              <a:ext uri="{C183D7F6-B498-43B3-948B-1728B52AA6E4}">
                <adec:decorative xmlns:adec="http://schemas.microsoft.com/office/drawing/2017/decorative" val="1"/>
              </a:ext>
            </a:extLst>
          </p:cNvPr>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Configuration, orbital diagram,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configuration for iron and draw its 4s and 3d orbital diagram.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Full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first 18 fill through 3p.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FULL CONFIGURATION</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2+2+6+2+6+2+6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ends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
            <a:extLst>
              <a:ext uri="{C183D7F6-B498-43B3-948B-1728B52AA6E4}">
                <adec:decorative xmlns:adec="http://schemas.microsoft.com/office/drawing/2017/decorative" val="1"/>
              </a:ext>
            </a:extLst>
          </p:cNvPr>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
            <a:extLst>
              <a:ext uri="{C183D7F6-B498-43B3-948B-1728B52AA6E4}">
                <adec:decorative xmlns:adec="http://schemas.microsoft.com/office/drawing/2017/decorative" val="1"/>
              </a:ext>
            </a:extLst>
          </p:cNvPr>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
            <a:extLst>
              <a:ext uri="{C183D7F6-B498-43B3-948B-1728B52AA6E4}">
                <adec:decorative xmlns:adec="http://schemas.microsoft.com/office/drawing/2017/decorative" val="1"/>
              </a:ext>
            </a:extLst>
          </p:cNvPr>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
            <a:extLst>
              <a:ext uri="{C183D7F6-B498-43B3-948B-1728B52AA6E4}">
                <adec:decorative xmlns:adec="http://schemas.microsoft.com/office/drawing/2017/decorative" val="1"/>
              </a:ext>
            </a:extLst>
          </p:cNvPr>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
            <a:extLst>
              <a:ext uri="{C183D7F6-B498-43B3-948B-1728B52AA6E4}">
                <adec:decorative xmlns:adec="http://schemas.microsoft.com/office/drawing/2017/decorative" val="1"/>
              </a:ext>
            </a:extLst>
          </p:cNvPr>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
            <a:extLst>
              <a:ext uri="{C183D7F6-B498-43B3-948B-1728B52AA6E4}">
                <adec:decorative xmlns:adec="http://schemas.microsoft.com/office/drawing/2017/decorative" val="1"/>
              </a:ext>
            </a:extLst>
          </p:cNvPr>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
            <a:extLst>
              <a:ext uri="{C183D7F6-B498-43B3-948B-1728B52AA6E4}">
                <adec:decorative xmlns:adec="http://schemas.microsoft.com/office/drawing/2017/decorative" val="1"/>
              </a:ext>
            </a:extLst>
          </p:cNvPr>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
            <a:extLst>
              <a:ext uri="{C183D7F6-B498-43B3-948B-1728B52AA6E4}">
                <adec:decorative xmlns:adec="http://schemas.microsoft.com/office/drawing/2017/decorative" val="1"/>
              </a:ext>
            </a:extLst>
          </p:cNvPr>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first 18 + 2 + 6 = 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then the shorthand [Ar] 4s2 3d10 4p2, where [Ar] stands for the first 18 electrons."/>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88920"/>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caption"/>
          <p:cNvSpPr txBox="1"/>
          <p:nvPr/>
        </p:nvSpPr>
        <p:spPr>
          <a:xfrm>
            <a:off x="1024128" y="3099815"/>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Longhand</a:t>
            </a:r>
          </a:p>
        </p:txBody>
      </p:sp>
      <p:sp>
        <p:nvSpPr>
          <p:cNvPr id="17" name="BUILD longhand"/>
          <p:cNvSpPr txBox="1"/>
          <p:nvPr/>
        </p:nvSpPr>
        <p:spPr>
          <a:xfrm>
            <a:off x="1024128" y="3374135"/>
            <a:ext cx="4398264" cy="310896"/>
          </a:xfrm>
          <a:prstGeom prst="rect">
            <a:avLst/>
          </a:prstGeom>
          <a:noFill/>
        </p:spPr>
        <p:txBody>
          <a:bodyPr wrap="squar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r>
              <a:rPr sz="1800" b="1">
                <a:solidFill>
                  <a:srgbClr val="14161B"/>
                </a:solidFill>
                <a:latin typeface="Trade Gothic Next"/>
              </a:rPr>
              <a:t> 2s</a:t>
            </a:r>
            <a:r>
              <a:rPr sz="1800" b="1" baseline="30000">
                <a:solidFill>
                  <a:srgbClr val="14161B"/>
                </a:solidFill>
                <a:latin typeface="Trade Gothic Next"/>
              </a:rPr>
              <a:t>2</a:t>
            </a:r>
            <a:r>
              <a:rPr sz="1800" b="1">
                <a:solidFill>
                  <a:srgbClr val="14161B"/>
                </a:solidFill>
                <a:latin typeface="Trade Gothic Next"/>
              </a:rPr>
              <a:t> 2p</a:t>
            </a:r>
            <a:r>
              <a:rPr sz="1800" b="1" baseline="30000">
                <a:solidFill>
                  <a:srgbClr val="14161B"/>
                </a:solidFill>
                <a:latin typeface="Trade Gothic Next"/>
              </a:rPr>
              <a:t>6</a:t>
            </a:r>
            <a:r>
              <a:rPr sz="1800" b="1">
                <a:solidFill>
                  <a:srgbClr val="14161B"/>
                </a:solidFill>
                <a:latin typeface="Trade Gothic Next"/>
              </a:rPr>
              <a:t> 3s</a:t>
            </a:r>
            <a:r>
              <a:rPr sz="1800" b="1" baseline="30000">
                <a:solidFill>
                  <a:srgbClr val="14161B"/>
                </a:solidFill>
                <a:latin typeface="Trade Gothic Next"/>
              </a:rPr>
              <a:t>2</a:t>
            </a:r>
            <a:r>
              <a:rPr sz="1800" b="1">
                <a:solidFill>
                  <a:srgbClr val="14161B"/>
                </a:solidFill>
                <a:latin typeface="Trade Gothic Next"/>
              </a:rPr>
              <a:t> 3p</a:t>
            </a:r>
            <a:r>
              <a:rPr sz="1800" b="1" baseline="30000">
                <a:solidFill>
                  <a:srgbClr val="14161B"/>
                </a:solidFill>
                <a:latin typeface="Trade Gothic Next"/>
              </a:rPr>
              <a:t>6</a:t>
            </a:r>
            <a:r>
              <a:rPr sz="1800" b="1">
                <a:solidFill>
                  <a:srgbClr val="14161B"/>
                </a:solidFill>
                <a:latin typeface="Trade Gothic Next"/>
              </a:rPr>
              <a:t>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18" name="BUILD caption"/>
          <p:cNvSpPr txBox="1"/>
          <p:nvPr/>
        </p:nvSpPr>
        <p:spPr>
          <a:xfrm>
            <a:off x="1024128" y="3721607"/>
            <a:ext cx="4398264" cy="237744"/>
          </a:xfrm>
          <a:prstGeom prst="rect">
            <a:avLst/>
          </a:prstGeom>
          <a:noFill/>
        </p:spPr>
        <p:txBody>
          <a:bodyPr wrap="square" lIns="0" rIns="0" tIns="0" bIns="0" anchor="ctr">
            <a:spAutoFit/>
          </a:bodyPr>
          <a:lstStyle/>
          <a:p>
            <a:pPr algn="ctr"/>
            <a:r>
              <a:rPr sz="1600" b="1">
                <a:solidFill>
                  <a:srgbClr val="4D730E"/>
                </a:solidFill>
                <a:latin typeface="Trade Gothic Next"/>
              </a:rPr>
              <a:t>Shorthand</a:t>
            </a:r>
          </a:p>
        </p:txBody>
      </p:sp>
      <p:sp>
        <p:nvSpPr>
          <p:cNvPr id="19" name="BUILD Ar bracket"/>
          <p:cNvSpPr txBox="1"/>
          <p:nvPr/>
        </p:nvSpPr>
        <p:spPr>
          <a:xfrm>
            <a:off x="2143867" y="4014215"/>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
        <p:nvSpPr>
          <p:cNvPr id="20" name="BUILD segment 4s"/>
          <p:cNvSpPr txBox="1"/>
          <p:nvPr/>
        </p:nvSpPr>
        <p:spPr>
          <a:xfrm>
            <a:off x="2748282" y="3995927"/>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1" name="BUILD segment 3d"/>
          <p:cNvSpPr txBox="1"/>
          <p:nvPr/>
        </p:nvSpPr>
        <p:spPr>
          <a:xfrm>
            <a:off x="3251791" y="3995927"/>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2" name="BUILD segment 4p"/>
          <p:cNvSpPr txBox="1"/>
          <p:nvPr/>
        </p:nvSpPr>
        <p:spPr>
          <a:xfrm>
            <a:off x="3851275" y="3995927"/>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3" name="BUILD caption"/>
          <p:cNvSpPr txBox="1"/>
          <p:nvPr/>
        </p:nvSpPr>
        <p:spPr>
          <a:xfrm>
            <a:off x="1024128" y="4434840"/>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[Ar] stands for the first 18 electrons: the noble gas before germanium</a:t>
            </a:r>
          </a:p>
        </p:txBody>
      </p:sp>
      <p:sp>
        <p:nvSpPr>
          <p:cNvPr id="24" name="BUILD sum"/>
          <p:cNvSpPr txBox="1"/>
          <p:nvPr/>
        </p:nvSpPr>
        <p:spPr>
          <a:xfrm>
            <a:off x="1024128" y="4983479"/>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18 + 2 + 10 + 2 = 32 electrons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Aluminum</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Notation only. No diagram this time.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noble-gas shorthand for aluminum.</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Aluminum, Z = 13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sum</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Aluminum is period 3, so its core is [Ne].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Aluminum,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first. Then swap the first 10 for [Ne].</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13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Core: [Ne] ends period 2</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[Ne] 3s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10 + 2 + 1 = 13</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 is [Ne] 3s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the same 13 electrons as the longhand.</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Bromine and Nickel</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Notation only. Two elements, one core.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noble-gas shorthand for each element.</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BROMINE</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 Z = 35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 NICKEL</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Ni, Z = 28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Both are period 4, so the core is [Ar], never [Kr].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Bromine and Nickel,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[Ar] core. Then 4s, 3d, and 4p as needed.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CORE AND COUNT</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Both are period 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Core: [Ar] = 18 electrons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4p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+ 10 + 5 = 35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+ 8 = 28</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Br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10</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4p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Ni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8</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Compare it with the real atom.</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COMPARE</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Predicted versus actual: 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
            <a:extLst>
              <a:ext uri="{C183D7F6-B498-43B3-948B-1728B52AA6E4}">
                <adec:decorative xmlns:adec="http://schemas.microsoft.com/office/drawing/2017/decorative" val="1"/>
              </a:ext>
            </a:extLst>
          </p:cNvPr>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
            <a:extLst>
              <a:ext uri="{C183D7F6-B498-43B3-948B-1728B52AA6E4}">
                <adec:decorative xmlns:adec="http://schemas.microsoft.com/office/drawing/2017/decorative" val="1"/>
              </a:ext>
            </a:extLst>
          </p:cNvPr>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
            <a:extLst>
              <a:ext uri="{C183D7F6-B498-43B3-948B-1728B52AA6E4}">
                <adec:decorative xmlns:adec="http://schemas.microsoft.com/office/drawing/2017/decorative" val="1"/>
              </a:ext>
            </a:extLst>
          </p:cNvPr>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
            <a:extLst>
              <a:ext uri="{C183D7F6-B498-43B3-948B-1728B52AA6E4}">
                <adec:decorative xmlns:adec="http://schemas.microsoft.com/office/drawing/2017/decorative" val="1"/>
              </a:ext>
            </a:extLst>
          </p:cNvPr>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
            <a:extLst>
              <a:ext uri="{C183D7F6-B498-43B3-948B-1728B52AA6E4}">
                <adec:decorative xmlns:adec="http://schemas.microsoft.com/office/drawing/2017/decorative" val="1"/>
              </a:ext>
            </a:extLst>
          </p:cNvPr>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COMPARE</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predicted versus actual.</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1</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5</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2026-10-04T22:09:46Z</dcterms:created>
  <dcterms:modified xsi:type="dcterms:W3CDTF">2026-10-04T22:09:46Z</dcterms:modified>
</cp:coreProperties>
</file>