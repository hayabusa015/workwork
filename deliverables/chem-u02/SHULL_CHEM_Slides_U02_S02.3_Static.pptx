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PROVISIONAL scope: required through Kr (Z = 36), per the content brief; Matt to confirm. Period 5 and beyond (Mo, Ag, Au) are not taught on these slides and are not checked in the build script. PROVISIONAL notation: configurations are written in filling order, e.g. [Ar] 4s^2 3d^6, not energy order. Image prompt (section slot): a long row of numbered wooden mail slots in a dim hallway, a few holding envelopes.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Ask: do all 8 electrons have the same energy? Let them guess; the slides answer it (no). Z = 8 comes from the periodic table. Image prompt (concept slot): an apartment building at dusk with a few lit windows on different floors.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aloud: two-p-four. Level 2, p sublevel, 4 electrons. Ground state = lowest-energy arrangement; every configuration today is a ground state unless the slide says otherwise. Image prompt (aside slot): a printed periodic table with oxygen's cell circled in pencil.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arrow top right to bottom left. We need the order through 5p: 1s 2s 2p 3s 3p 4s 3d 4p 5s 4d 5p. Say it as: 4s fills before 3d in neutral K and Ca. Do not say 4s is always lower than 3d (once 3d holds electrons it sits lower; that is S2.4, 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 up and down are labels, not literal rotation. Common mix-up: two per orbital, not two per sublevel (a p sublevel has 3 orbitals and holds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N in 2p. Correct = three singles, spins parallel. Wrong = one pair, one single, one empty box. Equal-energy orbitals are called degenerate. Electrons spread out first because sharing an orbital costs repulsion.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 has 7 electrons so 7 arrows: 2 + 2 + 3. Convention: draw the up arrow first in every box, and the label's raised number counts the arrows.</a:t>
            </a:r>
          </a:p>
          <a:p>
            <a:r>
              <a:t>STATIC FINAL STATE: print and handout copy, no animation. This slide shows the final state of the build.</a:t>
            </a:r>
          </a:p>
          <a:p>
            <a:r>
              <a:t>Animated version: SHULL_CHEM_Slides_U02_S02.3.pptx has the click-by-click build.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2p boxes hold the oxygen filling: one up arrow in each box first (Hund: singles first), then a down arrow in box 1 (Pauli: a pair has opposite spins). Result: 2p^4 with one pair and two singles, so 2 unpaired electrons. Have students draw the arrows in their notes in that order. Same filling as the oxygen example later in this deck.</a:t>
            </a:r>
          </a:p>
          <a:p>
            <a:r>
              <a:t>STATIC FINAL STATE: print and handout copy, no animation. This slide shows the final state of the build.</a:t>
            </a:r>
          </a:p>
          <a:p>
            <a:r>
              <a:t>Animated version: SHULL_CHEM_Slides_U02_S02.3.pptx has the click-by-click build.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every element. Caps: s 2, p 6, d 10, f 14. Always check that the sum equals Z. Image prompt (band slot): a periodic table wall chart photographed at a shallow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setup; the work area stays empty on purpose and is filled live on the board. Answer on the next slide: 1s^2 2s^2 2p^4, 2 unpaired. Image prompt (aside slot): a small cylinder of oxygen gas with a regulator, on a lab 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Oxygen: 1s^2 2s^2 2p^4, 2 + 2 + 4 = 8. The 2p boxes hold one pair and two singles, so 2 unpaired.</a:t>
            </a:r>
          </a:p>
          <a:p>
            <a:r>
              <a:t>STATIC FINAL STATE: print and handout copy, no animation. This slide shows the final state of the build.</a:t>
            </a:r>
          </a:p>
          <a:p>
            <a:r>
              <a:t>Animated version: SHULL_CHEM_Slides_U02_S02.3.pptx has the click-by-click build.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1s^2 2s^2 2p^3, 3 unpaired. Cl: 1s^2 2s^2 2p^6 3s^2 3p^5, 1 unpaired. Ca: 1s^2 2s^2 2p^6 3s^2 3p^6 4s^2, 0 unpaired. 3d stays empty until scandium. Image prompt (aside slot): period 3 of a periodic table wall chart, lit from the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 (brief): using the noble gas of the same period, or the element's own. Cl is period 3, so the core is [Ne], not [Ar]; the core is the previous period's noble gas. Shorthand: [Ne] 3s^2 3p^5, which equals the longhand 1s^2 2s^2 2p^6 3s^2 3p^5. Next slide: the same idea for germanium, built one click at a time (the longhand first, then the noble gas before it in brackets). Image prompt (concept slot): a neon sign tube glowing orange-red in a dark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Shorthand for germanium (Z = 32). Teach it in this order: write the longhand first; find the noble gas that comes BEFORE germanium and mark those electrons; put that noble gas in brackets; finish the line. Longhand: 1s^2 2s^2 2p^6 3s^2 3p^6 4s^2 3d^10 4p^2, 2+2+6+2+6+2+10+2 = 32. The first five segments total 18 and are exactly argon's configuration, so [Ar] is a placeholder, a substitution like writing one symbol for a long repeated expression in math. Shorthand: [Ar] 4s^2 3d^10 4p^2, 18 + 2 + 10 + 2 = 32, with 2 unpaired electrons (the two 4p singles). Common error (brief): using the noble gas of the element's own period. Krypton ends germanium's period and comes AFTER it (Z = 36 &gt; 32), so [Kr] would claim 36 electrons; the next slide shows the table strip. This slide shows the longhand line, the shorthand line under it, and the check sum. Cl stays on the previous slide as the static example.</a:t>
            </a:r>
          </a:p>
          <a:p>
            <a:r>
              <a:t>STATIC FINAL STATE: print and handout copy, no animation. This slide shows the final state of the build (Ge).</a:t>
            </a:r>
          </a:p>
          <a:p>
            <a:r>
              <a:t>Animated version: SHULL_CHEM_Slides_U02_S02.3.pptx has the click-by-click build.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strip, periods 3 and 4 (groups 1-2, 3-12 as spans, then 13-18). Argon (Z = 18) is the last element of period 3: the noble gas BEFORE germanium. Germanium (Z = 32) is period 4, group 14. Krypton (Z = 36) ends period 4: it comes AFTER germanium, so it cannot be a core for a 32-electron atom. Rule restated: the core is the previous period's noble gas. Positions are asserted from the atomic numbers in scripts/build_diagram_u02_s02.3_configurations.py. The marks use a tick, a cross and words as well as colour. Alt text on the picture describes the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setup, then work it. Answer on the next slide. Fe, Z = 26. Fill 4s before 3d, and we write 4s ahead of 3d (filling-order notation, PROVISIONAL convention). Image prompt (aside slot): a rusted iron nail on a white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 [Ar] 4s^2 3d^6, 18 + 2 + 6 = 26. The 3d boxes hold one pair and four singles, so 4 unpaired. Longhand: 1s^2 2s^2 2p^6 3s^2 3p^6 4s^2 3d^6.</a:t>
            </a:r>
          </a:p>
          <a:p>
            <a:r>
              <a:t>STATIC FINAL STATE: print and handout copy, no animation. This slide shows the final state of the build.</a:t>
            </a:r>
          </a:p>
          <a:p>
            <a:r>
              <a:t>Animated version: SHULL_CHEM_Slides_U02_S02.3.pptx has the click-by-click build.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Copper. Boxes for 4s and 3d only; the [Ar] core (18 electrons) is not drawn. The atom as the rules predict: [Ar] 4s^2 3d^9 (4s before 3d; 18 + 2 + 9 = 29). The measured ground state: [Ar] 4s^1 3d^10, 18 + 1 + 10 = 29, one unpaired electron (the 4s). Same electron count before and after: an electron MOVES from 4s to 3d, none is gained. Say 'measured ground state', not 'textbook error'. The arrows are bookkeeping for the end state; the diagram does not track one electron's journey. Forward pointer to S2.4: the 4s^1 electron leaves first, so Cu^+ = [Ar] 3d^10 and Cu^2+ = [Ar] 3d^9 (both checked by the figure script). The reason follows on the Why slide. Do not extend this to Ag or Au: not taught, not checked (look it up).</a:t>
            </a:r>
          </a:p>
          <a:p>
            <a:r>
              <a:t>STATIC FINAL STATE: print and handout copy, no animation. This slide shows the final state of the build (Cu).</a:t>
            </a:r>
          </a:p>
          <a:p>
            <a:r>
              <a:t>Animated version: SHULL_CHEM_Slides_U02_S02.3.pptx has the click-by-click build.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Chromium. The atom as the rules predict: [Ar] 4s^2 3d^4 (18 + 2 + 4 = 24): four up arrows in 3d and one empty box. The measured ground state: [Ar] 4s^1 3d^5, 18 + 1 + 5 = 24; every box in 4s and 3d holds exactly one up arrow, all spins parallel (Hund), so 6 unpaired electrons, more than iron's 4. The arrows are bookkeeping for the end state: the arrow that leaves 4s is the down one and the arrow that arrives in 3d is an up one, so do not present it as one electron keeping its spin; the point is the final arrangement. Answer to the unpaired question: 6. Same teaching label as Cu: measured ground state. Mo (same group, one period down) is an exception too, and W is not; not taught, not checked here.</a:t>
            </a:r>
          </a:p>
          <a:p>
            <a:r>
              <a:t>STATIC FINAL STATE: print and handout copy, no animation. This slide shows the final state of the build (Cr).</a:t>
            </a:r>
          </a:p>
          <a:p>
            <a:r>
              <a:t>Animated version: SHULL_CHEM_Slides_U02_S02.3.pptx has the click-by-click build.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LEVEL (simplified; say so out loud): 4s and 3d are very close in energy here. Moving one 4s electron gives a completely filled 3d (Cu) or a half-filled 3d with all five spins parallel (Cr). That lowers the atom's total energy slightly, so the real atom does that. This explains Cr and Cu; it does not predict every exception, and in this course students learn Cr and Cu and look the rest up. Do NOT say that half-full and full are always more stable. TEACHER LEVEL: the near-degeneracy of 4s and 3d is what lets a small energy change decide the arrangement. Textbook accounts cite exchange stabilization (same-spin electrons in different orbitals lower the energy; Cr has six parallel spins) and reduced electron-electron repulsion. PROVISIONAL: the textbook story is simpler than the real energy accounting, which needs electron-correlation calculations; that is why the heuristic fails. COUNTEREXAMPLES (checked against a secondary dataset, the mendeleev PyPI package, for Cr, Cu, Nb, Mo, W, Ag and Au; NIST was not reachable from here; still PROVISIONAL until Matt or a source confirms. The script itself checks only that the electron totals are 41 and 74): Nb is [Kr] 5s^1 4d^4, an exception that is not half-full or full; W is the regular [Xe] 6s^2 4f^14 5d^4 although Cr and Mo, in the same group, are exceptions. So the heuristic is not a predictor. Mo, Ag and Au (one period down) are not taught and not checked here. Forward pointer to S2.4: the 4s^1 electron leaves first, so Cu^+ = [Ar] 3d^10 and Cu^2+ = [Ar] 3d^9. Image prompt (aside slot): a coil of copper wire beside a chromium-plated tap on a lab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four checks in order: count, caps and order, Hund and Pauli, then core / Cr / Cu. Stop at the first failure. Image prompt (band slot): a teacher's red pen resting on a page of student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on the next slide. Each was written as a ground state. (a) O: 1s^2 2s^2 2p^6 is 10 electrons, O has 8. (b) K: [Ar] 3d^1 puts 3d before 4s. (c) Ca: [Ne] 4s^2 is 12 electrons, wrong core. (d) Cr: [Ar] 4s^2 3d^4 obeys the rules but is not the real ground state. Replay the Chromium click build if students are unsure. Image prompt (aside slot): a page of student work with a few lines circled in 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(a) O 1s^2 2s^2 2p^4. (b) K [Ar] 4s^1. (c) Ca [Ar] 4s^2. (d) Cr [Ar] 4s^1 3d^5. (d) is the Chromium click build: predicted [Ar] 4s^2 3d^4, actual [Ar] 4s^1 3d^5. Teach 'rules-consistent' versus 'observed': (d) passes every rule on paper and is still not the real atom. Image prompt (data slot): a pencil resting on a page of crossed-out electron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Orbital-diagram errors (brief items c, d), labelled (e) and (f) here. (e) N 2p drawn up, down, up: three singles but not parallel. (f) Ne 2s drawn up, up in one box: Pauli. Ask which rule each breaks and what the fix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Hund: unpaired electrons need parallel spins. Correct N 2p: up, up, up. (f) Pauli: two electrons in one orbital must have opposite spins. Correct Ne 2s: up, down. The brief's other Hund error (pair, single, empty) is the WRONG row on the Hund slide earlier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(re-derived). P, Z = 15: 1s^2 2s^2 2p^6 3s^2 3p^3, 2+2+6+2+3 = 15, 3 unpaired. S, Z = 16: [Ne] 3s^2 3p^4, 10+2+4 = 16; 3p boxes: one pair and two singles, 2 unpaired. Cu, Z = 29: [Ar] 4s^1 3d^10, 18+1+10 = 29. Exception: replay the Copper click build (slide 'Exception: Copper'): the rules predict [Ar] 4s^2 3d^9, one 4s electron moves into 3d, and the filled 3d lowers the atom's total energy slightly. That is the simplified reason from the Why slide (4s and 3d are close in energy); it does not predict every exception, so do not accept 'full is always more stable'. Image prompt (aside slot): a pencil and a blank sheet of lined paper on a lab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next is valence electrons and ion configurations (S2.4). Image prompt (divider slot): an empty lab stool at a long bench, window light across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1_UNIT_TITLE">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5532120" y="1554480"/>
            <a:ext cx="6656832" cy="3749040"/>
          </a:xfrm>
          <a:prstGeom prst="rect">
            <a:avLst/>
          </a:prstGeom>
          <a:solidFill>
            <a:srgbClr val="2E3338"/>
          </a:solidFill>
          <a:ln w="12700">
            <a:solidFill>
              <a:srgbClr val="BDB6AA"/>
            </a:solidFill>
            <a:prstDash val="dash"/>
          </a:ln>
        </p:spPr>
      </p:sp>
      <p:sp>
        <p:nvSpPr>
          <p:cNvPr id="4" name="Text 2"/>
          <p:cNvSpPr txBox="1"/>
          <p:nvPr>
            <p:ph idx="102" hasCustomPrompt="1"/>
          </p:nvPr>
        </p:nvSpPr>
        <p:spPr>
          <a:xfrm>
            <a:off x="5532120" y="1554480"/>
            <a:ext cx="6656832" cy="3749040"/>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UNIT HERO IMAGE  •  16:9  •  1920×1080 min</a:t>
            </a:r>
            <a:endParaRPr lang="en-US" sz="1200" dirty="0"/>
          </a:p>
        </p:txBody>
      </p:sp>
      <p:sp>
        <p:nvSpPr>
          <p:cNvPr id="5" name="Shape 2"/>
          <p:cNvSpPr/>
          <p:nvPr/>
        </p:nvSpPr>
        <p:spPr>
          <a:xfrm>
            <a:off x="0" y="0"/>
            <a:ext cx="164592" cy="6858000"/>
          </a:xfrm>
          <a:prstGeom prst="rect">
            <a:avLst/>
          </a:prstGeom>
          <a:solidFill>
            <a:srgbClr val="A3E635"/>
          </a:solidFill>
          <a:ln/>
        </p:spPr>
      </p:sp>
      <p:sp>
        <p:nvSpPr>
          <p:cNvPr id="6" name="Text 3"/>
          <p:cNvSpPr txBox="1"/>
          <p:nvPr>
            <p:ph idx="104"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7" name="Shape 3"/>
          <p:cNvSpPr/>
          <p:nvPr/>
        </p:nvSpPr>
        <p:spPr>
          <a:xfrm>
            <a:off x="685800" y="676656"/>
            <a:ext cx="1371600" cy="0"/>
          </a:xfrm>
          <a:prstGeom prst="line">
            <a:avLst/>
          </a:prstGeom>
          <a:noFill/>
          <a:ln w="22225">
            <a:solidFill>
              <a:srgbClr val="A3E635"/>
            </a:solidFill>
            <a:prstDash val="solid"/>
          </a:ln>
        </p:spPr>
      </p:sp>
      <p:sp>
        <p:nvSpPr>
          <p:cNvPr id="8" name="Text 4"/>
          <p:cNvSpPr txBox="1"/>
          <p:nvPr>
            <p:ph idx="106" type="title" hasCustomPrompt="1"/>
          </p:nvPr>
        </p:nvSpPr>
        <p:spPr>
          <a:xfrm>
            <a:off x="685800" y="1188720"/>
            <a:ext cx="4617720" cy="1920240"/>
          </a:xfrm>
          <a:prstGeom prst="rect">
            <a:avLst/>
          </a:prstGeom>
          <a:noFill/>
          <a:ln/>
        </p:spPr>
        <p:txBody>
          <a:bodyPr wrap="square" rtlCol="0"/>
          <a:lstStyle>
            <a:lvl1pPr algn="l" indent="0" marL="0">
              <a:lnSpc>
                <a:spcPct val="105000"/>
              </a:lnSpc>
              <a:buNone/>
              <a:defRPr lang="en-US" sz="4000" b="1" dirty="0">
                <a:solidFill>
                  <a:srgbClr val="EDF0E5"/>
                </a:solidFill>
                <a:latin typeface="Trade Gothic Next" pitchFamily="34" charset="0"/>
                <a:ea typeface="Trade Gothic Next" pitchFamily="34" charset="-122"/>
                <a:cs typeface="Trade Gothic Next" pitchFamily="34" charset="-120"/>
              </a:defRPr>
            </a:lvl1pPr>
          </a:lstStyle>
          <a:p>
            <a:pPr algn="l" indent="0" marL="0">
              <a:lnSpc>
                <a:spcPct val="105000"/>
              </a:lnSpc>
              <a:buNone/>
            </a:pPr>
            <a:r>
              <a:rPr lang="en-US" sz="4000" b="1" dirty="0">
                <a:solidFill>
                  <a:srgbClr val="EDF0E5"/>
                </a:solidFill>
                <a:latin typeface="Trade Gothic Next" pitchFamily="34" charset="0"/>
                <a:ea typeface="Trade Gothic Next" pitchFamily="34" charset="-122"/>
                <a:cs typeface="Trade Gothic Next" pitchFamily="34" charset="-120"/>
              </a:rPr>
              <a:t>Unit Title</a:t>
            </a:r>
            <a:endParaRPr lang="en-US" sz="4000" dirty="0"/>
          </a:p>
          <a:p>
            <a:pPr algn="l" indent="0" marL="0">
              <a:lnSpc>
                <a:spcPct val="105000"/>
              </a:lnSpc>
              <a:buNone/>
            </a:pPr>
            <a:r>
              <a:rPr lang="en-US" sz="4000" b="1" dirty="0">
                <a:solidFill>
                  <a:srgbClr val="EDF0E5"/>
                </a:solidFill>
                <a:latin typeface="Trade Gothic Next" pitchFamily="34" charset="0"/>
                <a:ea typeface="Trade Gothic Next" pitchFamily="34" charset="-122"/>
                <a:cs typeface="Trade Gothic Next" pitchFamily="34" charset="-120"/>
              </a:rPr>
              <a:t>Goes Here</a:t>
            </a:r>
            <a:endParaRPr lang="en-US" sz="4000" dirty="0"/>
          </a:p>
        </p:txBody>
      </p:sp>
      <p:sp>
        <p:nvSpPr>
          <p:cNvPr id="9" name="Text 4"/>
          <p:cNvSpPr txBox="1"/>
          <p:nvPr>
            <p:ph idx="107" type="body" hasCustomPrompt="1"/>
          </p:nvPr>
        </p:nvSpPr>
        <p:spPr>
          <a:xfrm>
            <a:off x="685800" y="3246120"/>
            <a:ext cx="4434840" cy="822960"/>
          </a:xfrm>
          <a:prstGeom prst="rect">
            <a:avLst/>
          </a:prstGeom>
          <a:noFill/>
          <a:ln/>
        </p:spPr>
        <p:txBody>
          <a:bodyPr wrap="square" rtlCol="0"/>
          <a:lstStyle>
            <a:lvl1pPr indent="0" marL="0">
              <a:buNone/>
              <a:defRPr lang="en-US" sz="17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BDB6AA"/>
                </a:solidFill>
                <a:latin typeface="Trade Gothic Next" pitchFamily="34" charset="0"/>
                <a:ea typeface="Trade Gothic Next" pitchFamily="34" charset="-122"/>
                <a:cs typeface="Trade Gothic Next" pitchFamily="34" charset="-120"/>
              </a:rPr>
              <a:t>One sentence on what this unit is actually about.</a:t>
            </a:r>
            <a:endParaRPr lang="en-US" sz="1700" dirty="0"/>
          </a:p>
        </p:txBody>
      </p:sp>
      <p:sp>
        <p:nvSpPr>
          <p:cNvPr id="10" name="Shape 4"/>
          <p:cNvSpPr/>
          <p:nvPr/>
        </p:nvSpPr>
        <p:spPr>
          <a:xfrm>
            <a:off x="685800" y="5074920"/>
            <a:ext cx="1417320" cy="329184"/>
          </a:xfrm>
          <a:prstGeom prst="rect">
            <a:avLst>
              <a:gd name="adj" fmla="val 50000"/>
            </a:avLst>
          </a:prstGeom>
          <a:solidFill>
            <a:srgbClr val="A3E635"/>
          </a:solidFill>
          <a:ln/>
        </p:spPr>
      </p:sp>
      <p:sp>
        <p:nvSpPr>
          <p:cNvPr id="11" name="Text 5"/>
          <p:cNvSpPr txBox="1"/>
          <p:nvPr/>
        </p:nvSpPr>
        <p:spPr>
          <a:xfrm>
            <a:off x="685800" y="5102352"/>
            <a:ext cx="1417320" cy="274320"/>
          </a:xfrm>
          <a:prstGeom prst="rect">
            <a:avLst/>
          </a:prstGeom>
          <a:noFill/>
          <a:ln/>
        </p:spPr>
        <p:txBody>
          <a:bodyPr wrap="square" lIns="0" tIns="0" rIns="0" bIns="0" rtlCol="0" anchor="ctr"/>
          <a:lstStyle/>
          <a:p>
            <a:pPr algn="ctr" indent="0" marL="0">
              <a:buNone/>
            </a:pPr>
            <a:r>
              <a:rPr lang="en-US" sz="1000" b="1" spc="120" kern="0" dirty="0">
                <a:solidFill>
                  <a:srgbClr val="14161B"/>
                </a:solidFill>
                <a:latin typeface="Trade Gothic Next" pitchFamily="34" charset="0"/>
                <a:ea typeface="Trade Gothic Next" pitchFamily="34" charset="-122"/>
                <a:cs typeface="Trade Gothic Next" pitchFamily="34" charset="-120"/>
              </a:rPr>
              <a:t>MR. SHULL</a:t>
            </a:r>
            <a:endParaRPr lang="en-US" sz="1000" dirty="0"/>
          </a:p>
        </p:txBody>
      </p:sp>
      <p:sp>
        <p:nvSpPr>
          <p:cNvPr id="12" name="Text 6"/>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13" name="Text 7"/>
          <p:cNvSpPr txBox="1"/>
          <p:nvPr>
            <p:ph idx="111"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2_SECTION_TITLE">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0" y="0"/>
            <a:ext cx="3977640" cy="6858000"/>
          </a:xfrm>
          <a:prstGeom prst="rect">
            <a:avLst/>
          </a:prstGeom>
          <a:solidFill>
            <a:srgbClr val="A3E635"/>
          </a:solidFill>
          <a:ln/>
        </p:spPr>
      </p:sp>
      <p:sp>
        <p:nvSpPr>
          <p:cNvPr id="4" name="Shape 2"/>
          <p:cNvSpPr/>
          <p:nvPr/>
        </p:nvSpPr>
        <p:spPr>
          <a:xfrm>
            <a:off x="4480560" y="777240"/>
            <a:ext cx="7086600" cy="3986784"/>
          </a:xfrm>
          <a:prstGeom prst="rect">
            <a:avLst/>
          </a:prstGeom>
          <a:solidFill>
            <a:srgbClr val="2E3338"/>
          </a:solidFill>
          <a:ln w="12700">
            <a:solidFill>
              <a:srgbClr val="BDB6AA"/>
            </a:solidFill>
            <a:prstDash val="dash"/>
          </a:ln>
        </p:spPr>
      </p:sp>
      <p:sp>
        <p:nvSpPr>
          <p:cNvPr id="5" name="Text 3"/>
          <p:cNvSpPr txBox="1"/>
          <p:nvPr>
            <p:ph idx="103" hasCustomPrompt="1"/>
          </p:nvPr>
        </p:nvSpPr>
        <p:spPr>
          <a:xfrm>
            <a:off x="4480560" y="777240"/>
            <a:ext cx="7086600" cy="3986784"/>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SECTION IMAGE  •  16:9</a:t>
            </a:r>
            <a:endParaRPr lang="en-US" sz="1200" dirty="0"/>
          </a:p>
        </p:txBody>
      </p:sp>
      <p:sp>
        <p:nvSpPr>
          <p:cNvPr id="6" name="Text 3"/>
          <p:cNvSpPr txBox="1"/>
          <p:nvPr>
            <p:ph idx="104" type="body" hasCustomPrompt="1"/>
          </p:nvPr>
        </p:nvSpPr>
        <p:spPr>
          <a:xfrm>
            <a:off x="777240" y="502920"/>
            <a:ext cx="2011680" cy="868680"/>
          </a:xfrm>
          <a:prstGeom prst="rect">
            <a:avLst/>
          </a:prstGeom>
          <a:noFill/>
          <a:ln/>
        </p:spPr>
        <p:txBody>
          <a:bodyPr wrap="square" rtlCol="0"/>
          <a:lstStyle>
            <a:lvl1pPr algn="l" indent="0" marL="0">
              <a:buNone/>
              <a:defRPr lang="en-US" sz="44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4400" b="1" dirty="0">
                <a:solidFill>
                  <a:srgbClr val="14161B"/>
                </a:solidFill>
                <a:latin typeface="Trade Gothic Next" pitchFamily="34" charset="0"/>
                <a:ea typeface="Trade Gothic Next" pitchFamily="34" charset="-122"/>
                <a:cs typeface="Trade Gothic Next" pitchFamily="34" charset="-120"/>
              </a:rPr>
              <a:t>01</a:t>
            </a:r>
            <a:endParaRPr lang="en-US" sz="4400" dirty="0"/>
          </a:p>
        </p:txBody>
      </p:sp>
      <p:sp>
        <p:nvSpPr>
          <p:cNvPr id="7" name="Text 3"/>
          <p:cNvSpPr txBox="1"/>
          <p:nvPr/>
        </p:nvSpPr>
        <p:spPr>
          <a:xfrm>
            <a:off x="777240" y="1481328"/>
            <a:ext cx="2743200" cy="219456"/>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SECTION TITLE</a:t>
            </a:r>
            <a:endParaRPr lang="en-US" sz="1100" dirty="0"/>
          </a:p>
        </p:txBody>
      </p:sp>
      <p:sp>
        <p:nvSpPr>
          <p:cNvPr id="8" name="Text 4"/>
          <p:cNvSpPr txBox="1"/>
          <p:nvPr>
            <p:ph idx="106" type="title" hasCustomPrompt="1"/>
          </p:nvPr>
        </p:nvSpPr>
        <p:spPr>
          <a:xfrm>
            <a:off x="777240" y="1847088"/>
            <a:ext cx="2834640" cy="1691640"/>
          </a:xfrm>
          <a:prstGeom prst="rect">
            <a:avLst/>
          </a:prstGeom>
          <a:noFill/>
          <a:ln/>
        </p:spPr>
        <p:txBody>
          <a:bodyPr wrap="square" rtlCol="0"/>
          <a:lstStyle>
            <a:lvl1pPr algn="l" indent="0" marL="0">
              <a:lnSpc>
                <a:spcPct val="106000"/>
              </a:lnSpc>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1.1</a:t>
            </a:r>
            <a:endParaRPr lang="en-US" sz="2800" dirty="0"/>
          </a:p>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Section Name</a:t>
            </a:r>
            <a:endParaRPr lang="en-US" sz="2800" dirty="0"/>
          </a:p>
        </p:txBody>
      </p:sp>
      <p:sp>
        <p:nvSpPr>
          <p:cNvPr id="9" name="Text 4"/>
          <p:cNvSpPr txBox="1"/>
          <p:nvPr>
            <p:ph idx="107" type="body" hasCustomPrompt="1"/>
          </p:nvPr>
        </p:nvSpPr>
        <p:spPr>
          <a:xfrm>
            <a:off x="777240" y="3749040"/>
            <a:ext cx="2834640" cy="1097280"/>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students should be able to do by the end.</a:t>
            </a:r>
            <a:endParaRPr lang="en-US" sz="1600" dirty="0"/>
          </a:p>
        </p:txBody>
      </p:sp>
      <p:sp>
        <p:nvSpPr>
          <p:cNvPr id="10" name="Text 4"/>
          <p:cNvSpPr txBox="1"/>
          <p:nvPr/>
        </p:nvSpPr>
        <p:spPr>
          <a:xfrm>
            <a:off x="777240" y="6382512"/>
            <a:ext cx="2743200" cy="237744"/>
          </a:xfrm>
          <a:prstGeom prst="rect">
            <a:avLst/>
          </a:prstGeom>
          <a:noFill/>
          <a:ln/>
        </p:spPr>
        <p:txBody>
          <a:bodyPr wrap="square" lIns="0" tIns="0" rIns="0" bIns="0" rtlCol="0" anchor="ctr"/>
          <a:lstStyle/>
          <a:p>
            <a:pPr indent="0" marL="0">
              <a:buNone/>
            </a:pPr>
            <a:r>
              <a:rPr lang="en-US" sz="1000" b="1" spc="140" kern="0" dirty="0">
                <a:solidFill>
                  <a:srgbClr val="14161B"/>
                </a:solidFill>
                <a:latin typeface="Trade Gothic Next" pitchFamily="34" charset="0"/>
                <a:ea typeface="Trade Gothic Next" pitchFamily="34" charset="-122"/>
                <a:cs typeface="Trade Gothic Next" pitchFamily="34" charset="-120"/>
              </a:rPr>
              <a:t>SHULL SCIENCE</a:t>
            </a:r>
            <a:endParaRPr lang="en-US" sz="1000" dirty="0"/>
          </a:p>
        </p:txBody>
      </p:sp>
      <p:sp>
        <p:nvSpPr>
          <p:cNvPr id="11" name="Text 5"/>
          <p:cNvSpPr txBox="1"/>
          <p:nvPr>
            <p:ph idx="109"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3_GROUPED_CONCEP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77440"/>
            <a:ext cx="4663440" cy="2624328"/>
          </a:xfrm>
          <a:prstGeom prst="rect">
            <a:avLst/>
          </a:prstGeom>
          <a:solidFill>
            <a:srgbClr val="EDF0E5"/>
          </a:solidFill>
          <a:ln w="12700">
            <a:solidFill>
              <a:srgbClr val="C8CDC2"/>
            </a:solidFill>
            <a:prstDash val="dash"/>
          </a:ln>
        </p:spPr>
      </p:sp>
      <p:sp>
        <p:nvSpPr>
          <p:cNvPr id="8" name="Text 3"/>
          <p:cNvSpPr txBox="1"/>
          <p:nvPr>
            <p:ph idx="106" hasCustomPrompt="1"/>
          </p:nvPr>
        </p:nvSpPr>
        <p:spPr>
          <a:xfrm>
            <a:off x="685800" y="2377440"/>
            <a:ext cx="4663440" cy="2624328"/>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CONCEPT IMAGE  •  16:9</a:t>
            </a:r>
            <a:endParaRPr lang="en-US" sz="1200" dirty="0"/>
          </a:p>
        </p:txBody>
      </p:sp>
      <p:sp>
        <p:nvSpPr>
          <p:cNvPr id="9" name="Shape 3"/>
          <p:cNvSpPr/>
          <p:nvPr/>
        </p:nvSpPr>
        <p:spPr>
          <a:xfrm>
            <a:off x="5532120" y="2377440"/>
            <a:ext cx="3154680" cy="2624328"/>
          </a:xfrm>
          <a:prstGeom prst="rect">
            <a:avLst/>
          </a:prstGeom>
          <a:solidFill>
            <a:srgbClr val="EDF0E5"/>
          </a:solidFill>
          <a:ln w="12700">
            <a:solidFill>
              <a:srgbClr val="C8CDC2"/>
            </a:solidFill>
            <a:prstDash val="solid"/>
          </a:ln>
        </p:spPr>
      </p:sp>
      <p:sp>
        <p:nvSpPr>
          <p:cNvPr id="10" name="Text 4"/>
          <p:cNvSpPr txBox="1"/>
          <p:nvPr>
            <p:ph idx="108" type="body" hasCustomPrompt="1"/>
          </p:nvPr>
        </p:nvSpPr>
        <p:spPr>
          <a:xfrm>
            <a:off x="5733288" y="2542032"/>
            <a:ext cx="275234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GROUP ONE</a:t>
            </a:r>
            <a:endParaRPr lang="en-US" sz="1200" dirty="0"/>
          </a:p>
        </p:txBody>
      </p:sp>
      <p:sp>
        <p:nvSpPr>
          <p:cNvPr id="11" name="Text 4"/>
          <p:cNvSpPr txBox="1"/>
          <p:nvPr>
            <p:ph idx="109" type="body" hasCustomPrompt="1"/>
          </p:nvPr>
        </p:nvSpPr>
        <p:spPr>
          <a:xfrm>
            <a:off x="5733288" y="2834640"/>
            <a:ext cx="2752344" cy="1965960"/>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first idea, in one or two lines.</a:t>
            </a:r>
            <a:endParaRPr lang="en-US" sz="1600" dirty="0"/>
          </a:p>
        </p:txBody>
      </p:sp>
      <p:sp>
        <p:nvSpPr>
          <p:cNvPr id="12" name="Shape 4"/>
          <p:cNvSpPr/>
          <p:nvPr/>
        </p:nvSpPr>
        <p:spPr>
          <a:xfrm>
            <a:off x="8915400" y="2377440"/>
            <a:ext cx="3154680" cy="2624328"/>
          </a:xfrm>
          <a:prstGeom prst="rect">
            <a:avLst/>
          </a:prstGeom>
          <a:solidFill>
            <a:srgbClr val="2E3338"/>
          </a:solidFill>
          <a:ln w="12700">
            <a:solidFill>
              <a:srgbClr val="2E3338"/>
            </a:solidFill>
            <a:prstDash val="solid"/>
          </a:ln>
        </p:spPr>
      </p:sp>
      <p:sp>
        <p:nvSpPr>
          <p:cNvPr id="13" name="Text 5"/>
          <p:cNvSpPr txBox="1"/>
          <p:nvPr>
            <p:ph idx="111" type="body" hasCustomPrompt="1"/>
          </p:nvPr>
        </p:nvSpPr>
        <p:spPr>
          <a:xfrm>
            <a:off x="9116568" y="2542032"/>
            <a:ext cx="2752344" cy="219456"/>
          </a:xfrm>
          <a:prstGeom prst="rect">
            <a:avLst/>
          </a:prstGeom>
          <a:noFill/>
          <a:ln/>
        </p:spPr>
        <p:txBody>
          <a:bodyPr wrap="square" rtlCol="0"/>
          <a:lstStyle>
            <a:lvl1pPr indent="0" marL="0">
              <a:buNone/>
              <a:defRPr lang="en-US" sz="1200" b="1" spc="120" kern="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BDB6AA"/>
                </a:solidFill>
                <a:latin typeface="Trade Gothic Next" pitchFamily="34" charset="0"/>
                <a:ea typeface="Trade Gothic Next" pitchFamily="34" charset="-122"/>
                <a:cs typeface="Trade Gothic Next" pitchFamily="34" charset="-120"/>
              </a:rPr>
              <a:t>GROUP TWO</a:t>
            </a:r>
            <a:endParaRPr lang="en-US" sz="1200" dirty="0"/>
          </a:p>
        </p:txBody>
      </p:sp>
      <p:sp>
        <p:nvSpPr>
          <p:cNvPr id="14" name="Text 5"/>
          <p:cNvSpPr txBox="1"/>
          <p:nvPr>
            <p:ph idx="112" type="body" hasCustomPrompt="1"/>
          </p:nvPr>
        </p:nvSpPr>
        <p:spPr>
          <a:xfrm>
            <a:off x="9116568" y="2834640"/>
            <a:ext cx="2752344" cy="1965960"/>
          </a:xfrm>
          <a:prstGeom prst="rect">
            <a:avLst/>
          </a:prstGeom>
          <a:noFill/>
          <a:ln/>
        </p:spPr>
        <p:txBody>
          <a:bodyPr wrap="square" rtlCol="0"/>
          <a:lstStyle>
            <a:lvl1pPr indent="0" marL="0">
              <a:buNone/>
              <a:defRPr lang="en-US" sz="160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The contrasting idea.</a:t>
            </a:r>
            <a:endParaRPr lang="en-US" sz="1600" dirty="0"/>
          </a:p>
        </p:txBody>
      </p:sp>
      <p:sp>
        <p:nvSpPr>
          <p:cNvPr id="15" name="Shape 5"/>
          <p:cNvSpPr/>
          <p:nvPr/>
        </p:nvSpPr>
        <p:spPr>
          <a:xfrm>
            <a:off x="685800" y="5321808"/>
            <a:ext cx="10820095" cy="566928"/>
          </a:xfrm>
          <a:prstGeom prst="rect">
            <a:avLst/>
          </a:prstGeom>
          <a:solidFill>
            <a:srgbClr val="14161B"/>
          </a:solidFill>
          <a:ln/>
        </p:spPr>
      </p:sp>
      <p:sp>
        <p:nvSpPr>
          <p:cNvPr id="16" name="Text 6"/>
          <p:cNvSpPr txBox="1"/>
          <p:nvPr/>
        </p:nvSpPr>
        <p:spPr>
          <a:xfrm>
            <a:off x="886968" y="5376672"/>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17" name="Text 7"/>
          <p:cNvSpPr txBox="1"/>
          <p:nvPr>
            <p:ph idx="115" type="body" hasCustomPrompt="1"/>
          </p:nvPr>
        </p:nvSpPr>
        <p:spPr>
          <a:xfrm>
            <a:off x="2240280" y="5394960"/>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18" name="Text 7"/>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19" name="Text 8"/>
          <p:cNvSpPr txBox="1"/>
          <p:nvPr>
            <p:ph idx="117"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4_DIVIDER">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2926080" y="0"/>
            <a:ext cx="9262872" cy="6858000"/>
          </a:xfrm>
          <a:prstGeom prst="rect">
            <a:avLst/>
          </a:prstGeom>
          <a:solidFill>
            <a:srgbClr val="2E3338"/>
          </a:solidFill>
          <a:ln w="12700">
            <a:solidFill>
              <a:srgbClr val="BDB6AA"/>
            </a:solidFill>
            <a:prstDash val="dash"/>
          </a:ln>
        </p:spPr>
      </p:sp>
      <p:sp>
        <p:nvSpPr>
          <p:cNvPr id="4" name="Text 2"/>
          <p:cNvSpPr txBox="1"/>
          <p:nvPr>
            <p:ph idx="102" hasCustomPrompt="1"/>
          </p:nvPr>
        </p:nvSpPr>
        <p:spPr>
          <a:xfrm>
            <a:off x="2926080" y="0"/>
            <a:ext cx="9262872" cy="6858000"/>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FULL-BLEED CONCEPT IMAGE  •  one image, no decoration</a:t>
            </a:r>
            <a:endParaRPr lang="en-US" sz="1200" dirty="0"/>
          </a:p>
        </p:txBody>
      </p:sp>
      <p:sp>
        <p:nvSpPr>
          <p:cNvPr id="5" name="Shape 2"/>
          <p:cNvSpPr/>
          <p:nvPr/>
        </p:nvSpPr>
        <p:spPr>
          <a:xfrm>
            <a:off x="0" y="0"/>
            <a:ext cx="3931920" cy="6858000"/>
          </a:xfrm>
          <a:prstGeom prst="rect">
            <a:avLst/>
          </a:prstGeom>
          <a:solidFill>
            <a:srgbClr val="14161B"/>
          </a:solidFill>
          <a:ln/>
        </p:spPr>
      </p:sp>
      <p:sp>
        <p:nvSpPr>
          <p:cNvPr id="6" name="Shape 3"/>
          <p:cNvSpPr/>
          <p:nvPr/>
        </p:nvSpPr>
        <p:spPr>
          <a:xfrm>
            <a:off x="0" y="0"/>
            <a:ext cx="164592" cy="6858000"/>
          </a:xfrm>
          <a:prstGeom prst="rect">
            <a:avLst/>
          </a:prstGeom>
          <a:solidFill>
            <a:srgbClr val="A3E635"/>
          </a:solidFill>
          <a:ln/>
        </p:spPr>
      </p:sp>
      <p:sp>
        <p:nvSpPr>
          <p:cNvPr id="7" name="Shape 4"/>
          <p:cNvSpPr/>
          <p:nvPr/>
        </p:nvSpPr>
        <p:spPr>
          <a:xfrm>
            <a:off x="566928" y="1481328"/>
            <a:ext cx="3703320" cy="3675888"/>
          </a:xfrm>
          <a:prstGeom prst="rect">
            <a:avLst/>
          </a:prstGeom>
          <a:solidFill>
            <a:srgbClr val="14161B"/>
          </a:solidFill>
          <a:ln w="15875">
            <a:solidFill>
              <a:srgbClr val="A3E635"/>
            </a:solidFill>
            <a:prstDash val="solid"/>
          </a:ln>
        </p:spPr>
      </p:sp>
      <p:sp>
        <p:nvSpPr>
          <p:cNvPr id="8" name="Text 5"/>
          <p:cNvSpPr txBox="1"/>
          <p:nvPr>
            <p:ph idx="106" type="body" hasCustomPrompt="1"/>
          </p:nvPr>
        </p:nvSpPr>
        <p:spPr>
          <a:xfrm>
            <a:off x="841248" y="1755648"/>
            <a:ext cx="3154680" cy="457200"/>
          </a:xfrm>
          <a:prstGeom prst="rect">
            <a:avLst/>
          </a:prstGeom>
          <a:noFill/>
          <a:ln/>
        </p:spPr>
        <p:txBody>
          <a:bodyPr wrap="square" rtlCol="0"/>
          <a:lstStyle>
            <a:lvl1pPr indent="0" marL="0">
              <a:buNone/>
              <a:defRPr lang="en-US" sz="1100" b="1" spc="150" kern="0" dirty="0">
                <a:solidFill>
                  <a:srgbClr val="A3E635"/>
                </a:solidFill>
                <a:latin typeface="Trade Gothic Next" pitchFamily="34" charset="0"/>
                <a:ea typeface="Trade Gothic Next" pitchFamily="34" charset="-122"/>
                <a:cs typeface="Trade Gothic Next" pitchFamily="34" charset="-120"/>
              </a:defRPr>
            </a:lvl1pPr>
          </a:lstStyle>
          <a:p>
            <a:pPr indent="0" marL="0">
              <a:buNone/>
            </a:pPr>
            <a:r>
              <a:rPr lang="en-US" sz="1100" b="1" spc="150" kern="0" dirty="0">
                <a:solidFill>
                  <a:srgbClr val="A3E635"/>
                </a:solidFill>
                <a:latin typeface="Trade Gothic Next" pitchFamily="34" charset="0"/>
                <a:ea typeface="Trade Gothic Next" pitchFamily="34" charset="-122"/>
                <a:cs typeface="Trade Gothic Next" pitchFamily="34" charset="-120"/>
              </a:rPr>
              <a:t>1.2  •  SECTION NAME</a:t>
            </a:r>
            <a:endParaRPr lang="en-US" sz="1100" dirty="0"/>
          </a:p>
        </p:txBody>
      </p:sp>
      <p:sp>
        <p:nvSpPr>
          <p:cNvPr id="9" name="Text 5"/>
          <p:cNvSpPr txBox="1"/>
          <p:nvPr>
            <p:ph idx="107" type="title" hasCustomPrompt="1"/>
          </p:nvPr>
        </p:nvSpPr>
        <p:spPr>
          <a:xfrm>
            <a:off x="841248" y="2304288"/>
            <a:ext cx="3154680" cy="1417320"/>
          </a:xfrm>
          <a:prstGeom prst="rect">
            <a:avLst/>
          </a:prstGeom>
          <a:noFill/>
          <a:ln/>
        </p:spPr>
        <p:txBody>
          <a:bodyPr wrap="square" rtlCol="0"/>
          <a:lstStyle>
            <a:lvl1pPr algn="l" indent="0" marL="0">
              <a:lnSpc>
                <a:spcPct val="108000"/>
              </a:lnSpc>
              <a:buNone/>
              <a:defRPr lang="en-US" sz="2600" b="1" dirty="0">
                <a:solidFill>
                  <a:srgbClr val="EDF0E5"/>
                </a:solidFill>
                <a:latin typeface="Trade Gothic Next" pitchFamily="34" charset="0"/>
                <a:ea typeface="Trade Gothic Next" pitchFamily="34" charset="-122"/>
                <a:cs typeface="Trade Gothic Next" pitchFamily="34" charset="-120"/>
              </a:defRPr>
            </a:lvl1pPr>
          </a:lstStyle>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The Big Idea</a:t>
            </a:r>
            <a:endParaRPr lang="en-US" sz="2600" dirty="0"/>
          </a:p>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Of This Section</a:t>
            </a:r>
            <a:endParaRPr lang="en-US" sz="2600" dirty="0"/>
          </a:p>
        </p:txBody>
      </p:sp>
      <p:sp>
        <p:nvSpPr>
          <p:cNvPr id="10" name="Text 5"/>
          <p:cNvSpPr txBox="1"/>
          <p:nvPr>
            <p:ph idx="108" type="body" hasCustomPrompt="1"/>
          </p:nvPr>
        </p:nvSpPr>
        <p:spPr>
          <a:xfrm>
            <a:off x="841248" y="3858768"/>
            <a:ext cx="3154680" cy="1097280"/>
          </a:xfrm>
          <a:prstGeom prst="rect">
            <a:avLst/>
          </a:prstGeom>
          <a:noFill/>
          <a:ln/>
        </p:spPr>
        <p:txBody>
          <a:bodyPr wrap="square" rtlCol="0"/>
          <a:lstStyle>
            <a:lvl1pPr indent="0" marL="0">
              <a:buNone/>
              <a:defRPr lang="en-US" sz="16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Students see the story before the first bullet.</a:t>
            </a:r>
            <a:endParaRPr lang="en-US" sz="1600" dirty="0"/>
          </a:p>
        </p:txBody>
      </p:sp>
      <p:sp>
        <p:nvSpPr>
          <p:cNvPr id="11" name="Text 5"/>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12" name="Text 6"/>
          <p:cNvSpPr txBox="1"/>
          <p:nvPr>
            <p:ph idx="110"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5_PROCESS_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10820095" cy="2011680"/>
          </a:xfrm>
          <a:prstGeom prst="rect">
            <a:avLst/>
          </a:prstGeom>
          <a:solidFill>
            <a:srgbClr val="14161B"/>
          </a:solidFill>
          <a:ln/>
        </p:spPr>
      </p:sp>
      <p:sp>
        <p:nvSpPr>
          <p:cNvPr id="8" name="Shape 3"/>
          <p:cNvSpPr/>
          <p:nvPr/>
        </p:nvSpPr>
        <p:spPr>
          <a:xfrm>
            <a:off x="3246120" y="2487168"/>
            <a:ext cx="5669280" cy="1828800"/>
          </a:xfrm>
          <a:prstGeom prst="rect">
            <a:avLst/>
          </a:prstGeom>
          <a:solidFill>
            <a:srgbClr val="2E3338"/>
          </a:solidFill>
          <a:ln w="12700">
            <a:solidFill>
              <a:srgbClr val="BDB6AA"/>
            </a:solidFill>
            <a:prstDash val="dash"/>
          </a:ln>
        </p:spPr>
      </p:sp>
      <p:sp>
        <p:nvSpPr>
          <p:cNvPr id="9" name="Text 4"/>
          <p:cNvSpPr txBox="1"/>
          <p:nvPr>
            <p:ph idx="107" hasCustomPrompt="1"/>
          </p:nvPr>
        </p:nvSpPr>
        <p:spPr>
          <a:xfrm>
            <a:off x="3246120" y="2487168"/>
            <a:ext cx="5669280" cy="1828800"/>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PROCESS BAND  •  3:1  •  generate 16:9 and centre-crop</a:t>
            </a:r>
            <a:endParaRPr lang="en-US" sz="1200" dirty="0"/>
          </a:p>
        </p:txBody>
      </p:sp>
      <p:sp>
        <p:nvSpPr>
          <p:cNvPr id="10" name="Shape 4"/>
          <p:cNvSpPr/>
          <p:nvPr/>
        </p:nvSpPr>
        <p:spPr>
          <a:xfrm>
            <a:off x="685800" y="4617720"/>
            <a:ext cx="2615184" cy="1188720"/>
          </a:xfrm>
          <a:prstGeom prst="rect">
            <a:avLst/>
          </a:prstGeom>
          <a:solidFill>
            <a:srgbClr val="EDF0E5"/>
          </a:solidFill>
          <a:ln w="12700">
            <a:solidFill>
              <a:srgbClr val="C8CDC2"/>
            </a:solidFill>
            <a:prstDash val="solid"/>
          </a:ln>
        </p:spPr>
      </p:sp>
      <p:sp>
        <p:nvSpPr>
          <p:cNvPr id="11" name="Text 5"/>
          <p:cNvSpPr txBox="1"/>
          <p:nvPr/>
        </p:nvSpPr>
        <p:spPr>
          <a:xfrm>
            <a:off x="832104"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1</a:t>
            </a:r>
            <a:endParaRPr lang="en-US" sz="1300" dirty="0"/>
          </a:p>
        </p:txBody>
      </p:sp>
      <p:sp>
        <p:nvSpPr>
          <p:cNvPr id="12" name="Text 6"/>
          <p:cNvSpPr txBox="1"/>
          <p:nvPr>
            <p:ph idx="110" type="body" hasCustomPrompt="1"/>
          </p:nvPr>
        </p:nvSpPr>
        <p:spPr>
          <a:xfrm>
            <a:off x="1234440"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1</a:t>
            </a:r>
            <a:endParaRPr lang="en-US" sz="1200" dirty="0"/>
          </a:p>
        </p:txBody>
      </p:sp>
      <p:sp>
        <p:nvSpPr>
          <p:cNvPr id="13" name="Text 6"/>
          <p:cNvSpPr txBox="1"/>
          <p:nvPr>
            <p:ph idx="111" type="body" hasCustomPrompt="1"/>
          </p:nvPr>
        </p:nvSpPr>
        <p:spPr>
          <a:xfrm>
            <a:off x="832104"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14" name="Shape 6"/>
          <p:cNvSpPr/>
          <p:nvPr/>
        </p:nvSpPr>
        <p:spPr>
          <a:xfrm>
            <a:off x="3447288" y="4617720"/>
            <a:ext cx="2615184" cy="1188720"/>
          </a:xfrm>
          <a:prstGeom prst="rect">
            <a:avLst/>
          </a:prstGeom>
          <a:solidFill>
            <a:srgbClr val="EDF0E5"/>
          </a:solidFill>
          <a:ln w="12700">
            <a:solidFill>
              <a:srgbClr val="C8CDC2"/>
            </a:solidFill>
            <a:prstDash val="solid"/>
          </a:ln>
        </p:spPr>
      </p:sp>
      <p:sp>
        <p:nvSpPr>
          <p:cNvPr id="15" name="Text 7"/>
          <p:cNvSpPr txBox="1"/>
          <p:nvPr/>
        </p:nvSpPr>
        <p:spPr>
          <a:xfrm>
            <a:off x="3593592"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2</a:t>
            </a:r>
            <a:endParaRPr lang="en-US" sz="1300" dirty="0"/>
          </a:p>
        </p:txBody>
      </p:sp>
      <p:sp>
        <p:nvSpPr>
          <p:cNvPr id="16" name="Text 8"/>
          <p:cNvSpPr txBox="1"/>
          <p:nvPr>
            <p:ph idx="114" type="body" hasCustomPrompt="1"/>
          </p:nvPr>
        </p:nvSpPr>
        <p:spPr>
          <a:xfrm>
            <a:off x="3995928"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2</a:t>
            </a:r>
            <a:endParaRPr lang="en-US" sz="1200" dirty="0"/>
          </a:p>
        </p:txBody>
      </p:sp>
      <p:sp>
        <p:nvSpPr>
          <p:cNvPr id="17" name="Text 8"/>
          <p:cNvSpPr txBox="1"/>
          <p:nvPr>
            <p:ph idx="115" type="body" hasCustomPrompt="1"/>
          </p:nvPr>
        </p:nvSpPr>
        <p:spPr>
          <a:xfrm>
            <a:off x="3593592"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18" name="Shape 8"/>
          <p:cNvSpPr/>
          <p:nvPr/>
        </p:nvSpPr>
        <p:spPr>
          <a:xfrm>
            <a:off x="6208776" y="4617720"/>
            <a:ext cx="2615184" cy="1188720"/>
          </a:xfrm>
          <a:prstGeom prst="rect">
            <a:avLst/>
          </a:prstGeom>
          <a:solidFill>
            <a:srgbClr val="EDF0E5"/>
          </a:solidFill>
          <a:ln w="12700">
            <a:solidFill>
              <a:srgbClr val="C8CDC2"/>
            </a:solidFill>
            <a:prstDash val="solid"/>
          </a:ln>
        </p:spPr>
      </p:sp>
      <p:sp>
        <p:nvSpPr>
          <p:cNvPr id="19" name="Text 9"/>
          <p:cNvSpPr txBox="1"/>
          <p:nvPr/>
        </p:nvSpPr>
        <p:spPr>
          <a:xfrm>
            <a:off x="6355080"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3</a:t>
            </a:r>
            <a:endParaRPr lang="en-US" sz="1300" dirty="0"/>
          </a:p>
        </p:txBody>
      </p:sp>
      <p:sp>
        <p:nvSpPr>
          <p:cNvPr id="20" name="Text 10"/>
          <p:cNvSpPr txBox="1"/>
          <p:nvPr>
            <p:ph idx="118" type="body" hasCustomPrompt="1"/>
          </p:nvPr>
        </p:nvSpPr>
        <p:spPr>
          <a:xfrm>
            <a:off x="6757416"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3</a:t>
            </a:r>
            <a:endParaRPr lang="en-US" sz="1200" dirty="0"/>
          </a:p>
        </p:txBody>
      </p:sp>
      <p:sp>
        <p:nvSpPr>
          <p:cNvPr id="21" name="Text 10"/>
          <p:cNvSpPr txBox="1"/>
          <p:nvPr>
            <p:ph idx="119" type="body" hasCustomPrompt="1"/>
          </p:nvPr>
        </p:nvSpPr>
        <p:spPr>
          <a:xfrm>
            <a:off x="6355080"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22" name="Shape 10"/>
          <p:cNvSpPr/>
          <p:nvPr/>
        </p:nvSpPr>
        <p:spPr>
          <a:xfrm>
            <a:off x="8970264" y="4617720"/>
            <a:ext cx="2615184" cy="1188720"/>
          </a:xfrm>
          <a:prstGeom prst="rect">
            <a:avLst/>
          </a:prstGeom>
          <a:solidFill>
            <a:srgbClr val="EDF0E5"/>
          </a:solidFill>
          <a:ln w="12700">
            <a:solidFill>
              <a:srgbClr val="C8CDC2"/>
            </a:solidFill>
            <a:prstDash val="solid"/>
          </a:ln>
        </p:spPr>
      </p:sp>
      <p:sp>
        <p:nvSpPr>
          <p:cNvPr id="23" name="Text 11"/>
          <p:cNvSpPr txBox="1"/>
          <p:nvPr/>
        </p:nvSpPr>
        <p:spPr>
          <a:xfrm>
            <a:off x="9116568"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4</a:t>
            </a:r>
            <a:endParaRPr lang="en-US" sz="1300" dirty="0"/>
          </a:p>
        </p:txBody>
      </p:sp>
      <p:sp>
        <p:nvSpPr>
          <p:cNvPr id="24" name="Text 12"/>
          <p:cNvSpPr txBox="1"/>
          <p:nvPr>
            <p:ph idx="122" type="body" hasCustomPrompt="1"/>
          </p:nvPr>
        </p:nvSpPr>
        <p:spPr>
          <a:xfrm>
            <a:off x="9518904"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4</a:t>
            </a:r>
            <a:endParaRPr lang="en-US" sz="1200" dirty="0"/>
          </a:p>
        </p:txBody>
      </p:sp>
      <p:sp>
        <p:nvSpPr>
          <p:cNvPr id="25" name="Text 12"/>
          <p:cNvSpPr txBox="1"/>
          <p:nvPr>
            <p:ph idx="123" type="body" hasCustomPrompt="1"/>
          </p:nvPr>
        </p:nvSpPr>
        <p:spPr>
          <a:xfrm>
            <a:off x="9116568"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26" name="Text 12"/>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7" name="Text 13"/>
          <p:cNvSpPr txBox="1"/>
          <p:nvPr>
            <p:ph idx="125"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6_CONCEPT_IMAGE">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0" y="0"/>
            <a:ext cx="164592" cy="6858000"/>
          </a:xfrm>
          <a:prstGeom prst="rect">
            <a:avLst/>
          </a:prstGeom>
          <a:solidFill>
            <a:srgbClr val="A3E635"/>
          </a:solidFill>
          <a:ln/>
        </p:spPr>
      </p:sp>
      <p:sp>
        <p:nvSpPr>
          <p:cNvPr id="4" name="Shape 2"/>
          <p:cNvSpPr/>
          <p:nvPr/>
        </p:nvSpPr>
        <p:spPr>
          <a:xfrm>
            <a:off x="6172200" y="868680"/>
            <a:ext cx="5349240" cy="4160520"/>
          </a:xfrm>
          <a:prstGeom prst="rect">
            <a:avLst/>
          </a:prstGeom>
          <a:solidFill>
            <a:srgbClr val="A3E635"/>
          </a:solidFill>
          <a:ln/>
        </p:spPr>
      </p:sp>
      <p:sp>
        <p:nvSpPr>
          <p:cNvPr id="5" name="Shape 3"/>
          <p:cNvSpPr/>
          <p:nvPr/>
        </p:nvSpPr>
        <p:spPr>
          <a:xfrm>
            <a:off x="6355080" y="1298448"/>
            <a:ext cx="4983480" cy="2798064"/>
          </a:xfrm>
          <a:prstGeom prst="rect">
            <a:avLst/>
          </a:prstGeom>
          <a:solidFill>
            <a:srgbClr val="EDF0E5"/>
          </a:solidFill>
          <a:ln w="12700">
            <a:solidFill>
              <a:srgbClr val="C8CDC2"/>
            </a:solidFill>
            <a:prstDash val="dash"/>
          </a:ln>
        </p:spPr>
      </p:sp>
      <p:sp>
        <p:nvSpPr>
          <p:cNvPr id="6" name="Text 4"/>
          <p:cNvSpPr txBox="1"/>
          <p:nvPr>
            <p:ph idx="104" hasCustomPrompt="1"/>
          </p:nvPr>
        </p:nvSpPr>
        <p:spPr>
          <a:xfrm>
            <a:off x="6355080" y="1298448"/>
            <a:ext cx="4983480" cy="2798064"/>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CONCEPT IMAGE  •  16:9</a:t>
            </a:r>
            <a:endParaRPr lang="en-US" sz="1200" dirty="0"/>
          </a:p>
        </p:txBody>
      </p:sp>
      <p:sp>
        <p:nvSpPr>
          <p:cNvPr id="7" name="Text 4"/>
          <p:cNvSpPr txBox="1"/>
          <p:nvPr>
            <p:ph idx="105"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8" name="Shape 4"/>
          <p:cNvSpPr/>
          <p:nvPr/>
        </p:nvSpPr>
        <p:spPr>
          <a:xfrm>
            <a:off x="685800" y="676656"/>
            <a:ext cx="1371600" cy="0"/>
          </a:xfrm>
          <a:prstGeom prst="line">
            <a:avLst/>
          </a:prstGeom>
          <a:noFill/>
          <a:ln w="22225">
            <a:solidFill>
              <a:srgbClr val="A3E635"/>
            </a:solidFill>
            <a:prstDash val="solid"/>
          </a:ln>
        </p:spPr>
      </p:sp>
      <p:sp>
        <p:nvSpPr>
          <p:cNvPr id="9" name="Text 5"/>
          <p:cNvSpPr txBox="1"/>
          <p:nvPr>
            <p:ph idx="107" type="title" hasCustomPrompt="1"/>
          </p:nvPr>
        </p:nvSpPr>
        <p:spPr>
          <a:xfrm>
            <a:off x="685800" y="1188720"/>
            <a:ext cx="4892040" cy="868680"/>
          </a:xfrm>
          <a:prstGeom prst="rect">
            <a:avLst/>
          </a:prstGeom>
          <a:noFill/>
          <a:ln/>
        </p:spPr>
        <p:txBody>
          <a:bodyPr wrap="square" rtlCol="0"/>
          <a:lstStyle>
            <a:lvl1pPr algn="l" indent="0" marL="0">
              <a:buNone/>
              <a:defRPr lang="en-US" sz="2800" b="1" dirty="0">
                <a:solidFill>
                  <a:srgbClr val="EDF0E5"/>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EDF0E5"/>
                </a:solidFill>
                <a:latin typeface="Trade Gothic Next" pitchFamily="34" charset="0"/>
                <a:ea typeface="Trade Gothic Next" pitchFamily="34" charset="-122"/>
                <a:cs typeface="Trade Gothic Next" pitchFamily="34" charset="-120"/>
              </a:rPr>
              <a:t>Concept Headline</a:t>
            </a:r>
            <a:endParaRPr lang="en-US" sz="2800" dirty="0"/>
          </a:p>
        </p:txBody>
      </p:sp>
      <p:sp>
        <p:nvSpPr>
          <p:cNvPr id="10" name="Text 5"/>
          <p:cNvSpPr txBox="1"/>
          <p:nvPr>
            <p:ph idx="108" type="body" hasCustomPrompt="1"/>
          </p:nvPr>
        </p:nvSpPr>
        <p:spPr>
          <a:xfrm>
            <a:off x="685800" y="2148840"/>
            <a:ext cx="4892040" cy="1005840"/>
          </a:xfrm>
          <a:prstGeom prst="rect">
            <a:avLst/>
          </a:prstGeom>
          <a:noFill/>
          <a:ln/>
        </p:spPr>
        <p:txBody>
          <a:bodyPr wrap="square" rtlCol="0"/>
          <a:lstStyle>
            <a:lvl1pPr indent="0" marL="0">
              <a:buNone/>
              <a:defRPr lang="en-US" sz="16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Keep it to what the image cannot say on its own.</a:t>
            </a:r>
            <a:endParaRPr lang="en-US" sz="1600" dirty="0"/>
          </a:p>
        </p:txBody>
      </p:sp>
      <p:sp>
        <p:nvSpPr>
          <p:cNvPr id="11" name="Shape 5"/>
          <p:cNvSpPr/>
          <p:nvPr/>
        </p:nvSpPr>
        <p:spPr>
          <a:xfrm>
            <a:off x="685800" y="3520440"/>
            <a:ext cx="4892040" cy="1143000"/>
          </a:xfrm>
          <a:prstGeom prst="rect">
            <a:avLst/>
          </a:prstGeom>
          <a:solidFill>
            <a:srgbClr val="2E3338"/>
          </a:solidFill>
          <a:ln/>
        </p:spPr>
      </p:sp>
      <p:sp>
        <p:nvSpPr>
          <p:cNvPr id="12" name="Text 6"/>
          <p:cNvSpPr txBox="1"/>
          <p:nvPr/>
        </p:nvSpPr>
        <p:spPr>
          <a:xfrm>
            <a:off x="886968" y="3657600"/>
            <a:ext cx="2743200" cy="219456"/>
          </a:xfrm>
          <a:prstGeom prst="rect">
            <a:avLst/>
          </a:prstGeom>
          <a:noFill/>
          <a:ln/>
        </p:spPr>
        <p:txBody>
          <a:bodyPr wrap="square" lIns="0" tIns="0" rIns="0" bIns="0" rtlCol="0" anchor="ctr"/>
          <a:lstStyle/>
          <a:p>
            <a:pPr indent="0" marL="0">
              <a:buNone/>
            </a:pPr>
            <a:r>
              <a:rPr lang="en-US" sz="900" b="1" spc="140" kern="0" dirty="0">
                <a:solidFill>
                  <a:srgbClr val="BDB6AA"/>
                </a:solidFill>
                <a:latin typeface="Trade Gothic Next" pitchFamily="34" charset="0"/>
                <a:ea typeface="Trade Gothic Next" pitchFamily="34" charset="-122"/>
                <a:cs typeface="Trade Gothic Next" pitchFamily="34" charset="-120"/>
              </a:rPr>
              <a:t>KEY QUESTION</a:t>
            </a:r>
            <a:endParaRPr lang="en-US" sz="900" dirty="0"/>
          </a:p>
        </p:txBody>
      </p:sp>
      <p:sp>
        <p:nvSpPr>
          <p:cNvPr id="13" name="Text 7"/>
          <p:cNvSpPr txBox="1"/>
          <p:nvPr>
            <p:ph idx="111" type="body" hasCustomPrompt="1"/>
          </p:nvPr>
        </p:nvSpPr>
        <p:spPr>
          <a:xfrm>
            <a:off x="886968" y="3950208"/>
            <a:ext cx="4489704" cy="566928"/>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question this slide is asking.</a:t>
            </a:r>
            <a:endParaRPr lang="en-US" sz="1600" dirty="0"/>
          </a:p>
        </p:txBody>
      </p:sp>
      <p:sp>
        <p:nvSpPr>
          <p:cNvPr id="14" name="Text 7"/>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15" name="Text 8"/>
          <p:cNvSpPr txBox="1"/>
          <p:nvPr>
            <p:ph idx="113"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7_COMPARISON_CARD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7360920"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7360920"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8412480" y="960120"/>
            <a:ext cx="3090672" cy="1737360"/>
          </a:xfrm>
          <a:prstGeom prst="rect">
            <a:avLst/>
          </a:prstGeom>
          <a:solidFill>
            <a:srgbClr val="A3E635"/>
          </a:solidFill>
          <a:ln/>
        </p:spPr>
      </p:sp>
      <p:sp>
        <p:nvSpPr>
          <p:cNvPr id="8" name="Shape 3"/>
          <p:cNvSpPr/>
          <p:nvPr/>
        </p:nvSpPr>
        <p:spPr>
          <a:xfrm>
            <a:off x="8641080" y="1088136"/>
            <a:ext cx="2633472" cy="1481328"/>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8641080" y="1088136"/>
            <a:ext cx="2633472" cy="1481328"/>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SUPPORTING IMAGE</a:t>
            </a:r>
            <a:endParaRPr lang="en-US" sz="1200" dirty="0"/>
          </a:p>
        </p:txBody>
      </p:sp>
      <p:sp>
        <p:nvSpPr>
          <p:cNvPr id="10" name="Shape 4"/>
          <p:cNvSpPr/>
          <p:nvPr/>
        </p:nvSpPr>
        <p:spPr>
          <a:xfrm>
            <a:off x="685800" y="2788920"/>
            <a:ext cx="3401568" cy="2331720"/>
          </a:xfrm>
          <a:prstGeom prst="rect">
            <a:avLst/>
          </a:prstGeom>
          <a:solidFill>
            <a:srgbClr val="EDF0E5"/>
          </a:solidFill>
          <a:ln w="12700">
            <a:solidFill>
              <a:srgbClr val="C8CDC2"/>
            </a:solidFill>
            <a:prstDash val="solid"/>
          </a:ln>
        </p:spPr>
      </p:sp>
      <p:sp>
        <p:nvSpPr>
          <p:cNvPr id="11" name="Text 5"/>
          <p:cNvSpPr txBox="1"/>
          <p:nvPr>
            <p:ph idx="109" type="body" hasCustomPrompt="1"/>
          </p:nvPr>
        </p:nvSpPr>
        <p:spPr>
          <a:xfrm>
            <a:off x="886968" y="2953512"/>
            <a:ext cx="2999232"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ITEM ONE</a:t>
            </a:r>
            <a:endParaRPr lang="en-US" sz="1200" dirty="0"/>
          </a:p>
        </p:txBody>
      </p:sp>
      <p:sp>
        <p:nvSpPr>
          <p:cNvPr id="12" name="Text 5"/>
          <p:cNvSpPr txBox="1"/>
          <p:nvPr>
            <p:ph idx="110" type="body" hasCustomPrompt="1"/>
          </p:nvPr>
        </p:nvSpPr>
        <p:spPr>
          <a:xfrm>
            <a:off x="886968" y="3246120"/>
            <a:ext cx="2999232" cy="16733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Three parallel items.</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job each.</a:t>
            </a:r>
            <a:endParaRPr lang="en-US" sz="1600" dirty="0"/>
          </a:p>
        </p:txBody>
      </p:sp>
      <p:sp>
        <p:nvSpPr>
          <p:cNvPr id="13" name="Shape 5"/>
          <p:cNvSpPr/>
          <p:nvPr/>
        </p:nvSpPr>
        <p:spPr>
          <a:xfrm>
            <a:off x="4297680" y="2788920"/>
            <a:ext cx="3401568" cy="2331720"/>
          </a:xfrm>
          <a:prstGeom prst="rect">
            <a:avLst/>
          </a:prstGeom>
          <a:solidFill>
            <a:srgbClr val="EDF0E5"/>
          </a:solidFill>
          <a:ln w="12700">
            <a:solidFill>
              <a:srgbClr val="C8CDC2"/>
            </a:solidFill>
            <a:prstDash val="solid"/>
          </a:ln>
        </p:spPr>
      </p:sp>
      <p:sp>
        <p:nvSpPr>
          <p:cNvPr id="14" name="Text 6"/>
          <p:cNvSpPr txBox="1"/>
          <p:nvPr>
            <p:ph idx="112" type="body" hasCustomPrompt="1"/>
          </p:nvPr>
        </p:nvSpPr>
        <p:spPr>
          <a:xfrm>
            <a:off x="4498848" y="2953512"/>
            <a:ext cx="2999232"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ITEM TWO</a:t>
            </a:r>
            <a:endParaRPr lang="en-US" sz="1200" dirty="0"/>
          </a:p>
        </p:txBody>
      </p:sp>
      <p:sp>
        <p:nvSpPr>
          <p:cNvPr id="15" name="Text 6"/>
          <p:cNvSpPr txBox="1"/>
          <p:nvPr>
            <p:ph idx="113" type="body" hasCustomPrompt="1"/>
          </p:nvPr>
        </p:nvSpPr>
        <p:spPr>
          <a:xfrm>
            <a:off x="4498848" y="3246120"/>
            <a:ext cx="2999232" cy="16733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Not a wall of bullets.</a:t>
            </a:r>
            <a:endParaRPr lang="en-US" sz="1600" dirty="0"/>
          </a:p>
        </p:txBody>
      </p:sp>
      <p:sp>
        <p:nvSpPr>
          <p:cNvPr id="16" name="Shape 6"/>
          <p:cNvSpPr/>
          <p:nvPr/>
        </p:nvSpPr>
        <p:spPr>
          <a:xfrm>
            <a:off x="7909560" y="2788920"/>
            <a:ext cx="3401568" cy="2331720"/>
          </a:xfrm>
          <a:prstGeom prst="rect">
            <a:avLst/>
          </a:prstGeom>
          <a:solidFill>
            <a:srgbClr val="EDF0E5"/>
          </a:solidFill>
          <a:ln w="12700">
            <a:solidFill>
              <a:srgbClr val="C8CDC2"/>
            </a:solidFill>
            <a:prstDash val="solid"/>
          </a:ln>
        </p:spPr>
      </p:sp>
      <p:sp>
        <p:nvSpPr>
          <p:cNvPr id="17" name="Text 7"/>
          <p:cNvSpPr txBox="1"/>
          <p:nvPr>
            <p:ph idx="115" type="body" hasCustomPrompt="1"/>
          </p:nvPr>
        </p:nvSpPr>
        <p:spPr>
          <a:xfrm>
            <a:off x="8110728" y="2953512"/>
            <a:ext cx="2999232"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ITEM THREE</a:t>
            </a:r>
            <a:endParaRPr lang="en-US" sz="1200" dirty="0"/>
          </a:p>
        </p:txBody>
      </p:sp>
      <p:sp>
        <p:nvSpPr>
          <p:cNvPr id="18" name="Text 7"/>
          <p:cNvSpPr txBox="1"/>
          <p:nvPr>
            <p:ph idx="116" type="body" hasCustomPrompt="1"/>
          </p:nvPr>
        </p:nvSpPr>
        <p:spPr>
          <a:xfrm>
            <a:off x="8110728" y="3246120"/>
            <a:ext cx="2999232" cy="16733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third parallel item.</a:t>
            </a:r>
            <a:endParaRPr lang="en-US" sz="1600" dirty="0"/>
          </a:p>
        </p:txBody>
      </p:sp>
      <p:sp>
        <p:nvSpPr>
          <p:cNvPr id="19" name="Shape 7"/>
          <p:cNvSpPr/>
          <p:nvPr/>
        </p:nvSpPr>
        <p:spPr>
          <a:xfrm>
            <a:off x="685800" y="5413248"/>
            <a:ext cx="10820095" cy="566928"/>
          </a:xfrm>
          <a:prstGeom prst="rect">
            <a:avLst/>
          </a:prstGeom>
          <a:solidFill>
            <a:srgbClr val="14161B"/>
          </a:solidFill>
          <a:ln/>
        </p:spPr>
      </p:sp>
      <p:sp>
        <p:nvSpPr>
          <p:cNvPr id="20" name="Text 8"/>
          <p:cNvSpPr txBox="1"/>
          <p:nvPr/>
        </p:nvSpPr>
        <p:spPr>
          <a:xfrm>
            <a:off x="886968" y="5468112"/>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21" name="Text 9"/>
          <p:cNvSpPr txBox="1"/>
          <p:nvPr>
            <p:ph idx="119" type="body" hasCustomPrompt="1"/>
          </p:nvPr>
        </p:nvSpPr>
        <p:spPr>
          <a:xfrm>
            <a:off x="2240280" y="5486400"/>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22" name="Text 9"/>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3" name="Text 10"/>
          <p:cNvSpPr txBox="1"/>
          <p:nvPr>
            <p:ph idx="121"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8_DIAGRAM_ANNOTA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5074920" cy="3246120"/>
          </a:xfrm>
          <a:prstGeom prst="rect">
            <a:avLst/>
          </a:prstGeom>
          <a:solidFill>
            <a:srgbClr val="EDF0E5"/>
          </a:solidFill>
          <a:ln w="12700">
            <a:solidFill>
              <a:srgbClr val="C8CDC2"/>
            </a:solidFill>
            <a:prstDash val="solid"/>
          </a:ln>
        </p:spPr>
      </p:sp>
      <p:sp>
        <p:nvSpPr>
          <p:cNvPr id="8" name="Text 3"/>
          <p:cNvSpPr txBox="1"/>
          <p:nvPr>
            <p:ph idx="106" type="body" hasCustomPrompt="1"/>
          </p:nvPr>
        </p:nvSpPr>
        <p:spPr>
          <a:xfrm>
            <a:off x="914400" y="2651760"/>
            <a:ext cx="4617720" cy="2743200"/>
          </a:xfrm>
          <a:prstGeom prst="rect">
            <a:avLst/>
          </a:prstGeom>
          <a:noFill/>
          <a:ln/>
        </p:spPr>
        <p:txBody>
          <a:bodyPr wrap="square" rtlCol="0"/>
          <a:lstStyle>
            <a:lvl1pPr algn="ctr" indent="0" marL="0">
              <a:buNone/>
              <a:defRPr lang="en-US" sz="20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2000" dirty="0">
                <a:solidFill>
                  <a:srgbClr val="2E3338"/>
                </a:solidFill>
                <a:latin typeface="Trade Gothic Next" pitchFamily="34" charset="0"/>
                <a:ea typeface="Trade Gothic Next" pitchFamily="34" charset="-122"/>
                <a:cs typeface="Trade Gothic Next" pitchFamily="34" charset="-120"/>
              </a:rPr>
              <a:t>Hand-built diagram here.</a:t>
            </a:r>
            <a:endParaRPr lang="en-US" sz="2000" dirty="0"/>
          </a:p>
          <a:p>
            <a:pPr algn="ctr" indent="0" marL="0">
              <a:buNone/>
            </a:pPr>
            <a:r>
              <a:rPr lang="en-US" sz="2000" dirty="0">
                <a:solidFill>
                  <a:srgbClr val="2E3338"/>
                </a:solidFill>
                <a:latin typeface="Trade Gothic Next" pitchFamily="34" charset="0"/>
                <a:ea typeface="Trade Gothic Next" pitchFamily="34" charset="-122"/>
                <a:cs typeface="Trade Gothic Next" pitchFamily="34" charset="-120"/>
              </a:rPr>
              <a:t>Anything with a number or a label is built, not generated.</a:t>
            </a:r>
            <a:endParaRPr lang="en-US" sz="2000" dirty="0"/>
          </a:p>
        </p:txBody>
      </p:sp>
      <p:sp>
        <p:nvSpPr>
          <p:cNvPr id="9" name="Shape 3"/>
          <p:cNvSpPr/>
          <p:nvPr/>
        </p:nvSpPr>
        <p:spPr>
          <a:xfrm>
            <a:off x="6126480" y="2395728"/>
            <a:ext cx="5532120" cy="987552"/>
          </a:xfrm>
          <a:prstGeom prst="rect">
            <a:avLst/>
          </a:prstGeom>
          <a:solidFill>
            <a:srgbClr val="EDF0E5"/>
          </a:solidFill>
          <a:ln w="12700">
            <a:solidFill>
              <a:srgbClr val="C8CDC2"/>
            </a:solidFill>
            <a:prstDash val="solid"/>
          </a:ln>
        </p:spPr>
      </p:sp>
      <p:sp>
        <p:nvSpPr>
          <p:cNvPr id="10" name="Text 4"/>
          <p:cNvSpPr txBox="1"/>
          <p:nvPr>
            <p:ph idx="108" type="body" hasCustomPrompt="1"/>
          </p:nvPr>
        </p:nvSpPr>
        <p:spPr>
          <a:xfrm>
            <a:off x="6327648" y="2560320"/>
            <a:ext cx="512978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LABEL ONE</a:t>
            </a:r>
            <a:endParaRPr lang="en-US" sz="1200" dirty="0"/>
          </a:p>
        </p:txBody>
      </p:sp>
      <p:sp>
        <p:nvSpPr>
          <p:cNvPr id="11" name="Text 4"/>
          <p:cNvSpPr txBox="1"/>
          <p:nvPr>
            <p:ph idx="109" type="body" hasCustomPrompt="1"/>
          </p:nvPr>
        </p:nvSpPr>
        <p:spPr>
          <a:xfrm>
            <a:off x="6327648" y="2852928"/>
            <a:ext cx="5129784" cy="329184"/>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this part of the diagram means.</a:t>
            </a:r>
            <a:endParaRPr lang="en-US" sz="1600" dirty="0"/>
          </a:p>
        </p:txBody>
      </p:sp>
      <p:sp>
        <p:nvSpPr>
          <p:cNvPr id="12" name="Shape 4"/>
          <p:cNvSpPr/>
          <p:nvPr/>
        </p:nvSpPr>
        <p:spPr>
          <a:xfrm>
            <a:off x="6126480" y="3529584"/>
            <a:ext cx="5532120" cy="987552"/>
          </a:xfrm>
          <a:prstGeom prst="rect">
            <a:avLst/>
          </a:prstGeom>
          <a:solidFill>
            <a:srgbClr val="EDF0E5"/>
          </a:solidFill>
          <a:ln w="12700">
            <a:solidFill>
              <a:srgbClr val="C8CDC2"/>
            </a:solidFill>
            <a:prstDash val="solid"/>
          </a:ln>
        </p:spPr>
      </p:sp>
      <p:sp>
        <p:nvSpPr>
          <p:cNvPr id="13" name="Text 5"/>
          <p:cNvSpPr txBox="1"/>
          <p:nvPr>
            <p:ph idx="111" type="body" hasCustomPrompt="1"/>
          </p:nvPr>
        </p:nvSpPr>
        <p:spPr>
          <a:xfrm>
            <a:off x="6327648" y="3694176"/>
            <a:ext cx="512978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LABEL TWO</a:t>
            </a:r>
            <a:endParaRPr lang="en-US" sz="1200" dirty="0"/>
          </a:p>
        </p:txBody>
      </p:sp>
      <p:sp>
        <p:nvSpPr>
          <p:cNvPr id="14" name="Text 5"/>
          <p:cNvSpPr txBox="1"/>
          <p:nvPr>
            <p:ph idx="112" type="body" hasCustomPrompt="1"/>
          </p:nvPr>
        </p:nvSpPr>
        <p:spPr>
          <a:xfrm>
            <a:off x="6327648" y="3986784"/>
            <a:ext cx="5129784" cy="329184"/>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this part of the diagram means.</a:t>
            </a:r>
            <a:endParaRPr lang="en-US" sz="1600" dirty="0"/>
          </a:p>
        </p:txBody>
      </p:sp>
      <p:sp>
        <p:nvSpPr>
          <p:cNvPr id="15" name="Shape 5"/>
          <p:cNvSpPr/>
          <p:nvPr/>
        </p:nvSpPr>
        <p:spPr>
          <a:xfrm>
            <a:off x="6126480" y="4663440"/>
            <a:ext cx="5532120" cy="978408"/>
          </a:xfrm>
          <a:prstGeom prst="rect">
            <a:avLst/>
          </a:prstGeom>
          <a:solidFill>
            <a:srgbClr val="EDF0E5"/>
          </a:solidFill>
          <a:ln w="12700">
            <a:solidFill>
              <a:srgbClr val="C8CDC2"/>
            </a:solidFill>
            <a:prstDash val="solid"/>
          </a:ln>
        </p:spPr>
      </p:sp>
      <p:sp>
        <p:nvSpPr>
          <p:cNvPr id="16" name="Text 6"/>
          <p:cNvSpPr txBox="1"/>
          <p:nvPr>
            <p:ph idx="114" type="body" hasCustomPrompt="1"/>
          </p:nvPr>
        </p:nvSpPr>
        <p:spPr>
          <a:xfrm>
            <a:off x="6327648" y="4828032"/>
            <a:ext cx="512978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LABEL THREE</a:t>
            </a:r>
            <a:endParaRPr lang="en-US" sz="1200" dirty="0"/>
          </a:p>
        </p:txBody>
      </p:sp>
      <p:sp>
        <p:nvSpPr>
          <p:cNvPr id="17" name="Text 6"/>
          <p:cNvSpPr txBox="1"/>
          <p:nvPr>
            <p:ph idx="115" type="body" hasCustomPrompt="1"/>
          </p:nvPr>
        </p:nvSpPr>
        <p:spPr>
          <a:xfrm>
            <a:off x="6327648" y="5120640"/>
            <a:ext cx="5129784" cy="320040"/>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this part of the diagram means.</a:t>
            </a:r>
            <a:endParaRPr lang="en-US" sz="1600" dirty="0"/>
          </a:p>
        </p:txBody>
      </p:sp>
      <p:sp>
        <p:nvSpPr>
          <p:cNvPr id="18" name="Text 6"/>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19" name="Text 7"/>
          <p:cNvSpPr txBox="1"/>
          <p:nvPr>
            <p:ph idx="117"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09_EXAMPLE_PROBLEM">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7863840"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7863840"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8915400" y="960120"/>
            <a:ext cx="2587752" cy="1325880"/>
          </a:xfrm>
          <a:prstGeom prst="rect">
            <a:avLst/>
          </a:prstGeom>
          <a:solidFill>
            <a:srgbClr val="EDF0E5"/>
          </a:solidFill>
          <a:ln w="25400">
            <a:solidFill>
              <a:srgbClr val="A3E635"/>
            </a:solidFill>
            <a:prstDash val="solid"/>
          </a:ln>
        </p:spPr>
      </p:sp>
      <p:sp>
        <p:nvSpPr>
          <p:cNvPr id="8" name="Shape 3"/>
          <p:cNvSpPr/>
          <p:nvPr/>
        </p:nvSpPr>
        <p:spPr>
          <a:xfrm>
            <a:off x="9262872" y="1088136"/>
            <a:ext cx="1901952" cy="1069848"/>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9262872" y="1088136"/>
            <a:ext cx="1901952" cy="1069848"/>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SUPPORTING IMAGE</a:t>
            </a:r>
            <a:endParaRPr lang="en-US" sz="1200" dirty="0"/>
          </a:p>
        </p:txBody>
      </p:sp>
      <p:sp>
        <p:nvSpPr>
          <p:cNvPr id="10" name="Shape 4"/>
          <p:cNvSpPr/>
          <p:nvPr/>
        </p:nvSpPr>
        <p:spPr>
          <a:xfrm>
            <a:off x="685800" y="2395728"/>
            <a:ext cx="5394960" cy="1051560"/>
          </a:xfrm>
          <a:prstGeom prst="rect">
            <a:avLst/>
          </a:prstGeom>
          <a:solidFill>
            <a:srgbClr val="2E3338"/>
          </a:solidFill>
          <a:ln/>
        </p:spPr>
      </p:sp>
      <p:sp>
        <p:nvSpPr>
          <p:cNvPr id="11" name="Text 5"/>
          <p:cNvSpPr txBox="1"/>
          <p:nvPr/>
        </p:nvSpPr>
        <p:spPr>
          <a:xfrm>
            <a:off x="886968" y="2523744"/>
            <a:ext cx="1828800" cy="219456"/>
          </a:xfrm>
          <a:prstGeom prst="rect">
            <a:avLst/>
          </a:prstGeom>
          <a:noFill/>
          <a:ln/>
        </p:spPr>
        <p:txBody>
          <a:bodyPr wrap="square" lIns="0" tIns="0" rIns="0" bIns="0" rtlCol="0" anchor="ctr"/>
          <a:lstStyle/>
          <a:p>
            <a:pPr indent="0" marL="0">
              <a:buNone/>
            </a:pPr>
            <a:r>
              <a:rPr lang="en-US" sz="900" b="1" spc="140" kern="0" dirty="0">
                <a:solidFill>
                  <a:srgbClr val="A3E635"/>
                </a:solidFill>
                <a:latin typeface="Trade Gothic Next" pitchFamily="34" charset="0"/>
                <a:ea typeface="Trade Gothic Next" pitchFamily="34" charset="-122"/>
                <a:cs typeface="Trade Gothic Next" pitchFamily="34" charset="-120"/>
              </a:rPr>
              <a:t>PROBLEM</a:t>
            </a:r>
            <a:endParaRPr lang="en-US" sz="900" dirty="0"/>
          </a:p>
        </p:txBody>
      </p:sp>
      <p:sp>
        <p:nvSpPr>
          <p:cNvPr id="12" name="Text 6"/>
          <p:cNvSpPr txBox="1"/>
          <p:nvPr>
            <p:ph idx="110" type="body" hasCustomPrompt="1"/>
          </p:nvPr>
        </p:nvSpPr>
        <p:spPr>
          <a:xfrm>
            <a:off x="886968" y="2798064"/>
            <a:ext cx="4992624" cy="548640"/>
          </a:xfrm>
          <a:prstGeom prst="rect">
            <a:avLst/>
          </a:prstGeom>
          <a:noFill/>
          <a:ln/>
        </p:spPr>
        <p:txBody>
          <a:bodyPr wrap="square" rtlCol="0"/>
          <a:lstStyle>
            <a:lvl1pPr indent="0" marL="0">
              <a:buNone/>
              <a:defRPr lang="en-US" sz="160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State the problem in one sentence.</a:t>
            </a:r>
            <a:endParaRPr lang="en-US" sz="1600" dirty="0"/>
          </a:p>
        </p:txBody>
      </p:sp>
      <p:sp>
        <p:nvSpPr>
          <p:cNvPr id="13" name="Shape 6"/>
          <p:cNvSpPr/>
          <p:nvPr/>
        </p:nvSpPr>
        <p:spPr>
          <a:xfrm>
            <a:off x="685800" y="3611880"/>
            <a:ext cx="2606040" cy="1737360"/>
          </a:xfrm>
          <a:prstGeom prst="rect">
            <a:avLst/>
          </a:prstGeom>
          <a:solidFill>
            <a:srgbClr val="EDF0E5"/>
          </a:solidFill>
          <a:ln w="12700">
            <a:solidFill>
              <a:srgbClr val="C8CDC2"/>
            </a:solidFill>
            <a:prstDash val="solid"/>
          </a:ln>
        </p:spPr>
      </p:sp>
      <p:sp>
        <p:nvSpPr>
          <p:cNvPr id="14" name="Text 7"/>
          <p:cNvSpPr txBox="1"/>
          <p:nvPr>
            <p:ph idx="112" type="body" hasCustomPrompt="1"/>
          </p:nvPr>
        </p:nvSpPr>
        <p:spPr>
          <a:xfrm>
            <a:off x="886968" y="3776472"/>
            <a:ext cx="220370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15" name="Text 7"/>
          <p:cNvSpPr txBox="1"/>
          <p:nvPr>
            <p:ph idx="113" type="body" hasCustomPrompt="1"/>
          </p:nvPr>
        </p:nvSpPr>
        <p:spPr>
          <a:xfrm>
            <a:off x="886968" y="4069080"/>
            <a:ext cx="2203704" cy="107899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the problem hands you.</a:t>
            </a:r>
            <a:endParaRPr lang="en-US" sz="1600" dirty="0"/>
          </a:p>
        </p:txBody>
      </p:sp>
      <p:sp>
        <p:nvSpPr>
          <p:cNvPr id="16" name="Shape 7"/>
          <p:cNvSpPr/>
          <p:nvPr/>
        </p:nvSpPr>
        <p:spPr>
          <a:xfrm>
            <a:off x="3474720" y="3611880"/>
            <a:ext cx="2606040" cy="1737360"/>
          </a:xfrm>
          <a:prstGeom prst="rect">
            <a:avLst/>
          </a:prstGeom>
          <a:solidFill>
            <a:srgbClr val="EDF0E5"/>
          </a:solidFill>
          <a:ln w="12700">
            <a:solidFill>
              <a:srgbClr val="C8CDC2"/>
            </a:solidFill>
            <a:prstDash val="solid"/>
          </a:ln>
        </p:spPr>
      </p:sp>
      <p:sp>
        <p:nvSpPr>
          <p:cNvPr id="17" name="Text 8"/>
          <p:cNvSpPr txBox="1"/>
          <p:nvPr>
            <p:ph idx="115" type="body" hasCustomPrompt="1"/>
          </p:nvPr>
        </p:nvSpPr>
        <p:spPr>
          <a:xfrm>
            <a:off x="3675888" y="3776472"/>
            <a:ext cx="220370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NEED</a:t>
            </a:r>
            <a:endParaRPr lang="en-US" sz="1200" dirty="0"/>
          </a:p>
        </p:txBody>
      </p:sp>
      <p:sp>
        <p:nvSpPr>
          <p:cNvPr id="18" name="Text 8"/>
          <p:cNvSpPr txBox="1"/>
          <p:nvPr>
            <p:ph idx="116" type="body" hasCustomPrompt="1"/>
          </p:nvPr>
        </p:nvSpPr>
        <p:spPr>
          <a:xfrm>
            <a:off x="3675888" y="4069080"/>
            <a:ext cx="2203704" cy="107899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you are solving for.</a:t>
            </a:r>
            <a:endParaRPr lang="en-US" sz="1600" dirty="0"/>
          </a:p>
        </p:txBody>
      </p:sp>
      <p:sp>
        <p:nvSpPr>
          <p:cNvPr id="19" name="Shape 8"/>
          <p:cNvSpPr/>
          <p:nvPr/>
        </p:nvSpPr>
        <p:spPr>
          <a:xfrm>
            <a:off x="6263640" y="2395728"/>
            <a:ext cx="5239512" cy="2953512"/>
          </a:xfrm>
          <a:prstGeom prst="rect">
            <a:avLst/>
          </a:prstGeom>
          <a:solidFill>
            <a:srgbClr val="EDF0E5"/>
          </a:solidFill>
          <a:ln w="12700">
            <a:solidFill>
              <a:srgbClr val="C8CDC2"/>
            </a:solidFill>
            <a:prstDash val="solid"/>
          </a:ln>
        </p:spPr>
      </p:sp>
      <p:sp>
        <p:nvSpPr>
          <p:cNvPr id="20" name="Text 9"/>
          <p:cNvSpPr txBox="1"/>
          <p:nvPr/>
        </p:nvSpPr>
        <p:spPr>
          <a:xfrm>
            <a:off x="6464808" y="2560320"/>
            <a:ext cx="2286000" cy="219456"/>
          </a:xfrm>
          <a:prstGeom prst="rect">
            <a:avLst/>
          </a:prstGeom>
          <a:noFill/>
          <a:ln/>
        </p:spPr>
        <p:txBody>
          <a:bodyPr wrap="square" lIns="0" tIns="0" rIns="0" bIns="0" rtlCol="0" anchor="ctr"/>
          <a:lstStyle/>
          <a:p>
            <a:pPr indent="0" marL="0">
              <a:buNone/>
            </a:pPr>
            <a:r>
              <a:rPr lang="en-US" sz="900" b="1" spc="140" kern="0" dirty="0">
                <a:solidFill>
                  <a:srgbClr val="2E3338"/>
                </a:solidFill>
                <a:latin typeface="Trade Gothic Next" pitchFamily="34" charset="0"/>
                <a:ea typeface="Trade Gothic Next" pitchFamily="34" charset="-122"/>
                <a:cs typeface="Trade Gothic Next" pitchFamily="34" charset="-120"/>
              </a:rPr>
              <a:t>WORK AREA</a:t>
            </a:r>
            <a:endParaRPr lang="en-US" sz="900" dirty="0"/>
          </a:p>
        </p:txBody>
      </p:sp>
      <p:sp>
        <p:nvSpPr>
          <p:cNvPr id="21" name="Text 10"/>
          <p:cNvSpPr txBox="1"/>
          <p:nvPr>
            <p:ph idx="119" type="body" hasCustomPrompt="1"/>
          </p:nvPr>
        </p:nvSpPr>
        <p:spPr>
          <a:xfrm>
            <a:off x="6464808" y="2880360"/>
            <a:ext cx="4837176" cy="2286000"/>
          </a:xfrm>
          <a:prstGeom prst="rect">
            <a:avLst/>
          </a:prstGeom>
          <a:noFill/>
          <a:ln/>
        </p:spPr>
        <p:txBody>
          <a:bodyPr wrap="square" rtlCol="0"/>
          <a:lstStyle>
            <a:lvl1pPr indent="0" marL="0">
              <a:buNone/>
              <a:defRPr lang="en-US" sz="19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Leave this blank in the projected copy. It is filled live on the board.</a:t>
            </a:r>
            <a:endParaRPr lang="en-US" sz="1900" dirty="0"/>
          </a:p>
        </p:txBody>
      </p:sp>
      <p:sp>
        <p:nvSpPr>
          <p:cNvPr id="22" name="Shape 10"/>
          <p:cNvSpPr/>
          <p:nvPr/>
        </p:nvSpPr>
        <p:spPr>
          <a:xfrm>
            <a:off x="685800" y="5532120"/>
            <a:ext cx="10820095" cy="566928"/>
          </a:xfrm>
          <a:prstGeom prst="rect">
            <a:avLst/>
          </a:prstGeom>
          <a:solidFill>
            <a:srgbClr val="14161B"/>
          </a:solidFill>
          <a:ln/>
        </p:spPr>
      </p:sp>
      <p:sp>
        <p:nvSpPr>
          <p:cNvPr id="23" name="Text 11"/>
          <p:cNvSpPr txBox="1"/>
          <p:nvPr/>
        </p:nvSpPr>
        <p:spPr>
          <a:xfrm>
            <a:off x="886968" y="5586984"/>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24" name="Text 12"/>
          <p:cNvSpPr txBox="1"/>
          <p:nvPr>
            <p:ph idx="122" type="body" hasCustomPrompt="1"/>
          </p:nvPr>
        </p:nvSpPr>
        <p:spPr>
          <a:xfrm>
            <a:off x="2240280" y="5605272"/>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25" name="Text 12"/>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6" name="Text 13"/>
          <p:cNvSpPr txBox="1"/>
          <p:nvPr>
            <p:ph idx="124"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WORKED_SOLU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4160520" cy="2560320"/>
          </a:xfrm>
          <a:prstGeom prst="rect">
            <a:avLst/>
          </a:prstGeom>
          <a:solidFill>
            <a:srgbClr val="A3E635"/>
          </a:solidFill>
          <a:ln/>
        </p:spPr>
      </p:sp>
      <p:sp>
        <p:nvSpPr>
          <p:cNvPr id="8" name="Shape 3"/>
          <p:cNvSpPr/>
          <p:nvPr/>
        </p:nvSpPr>
        <p:spPr>
          <a:xfrm>
            <a:off x="832104" y="2542032"/>
            <a:ext cx="3867912" cy="2267712"/>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832104" y="2542032"/>
            <a:ext cx="3867912" cy="2267712"/>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DATA IMAGE</a:t>
            </a:r>
            <a:endParaRPr lang="en-US" sz="1200" dirty="0"/>
          </a:p>
        </p:txBody>
      </p:sp>
      <p:sp>
        <p:nvSpPr>
          <p:cNvPr id="10" name="Shape 4"/>
          <p:cNvSpPr/>
          <p:nvPr/>
        </p:nvSpPr>
        <p:spPr>
          <a:xfrm>
            <a:off x="5074920" y="2395728"/>
            <a:ext cx="3154680" cy="2560320"/>
          </a:xfrm>
          <a:prstGeom prst="rect">
            <a:avLst/>
          </a:prstGeom>
          <a:solidFill>
            <a:srgbClr val="EDF0E5"/>
          </a:solidFill>
          <a:ln w="12700">
            <a:solidFill>
              <a:srgbClr val="C8CDC2"/>
            </a:solidFill>
            <a:prstDash val="solid"/>
          </a:ln>
        </p:spPr>
      </p:sp>
      <p:sp>
        <p:nvSpPr>
          <p:cNvPr id="11" name="Text 5"/>
          <p:cNvSpPr txBox="1"/>
          <p:nvPr>
            <p:ph idx="109" type="body" hasCustomPrompt="1"/>
          </p:nvPr>
        </p:nvSpPr>
        <p:spPr>
          <a:xfrm>
            <a:off x="5276088" y="2560320"/>
            <a:ext cx="275234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FORMULA</a:t>
            </a:r>
            <a:endParaRPr lang="en-US" sz="1200" dirty="0"/>
          </a:p>
        </p:txBody>
      </p:sp>
      <p:sp>
        <p:nvSpPr>
          <p:cNvPr id="12" name="Text 5"/>
          <p:cNvSpPr txBox="1"/>
          <p:nvPr>
            <p:ph idx="110" type="body" hasCustomPrompt="1"/>
          </p:nvPr>
        </p:nvSpPr>
        <p:spPr>
          <a:xfrm>
            <a:off x="5276088" y="2852928"/>
            <a:ext cx="2752344" cy="19019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relationship, before any numbers.</a:t>
            </a:r>
            <a:endParaRPr lang="en-US" sz="1600" dirty="0"/>
          </a:p>
        </p:txBody>
      </p:sp>
      <p:sp>
        <p:nvSpPr>
          <p:cNvPr id="13" name="Shape 5"/>
          <p:cNvSpPr/>
          <p:nvPr/>
        </p:nvSpPr>
        <p:spPr>
          <a:xfrm>
            <a:off x="8412480" y="2395728"/>
            <a:ext cx="3090672" cy="2560320"/>
          </a:xfrm>
          <a:prstGeom prst="rect">
            <a:avLst/>
          </a:prstGeom>
          <a:solidFill>
            <a:srgbClr val="EDF0E5"/>
          </a:solidFill>
          <a:ln w="12700">
            <a:solidFill>
              <a:srgbClr val="C8CDC2"/>
            </a:solidFill>
            <a:prstDash val="solid"/>
          </a:ln>
        </p:spPr>
      </p:sp>
      <p:sp>
        <p:nvSpPr>
          <p:cNvPr id="14" name="Text 6"/>
          <p:cNvSpPr txBox="1"/>
          <p:nvPr/>
        </p:nvSpPr>
        <p:spPr>
          <a:xfrm>
            <a:off x="8613648" y="2560320"/>
            <a:ext cx="1828800" cy="219456"/>
          </a:xfrm>
          <a:prstGeom prst="rect">
            <a:avLst/>
          </a:prstGeom>
          <a:noFill/>
          <a:ln/>
        </p:spPr>
        <p:txBody>
          <a:bodyPr wrap="square" lIns="0" tIns="0" rIns="0" bIns="0" rtlCol="0" anchor="ctr"/>
          <a:lstStyle/>
          <a:p>
            <a:pPr indent="0" marL="0">
              <a:buNone/>
            </a:pPr>
            <a:r>
              <a:rPr lang="en-US" sz="900" b="1" spc="140" kern="0" dirty="0">
                <a:solidFill>
                  <a:srgbClr val="2E3338"/>
                </a:solidFill>
                <a:latin typeface="Trade Gothic Next" pitchFamily="34" charset="0"/>
                <a:ea typeface="Trade Gothic Next" pitchFamily="34" charset="-122"/>
                <a:cs typeface="Trade Gothic Next" pitchFamily="34" charset="-120"/>
              </a:rPr>
              <a:t>WORK</a:t>
            </a:r>
            <a:endParaRPr lang="en-US" sz="900" dirty="0"/>
          </a:p>
        </p:txBody>
      </p:sp>
      <p:sp>
        <p:nvSpPr>
          <p:cNvPr id="15" name="Text 7"/>
          <p:cNvSpPr txBox="1"/>
          <p:nvPr>
            <p:ph idx="113" type="body" hasCustomPrompt="1"/>
          </p:nvPr>
        </p:nvSpPr>
        <p:spPr>
          <a:xfrm>
            <a:off x="8613648" y="2871216"/>
            <a:ext cx="2688336" cy="1920240"/>
          </a:xfrm>
          <a:prstGeom prst="rect">
            <a:avLst/>
          </a:prstGeom>
          <a:noFill/>
          <a:ln/>
        </p:spPr>
        <p:txBody>
          <a:bodyPr wrap="square" rtlCol="0"/>
          <a:lstStyle>
            <a:lvl1pPr indent="0" marL="0">
              <a:buNone/>
              <a:defRPr lang="en-US" sz="19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The completed work,</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step by step.</a:t>
            </a:r>
            <a:endParaRPr lang="en-US" sz="1900" dirty="0"/>
          </a:p>
        </p:txBody>
      </p:sp>
      <p:sp>
        <p:nvSpPr>
          <p:cNvPr id="16" name="Shape 7"/>
          <p:cNvSpPr/>
          <p:nvPr/>
        </p:nvSpPr>
        <p:spPr>
          <a:xfrm>
            <a:off x="685800" y="5138928"/>
            <a:ext cx="10820095" cy="566928"/>
          </a:xfrm>
          <a:prstGeom prst="rect">
            <a:avLst/>
          </a:prstGeom>
          <a:solidFill>
            <a:srgbClr val="14161B"/>
          </a:solidFill>
          <a:ln/>
        </p:spPr>
      </p:sp>
      <p:sp>
        <p:nvSpPr>
          <p:cNvPr id="17" name="Text 8"/>
          <p:cNvSpPr txBox="1"/>
          <p:nvPr/>
        </p:nvSpPr>
        <p:spPr>
          <a:xfrm>
            <a:off x="886968" y="5193792"/>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18" name="Text 9"/>
          <p:cNvSpPr txBox="1"/>
          <p:nvPr>
            <p:ph idx="116" type="body" hasCustomPrompt="1"/>
          </p:nvPr>
        </p:nvSpPr>
        <p:spPr>
          <a:xfrm>
            <a:off x="2240280" y="5212080"/>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19" name="Text 9"/>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0" name="Text 10"/>
          <p:cNvSpPr txBox="1"/>
          <p:nvPr>
            <p:ph idx="118"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1_GIVENS_EQUATION_ANSW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4663440" cy="2624328"/>
          </a:xfrm>
          <a:prstGeom prst="rect">
            <a:avLst/>
          </a:prstGeom>
          <a:solidFill>
            <a:srgbClr val="A3E635"/>
          </a:solidFill>
          <a:ln/>
        </p:spPr>
      </p:sp>
      <p:sp>
        <p:nvSpPr>
          <p:cNvPr id="8" name="Shape 3"/>
          <p:cNvSpPr/>
          <p:nvPr/>
        </p:nvSpPr>
        <p:spPr>
          <a:xfrm>
            <a:off x="832104" y="2542032"/>
            <a:ext cx="4370832" cy="2331720"/>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832104" y="2542032"/>
            <a:ext cx="4370832" cy="2331720"/>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SETUP IMAGE</a:t>
            </a:r>
            <a:endParaRPr lang="en-US" sz="1200" dirty="0"/>
          </a:p>
        </p:txBody>
      </p:sp>
      <p:sp>
        <p:nvSpPr>
          <p:cNvPr id="10" name="Shape 4"/>
          <p:cNvSpPr/>
          <p:nvPr/>
        </p:nvSpPr>
        <p:spPr>
          <a:xfrm>
            <a:off x="5577840" y="2395728"/>
            <a:ext cx="5925312" cy="960120"/>
          </a:xfrm>
          <a:prstGeom prst="rect">
            <a:avLst/>
          </a:prstGeom>
          <a:solidFill>
            <a:srgbClr val="2E3338"/>
          </a:solidFill>
          <a:ln/>
        </p:spPr>
      </p:sp>
      <p:sp>
        <p:nvSpPr>
          <p:cNvPr id="11" name="Text 5"/>
          <p:cNvSpPr txBox="1"/>
          <p:nvPr/>
        </p:nvSpPr>
        <p:spPr>
          <a:xfrm>
            <a:off x="5779008" y="2505456"/>
            <a:ext cx="1828800" cy="201168"/>
          </a:xfrm>
          <a:prstGeom prst="rect">
            <a:avLst/>
          </a:prstGeom>
          <a:noFill/>
          <a:ln/>
        </p:spPr>
        <p:txBody>
          <a:bodyPr wrap="square" lIns="0" tIns="0" rIns="0" bIns="0" rtlCol="0" anchor="ctr"/>
          <a:lstStyle/>
          <a:p>
            <a:pPr indent="0" marL="0">
              <a:buNone/>
            </a:pPr>
            <a:r>
              <a:rPr lang="en-US" sz="900" b="1" spc="140" kern="0" dirty="0">
                <a:solidFill>
                  <a:srgbClr val="A3E635"/>
                </a:solidFill>
                <a:latin typeface="Trade Gothic Next" pitchFamily="34" charset="0"/>
                <a:ea typeface="Trade Gothic Next" pitchFamily="34" charset="-122"/>
                <a:cs typeface="Trade Gothic Next" pitchFamily="34" charset="-120"/>
              </a:rPr>
              <a:t>PROBLEM</a:t>
            </a:r>
            <a:endParaRPr lang="en-US" sz="900" dirty="0"/>
          </a:p>
        </p:txBody>
      </p:sp>
      <p:sp>
        <p:nvSpPr>
          <p:cNvPr id="12" name="Text 6"/>
          <p:cNvSpPr txBox="1"/>
          <p:nvPr>
            <p:ph idx="110" type="body" hasCustomPrompt="1"/>
          </p:nvPr>
        </p:nvSpPr>
        <p:spPr>
          <a:xfrm>
            <a:off x="5779008" y="2743200"/>
            <a:ext cx="5522976" cy="502920"/>
          </a:xfrm>
          <a:prstGeom prst="rect">
            <a:avLst/>
          </a:prstGeom>
          <a:noFill/>
          <a:ln/>
        </p:spPr>
        <p:txBody>
          <a:bodyPr wrap="square" rtlCol="0"/>
          <a:lstStyle>
            <a:lvl1pPr indent="0" marL="0">
              <a:buNone/>
              <a:defRPr lang="en-US" sz="160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State the problem in one sentence.</a:t>
            </a:r>
            <a:endParaRPr lang="en-US" sz="1600" dirty="0"/>
          </a:p>
        </p:txBody>
      </p:sp>
      <p:sp>
        <p:nvSpPr>
          <p:cNvPr id="13" name="Shape 6"/>
          <p:cNvSpPr/>
          <p:nvPr/>
        </p:nvSpPr>
        <p:spPr>
          <a:xfrm>
            <a:off x="5577840" y="3520440"/>
            <a:ext cx="2871216" cy="1499616"/>
          </a:xfrm>
          <a:prstGeom prst="rect">
            <a:avLst/>
          </a:prstGeom>
          <a:solidFill>
            <a:srgbClr val="EDF0E5"/>
          </a:solidFill>
          <a:ln w="12700">
            <a:solidFill>
              <a:srgbClr val="C8CDC2"/>
            </a:solidFill>
            <a:prstDash val="solid"/>
          </a:ln>
        </p:spPr>
      </p:sp>
      <p:sp>
        <p:nvSpPr>
          <p:cNvPr id="14" name="Text 7"/>
          <p:cNvSpPr txBox="1"/>
          <p:nvPr>
            <p:ph idx="112" type="body" hasCustomPrompt="1"/>
          </p:nvPr>
        </p:nvSpPr>
        <p:spPr>
          <a:xfrm>
            <a:off x="5779008" y="3685032"/>
            <a:ext cx="2468880"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15" name="Text 7"/>
          <p:cNvSpPr txBox="1"/>
          <p:nvPr>
            <p:ph idx="113" type="body" hasCustomPrompt="1"/>
          </p:nvPr>
        </p:nvSpPr>
        <p:spPr>
          <a:xfrm>
            <a:off x="5779008" y="3977640"/>
            <a:ext cx="2468880" cy="84124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Values the problem supplies.</a:t>
            </a:r>
            <a:endParaRPr lang="en-US" sz="1600" dirty="0"/>
          </a:p>
        </p:txBody>
      </p:sp>
      <p:sp>
        <p:nvSpPr>
          <p:cNvPr id="16" name="Shape 7"/>
          <p:cNvSpPr/>
          <p:nvPr/>
        </p:nvSpPr>
        <p:spPr>
          <a:xfrm>
            <a:off x="8631936" y="3520440"/>
            <a:ext cx="2871216" cy="1499616"/>
          </a:xfrm>
          <a:prstGeom prst="rect">
            <a:avLst/>
          </a:prstGeom>
          <a:solidFill>
            <a:srgbClr val="EDF0E5"/>
          </a:solidFill>
          <a:ln w="12700">
            <a:solidFill>
              <a:srgbClr val="C8CDC2"/>
            </a:solidFill>
            <a:prstDash val="solid"/>
          </a:ln>
        </p:spPr>
      </p:sp>
      <p:sp>
        <p:nvSpPr>
          <p:cNvPr id="17" name="Text 8"/>
          <p:cNvSpPr txBox="1"/>
          <p:nvPr>
            <p:ph idx="115" type="body" hasCustomPrompt="1"/>
          </p:nvPr>
        </p:nvSpPr>
        <p:spPr>
          <a:xfrm>
            <a:off x="8833104" y="3685032"/>
            <a:ext cx="2468880"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EQUATION</a:t>
            </a:r>
            <a:endParaRPr lang="en-US" sz="1200" dirty="0"/>
          </a:p>
        </p:txBody>
      </p:sp>
      <p:sp>
        <p:nvSpPr>
          <p:cNvPr id="18" name="Text 8"/>
          <p:cNvSpPr txBox="1"/>
          <p:nvPr>
            <p:ph idx="116" type="body" hasCustomPrompt="1"/>
          </p:nvPr>
        </p:nvSpPr>
        <p:spPr>
          <a:xfrm>
            <a:off x="8833104" y="3977640"/>
            <a:ext cx="2468880" cy="84124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relationship you will use.</a:t>
            </a:r>
            <a:endParaRPr lang="en-US" sz="1600" dirty="0"/>
          </a:p>
        </p:txBody>
      </p:sp>
      <p:sp>
        <p:nvSpPr>
          <p:cNvPr id="19" name="Shape 8"/>
          <p:cNvSpPr/>
          <p:nvPr/>
        </p:nvSpPr>
        <p:spPr>
          <a:xfrm>
            <a:off x="5577840" y="5193792"/>
            <a:ext cx="5925312" cy="777240"/>
          </a:xfrm>
          <a:prstGeom prst="rect">
            <a:avLst/>
          </a:prstGeom>
          <a:solidFill>
            <a:srgbClr val="EDF0E5"/>
          </a:solidFill>
          <a:ln w="19050">
            <a:solidFill>
              <a:srgbClr val="A3E635"/>
            </a:solidFill>
            <a:prstDash val="solid"/>
          </a:ln>
        </p:spPr>
      </p:sp>
      <p:sp>
        <p:nvSpPr>
          <p:cNvPr id="20" name="Text 9"/>
          <p:cNvSpPr txBox="1"/>
          <p:nvPr/>
        </p:nvSpPr>
        <p:spPr>
          <a:xfrm>
            <a:off x="5779008" y="5285232"/>
            <a:ext cx="1828800" cy="201168"/>
          </a:xfrm>
          <a:prstGeom prst="rect">
            <a:avLst/>
          </a:prstGeom>
          <a:noFill/>
          <a:ln/>
        </p:spPr>
        <p:txBody>
          <a:bodyPr wrap="square" lIns="0" tIns="0" rIns="0" bIns="0" rtlCol="0" anchor="ctr"/>
          <a:lstStyle/>
          <a:p>
            <a:pPr indent="0" marL="0">
              <a:buNone/>
            </a:pPr>
            <a:r>
              <a:rPr lang="en-US" sz="900" b="1" spc="140" kern="0" dirty="0">
                <a:solidFill>
                  <a:srgbClr val="2E3338"/>
                </a:solidFill>
                <a:latin typeface="Trade Gothic Next" pitchFamily="34" charset="0"/>
                <a:ea typeface="Trade Gothic Next" pitchFamily="34" charset="-122"/>
                <a:cs typeface="Trade Gothic Next" pitchFamily="34" charset="-120"/>
              </a:rPr>
              <a:t>ANSWER</a:t>
            </a:r>
            <a:endParaRPr lang="en-US" sz="900" dirty="0"/>
          </a:p>
        </p:txBody>
      </p:sp>
      <p:sp>
        <p:nvSpPr>
          <p:cNvPr id="21" name="Text 10"/>
          <p:cNvSpPr txBox="1"/>
          <p:nvPr>
            <p:ph idx="119" type="body" hasCustomPrompt="1"/>
          </p:nvPr>
        </p:nvSpPr>
        <p:spPr>
          <a:xfrm>
            <a:off x="5779008" y="5504688"/>
            <a:ext cx="5522976" cy="384048"/>
          </a:xfrm>
          <a:prstGeom prst="rect">
            <a:avLst/>
          </a:prstGeom>
          <a:noFill/>
          <a:ln/>
        </p:spPr>
        <p:txBody>
          <a:bodyPr wrap="square" rtlCol="0"/>
          <a:lstStyle>
            <a:lvl1pPr indent="0" marL="0">
              <a:buNone/>
              <a:defRPr lang="en-US" sz="20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2000" b="1" dirty="0">
                <a:solidFill>
                  <a:srgbClr val="14161B"/>
                </a:solidFill>
                <a:latin typeface="Trade Gothic Next" pitchFamily="34" charset="0"/>
                <a:ea typeface="Trade Gothic Next" pitchFamily="34" charset="-122"/>
                <a:cs typeface="Trade Gothic Next" pitchFamily="34" charset="-120"/>
              </a:rPr>
              <a:t>with units</a:t>
            </a:r>
            <a:endParaRPr lang="en-US" sz="2000" dirty="0"/>
          </a:p>
        </p:txBody>
      </p:sp>
      <p:sp>
        <p:nvSpPr>
          <p:cNvPr id="22" name="Text 10"/>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3" name="Text 11"/>
          <p:cNvSpPr txBox="1"/>
          <p:nvPr>
            <p:ph idx="121"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_DECK_INDEX">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0" y="0"/>
            <a:ext cx="164592" cy="6858000"/>
          </a:xfrm>
          <a:prstGeom prst="rect">
            <a:avLst/>
          </a:prstGeom>
          <a:solidFill>
            <a:srgbClr val="A3E635"/>
          </a:solidFill>
          <a:ln/>
        </p:spPr>
      </p:sp>
      <p:sp>
        <p:nvSpPr>
          <p:cNvPr id="4" name="Text 2"/>
          <p:cNvSpPr txBox="1"/>
          <p:nvPr>
            <p:ph idx="102"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5" name="Shape 2"/>
          <p:cNvSpPr/>
          <p:nvPr/>
        </p:nvSpPr>
        <p:spPr>
          <a:xfrm>
            <a:off x="685800" y="676656"/>
            <a:ext cx="1371600" cy="0"/>
          </a:xfrm>
          <a:prstGeom prst="line">
            <a:avLst/>
          </a:prstGeom>
          <a:noFill/>
          <a:ln w="22225">
            <a:solidFill>
              <a:srgbClr val="A3E635"/>
            </a:solidFill>
            <a:prstDash val="solid"/>
          </a:ln>
        </p:spPr>
      </p:sp>
      <p:sp>
        <p:nvSpPr>
          <p:cNvPr id="6" name="Text 3"/>
          <p:cNvSpPr txBox="1"/>
          <p:nvPr>
            <p:ph idx="104" type="title" hasCustomPrompt="1"/>
          </p:nvPr>
        </p:nvSpPr>
        <p:spPr>
          <a:xfrm>
            <a:off x="685800" y="1097280"/>
            <a:ext cx="3200400" cy="1280160"/>
          </a:xfrm>
          <a:prstGeom prst="rect">
            <a:avLst/>
          </a:prstGeom>
          <a:noFill/>
          <a:ln/>
        </p:spPr>
        <p:txBody>
          <a:bodyPr wrap="square" rtlCol="0"/>
          <a:lstStyle>
            <a:lvl1pPr algn="l" indent="0" marL="0">
              <a:lnSpc>
                <a:spcPct val="106000"/>
              </a:lnSpc>
              <a:buNone/>
              <a:defRPr lang="en-US" sz="3000" b="1" dirty="0">
                <a:solidFill>
                  <a:srgbClr val="EDF0E5"/>
                </a:solidFill>
                <a:latin typeface="Trade Gothic Next" pitchFamily="34" charset="0"/>
                <a:ea typeface="Trade Gothic Next" pitchFamily="34" charset="-122"/>
                <a:cs typeface="Trade Gothic Next" pitchFamily="34" charset="-120"/>
              </a:defRPr>
            </a:lvl1pPr>
          </a:lstStyle>
          <a:p>
            <a:pPr algn="l" indent="0" marL="0">
              <a:lnSpc>
                <a:spcPct val="106000"/>
              </a:lnSpc>
              <a:buNone/>
            </a:pPr>
            <a:r>
              <a:rPr lang="en-US" sz="3000" b="1" dirty="0">
                <a:solidFill>
                  <a:srgbClr val="EDF0E5"/>
                </a:solidFill>
                <a:latin typeface="Trade Gothic Next" pitchFamily="34" charset="0"/>
                <a:ea typeface="Trade Gothic Next" pitchFamily="34" charset="-122"/>
                <a:cs typeface="Trade Gothic Next" pitchFamily="34" charset="-120"/>
              </a:rPr>
              <a:t>Template Slide</a:t>
            </a:r>
            <a:endParaRPr lang="en-US" sz="3000" dirty="0"/>
          </a:p>
          <a:p>
            <a:pPr algn="l" indent="0" marL="0">
              <a:lnSpc>
                <a:spcPct val="106000"/>
              </a:lnSpc>
              <a:buNone/>
            </a:pPr>
            <a:r>
              <a:rPr lang="en-US" sz="3000" b="1" dirty="0">
                <a:solidFill>
                  <a:srgbClr val="EDF0E5"/>
                </a:solidFill>
                <a:latin typeface="Trade Gothic Next" pitchFamily="34" charset="0"/>
                <a:ea typeface="Trade Gothic Next" pitchFamily="34" charset="-122"/>
                <a:cs typeface="Trade Gothic Next" pitchFamily="34" charset="-120"/>
              </a:rPr>
              <a:t>Family</a:t>
            </a:r>
            <a:endParaRPr lang="en-US" sz="3000" dirty="0"/>
          </a:p>
        </p:txBody>
      </p:sp>
      <p:sp>
        <p:nvSpPr>
          <p:cNvPr id="7" name="Text 3"/>
          <p:cNvSpPr txBox="1"/>
          <p:nvPr>
            <p:ph idx="105" type="body" hasCustomPrompt="1"/>
          </p:nvPr>
        </p:nvSpPr>
        <p:spPr>
          <a:xfrm>
            <a:off x="685800" y="2514600"/>
            <a:ext cx="3200400" cy="1463040"/>
          </a:xfrm>
          <a:prstGeom prst="rect">
            <a:avLst/>
          </a:prstGeom>
          <a:noFill/>
          <a:ln/>
        </p:spPr>
        <p:txBody>
          <a:bodyPr wrap="square" rtlCol="0"/>
          <a:lstStyle>
            <a:lvl1pPr indent="0" marL="0">
              <a:buNone/>
              <a:defRPr lang="en-US" sz="16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Twelve layouts shared by Chemistry, Physics, and Geology.</a:t>
            </a:r>
            <a:endParaRPr lang="en-US" sz="1600" dirty="0"/>
          </a:p>
          <a:p>
            <a:pPr indent="0" marL="0">
              <a:buNone/>
            </a:pPr>
            <a:endParaRPr lang="en-US" sz="1600" dirty="0"/>
          </a:p>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New slide → Layout → pick one. Never build from scratch.</a:t>
            </a:r>
            <a:endParaRPr lang="en-US" sz="1600" dirty="0"/>
          </a:p>
        </p:txBody>
      </p:sp>
      <p:sp>
        <p:nvSpPr>
          <p:cNvPr id="8" name="Shape 3"/>
          <p:cNvSpPr/>
          <p:nvPr/>
        </p:nvSpPr>
        <p:spPr>
          <a:xfrm>
            <a:off x="4434840" y="1097280"/>
            <a:ext cx="2148840" cy="932688"/>
          </a:xfrm>
          <a:prstGeom prst="rect">
            <a:avLst/>
          </a:prstGeom>
          <a:solidFill>
            <a:srgbClr val="2E3338"/>
          </a:solidFill>
          <a:ln/>
        </p:spPr>
      </p:sp>
      <p:sp>
        <p:nvSpPr>
          <p:cNvPr id="9" name="Text 4"/>
          <p:cNvSpPr txBox="1"/>
          <p:nvPr/>
        </p:nvSpPr>
        <p:spPr>
          <a:xfrm>
            <a:off x="4599432" y="1225296"/>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01</a:t>
            </a:r>
            <a:endParaRPr lang="en-US" sz="1100" dirty="0"/>
          </a:p>
        </p:txBody>
      </p:sp>
      <p:sp>
        <p:nvSpPr>
          <p:cNvPr id="10" name="Text 5"/>
          <p:cNvSpPr txBox="1"/>
          <p:nvPr/>
        </p:nvSpPr>
        <p:spPr>
          <a:xfrm>
            <a:off x="5038344" y="1225296"/>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Unit Title</a:t>
            </a:r>
            <a:endParaRPr lang="en-US" sz="1200" dirty="0"/>
          </a:p>
        </p:txBody>
      </p:sp>
      <p:sp>
        <p:nvSpPr>
          <p:cNvPr id="11" name="Text 6"/>
          <p:cNvSpPr txBox="1"/>
          <p:nvPr/>
        </p:nvSpPr>
        <p:spPr>
          <a:xfrm>
            <a:off x="4599432" y="1572768"/>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opens a unit</a:t>
            </a:r>
            <a:endParaRPr lang="en-US" sz="1100" dirty="0"/>
          </a:p>
        </p:txBody>
      </p:sp>
      <p:sp>
        <p:nvSpPr>
          <p:cNvPr id="12" name="Shape 7"/>
          <p:cNvSpPr/>
          <p:nvPr/>
        </p:nvSpPr>
        <p:spPr>
          <a:xfrm>
            <a:off x="6766560" y="1097280"/>
            <a:ext cx="2148840" cy="932688"/>
          </a:xfrm>
          <a:prstGeom prst="rect">
            <a:avLst/>
          </a:prstGeom>
          <a:solidFill>
            <a:srgbClr val="2E3338"/>
          </a:solidFill>
          <a:ln/>
        </p:spPr>
      </p:sp>
      <p:sp>
        <p:nvSpPr>
          <p:cNvPr id="13" name="Text 8"/>
          <p:cNvSpPr txBox="1"/>
          <p:nvPr/>
        </p:nvSpPr>
        <p:spPr>
          <a:xfrm>
            <a:off x="6931152" y="1225296"/>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02</a:t>
            </a:r>
            <a:endParaRPr lang="en-US" sz="1100" dirty="0"/>
          </a:p>
        </p:txBody>
      </p:sp>
      <p:sp>
        <p:nvSpPr>
          <p:cNvPr id="14" name="Text 9"/>
          <p:cNvSpPr txBox="1"/>
          <p:nvPr/>
        </p:nvSpPr>
        <p:spPr>
          <a:xfrm>
            <a:off x="7370064" y="1225296"/>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Section Title</a:t>
            </a:r>
            <a:endParaRPr lang="en-US" sz="1200" dirty="0"/>
          </a:p>
        </p:txBody>
      </p:sp>
      <p:sp>
        <p:nvSpPr>
          <p:cNvPr id="15" name="Text 10"/>
          <p:cNvSpPr txBox="1"/>
          <p:nvPr/>
        </p:nvSpPr>
        <p:spPr>
          <a:xfrm>
            <a:off x="6931152" y="1572768"/>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opens a section</a:t>
            </a:r>
            <a:endParaRPr lang="en-US" sz="1100" dirty="0"/>
          </a:p>
        </p:txBody>
      </p:sp>
      <p:sp>
        <p:nvSpPr>
          <p:cNvPr id="16" name="Shape 11"/>
          <p:cNvSpPr/>
          <p:nvPr/>
        </p:nvSpPr>
        <p:spPr>
          <a:xfrm>
            <a:off x="9098280" y="1097280"/>
            <a:ext cx="2148840" cy="932688"/>
          </a:xfrm>
          <a:prstGeom prst="rect">
            <a:avLst/>
          </a:prstGeom>
          <a:solidFill>
            <a:srgbClr val="2E3338"/>
          </a:solidFill>
          <a:ln/>
        </p:spPr>
      </p:sp>
      <p:sp>
        <p:nvSpPr>
          <p:cNvPr id="17" name="Text 12"/>
          <p:cNvSpPr txBox="1"/>
          <p:nvPr/>
        </p:nvSpPr>
        <p:spPr>
          <a:xfrm>
            <a:off x="9262872" y="1225296"/>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03</a:t>
            </a:r>
            <a:endParaRPr lang="en-US" sz="1100" dirty="0"/>
          </a:p>
        </p:txBody>
      </p:sp>
      <p:sp>
        <p:nvSpPr>
          <p:cNvPr id="18" name="Text 13"/>
          <p:cNvSpPr txBox="1"/>
          <p:nvPr/>
        </p:nvSpPr>
        <p:spPr>
          <a:xfrm>
            <a:off x="9701784" y="1225296"/>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Grouped</a:t>
            </a:r>
            <a:endParaRPr lang="en-US" sz="1200" dirty="0"/>
          </a:p>
        </p:txBody>
      </p:sp>
      <p:sp>
        <p:nvSpPr>
          <p:cNvPr id="19" name="Text 14"/>
          <p:cNvSpPr txBox="1"/>
          <p:nvPr/>
        </p:nvSpPr>
        <p:spPr>
          <a:xfrm>
            <a:off x="9262872" y="1572768"/>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two contrasting ideas</a:t>
            </a:r>
            <a:endParaRPr lang="en-US" sz="1100" dirty="0"/>
          </a:p>
        </p:txBody>
      </p:sp>
      <p:sp>
        <p:nvSpPr>
          <p:cNvPr id="20" name="Shape 15"/>
          <p:cNvSpPr/>
          <p:nvPr/>
        </p:nvSpPr>
        <p:spPr>
          <a:xfrm>
            <a:off x="4434840" y="2212848"/>
            <a:ext cx="2148840" cy="932688"/>
          </a:xfrm>
          <a:prstGeom prst="rect">
            <a:avLst/>
          </a:prstGeom>
          <a:solidFill>
            <a:srgbClr val="2E3338"/>
          </a:solidFill>
          <a:ln/>
        </p:spPr>
      </p:sp>
      <p:sp>
        <p:nvSpPr>
          <p:cNvPr id="21" name="Text 16"/>
          <p:cNvSpPr txBox="1"/>
          <p:nvPr/>
        </p:nvSpPr>
        <p:spPr>
          <a:xfrm>
            <a:off x="4599432" y="2340864"/>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04</a:t>
            </a:r>
            <a:endParaRPr lang="en-US" sz="1100" dirty="0"/>
          </a:p>
        </p:txBody>
      </p:sp>
      <p:sp>
        <p:nvSpPr>
          <p:cNvPr id="22" name="Text 17"/>
          <p:cNvSpPr txBox="1"/>
          <p:nvPr/>
        </p:nvSpPr>
        <p:spPr>
          <a:xfrm>
            <a:off x="5038344" y="2340864"/>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Divider</a:t>
            </a:r>
            <a:endParaRPr lang="en-US" sz="1200" dirty="0"/>
          </a:p>
        </p:txBody>
      </p:sp>
      <p:sp>
        <p:nvSpPr>
          <p:cNvPr id="23" name="Text 18"/>
          <p:cNvSpPr txBox="1"/>
          <p:nvPr/>
        </p:nvSpPr>
        <p:spPr>
          <a:xfrm>
            <a:off x="4599432" y="2688336"/>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visual reset</a:t>
            </a:r>
            <a:endParaRPr lang="en-US" sz="1100" dirty="0"/>
          </a:p>
        </p:txBody>
      </p:sp>
      <p:sp>
        <p:nvSpPr>
          <p:cNvPr id="24" name="Shape 19"/>
          <p:cNvSpPr/>
          <p:nvPr/>
        </p:nvSpPr>
        <p:spPr>
          <a:xfrm>
            <a:off x="6766560" y="2212848"/>
            <a:ext cx="2148840" cy="932688"/>
          </a:xfrm>
          <a:prstGeom prst="rect">
            <a:avLst/>
          </a:prstGeom>
          <a:solidFill>
            <a:srgbClr val="2E3338"/>
          </a:solidFill>
          <a:ln/>
        </p:spPr>
      </p:sp>
      <p:sp>
        <p:nvSpPr>
          <p:cNvPr id="25" name="Text 20"/>
          <p:cNvSpPr txBox="1"/>
          <p:nvPr/>
        </p:nvSpPr>
        <p:spPr>
          <a:xfrm>
            <a:off x="6931152" y="2340864"/>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05</a:t>
            </a:r>
            <a:endParaRPr lang="en-US" sz="1100" dirty="0"/>
          </a:p>
        </p:txBody>
      </p:sp>
      <p:sp>
        <p:nvSpPr>
          <p:cNvPr id="26" name="Text 21"/>
          <p:cNvSpPr txBox="1"/>
          <p:nvPr/>
        </p:nvSpPr>
        <p:spPr>
          <a:xfrm>
            <a:off x="7370064" y="2340864"/>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Process</a:t>
            </a:r>
            <a:endParaRPr lang="en-US" sz="1200" dirty="0"/>
          </a:p>
        </p:txBody>
      </p:sp>
      <p:sp>
        <p:nvSpPr>
          <p:cNvPr id="27" name="Text 22"/>
          <p:cNvSpPr txBox="1"/>
          <p:nvPr/>
        </p:nvSpPr>
        <p:spPr>
          <a:xfrm>
            <a:off x="6931152" y="2688336"/>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four numbered steps</a:t>
            </a:r>
            <a:endParaRPr lang="en-US" sz="1100" dirty="0"/>
          </a:p>
        </p:txBody>
      </p:sp>
      <p:sp>
        <p:nvSpPr>
          <p:cNvPr id="28" name="Shape 23"/>
          <p:cNvSpPr/>
          <p:nvPr/>
        </p:nvSpPr>
        <p:spPr>
          <a:xfrm>
            <a:off x="9098280" y="2212848"/>
            <a:ext cx="2148840" cy="932688"/>
          </a:xfrm>
          <a:prstGeom prst="rect">
            <a:avLst/>
          </a:prstGeom>
          <a:solidFill>
            <a:srgbClr val="2E3338"/>
          </a:solidFill>
          <a:ln/>
        </p:spPr>
      </p:sp>
      <p:sp>
        <p:nvSpPr>
          <p:cNvPr id="29" name="Text 24"/>
          <p:cNvSpPr txBox="1"/>
          <p:nvPr/>
        </p:nvSpPr>
        <p:spPr>
          <a:xfrm>
            <a:off x="9262872" y="2340864"/>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06</a:t>
            </a:r>
            <a:endParaRPr lang="en-US" sz="1100" dirty="0"/>
          </a:p>
        </p:txBody>
      </p:sp>
      <p:sp>
        <p:nvSpPr>
          <p:cNvPr id="30" name="Text 25"/>
          <p:cNvSpPr txBox="1"/>
          <p:nvPr/>
        </p:nvSpPr>
        <p:spPr>
          <a:xfrm>
            <a:off x="9701784" y="2340864"/>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Concept Image</a:t>
            </a:r>
            <a:endParaRPr lang="en-US" sz="1200" dirty="0"/>
          </a:p>
        </p:txBody>
      </p:sp>
      <p:sp>
        <p:nvSpPr>
          <p:cNvPr id="31" name="Text 26"/>
          <p:cNvSpPr txBox="1"/>
          <p:nvPr/>
        </p:nvSpPr>
        <p:spPr>
          <a:xfrm>
            <a:off x="9262872" y="2688336"/>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panel + key question</a:t>
            </a:r>
            <a:endParaRPr lang="en-US" sz="1100" dirty="0"/>
          </a:p>
        </p:txBody>
      </p:sp>
      <p:sp>
        <p:nvSpPr>
          <p:cNvPr id="32" name="Shape 27"/>
          <p:cNvSpPr/>
          <p:nvPr/>
        </p:nvSpPr>
        <p:spPr>
          <a:xfrm>
            <a:off x="4434840" y="3328416"/>
            <a:ext cx="2148840" cy="932688"/>
          </a:xfrm>
          <a:prstGeom prst="rect">
            <a:avLst/>
          </a:prstGeom>
          <a:solidFill>
            <a:srgbClr val="2E3338"/>
          </a:solidFill>
          <a:ln/>
        </p:spPr>
      </p:sp>
      <p:sp>
        <p:nvSpPr>
          <p:cNvPr id="33" name="Text 28"/>
          <p:cNvSpPr txBox="1"/>
          <p:nvPr/>
        </p:nvSpPr>
        <p:spPr>
          <a:xfrm>
            <a:off x="4599432" y="3456432"/>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07</a:t>
            </a:r>
            <a:endParaRPr lang="en-US" sz="1100" dirty="0"/>
          </a:p>
        </p:txBody>
      </p:sp>
      <p:sp>
        <p:nvSpPr>
          <p:cNvPr id="34" name="Text 29"/>
          <p:cNvSpPr txBox="1"/>
          <p:nvPr/>
        </p:nvSpPr>
        <p:spPr>
          <a:xfrm>
            <a:off x="5038344" y="3456432"/>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Comparison</a:t>
            </a:r>
            <a:endParaRPr lang="en-US" sz="1200" dirty="0"/>
          </a:p>
        </p:txBody>
      </p:sp>
      <p:sp>
        <p:nvSpPr>
          <p:cNvPr id="35" name="Text 30"/>
          <p:cNvSpPr txBox="1"/>
          <p:nvPr/>
        </p:nvSpPr>
        <p:spPr>
          <a:xfrm>
            <a:off x="4599432" y="3803904"/>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three parallel items</a:t>
            </a:r>
            <a:endParaRPr lang="en-US" sz="1100" dirty="0"/>
          </a:p>
        </p:txBody>
      </p:sp>
      <p:sp>
        <p:nvSpPr>
          <p:cNvPr id="36" name="Shape 31"/>
          <p:cNvSpPr/>
          <p:nvPr/>
        </p:nvSpPr>
        <p:spPr>
          <a:xfrm>
            <a:off x="6766560" y="3328416"/>
            <a:ext cx="2148840" cy="932688"/>
          </a:xfrm>
          <a:prstGeom prst="rect">
            <a:avLst/>
          </a:prstGeom>
          <a:solidFill>
            <a:srgbClr val="2E3338"/>
          </a:solidFill>
          <a:ln/>
        </p:spPr>
      </p:sp>
      <p:sp>
        <p:nvSpPr>
          <p:cNvPr id="37" name="Text 32"/>
          <p:cNvSpPr txBox="1"/>
          <p:nvPr/>
        </p:nvSpPr>
        <p:spPr>
          <a:xfrm>
            <a:off x="6931152" y="3456432"/>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08</a:t>
            </a:r>
            <a:endParaRPr lang="en-US" sz="1100" dirty="0"/>
          </a:p>
        </p:txBody>
      </p:sp>
      <p:sp>
        <p:nvSpPr>
          <p:cNvPr id="38" name="Text 33"/>
          <p:cNvSpPr txBox="1"/>
          <p:nvPr/>
        </p:nvSpPr>
        <p:spPr>
          <a:xfrm>
            <a:off x="7370064" y="3456432"/>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Diagram</a:t>
            </a:r>
            <a:endParaRPr lang="en-US" sz="1200" dirty="0"/>
          </a:p>
        </p:txBody>
      </p:sp>
      <p:sp>
        <p:nvSpPr>
          <p:cNvPr id="39" name="Text 34"/>
          <p:cNvSpPr txBox="1"/>
          <p:nvPr/>
        </p:nvSpPr>
        <p:spPr>
          <a:xfrm>
            <a:off x="6931152" y="3803904"/>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figure + annotation</a:t>
            </a:r>
            <a:endParaRPr lang="en-US" sz="1100" dirty="0"/>
          </a:p>
        </p:txBody>
      </p:sp>
      <p:sp>
        <p:nvSpPr>
          <p:cNvPr id="40" name="Shape 35"/>
          <p:cNvSpPr/>
          <p:nvPr/>
        </p:nvSpPr>
        <p:spPr>
          <a:xfrm>
            <a:off x="9098280" y="3328416"/>
            <a:ext cx="2148840" cy="932688"/>
          </a:xfrm>
          <a:prstGeom prst="rect">
            <a:avLst/>
          </a:prstGeom>
          <a:solidFill>
            <a:srgbClr val="2E3338"/>
          </a:solidFill>
          <a:ln/>
        </p:spPr>
      </p:sp>
      <p:sp>
        <p:nvSpPr>
          <p:cNvPr id="41" name="Text 36"/>
          <p:cNvSpPr txBox="1"/>
          <p:nvPr/>
        </p:nvSpPr>
        <p:spPr>
          <a:xfrm>
            <a:off x="9262872" y="3456432"/>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09</a:t>
            </a:r>
            <a:endParaRPr lang="en-US" sz="1100" dirty="0"/>
          </a:p>
        </p:txBody>
      </p:sp>
      <p:sp>
        <p:nvSpPr>
          <p:cNvPr id="42" name="Text 37"/>
          <p:cNvSpPr txBox="1"/>
          <p:nvPr/>
        </p:nvSpPr>
        <p:spPr>
          <a:xfrm>
            <a:off x="9701784" y="3456432"/>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Example</a:t>
            </a:r>
            <a:endParaRPr lang="en-US" sz="1200" dirty="0"/>
          </a:p>
        </p:txBody>
      </p:sp>
      <p:sp>
        <p:nvSpPr>
          <p:cNvPr id="43" name="Text 38"/>
          <p:cNvSpPr txBox="1"/>
          <p:nvPr/>
        </p:nvSpPr>
        <p:spPr>
          <a:xfrm>
            <a:off x="9262872" y="3803904"/>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empty work area</a:t>
            </a:r>
            <a:endParaRPr lang="en-US" sz="1100" dirty="0"/>
          </a:p>
        </p:txBody>
      </p:sp>
      <p:sp>
        <p:nvSpPr>
          <p:cNvPr id="44" name="Shape 39"/>
          <p:cNvSpPr/>
          <p:nvPr/>
        </p:nvSpPr>
        <p:spPr>
          <a:xfrm>
            <a:off x="4434840" y="4443984"/>
            <a:ext cx="2148840" cy="932688"/>
          </a:xfrm>
          <a:prstGeom prst="rect">
            <a:avLst/>
          </a:prstGeom>
          <a:solidFill>
            <a:srgbClr val="2E3338"/>
          </a:solidFill>
          <a:ln/>
        </p:spPr>
      </p:sp>
      <p:sp>
        <p:nvSpPr>
          <p:cNvPr id="45" name="Text 40"/>
          <p:cNvSpPr txBox="1"/>
          <p:nvPr/>
        </p:nvSpPr>
        <p:spPr>
          <a:xfrm>
            <a:off x="4599432" y="4572000"/>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10</a:t>
            </a:r>
            <a:endParaRPr lang="en-US" sz="1100" dirty="0"/>
          </a:p>
        </p:txBody>
      </p:sp>
      <p:sp>
        <p:nvSpPr>
          <p:cNvPr id="46" name="Text 41"/>
          <p:cNvSpPr txBox="1"/>
          <p:nvPr/>
        </p:nvSpPr>
        <p:spPr>
          <a:xfrm>
            <a:off x="5038344" y="4572000"/>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Solution</a:t>
            </a:r>
            <a:endParaRPr lang="en-US" sz="1200" dirty="0"/>
          </a:p>
        </p:txBody>
      </p:sp>
      <p:sp>
        <p:nvSpPr>
          <p:cNvPr id="47" name="Text 42"/>
          <p:cNvSpPr txBox="1"/>
          <p:nvPr/>
        </p:nvSpPr>
        <p:spPr>
          <a:xfrm>
            <a:off x="4599432" y="4919472"/>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pairs with 09</a:t>
            </a:r>
            <a:endParaRPr lang="en-US" sz="1100" dirty="0"/>
          </a:p>
        </p:txBody>
      </p:sp>
      <p:sp>
        <p:nvSpPr>
          <p:cNvPr id="48" name="Shape 43"/>
          <p:cNvSpPr/>
          <p:nvPr/>
        </p:nvSpPr>
        <p:spPr>
          <a:xfrm>
            <a:off x="6766560" y="4443984"/>
            <a:ext cx="2148840" cy="932688"/>
          </a:xfrm>
          <a:prstGeom prst="rect">
            <a:avLst/>
          </a:prstGeom>
          <a:solidFill>
            <a:srgbClr val="2E3338"/>
          </a:solidFill>
          <a:ln/>
        </p:spPr>
      </p:sp>
      <p:sp>
        <p:nvSpPr>
          <p:cNvPr id="49" name="Text 44"/>
          <p:cNvSpPr txBox="1"/>
          <p:nvPr/>
        </p:nvSpPr>
        <p:spPr>
          <a:xfrm>
            <a:off x="6931152" y="4572000"/>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11</a:t>
            </a:r>
            <a:endParaRPr lang="en-US" sz="1100" dirty="0"/>
          </a:p>
        </p:txBody>
      </p:sp>
      <p:sp>
        <p:nvSpPr>
          <p:cNvPr id="50" name="Text 45"/>
          <p:cNvSpPr txBox="1"/>
          <p:nvPr/>
        </p:nvSpPr>
        <p:spPr>
          <a:xfrm>
            <a:off x="7370064" y="4572000"/>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Given/Eq/Ans</a:t>
            </a:r>
            <a:endParaRPr lang="en-US" sz="1200" dirty="0"/>
          </a:p>
        </p:txBody>
      </p:sp>
      <p:sp>
        <p:nvSpPr>
          <p:cNvPr id="51" name="Text 46"/>
          <p:cNvSpPr txBox="1"/>
          <p:nvPr/>
        </p:nvSpPr>
        <p:spPr>
          <a:xfrm>
            <a:off x="6931152" y="4919472"/>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any course</a:t>
            </a:r>
            <a:endParaRPr lang="en-US" sz="1100" dirty="0"/>
          </a:p>
        </p:txBody>
      </p:sp>
      <p:sp>
        <p:nvSpPr>
          <p:cNvPr id="52" name="Shape 47"/>
          <p:cNvSpPr/>
          <p:nvPr/>
        </p:nvSpPr>
        <p:spPr>
          <a:xfrm>
            <a:off x="9098280" y="4443984"/>
            <a:ext cx="2148840" cy="932688"/>
          </a:xfrm>
          <a:prstGeom prst="rect">
            <a:avLst/>
          </a:prstGeom>
          <a:solidFill>
            <a:srgbClr val="2E3338"/>
          </a:solidFill>
          <a:ln/>
        </p:spPr>
      </p:sp>
      <p:sp>
        <p:nvSpPr>
          <p:cNvPr id="53" name="Text 48"/>
          <p:cNvSpPr txBox="1"/>
          <p:nvPr/>
        </p:nvSpPr>
        <p:spPr>
          <a:xfrm>
            <a:off x="9262872" y="4572000"/>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12</a:t>
            </a:r>
            <a:endParaRPr lang="en-US" sz="1100" dirty="0"/>
          </a:p>
        </p:txBody>
      </p:sp>
      <p:sp>
        <p:nvSpPr>
          <p:cNvPr id="54" name="Text 49"/>
          <p:cNvSpPr txBox="1"/>
          <p:nvPr/>
        </p:nvSpPr>
        <p:spPr>
          <a:xfrm>
            <a:off x="9701784" y="4572000"/>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Deck Index</a:t>
            </a:r>
            <a:endParaRPr lang="en-US" sz="1200" dirty="0"/>
          </a:p>
        </p:txBody>
      </p:sp>
      <p:sp>
        <p:nvSpPr>
          <p:cNvPr id="55" name="Text 50"/>
          <p:cNvSpPr txBox="1"/>
          <p:nvPr/>
        </p:nvSpPr>
        <p:spPr>
          <a:xfrm>
            <a:off x="9262872" y="4919472"/>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delete before class</a:t>
            </a:r>
            <a:endParaRPr lang="en-US" sz="1100" dirty="0"/>
          </a:p>
        </p:txBody>
      </p:sp>
      <p:sp>
        <p:nvSpPr>
          <p:cNvPr id="56" name="Text 51"/>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57" name="Text 52"/>
          <p:cNvSpPr txBox="1"/>
          <p:nvPr>
            <p:ph idx="155"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9.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9.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9.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9.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9.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txBox="1"/>
          <p:nvPr>
            <p:ph idx="104" type="body" hasCustomPrompt="1"/>
          </p:nvPr>
        </p:nvSpPr>
        <p:spPr>
          <a:xfrm>
            <a:off x="777240" y="502920"/>
            <a:ext cx="2011680" cy="868680"/>
          </a:xfrm>
          <a:prstGeom prst="rect">
            <a:avLst/>
          </a:prstGeom>
          <a:noFill/>
          <a:ln/>
        </p:spPr>
        <p:txBody>
          <a:bodyPr wrap="square" lIns="0" tIns="0" rIns="0" bIns="0" rtlCol="0"/>
          <a:lstStyle/>
          <a:p>
            <a:pPr algn="l" indent="0" marL="0">
              <a:buNone/>
            </a:pPr>
            <a:r>
              <a:rPr lang="en-US" sz="4400" b="1" dirty="0">
                <a:solidFill>
                  <a:srgbClr val="14161B"/>
                </a:solidFill>
                <a:latin typeface="Trade Gothic Next" pitchFamily="34" charset="0"/>
                <a:ea typeface="Trade Gothic Next" pitchFamily="34" charset="-122"/>
                <a:cs typeface="Trade Gothic Next" pitchFamily="34" charset="-120"/>
              </a:rPr>
              <a:t>03</a:t>
            </a:r>
            <a:endParaRPr lang="en-US" sz="4400" dirty="0"/>
          </a:p>
        </p:txBody>
      </p:sp>
      <p:sp>
        <p:nvSpPr>
          <p:cNvPr id="3" name="Text 4"/>
          <p:cNvSpPr txBox="1"/>
          <p:nvPr>
            <p:ph idx="106" type="title" hasCustomPrompt="1"/>
          </p:nvPr>
        </p:nvSpPr>
        <p:spPr>
          <a:xfrm>
            <a:off x="777240" y="1847088"/>
            <a:ext cx="2834640" cy="1691640"/>
          </a:xfrm>
          <a:prstGeom prst="rect">
            <a:avLst/>
          </a:prstGeom>
          <a:noFill/>
          <a:ln/>
        </p:spPr>
        <p:txBody>
          <a:bodyPr wrap="square" lIns="0" tIns="0" rIns="0" bIns="0" rtlCol="0"/>
          <a:lstStyle/>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2.3</a:t>
            </a:r>
            <a:endParaRPr lang="en-US" sz="2800" dirty="0"/>
          </a:p>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Electron</a:t>
            </a:r>
            <a:endParaRPr lang="en-US" sz="2800" dirty="0"/>
          </a:p>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Configurations</a:t>
            </a:r>
            <a:endParaRPr lang="en-US" sz="2800" dirty="0"/>
          </a:p>
        </p:txBody>
      </p:sp>
      <p:sp>
        <p:nvSpPr>
          <p:cNvPr id="4" name="Text 4"/>
          <p:cNvSpPr txBox="1"/>
          <p:nvPr>
            <p:ph idx="107" type="body" hasCustomPrompt="1"/>
          </p:nvPr>
        </p:nvSpPr>
        <p:spPr>
          <a:xfrm>
            <a:off x="777240" y="3749040"/>
            <a:ext cx="2834640" cy="109728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configurations and orbital diagrams through krypton, and catch mistakes in them.</a:t>
            </a:r>
            <a:endParaRPr lang="en-US" sz="1600" dirty="0"/>
          </a:p>
        </p:txBody>
      </p:sp>
      <p:sp>
        <p:nvSpPr>
          <p:cNvPr id="5" name="Text 5"/>
          <p:cNvSpPr txBox="1"/>
          <p:nvPr>
            <p:ph idx="109"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U02 • S02.3</a:t>
            </a:r>
            <a:endParaRPr lang="en-US" sz="1000" dirty="0"/>
          </a:p>
        </p:txBody>
      </p:sp>
      <p:sp>
        <p:nvSpPr>
          <p:cNvPr id="7" name="Text 3"/>
          <p:cNvSpPr txBox="1"/>
          <p:nvPr>
            <p:ph idx="103" hasCustomPrompt="1"/>
          </p:nvPr>
        </p:nvSpPr>
        <p:spPr>
          <a:xfrm>
            <a:off x="4480560" y="777240"/>
            <a:ext cx="7086600" cy="3986784"/>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txBox="1"/>
          <p:nvPr>
            <p:ph idx="107" type="title" hasCustomPrompt="1"/>
          </p:nvPr>
        </p:nvSpPr>
        <p:spPr>
          <a:xfrm>
            <a:off x="685800" y="1188720"/>
            <a:ext cx="4892040" cy="868680"/>
          </a:xfrm>
          <a:prstGeom prst="rect">
            <a:avLst/>
          </a:prstGeom>
          <a:noFill/>
          <a:ln/>
        </p:spPr>
        <p:txBody>
          <a:bodyPr wrap="square" lIns="0" tIns="0" rIns="0" bIns="0" rtlCol="0"/>
          <a:lstStyle/>
          <a:p>
            <a:pPr algn="l" indent="0" marL="0">
              <a:buNone/>
            </a:pPr>
            <a:r>
              <a:rPr lang="en-US" sz="2800" b="1" dirty="0">
                <a:solidFill>
                  <a:srgbClr val="EDF0E5"/>
                </a:solidFill>
                <a:latin typeface="Trade Gothic Next" pitchFamily="34" charset="0"/>
                <a:ea typeface="Trade Gothic Next" pitchFamily="34" charset="-122"/>
                <a:cs typeface="Trade Gothic Next" pitchFamily="34" charset="-120"/>
              </a:rPr>
              <a:t>Where Are Oxygen's Electrons?</a:t>
            </a:r>
            <a:endParaRPr lang="en-US" sz="2800" dirty="0"/>
          </a:p>
        </p:txBody>
      </p:sp>
      <p:sp>
        <p:nvSpPr>
          <p:cNvPr id="3" name="Text 5"/>
          <p:cNvSpPr txBox="1"/>
          <p:nvPr>
            <p:ph idx="108" type="body" hasCustomPrompt="1"/>
          </p:nvPr>
        </p:nvSpPr>
        <p:spPr>
          <a:xfrm>
            <a:off x="685800" y="2148840"/>
            <a:ext cx="4892040" cy="1005840"/>
          </a:xfrm>
          <a:prstGeom prst="rect">
            <a:avLst/>
          </a:prstGeom>
          <a:noFill/>
          <a:ln/>
        </p:spPr>
        <p:txBody>
          <a:bodyPr wrap="square" lIns="0" tIns="0" rIns="0" bIns="0" rtlCol="0"/>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The periodic table gives you the count: 8. Today you write where each one sits.</a:t>
            </a:r>
            <a:endParaRPr lang="en-US" sz="1600" dirty="0"/>
          </a:p>
        </p:txBody>
      </p:sp>
      <p:sp>
        <p:nvSpPr>
          <p:cNvPr id="4" name="Text 7"/>
          <p:cNvSpPr txBox="1"/>
          <p:nvPr>
            <p:ph idx="111" type="body" hasCustomPrompt="1"/>
          </p:nvPr>
        </p:nvSpPr>
        <p:spPr>
          <a:xfrm>
            <a:off x="886968" y="3950208"/>
            <a:ext cx="4489704" cy="566928"/>
          </a:xfrm>
          <a:prstGeom prst="rect">
            <a:avLst/>
          </a:prstGeom>
          <a:noFill/>
          <a:ln/>
        </p:spPr>
        <p:txBody>
          <a:bodyPr wrap="square" lIns="0" tIns="0" rIns="0" bIns="0" rtlCol="0"/>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Oxygen has 8 electrons. Do all 8 have the same energy?</a:t>
            </a:r>
            <a:endParaRPr lang="en-US" sz="1600" dirty="0"/>
          </a:p>
        </p:txBody>
      </p:sp>
      <p:sp>
        <p:nvSpPr>
          <p:cNvPr id="5" name="Text 4"/>
          <p:cNvSpPr txBox="1"/>
          <p:nvPr>
            <p:ph idx="105"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6" name="Text 8"/>
          <p:cNvSpPr txBox="1"/>
          <p:nvPr>
            <p:ph idx="113"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U02 • S02.3</a:t>
            </a:r>
            <a:endParaRPr lang="en-US" sz="1000" dirty="0"/>
          </a:p>
        </p:txBody>
      </p:sp>
      <p:sp>
        <p:nvSpPr>
          <p:cNvPr id="8" name="Text 4"/>
          <p:cNvSpPr txBox="1"/>
          <p:nvPr>
            <p:ph idx="104" hasCustomPrompt="1"/>
          </p:nvPr>
        </p:nvSpPr>
        <p:spPr>
          <a:xfrm>
            <a:off x="6355080" y="1298448"/>
            <a:ext cx="4983480" cy="2798064"/>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Reading an Electron Configuration</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Take 2p</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4</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apart one piece at a time.</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ENERGY LEVEL</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big number in front is the level: 2.</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SUBLEVEL</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letter is the sublevel: p.</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ELECTRONS</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raised number is the electron count: 4.</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 configuration lists where the electrons sit. Ground state means the lowest-energy arrangement.</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Filling-order chart: sublevels 1s through 7p in rows by level, with diagonal arrows linking them in the order 1s 2s 2p 3s 3p 4s 3d 4p 5s 4d 5p; 4s and 3d are outlined because 4s fills before 3d.">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The Order Electrons Fill In</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Read each arrow from top right to bottom left, then start the next arrow.</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AUFBAU PRINCIPLE</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lowest-energy open orbital fills first.</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ORDER</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 2s 2p 3s 3p 4s 3d 4p 5s 4d 5p</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HEAVY BOXES</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 fills before 3d, in K and Ca.</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auli exclusion principle: one orbital box with an up arrow and a down arrow is correct; a box with two up arrows is marked wrong.">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Pauli: Two per Orbital, Opposite Spins</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Up and down arrows are spin labels, not electrons orbiting opposite ways.</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PAULI EXCLUSION PRINCIPLE</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orbital holds at most 2 electrons.</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SPINS</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If there are two, their spins are opposite.</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COMMON MIX-UP</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Two per orbital, not two per sublevel.</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und's rule with nitrogen's 2p boxes: up, up, up in three boxes is correct; one pair, one single and one empty box is marked wrong.">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Hund's Rule: Singles Before Pairs</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Equal-energy orbitals, like the three 2p boxes, each get one electron first.</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HUND'S RULE</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Singles first, all pointing the same way.</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NITROGEN</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Its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3</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is three single electrons: 3 unpaired.</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TERM</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Equal-energy orbitals are called degenerate.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Reading an Orbital Diagram</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box per orbital. Nitrogen has 7 electrons, so 7 arrows.</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BOXES</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 and 2s have 1 box each. 2p has 3.</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ARROWS</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Draw the up arrow first in every box.</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LABEL UNDER EACH GROUP</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raised number counts the arrows.</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nitrogen. 1s: one box, one pair. 2s: one box, one pair. 2p: three boxes, three single up arrows."/>
          <p:cNvGrpSpPr/>
          <p:nvPr/>
        </p:nvGrpSpPr>
        <p:grpSpPr>
          <a:xfrm>
            <a:off x="1024127" y="2894076"/>
            <a:ext cx="4398265" cy="1380744"/>
            <a:chOff x="1024127" y="2894076"/>
            <a:chExt cx="4398265" cy="1380744"/>
          </a:xfrm>
        </p:grpSpPr>
        <p:sp>
          <p:nvSpPr>
            <p:cNvPr id="15" name="BUILD title"/>
            <p:cNvSpPr txBox="1"/>
            <p:nvPr/>
          </p:nvSpPr>
          <p:spPr>
            <a:xfrm>
              <a:off x="1024128" y="2894076"/>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NITROGEN  Z = 7</a:t>
              </a:r>
            </a:p>
          </p:txBody>
        </p:sp>
        <p:sp>
          <p:nvSpPr>
            <p:cNvPr id="16" name="BUILD box 1s 1"/>
            <p:cNvSpPr/>
            <p:nvPr/>
          </p:nvSpPr>
          <p:spPr>
            <a:xfrm>
              <a:off x="1024127"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1s"/>
            <p:cNvSpPr txBox="1"/>
            <p:nvPr/>
          </p:nvSpPr>
          <p:spPr>
            <a:xfrm>
              <a:off x="1229689" y="4000500"/>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1s</a:t>
              </a:r>
            </a:p>
          </p:txBody>
        </p:sp>
        <p:sp>
          <p:nvSpPr>
            <p:cNvPr id="18" name="BUILD box 2s 1"/>
            <p:cNvSpPr/>
            <p:nvPr/>
          </p:nvSpPr>
          <p:spPr>
            <a:xfrm>
              <a:off x="2039111"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label 2s"/>
            <p:cNvSpPr txBox="1"/>
            <p:nvPr/>
          </p:nvSpPr>
          <p:spPr>
            <a:xfrm>
              <a:off x="2244673" y="4000500"/>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2s</a:t>
              </a:r>
            </a:p>
          </p:txBody>
        </p:sp>
        <p:sp>
          <p:nvSpPr>
            <p:cNvPr id="20" name="BUILD box 2p 1"/>
            <p:cNvSpPr/>
            <p:nvPr/>
          </p:nvSpPr>
          <p:spPr>
            <a:xfrm>
              <a:off x="3054096"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box 2p 2"/>
            <p:cNvSpPr/>
            <p:nvPr/>
          </p:nvSpPr>
          <p:spPr>
            <a:xfrm>
              <a:off x="3858768"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x 2p 3"/>
            <p:cNvSpPr/>
            <p:nvPr/>
          </p:nvSpPr>
          <p:spPr>
            <a:xfrm>
              <a:off x="4663440"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label 2p"/>
            <p:cNvSpPr txBox="1"/>
            <p:nvPr/>
          </p:nvSpPr>
          <p:spPr>
            <a:xfrm>
              <a:off x="4058391" y="4000500"/>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2p</a:t>
              </a:r>
            </a:p>
          </p:txBody>
        </p:sp>
      </p:grpSp>
      <p:sp>
        <p:nvSpPr>
          <p:cNvPr id="24" name="BUILD arrow 1s box1 up" descr="">
            <a:extLst>
              <a:ext uri="{C183D7F6-B498-43B3-948B-1728B52AA6E4}">
                <adec:decorative xmlns:adec="http://schemas.microsoft.com/office/drawing/2017/decorative" val="1"/>
              </a:ext>
            </a:extLst>
          </p:cNvPr>
          <p:cNvSpPr/>
          <p:nvPr/>
        </p:nvSpPr>
        <p:spPr>
          <a:xfrm>
            <a:off x="1156944"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1s box1 down" descr="">
            <a:extLst>
              <a:ext uri="{C183D7F6-B498-43B3-948B-1728B52AA6E4}">
                <adec:decorative xmlns:adec="http://schemas.microsoft.com/office/drawing/2017/decorative" val="1"/>
              </a:ext>
            </a:extLst>
          </p:cNvPr>
          <p:cNvSpPr/>
          <p:nvPr/>
        </p:nvSpPr>
        <p:spPr>
          <a:xfrm>
            <a:off x="1460525" y="3349172"/>
            <a:ext cx="189738" cy="470550"/>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2s box1 up" descr="">
            <a:extLst>
              <a:ext uri="{C183D7F6-B498-43B3-948B-1728B52AA6E4}">
                <adec:decorative xmlns:adec="http://schemas.microsoft.com/office/drawing/2017/decorative" val="1"/>
              </a:ext>
            </a:extLst>
          </p:cNvPr>
          <p:cNvSpPr/>
          <p:nvPr/>
        </p:nvSpPr>
        <p:spPr>
          <a:xfrm>
            <a:off x="2171928"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2s box1 down" descr="">
            <a:extLst>
              <a:ext uri="{C183D7F6-B498-43B3-948B-1728B52AA6E4}">
                <adec:decorative xmlns:adec="http://schemas.microsoft.com/office/drawing/2017/decorative" val="1"/>
              </a:ext>
            </a:extLst>
          </p:cNvPr>
          <p:cNvSpPr/>
          <p:nvPr/>
        </p:nvSpPr>
        <p:spPr>
          <a:xfrm>
            <a:off x="2475509" y="3349172"/>
            <a:ext cx="189738" cy="470550"/>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2p box1 up" descr="">
            <a:extLst>
              <a:ext uri="{C183D7F6-B498-43B3-948B-1728B52AA6E4}">
                <adec:decorative xmlns:adec="http://schemas.microsoft.com/office/drawing/2017/decorative" val="1"/>
              </a:ext>
            </a:extLst>
          </p:cNvPr>
          <p:cNvSpPr/>
          <p:nvPr/>
        </p:nvSpPr>
        <p:spPr>
          <a:xfrm>
            <a:off x="3186912"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2p box2 up" descr="">
            <a:extLst>
              <a:ext uri="{C183D7F6-B498-43B3-948B-1728B52AA6E4}">
                <adec:decorative xmlns:adec="http://schemas.microsoft.com/office/drawing/2017/decorative" val="1"/>
              </a:ext>
            </a:extLst>
          </p:cNvPr>
          <p:cNvSpPr/>
          <p:nvPr/>
        </p:nvSpPr>
        <p:spPr>
          <a:xfrm>
            <a:off x="3991584"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arrow 2p box3 up" descr="">
            <a:extLst>
              <a:ext uri="{C183D7F6-B498-43B3-948B-1728B52AA6E4}">
                <adec:decorative xmlns:adec="http://schemas.microsoft.com/office/drawing/2017/decorative" val="1"/>
              </a:ext>
            </a:extLst>
          </p:cNvPr>
          <p:cNvSpPr/>
          <p:nvPr/>
        </p:nvSpPr>
        <p:spPr>
          <a:xfrm>
            <a:off x="4796256"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ILD count 1s"/>
          <p:cNvSpPr txBox="1"/>
          <p:nvPr/>
        </p:nvSpPr>
        <p:spPr>
          <a:xfrm>
            <a:off x="1456467" y="4000500"/>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2" name="BUILD count 2s"/>
          <p:cNvSpPr txBox="1"/>
          <p:nvPr/>
        </p:nvSpPr>
        <p:spPr>
          <a:xfrm>
            <a:off x="2471451" y="4000500"/>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3" name="BUILD count 2p"/>
          <p:cNvSpPr txBox="1"/>
          <p:nvPr/>
        </p:nvSpPr>
        <p:spPr>
          <a:xfrm>
            <a:off x="4297046" y="4000500"/>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3</a:t>
            </a:r>
          </a:p>
        </p:txBody>
      </p:sp>
      <p:sp>
        <p:nvSpPr>
          <p:cNvPr id="34" name="BUILD caption"/>
          <p:cNvSpPr txBox="1"/>
          <p:nvPr/>
        </p:nvSpPr>
        <p:spPr>
          <a:xfrm>
            <a:off x="1024128" y="4311396"/>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Pauli: pair with opposite spin</a:t>
            </a:r>
          </a:p>
        </p:txBody>
      </p:sp>
      <p:sp>
        <p:nvSpPr>
          <p:cNvPr id="35" name="BUILD caption"/>
          <p:cNvSpPr txBox="1"/>
          <p:nvPr/>
        </p:nvSpPr>
        <p:spPr>
          <a:xfrm>
            <a:off x="1024128" y="4567428"/>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Hund: one up arrow in each box first</a:t>
            </a:r>
          </a:p>
        </p:txBody>
      </p:sp>
      <p:sp>
        <p:nvSpPr>
          <p:cNvPr id="36" name="BUILD sum"/>
          <p:cNvSpPr txBox="1"/>
          <p:nvPr/>
        </p:nvSpPr>
        <p:spPr>
          <a:xfrm>
            <a:off x="1024128" y="4860036"/>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2 + 2 + 3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Filling Oxygen's 2p Boxes</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Four electrons, three boxes. Watch the order of the arrows.</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BOXES</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2p sublevel has 3 boxes. Oxygen puts 4 electrons in them.</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HUND'S RULE</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up arrow in each box first.</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PAULI EXCLUSION PRINCIPLE</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fourth arrow pairs up, pointing the opposite way.</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oxygen. 2p: three boxes, one pair and two single up arrows."/>
          <p:cNvGrpSpPr/>
          <p:nvPr/>
        </p:nvGrpSpPr>
        <p:grpSpPr>
          <a:xfrm>
            <a:off x="1024128" y="2816352"/>
            <a:ext cx="4398264" cy="1536192"/>
            <a:chOff x="1024128" y="2816352"/>
            <a:chExt cx="4398264" cy="1536192"/>
          </a:xfrm>
        </p:grpSpPr>
        <p:sp>
          <p:nvSpPr>
            <p:cNvPr id="15" name="BUILD title"/>
            <p:cNvSpPr txBox="1"/>
            <p:nvPr/>
          </p:nvSpPr>
          <p:spPr>
            <a:xfrm>
              <a:off x="1024128" y="2816352"/>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OXYGEN  2p SUBLEVEL</a:t>
              </a:r>
            </a:p>
          </p:txBody>
        </p:sp>
        <p:sp>
          <p:nvSpPr>
            <p:cNvPr id="16" name="BUILD box 2p 1"/>
            <p:cNvSpPr/>
            <p:nvPr/>
          </p:nvSpPr>
          <p:spPr>
            <a:xfrm>
              <a:off x="1805939" y="3127248"/>
              <a:ext cx="914400" cy="91440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box 2p 2"/>
            <p:cNvSpPr/>
            <p:nvPr/>
          </p:nvSpPr>
          <p:spPr>
            <a:xfrm>
              <a:off x="2766060" y="3127248"/>
              <a:ext cx="914400" cy="91440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ILD box 2p 3"/>
            <p:cNvSpPr/>
            <p:nvPr/>
          </p:nvSpPr>
          <p:spPr>
            <a:xfrm>
              <a:off x="3726180" y="3127248"/>
              <a:ext cx="914400" cy="91440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label 2p"/>
            <p:cNvSpPr txBox="1"/>
            <p:nvPr/>
          </p:nvSpPr>
          <p:spPr>
            <a:xfrm>
              <a:off x="3043335" y="4078224"/>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2p</a:t>
              </a:r>
            </a:p>
          </p:txBody>
        </p:sp>
      </p:grpSp>
      <p:sp>
        <p:nvSpPr>
          <p:cNvPr id="20" name="BUILD arrow 2p box1 up" descr="">
            <a:extLst>
              <a:ext uri="{C183D7F6-B498-43B3-948B-1728B52AA6E4}">
                <adec:decorative xmlns:adec="http://schemas.microsoft.com/office/drawing/2017/decorative" val="1"/>
              </a:ext>
            </a:extLst>
          </p:cNvPr>
          <p:cNvSpPr/>
          <p:nvPr/>
        </p:nvSpPr>
        <p:spPr>
          <a:xfrm>
            <a:off x="1965960" y="3300984"/>
            <a:ext cx="228600" cy="566928"/>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arrow 2p box2 up" descr="">
            <a:extLst>
              <a:ext uri="{C183D7F6-B498-43B3-948B-1728B52AA6E4}">
                <adec:decorative xmlns:adec="http://schemas.microsoft.com/office/drawing/2017/decorative" val="1"/>
              </a:ext>
            </a:extLst>
          </p:cNvPr>
          <p:cNvSpPr/>
          <p:nvPr/>
        </p:nvSpPr>
        <p:spPr>
          <a:xfrm>
            <a:off x="2926079" y="3300984"/>
            <a:ext cx="228600" cy="566928"/>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arrow 2p box3 up" descr="">
            <a:extLst>
              <a:ext uri="{C183D7F6-B498-43B3-948B-1728B52AA6E4}">
                <adec:decorative xmlns:adec="http://schemas.microsoft.com/office/drawing/2017/decorative" val="1"/>
              </a:ext>
            </a:extLst>
          </p:cNvPr>
          <p:cNvSpPr/>
          <p:nvPr/>
        </p:nvSpPr>
        <p:spPr>
          <a:xfrm>
            <a:off x="3886200" y="3300984"/>
            <a:ext cx="228600" cy="566928"/>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arrow 2p box1 down" descr="">
            <a:extLst>
              <a:ext uri="{C183D7F6-B498-43B3-948B-1728B52AA6E4}">
                <adec:decorative xmlns:adec="http://schemas.microsoft.com/office/drawing/2017/decorative" val="1"/>
              </a:ext>
            </a:extLst>
          </p:cNvPr>
          <p:cNvSpPr/>
          <p:nvPr/>
        </p:nvSpPr>
        <p:spPr>
          <a:xfrm>
            <a:off x="2331720" y="3300984"/>
            <a:ext cx="228600" cy="566928"/>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UILD count 2p"/>
          <p:cNvSpPr txBox="1"/>
          <p:nvPr/>
        </p:nvSpPr>
        <p:spPr>
          <a:xfrm>
            <a:off x="3281990" y="4078224"/>
            <a:ext cx="194346"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4</a:t>
            </a:r>
          </a:p>
        </p:txBody>
      </p:sp>
      <p:sp>
        <p:nvSpPr>
          <p:cNvPr id="25" name="BUILD caption"/>
          <p:cNvSpPr txBox="1"/>
          <p:nvPr/>
        </p:nvSpPr>
        <p:spPr>
          <a:xfrm>
            <a:off x="1024128" y="4389120"/>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Hund: one up arrow in each box first</a:t>
            </a:r>
          </a:p>
        </p:txBody>
      </p:sp>
      <p:sp>
        <p:nvSpPr>
          <p:cNvPr id="26" name="BUILD caption"/>
          <p:cNvSpPr txBox="1"/>
          <p:nvPr/>
        </p:nvSpPr>
        <p:spPr>
          <a:xfrm>
            <a:off x="1024128" y="4645152"/>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Pauli: pair with opposite spin</a:t>
            </a:r>
          </a:p>
        </p:txBody>
      </p:sp>
      <p:sp>
        <p:nvSpPr>
          <p:cNvPr id="27" name="BUILD sum"/>
          <p:cNvSpPr txBox="1"/>
          <p:nvPr/>
        </p:nvSpPr>
        <p:spPr>
          <a:xfrm>
            <a:off x="1024128" y="4937759"/>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4 arrows = 4 electrons in 2p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Writing a Configuration</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The same four steps, for every element.</a:t>
            </a:r>
            <a:endParaRPr lang="en-US" sz="1700" dirty="0"/>
          </a:p>
        </p:txBody>
      </p:sp>
      <p:sp>
        <p:nvSpPr>
          <p:cNvPr id="4" name="Text 6"/>
          <p:cNvSpPr txBox="1"/>
          <p:nvPr>
            <p:ph idx="110" type="body" hasCustomPrompt="1"/>
          </p:nvPr>
        </p:nvSpPr>
        <p:spPr>
          <a:xfrm>
            <a:off x="1234440"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Find Z</a:t>
            </a:r>
            <a:endParaRPr lang="en-US" sz="1200" dirty="0"/>
          </a:p>
        </p:txBody>
      </p:sp>
      <p:sp>
        <p:nvSpPr>
          <p:cNvPr id="5" name="Text 6"/>
          <p:cNvSpPr txBox="1"/>
          <p:nvPr>
            <p:ph idx="111" type="body" hasCustomPrompt="1"/>
          </p:nvPr>
        </p:nvSpPr>
        <p:spPr>
          <a:xfrm>
            <a:off x="832104"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Atomic number is the electron count.</a:t>
            </a:r>
            <a:endParaRPr lang="en-US" sz="1600" dirty="0"/>
          </a:p>
        </p:txBody>
      </p:sp>
      <p:sp>
        <p:nvSpPr>
          <p:cNvPr id="6" name="Text 8"/>
          <p:cNvSpPr txBox="1"/>
          <p:nvPr>
            <p:ph idx="114" type="body" hasCustomPrompt="1"/>
          </p:nvPr>
        </p:nvSpPr>
        <p:spPr>
          <a:xfrm>
            <a:off x="3995928"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Fill in order</a:t>
            </a:r>
            <a:endParaRPr lang="en-US" sz="1200" dirty="0"/>
          </a:p>
        </p:txBody>
      </p:sp>
      <p:sp>
        <p:nvSpPr>
          <p:cNvPr id="7" name="Text 8"/>
          <p:cNvSpPr txBox="1"/>
          <p:nvPr>
            <p:ph idx="115" type="body" hasCustomPrompt="1"/>
          </p:nvPr>
        </p:nvSpPr>
        <p:spPr>
          <a:xfrm>
            <a:off x="3593592"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Follow the chart, lowest first.</a:t>
            </a:r>
            <a:endParaRPr lang="en-US" sz="1600" dirty="0"/>
          </a:p>
        </p:txBody>
      </p:sp>
      <p:sp>
        <p:nvSpPr>
          <p:cNvPr id="8" name="Text 10"/>
          <p:cNvSpPr txBox="1"/>
          <p:nvPr>
            <p:ph idx="118" type="body" hasCustomPrompt="1"/>
          </p:nvPr>
        </p:nvSpPr>
        <p:spPr>
          <a:xfrm>
            <a:off x="6757416"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Respect the caps</a:t>
            </a:r>
            <a:endParaRPr lang="en-US" sz="1200" dirty="0"/>
          </a:p>
        </p:txBody>
      </p:sp>
      <p:sp>
        <p:nvSpPr>
          <p:cNvPr id="9" name="Text 10"/>
          <p:cNvSpPr txBox="1"/>
          <p:nvPr>
            <p:ph idx="119" type="body" hasCustomPrompt="1"/>
          </p:nvPr>
        </p:nvSpPr>
        <p:spPr>
          <a:xfrm>
            <a:off x="6355080"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 holds 2, p 6, d 10, f 14.</a:t>
            </a:r>
            <a:endParaRPr lang="en-US" sz="1600" dirty="0"/>
          </a:p>
        </p:txBody>
      </p:sp>
      <p:sp>
        <p:nvSpPr>
          <p:cNvPr id="10" name="Text 12"/>
          <p:cNvSpPr txBox="1"/>
          <p:nvPr>
            <p:ph idx="122" type="body" hasCustomPrompt="1"/>
          </p:nvPr>
        </p:nvSpPr>
        <p:spPr>
          <a:xfrm>
            <a:off x="9518904"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Add it up</a:t>
            </a:r>
            <a:endParaRPr lang="en-US" sz="1200" dirty="0"/>
          </a:p>
        </p:txBody>
      </p:sp>
      <p:sp>
        <p:nvSpPr>
          <p:cNvPr id="11" name="Text 12"/>
          <p:cNvSpPr txBox="1"/>
          <p:nvPr>
            <p:ph idx="123" type="body" hasCustomPrompt="1"/>
          </p:nvPr>
        </p:nvSpPr>
        <p:spPr>
          <a:xfrm>
            <a:off x="9116568"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raised numbers must total Z.</a:t>
            </a:r>
            <a:endParaRPr lang="en-US" sz="1600" dirty="0"/>
          </a:p>
        </p:txBody>
      </p:sp>
      <p:sp>
        <p:nvSpPr>
          <p:cNvPr id="12"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3" name="Text 13"/>
          <p:cNvSpPr txBox="1"/>
          <p:nvPr>
            <p:ph idx="125"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5" name="Text 4"/>
          <p:cNvSpPr txBox="1"/>
          <p:nvPr>
            <p:ph idx="107" hasCustomPrompt="1"/>
          </p:nvPr>
        </p:nvSpPr>
        <p:spPr>
          <a:xfrm>
            <a:off x="3246120" y="2487168"/>
            <a:ext cx="5669280" cy="1828800"/>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Oxygen</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Copy the setup, not just the answer.</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Write the longhand configuration and the orbital diagram for oxygen.</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Oxygen, Z = 8</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Neutral atom</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NEED</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Longhand configuration</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Orbital diagram</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electrons</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Always check that the raised numbers add up to Z.</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Oxygen,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Order first. Then singles before pairs in the 2p boxes.</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SETUP</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Z = 8 electrons</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Fill 1s, then 2s, then 2p</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4</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2 + 2 + 4 = 8</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Unpaired: 2</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Oxygen is 1s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2s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2p</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4</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with 2 unpaired electrons.</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
        <p:nvSpPr>
          <p:cNvPr id="12" name="BUILD backdrop"/>
          <p:cNvSpPr/>
          <p:nvPr/>
        </p:nvSpPr>
        <p:spPr>
          <a:xfrm>
            <a:off x="832104" y="2542032"/>
            <a:ext cx="3867912" cy="22677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BUILD boxes and labels" descr="Orbital diagram of oxygen. 1s: one box, one pair. 2s: one box, one pair. 2p: three boxes, one pair and two single up arrows."/>
          <p:cNvGrpSpPr/>
          <p:nvPr/>
        </p:nvGrpSpPr>
        <p:grpSpPr>
          <a:xfrm>
            <a:off x="941832" y="2651759"/>
            <a:ext cx="3648456" cy="1170432"/>
            <a:chOff x="941832" y="2651759"/>
            <a:chExt cx="3648456" cy="1170432"/>
          </a:xfrm>
        </p:grpSpPr>
        <p:sp>
          <p:nvSpPr>
            <p:cNvPr id="13" name="BUILD title"/>
            <p:cNvSpPr txBox="1"/>
            <p:nvPr/>
          </p:nvSpPr>
          <p:spPr>
            <a:xfrm>
              <a:off x="941832" y="2651759"/>
              <a:ext cx="3648456" cy="274320"/>
            </a:xfrm>
            <a:prstGeom prst="rect">
              <a:avLst/>
            </a:prstGeom>
            <a:noFill/>
          </p:spPr>
          <p:txBody>
            <a:bodyPr wrap="square" lIns="0" rIns="0" tIns="0" bIns="0" anchor="ctr">
              <a:spAutoFit/>
            </a:bodyPr>
            <a:lstStyle/>
            <a:p>
              <a:pPr algn="ctr"/>
              <a:r>
                <a:rPr sz="1800" b="1">
                  <a:solidFill>
                    <a:srgbClr val="14161B"/>
                  </a:solidFill>
                  <a:latin typeface="Trade Gothic Next"/>
                </a:rPr>
                <a:t>OXYGEN  Z = 8</a:t>
              </a:r>
            </a:p>
          </p:txBody>
        </p:sp>
        <p:sp>
          <p:nvSpPr>
            <p:cNvPr id="14" name="BUILD box 1s 1"/>
            <p:cNvSpPr/>
            <p:nvPr/>
          </p:nvSpPr>
          <p:spPr>
            <a:xfrm>
              <a:off x="1092708"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ILD label 1s"/>
            <p:cNvSpPr txBox="1"/>
            <p:nvPr/>
          </p:nvSpPr>
          <p:spPr>
            <a:xfrm>
              <a:off x="1193113" y="3547871"/>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1s</a:t>
              </a:r>
            </a:p>
          </p:txBody>
        </p:sp>
        <p:sp>
          <p:nvSpPr>
            <p:cNvPr id="16" name="BUILD box 2s 1"/>
            <p:cNvSpPr/>
            <p:nvPr/>
          </p:nvSpPr>
          <p:spPr>
            <a:xfrm>
              <a:off x="1897380"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2s"/>
            <p:cNvSpPr txBox="1"/>
            <p:nvPr/>
          </p:nvSpPr>
          <p:spPr>
            <a:xfrm>
              <a:off x="1997785" y="3547871"/>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2s</a:t>
              </a:r>
            </a:p>
          </p:txBody>
        </p:sp>
        <p:sp>
          <p:nvSpPr>
            <p:cNvPr id="18" name="BUILD box 2p 1"/>
            <p:cNvSpPr/>
            <p:nvPr/>
          </p:nvSpPr>
          <p:spPr>
            <a:xfrm>
              <a:off x="2702052"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2p 2"/>
            <p:cNvSpPr/>
            <p:nvPr/>
          </p:nvSpPr>
          <p:spPr>
            <a:xfrm>
              <a:off x="3296412"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2p 3"/>
            <p:cNvSpPr/>
            <p:nvPr/>
          </p:nvSpPr>
          <p:spPr>
            <a:xfrm>
              <a:off x="3890772"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label 2p"/>
            <p:cNvSpPr txBox="1"/>
            <p:nvPr/>
          </p:nvSpPr>
          <p:spPr>
            <a:xfrm>
              <a:off x="3390807" y="3547871"/>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2p</a:t>
              </a:r>
            </a:p>
          </p:txBody>
        </p:sp>
      </p:grpSp>
      <p:sp>
        <p:nvSpPr>
          <p:cNvPr id="22" name="BUILD arrow 1s box1 up" descr="">
            <a:extLst>
              <a:ext uri="{C183D7F6-B498-43B3-948B-1728B52AA6E4}">
                <adec:decorative xmlns:adec="http://schemas.microsoft.com/office/drawing/2017/decorative" val="1"/>
              </a:ext>
            </a:extLst>
          </p:cNvPr>
          <p:cNvSpPr/>
          <p:nvPr/>
        </p:nvSpPr>
        <p:spPr>
          <a:xfrm>
            <a:off x="1188720"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arrow 1s box1 down" descr="">
            <a:extLst>
              <a:ext uri="{C183D7F6-B498-43B3-948B-1728B52AA6E4}">
                <adec:decorative xmlns:adec="http://schemas.microsoft.com/office/drawing/2017/decorative" val="1"/>
              </a:ext>
            </a:extLst>
          </p:cNvPr>
          <p:cNvSpPr/>
          <p:nvPr/>
        </p:nvSpPr>
        <p:spPr>
          <a:xfrm>
            <a:off x="1408176" y="3066897"/>
            <a:ext cx="137160" cy="340156"/>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UILD arrow 2s box1 up" descr="">
            <a:extLst>
              <a:ext uri="{C183D7F6-B498-43B3-948B-1728B52AA6E4}">
                <adec:decorative xmlns:adec="http://schemas.microsoft.com/office/drawing/2017/decorative" val="1"/>
              </a:ext>
            </a:extLst>
          </p:cNvPr>
          <p:cNvSpPr/>
          <p:nvPr/>
        </p:nvSpPr>
        <p:spPr>
          <a:xfrm>
            <a:off x="1993392"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2s box1 down" descr="">
            <a:extLst>
              <a:ext uri="{C183D7F6-B498-43B3-948B-1728B52AA6E4}">
                <adec:decorative xmlns:adec="http://schemas.microsoft.com/office/drawing/2017/decorative" val="1"/>
              </a:ext>
            </a:extLst>
          </p:cNvPr>
          <p:cNvSpPr/>
          <p:nvPr/>
        </p:nvSpPr>
        <p:spPr>
          <a:xfrm>
            <a:off x="2212848" y="3066897"/>
            <a:ext cx="137160" cy="340156"/>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2p box1 up" descr="">
            <a:extLst>
              <a:ext uri="{C183D7F6-B498-43B3-948B-1728B52AA6E4}">
                <adec:decorative xmlns:adec="http://schemas.microsoft.com/office/drawing/2017/decorative" val="1"/>
              </a:ext>
            </a:extLst>
          </p:cNvPr>
          <p:cNvSpPr/>
          <p:nvPr/>
        </p:nvSpPr>
        <p:spPr>
          <a:xfrm>
            <a:off x="2798064"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2p box2 up" descr="">
            <a:extLst>
              <a:ext uri="{C183D7F6-B498-43B3-948B-1728B52AA6E4}">
                <adec:decorative xmlns:adec="http://schemas.microsoft.com/office/drawing/2017/decorative" val="1"/>
              </a:ext>
            </a:extLst>
          </p:cNvPr>
          <p:cNvSpPr/>
          <p:nvPr/>
        </p:nvSpPr>
        <p:spPr>
          <a:xfrm>
            <a:off x="3392424"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2p box3 up" descr="">
            <a:extLst>
              <a:ext uri="{C183D7F6-B498-43B3-948B-1728B52AA6E4}">
                <adec:decorative xmlns:adec="http://schemas.microsoft.com/office/drawing/2017/decorative" val="1"/>
              </a:ext>
            </a:extLst>
          </p:cNvPr>
          <p:cNvSpPr/>
          <p:nvPr/>
        </p:nvSpPr>
        <p:spPr>
          <a:xfrm>
            <a:off x="3986783"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2p box1 down" descr="">
            <a:extLst>
              <a:ext uri="{C183D7F6-B498-43B3-948B-1728B52AA6E4}">
                <adec:decorative xmlns:adec="http://schemas.microsoft.com/office/drawing/2017/decorative" val="1"/>
              </a:ext>
            </a:extLst>
          </p:cNvPr>
          <p:cNvSpPr/>
          <p:nvPr/>
        </p:nvSpPr>
        <p:spPr>
          <a:xfrm>
            <a:off x="3017520" y="3066897"/>
            <a:ext cx="137160" cy="340156"/>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count 1s"/>
          <p:cNvSpPr txBox="1"/>
          <p:nvPr/>
        </p:nvSpPr>
        <p:spPr>
          <a:xfrm>
            <a:off x="1419891" y="3547871"/>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1" name="BUILD count 2s"/>
          <p:cNvSpPr txBox="1"/>
          <p:nvPr/>
        </p:nvSpPr>
        <p:spPr>
          <a:xfrm>
            <a:off x="2224563" y="3547871"/>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2" name="BUILD count 2p"/>
          <p:cNvSpPr txBox="1"/>
          <p:nvPr/>
        </p:nvSpPr>
        <p:spPr>
          <a:xfrm>
            <a:off x="3629462" y="3547871"/>
            <a:ext cx="194346"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4</a:t>
            </a:r>
          </a:p>
        </p:txBody>
      </p:sp>
      <p:sp>
        <p:nvSpPr>
          <p:cNvPr id="33" name="BUILD caption"/>
          <p:cNvSpPr txBox="1"/>
          <p:nvPr/>
        </p:nvSpPr>
        <p:spPr>
          <a:xfrm>
            <a:off x="941832" y="3858768"/>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Pauli: opposite spins</a:t>
            </a:r>
          </a:p>
        </p:txBody>
      </p:sp>
      <p:sp>
        <p:nvSpPr>
          <p:cNvPr id="34" name="BUILD caption"/>
          <p:cNvSpPr txBox="1"/>
          <p:nvPr/>
        </p:nvSpPr>
        <p:spPr>
          <a:xfrm>
            <a:off x="941832" y="4114800"/>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Hund: singles first</a:t>
            </a:r>
          </a:p>
        </p:txBody>
      </p:sp>
      <p:sp>
        <p:nvSpPr>
          <p:cNvPr id="35" name="BUILD sum"/>
          <p:cNvSpPr txBox="1"/>
          <p:nvPr/>
        </p:nvSpPr>
        <p:spPr>
          <a:xfrm>
            <a:off x="941832" y="4407407"/>
            <a:ext cx="3648456" cy="292608"/>
          </a:xfrm>
          <a:prstGeom prst="rect">
            <a:avLst/>
          </a:prstGeom>
          <a:noFill/>
        </p:spPr>
        <p:txBody>
          <a:bodyPr wrap="square" lIns="0" rIns="0" tIns="0" bIns="0" anchor="ctr">
            <a:spAutoFit/>
          </a:bodyPr>
          <a:lstStyle/>
          <a:p>
            <a:pPr algn="ctr"/>
            <a:r>
              <a:rPr sz="1800" b="1">
                <a:solidFill>
                  <a:srgbClr val="14161B"/>
                </a:solidFill>
                <a:latin typeface="Trade Gothic Next"/>
              </a:rPr>
              <a:t>2 + 2 + 4 = 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Longhand: N, Cl, and Ca</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Calcium stops at 4s</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2</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The 3d sublevel stays empty until scandium.</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NITROGEN, Z = 7</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3</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Sum: 2+2+3 = 7</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3</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CHLORINE, Z = 17</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5</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Sum: 2+2+6+2+5 = 17</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1</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CALCIUM, Z = 20</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Sum: 2+2+6+2+6+2 = 20</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0</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raised numbers add up to the atomic number, every time.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Noble-Gas Shorthand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Replace the filled inner core with a noble gas in brackets.</a:t>
            </a:r>
            <a:endParaRPr lang="en-US" sz="1700" dirty="0"/>
          </a:p>
        </p:txBody>
      </p:sp>
      <p:sp>
        <p:nvSpPr>
          <p:cNvPr id="4" name="Text 4"/>
          <p:cNvSpPr txBox="1"/>
          <p:nvPr>
            <p:ph idx="108" type="body" hasCustomPrompt="1"/>
          </p:nvPr>
        </p:nvSpPr>
        <p:spPr>
          <a:xfrm>
            <a:off x="5733288" y="2542032"/>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LONGHAND: Cl</a:t>
            </a:r>
            <a:endParaRPr lang="en-US" sz="1200" dirty="0"/>
          </a:p>
        </p:txBody>
      </p:sp>
      <p:sp>
        <p:nvSpPr>
          <p:cNvPr id="5" name="Text 4"/>
          <p:cNvSpPr txBox="1"/>
          <p:nvPr>
            <p:ph idx="109" type="body" hasCustomPrompt="1"/>
          </p:nvPr>
        </p:nvSpPr>
        <p:spPr>
          <a:xfrm>
            <a:off x="5733288" y="2834640"/>
            <a:ext cx="2752344" cy="196596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5</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All 17 electrons written out.</a:t>
            </a:r>
            <a:endParaRPr lang="en-US" sz="1600" dirty="0"/>
          </a:p>
        </p:txBody>
      </p:sp>
      <p:sp>
        <p:nvSpPr>
          <p:cNvPr id="6" name="Text 5"/>
          <p:cNvSpPr txBox="1"/>
          <p:nvPr>
            <p:ph idx="111" type="body" hasCustomPrompt="1"/>
          </p:nvPr>
        </p:nvSpPr>
        <p:spPr>
          <a:xfrm>
            <a:off x="9116568" y="2542032"/>
            <a:ext cx="2752344" cy="219456"/>
          </a:xfrm>
          <a:prstGeom prst="rect">
            <a:avLst/>
          </a:prstGeom>
          <a:noFill/>
          <a:ln/>
        </p:spPr>
        <p:txBody>
          <a:bodyPr wrap="square" lIns="0" tIns="0" rIns="0" bIns="0" rtlCol="0"/>
          <a:lstStyle/>
          <a:p>
            <a:pPr indent="0" marL="0">
              <a:buNone/>
            </a:pPr>
            <a:r>
              <a:rPr lang="en-US" sz="1200" b="1" spc="120" kern="0" dirty="0">
                <a:solidFill>
                  <a:srgbClr val="BDB6AA"/>
                </a:solidFill>
                <a:latin typeface="Trade Gothic Next" pitchFamily="34" charset="0"/>
                <a:ea typeface="Trade Gothic Next" pitchFamily="34" charset="-122"/>
                <a:cs typeface="Trade Gothic Next" pitchFamily="34" charset="-120"/>
              </a:rPr>
              <a:t>SHORTHAND: Cl</a:t>
            </a:r>
            <a:endParaRPr lang="en-US" sz="1200" dirty="0"/>
          </a:p>
        </p:txBody>
      </p:sp>
      <p:sp>
        <p:nvSpPr>
          <p:cNvPr id="7" name="Text 5"/>
          <p:cNvSpPr txBox="1"/>
          <p:nvPr>
            <p:ph idx="112" type="body" hasCustomPrompt="1"/>
          </p:nvPr>
        </p:nvSpPr>
        <p:spPr>
          <a:xfrm>
            <a:off x="9116568" y="2834640"/>
            <a:ext cx="2752344" cy="196596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[Ne] 3s</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5</a:t>
            </a:r>
            <a:endParaRPr lang="en-US" sz="1600" dirty="0"/>
          </a:p>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[Ne] stands for the first 10: 1s</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6</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a:t>
            </a:r>
            <a:endParaRPr lang="en-US" sz="1600" dirty="0"/>
          </a:p>
        </p:txBody>
      </p:sp>
      <p:sp>
        <p:nvSpPr>
          <p:cNvPr id="8" name="Text 7"/>
          <p:cNvSpPr txBox="1"/>
          <p:nvPr>
            <p:ph idx="115" type="body" hasCustomPrompt="1"/>
          </p:nvPr>
        </p:nvSpPr>
        <p:spPr>
          <a:xfrm>
            <a:off x="2240280" y="539496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Use the previous period's noble gas. Cl is in period 3, so its core is [Ne], not [Ar].</a:t>
            </a:r>
            <a:endParaRPr lang="en-US" sz="1600" dirty="0"/>
          </a:p>
        </p:txBody>
      </p:sp>
      <p:sp>
        <p:nvSpPr>
          <p:cNvPr id="9"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0" name="Text 8"/>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2" name="Text 3"/>
          <p:cNvSpPr txBox="1"/>
          <p:nvPr>
            <p:ph idx="106" hasCustomPrompt="1"/>
          </p:nvPr>
        </p:nvSpPr>
        <p:spPr>
          <a:xfrm>
            <a:off x="685800" y="2377440"/>
            <a:ext cx="4663440" cy="2624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Shorthand: Germanium</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Write it long first. Then swap the argon part for [Ar].</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STEP 1: LONGHAND</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All 32 electrons, in filling order.</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STEP 2: THE SUBSTITUTE</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[Ar] is a placeholder for argon's 18 electrons.</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STEP 3: FINISH</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Then write what is left, the usual way.</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descr="Text build for germanium, Z = 32: the longhand 1s2 2s2 2p6 3s2 3p6 4s2 3d10 4p2, then the shorthand [Ar] 4s2 3d10 4p2, where [Ar] stands for the first 18 electrons."/>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ILD title"/>
          <p:cNvSpPr txBox="1"/>
          <p:nvPr/>
        </p:nvSpPr>
        <p:spPr>
          <a:xfrm>
            <a:off x="1024128" y="2788920"/>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GERMANIUM  Z = 32</a:t>
            </a:r>
          </a:p>
        </p:txBody>
      </p:sp>
      <p:sp>
        <p:nvSpPr>
          <p:cNvPr id="16" name="BUILD caption"/>
          <p:cNvSpPr txBox="1"/>
          <p:nvPr/>
        </p:nvSpPr>
        <p:spPr>
          <a:xfrm>
            <a:off x="1024128" y="3099815"/>
            <a:ext cx="4398264" cy="237744"/>
          </a:xfrm>
          <a:prstGeom prst="rect">
            <a:avLst/>
          </a:prstGeom>
          <a:noFill/>
        </p:spPr>
        <p:txBody>
          <a:bodyPr wrap="square" lIns="0" rIns="0" tIns="0" bIns="0" anchor="ctr">
            <a:spAutoFit/>
          </a:bodyPr>
          <a:lstStyle/>
          <a:p>
            <a:pPr algn="ctr"/>
            <a:r>
              <a:rPr sz="1600" b="1">
                <a:solidFill>
                  <a:srgbClr val="4D730E"/>
                </a:solidFill>
                <a:latin typeface="Trade Gothic Next"/>
              </a:rPr>
              <a:t>Longhand</a:t>
            </a:r>
          </a:p>
        </p:txBody>
      </p:sp>
      <p:sp>
        <p:nvSpPr>
          <p:cNvPr id="17" name="BUILD longhand"/>
          <p:cNvSpPr txBox="1"/>
          <p:nvPr/>
        </p:nvSpPr>
        <p:spPr>
          <a:xfrm>
            <a:off x="1024128" y="3374135"/>
            <a:ext cx="4398264" cy="310896"/>
          </a:xfrm>
          <a:prstGeom prst="rect">
            <a:avLst/>
          </a:prstGeom>
          <a:noFill/>
        </p:spPr>
        <p:txBody>
          <a:bodyPr wrap="square" lIns="0" rIns="0" tIns="0" bIns="0" anchor="ctr">
            <a:spAutoFit/>
          </a:bodyPr>
          <a:lstStyle/>
          <a:p>
            <a:pPr algn="ctr"/>
            <a:r>
              <a:rPr sz="1800" b="1">
                <a:solidFill>
                  <a:srgbClr val="14161B"/>
                </a:solidFill>
                <a:latin typeface="Trade Gothic Next"/>
              </a:rPr>
              <a:t>1s</a:t>
            </a:r>
            <a:r>
              <a:rPr sz="1800" b="1" baseline="30000">
                <a:solidFill>
                  <a:srgbClr val="14161B"/>
                </a:solidFill>
                <a:latin typeface="Trade Gothic Next"/>
              </a:rPr>
              <a:t>2</a:t>
            </a:r>
            <a:r>
              <a:rPr sz="1800" b="1">
                <a:solidFill>
                  <a:srgbClr val="14161B"/>
                </a:solidFill>
                <a:latin typeface="Trade Gothic Next"/>
              </a:rPr>
              <a:t> 2s</a:t>
            </a:r>
            <a:r>
              <a:rPr sz="1800" b="1" baseline="30000">
                <a:solidFill>
                  <a:srgbClr val="14161B"/>
                </a:solidFill>
                <a:latin typeface="Trade Gothic Next"/>
              </a:rPr>
              <a:t>2</a:t>
            </a:r>
            <a:r>
              <a:rPr sz="1800" b="1">
                <a:solidFill>
                  <a:srgbClr val="14161B"/>
                </a:solidFill>
                <a:latin typeface="Trade Gothic Next"/>
              </a:rPr>
              <a:t> 2p</a:t>
            </a:r>
            <a:r>
              <a:rPr sz="1800" b="1" baseline="30000">
                <a:solidFill>
                  <a:srgbClr val="14161B"/>
                </a:solidFill>
                <a:latin typeface="Trade Gothic Next"/>
              </a:rPr>
              <a:t>6</a:t>
            </a:r>
            <a:r>
              <a:rPr sz="1800" b="1">
                <a:solidFill>
                  <a:srgbClr val="14161B"/>
                </a:solidFill>
                <a:latin typeface="Trade Gothic Next"/>
              </a:rPr>
              <a:t> 3s</a:t>
            </a:r>
            <a:r>
              <a:rPr sz="1800" b="1" baseline="30000">
                <a:solidFill>
                  <a:srgbClr val="14161B"/>
                </a:solidFill>
                <a:latin typeface="Trade Gothic Next"/>
              </a:rPr>
              <a:t>2</a:t>
            </a:r>
            <a:r>
              <a:rPr sz="1800" b="1">
                <a:solidFill>
                  <a:srgbClr val="14161B"/>
                </a:solidFill>
                <a:latin typeface="Trade Gothic Next"/>
              </a:rPr>
              <a:t> 3p</a:t>
            </a:r>
            <a:r>
              <a:rPr sz="1800" b="1" baseline="30000">
                <a:solidFill>
                  <a:srgbClr val="14161B"/>
                </a:solidFill>
                <a:latin typeface="Trade Gothic Next"/>
              </a:rPr>
              <a:t>6</a:t>
            </a:r>
            <a:r>
              <a:rPr sz="1800" b="1">
                <a:solidFill>
                  <a:srgbClr val="14161B"/>
                </a:solidFill>
                <a:latin typeface="Trade Gothic Next"/>
              </a:rPr>
              <a:t> 4s</a:t>
            </a:r>
            <a:r>
              <a:rPr sz="1800" b="1" baseline="30000">
                <a:solidFill>
                  <a:srgbClr val="14161B"/>
                </a:solidFill>
                <a:latin typeface="Trade Gothic Next"/>
              </a:rPr>
              <a:t>2</a:t>
            </a:r>
            <a:r>
              <a:rPr sz="1800" b="1">
                <a:solidFill>
                  <a:srgbClr val="14161B"/>
                </a:solidFill>
                <a:latin typeface="Trade Gothic Next"/>
              </a:rPr>
              <a:t> 3d</a:t>
            </a:r>
            <a:r>
              <a:rPr sz="1800" b="1" baseline="30000">
                <a:solidFill>
                  <a:srgbClr val="14161B"/>
                </a:solidFill>
                <a:latin typeface="Trade Gothic Next"/>
              </a:rPr>
              <a:t>10</a:t>
            </a:r>
            <a:r>
              <a:rPr sz="1800" b="1">
                <a:solidFill>
                  <a:srgbClr val="14161B"/>
                </a:solidFill>
                <a:latin typeface="Trade Gothic Next"/>
              </a:rPr>
              <a:t> 4p</a:t>
            </a:r>
            <a:r>
              <a:rPr sz="1800" b="1" baseline="30000">
                <a:solidFill>
                  <a:srgbClr val="14161B"/>
                </a:solidFill>
                <a:latin typeface="Trade Gothic Next"/>
              </a:rPr>
              <a:t>2</a:t>
            </a:r>
          </a:p>
        </p:txBody>
      </p:sp>
      <p:sp>
        <p:nvSpPr>
          <p:cNvPr id="18" name="BUILD caption"/>
          <p:cNvSpPr txBox="1"/>
          <p:nvPr/>
        </p:nvSpPr>
        <p:spPr>
          <a:xfrm>
            <a:off x="1024128" y="3721607"/>
            <a:ext cx="4398264" cy="237744"/>
          </a:xfrm>
          <a:prstGeom prst="rect">
            <a:avLst/>
          </a:prstGeom>
          <a:noFill/>
        </p:spPr>
        <p:txBody>
          <a:bodyPr wrap="square" lIns="0" rIns="0" tIns="0" bIns="0" anchor="ctr">
            <a:spAutoFit/>
          </a:bodyPr>
          <a:lstStyle/>
          <a:p>
            <a:pPr algn="ctr"/>
            <a:r>
              <a:rPr sz="1600" b="1">
                <a:solidFill>
                  <a:srgbClr val="4D730E"/>
                </a:solidFill>
                <a:latin typeface="Trade Gothic Next"/>
              </a:rPr>
              <a:t>Shorthand</a:t>
            </a:r>
          </a:p>
        </p:txBody>
      </p:sp>
      <p:sp>
        <p:nvSpPr>
          <p:cNvPr id="19" name="BUILD Ar bracket"/>
          <p:cNvSpPr txBox="1"/>
          <p:nvPr/>
        </p:nvSpPr>
        <p:spPr>
          <a:xfrm>
            <a:off x="2143867" y="4014215"/>
            <a:ext cx="540406" cy="365760"/>
          </a:xfrm>
          <a:prstGeom prst="rect">
            <a:avLst/>
          </a:prstGeom>
          <a:solidFill>
            <a:srgbClr val="A3E635"/>
          </a:solidFill>
          <a:ln w="19050">
            <a:solidFill>
              <a:srgbClr val="14161B"/>
            </a:solidFill>
          </a:ln>
        </p:spPr>
        <p:txBody>
          <a:bodyPr wrap="none" lIns="0" rIns="0" tIns="0" bIns="0" anchor="ctr">
            <a:spAutoFit/>
          </a:bodyPr>
          <a:lstStyle/>
          <a:p>
            <a:pPr algn="ctr"/>
            <a:r>
              <a:rPr sz="1800" b="1">
                <a:solidFill>
                  <a:srgbClr val="14161B"/>
                </a:solidFill>
                <a:latin typeface="Trade Gothic Next"/>
              </a:rPr>
              <a:t>[Ar]</a:t>
            </a:r>
          </a:p>
        </p:txBody>
      </p:sp>
      <p:sp>
        <p:nvSpPr>
          <p:cNvPr id="20" name="BUILD segment 4s"/>
          <p:cNvSpPr txBox="1"/>
          <p:nvPr/>
        </p:nvSpPr>
        <p:spPr>
          <a:xfrm>
            <a:off x="2748282" y="3995927"/>
            <a:ext cx="439501" cy="402336"/>
          </a:xfrm>
          <a:prstGeom prst="rect">
            <a:avLst/>
          </a:prstGeom>
          <a:noFill/>
        </p:spPr>
        <p:txBody>
          <a:bodyPr wrap="none" lIns="0" rIns="0" tIns="0" bIns="0" anchor="ctr">
            <a:spAutoFit/>
          </a:bodyPr>
          <a:lstStyle/>
          <a:p>
            <a:pPr algn="ctr"/>
            <a:r>
              <a:rPr sz="1800" b="1">
                <a:solidFill>
                  <a:srgbClr val="14161B"/>
                </a:solidFill>
                <a:latin typeface="Trade Gothic Next"/>
              </a:rPr>
              <a:t>4s</a:t>
            </a:r>
            <a:r>
              <a:rPr sz="1800" b="1" baseline="30000">
                <a:solidFill>
                  <a:srgbClr val="14161B"/>
                </a:solidFill>
                <a:latin typeface="Trade Gothic Next"/>
              </a:rPr>
              <a:t>2</a:t>
            </a:r>
          </a:p>
        </p:txBody>
      </p:sp>
      <p:sp>
        <p:nvSpPr>
          <p:cNvPr id="21" name="BUILD segment 3d"/>
          <p:cNvSpPr txBox="1"/>
          <p:nvPr/>
        </p:nvSpPr>
        <p:spPr>
          <a:xfrm>
            <a:off x="3251791" y="3995927"/>
            <a:ext cx="535475" cy="402336"/>
          </a:xfrm>
          <a:prstGeom prst="rect">
            <a:avLst/>
          </a:prstGeom>
          <a:noFill/>
        </p:spPr>
        <p:txBody>
          <a:bodyPr wrap="none" lIns="0" rIns="0" tIns="0" bIns="0" anchor="ctr">
            <a:spAutoFit/>
          </a:bodyPr>
          <a:lstStyle/>
          <a:p>
            <a:pPr algn="ctr"/>
            <a:r>
              <a:rPr sz="1800" b="1">
                <a:solidFill>
                  <a:srgbClr val="14161B"/>
                </a:solidFill>
                <a:latin typeface="Trade Gothic Next"/>
              </a:rPr>
              <a:t>3d</a:t>
            </a:r>
            <a:r>
              <a:rPr sz="1800" b="1" baseline="30000">
                <a:solidFill>
                  <a:srgbClr val="14161B"/>
                </a:solidFill>
                <a:latin typeface="Trade Gothic Next"/>
              </a:rPr>
              <a:t>10</a:t>
            </a:r>
          </a:p>
        </p:txBody>
      </p:sp>
      <p:sp>
        <p:nvSpPr>
          <p:cNvPr id="22" name="BUILD segment 4p"/>
          <p:cNvSpPr txBox="1"/>
          <p:nvPr/>
        </p:nvSpPr>
        <p:spPr>
          <a:xfrm>
            <a:off x="3851275" y="3995927"/>
            <a:ext cx="451377" cy="402336"/>
          </a:xfrm>
          <a:prstGeom prst="rect">
            <a:avLst/>
          </a:prstGeom>
          <a:noFill/>
        </p:spPr>
        <p:txBody>
          <a:bodyPr wrap="none" lIns="0" rIns="0" tIns="0" bIns="0" anchor="ctr">
            <a:spAutoFit/>
          </a:bodyPr>
          <a:lstStyle/>
          <a:p>
            <a:pPr algn="ctr"/>
            <a:r>
              <a:rPr sz="1800" b="1">
                <a:solidFill>
                  <a:srgbClr val="14161B"/>
                </a:solidFill>
                <a:latin typeface="Trade Gothic Next"/>
              </a:rPr>
              <a:t>4p</a:t>
            </a:r>
            <a:r>
              <a:rPr sz="1800" b="1" baseline="30000">
                <a:solidFill>
                  <a:srgbClr val="14161B"/>
                </a:solidFill>
                <a:latin typeface="Trade Gothic Next"/>
              </a:rPr>
              <a:t>2</a:t>
            </a:r>
          </a:p>
        </p:txBody>
      </p:sp>
      <p:sp>
        <p:nvSpPr>
          <p:cNvPr id="23" name="BUILD caption"/>
          <p:cNvSpPr txBox="1"/>
          <p:nvPr/>
        </p:nvSpPr>
        <p:spPr>
          <a:xfrm>
            <a:off x="1024128" y="4434840"/>
            <a:ext cx="4398264" cy="493776"/>
          </a:xfrm>
          <a:prstGeom prst="rect">
            <a:avLst/>
          </a:prstGeom>
          <a:noFill/>
        </p:spPr>
        <p:txBody>
          <a:bodyPr wrap="square" lIns="0" rIns="0" tIns="0" bIns="0" anchor="ctr">
            <a:spAutoFit/>
          </a:bodyPr>
          <a:lstStyle/>
          <a:p>
            <a:pPr algn="ctr"/>
            <a:r>
              <a:rPr sz="1600" b="1">
                <a:solidFill>
                  <a:srgbClr val="4D730E"/>
                </a:solidFill>
                <a:latin typeface="Trade Gothic Next"/>
              </a:rPr>
              <a:t>[Ar] stands for the first 18 electrons: the noble gas before germanium</a:t>
            </a:r>
          </a:p>
        </p:txBody>
      </p:sp>
      <p:sp>
        <p:nvSpPr>
          <p:cNvPr id="24" name="BUILD sum"/>
          <p:cNvSpPr txBox="1"/>
          <p:nvPr/>
        </p:nvSpPr>
        <p:spPr>
          <a:xfrm>
            <a:off x="1024128" y="4983479"/>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18 + 2 + 10 + 2 = 32 electrons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eriodic-table strip of periods 3 and 4. Argon, at the end of period 3, is marked with a tick as the noble gas before germanium. Germanium is outlined in period 4, group 14. Krypton, at the end of period 4 and after germanium, is marked with a cross as the wrong choice.">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Why [Ar] and Not [Kr]?</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Germanium is in period 4. Its core is the noble gas that ends period 3.</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ARGON, Z = 18</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Ends period 3. It comes BEFORE germanium.</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GERMANIUM, Z = 32</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Period 4, group 14. Use the previous period's noble gas.</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KRYPTON, Z = 36</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Ends period 4. It comes AFTER germanium, so it is the wrong core.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Iron</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Longhand, shorthand, and the unpaired count.</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Write longhand and shorthand for iron. How many unpaired electrons?</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Iron, Z = 26</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Neutral atom</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NEED</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Longhand</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Shorthand</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electrons</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Fill 4s before 3d. We write 4s ahead of 3d.</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Iron,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Argon is the core. Then 4s, then 3d.</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LONGHAND</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6</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18 + 2 + 6 = 26</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Unpaired: 4</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Fe is [Ar] 4s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3d</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6</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One pair and 4 singles in the 3d boxes.</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
        <p:nvSpPr>
          <p:cNvPr id="12" name="BUILD backdrop"/>
          <p:cNvSpPr/>
          <p:nvPr/>
        </p:nvSpPr>
        <p:spPr>
          <a:xfrm>
            <a:off x="832104" y="2542032"/>
            <a:ext cx="3867912" cy="22677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BUILD boxes and labels" descr="Orbital diagram of iron, [Ar] core not drawn. 4s: one box, one pair. 3d: five boxes, one pair and four single up arrows."/>
          <p:cNvGrpSpPr/>
          <p:nvPr/>
        </p:nvGrpSpPr>
        <p:grpSpPr>
          <a:xfrm>
            <a:off x="941832" y="2658618"/>
            <a:ext cx="3648456" cy="1156715"/>
            <a:chOff x="941832" y="2658618"/>
            <a:chExt cx="3648456" cy="1156715"/>
          </a:xfrm>
        </p:grpSpPr>
        <p:sp>
          <p:nvSpPr>
            <p:cNvPr id="13" name="BUILD title"/>
            <p:cNvSpPr txBox="1"/>
            <p:nvPr/>
          </p:nvSpPr>
          <p:spPr>
            <a:xfrm>
              <a:off x="941832" y="2658618"/>
              <a:ext cx="3648456" cy="274320"/>
            </a:xfrm>
            <a:prstGeom prst="rect">
              <a:avLst/>
            </a:prstGeom>
            <a:noFill/>
          </p:spPr>
          <p:txBody>
            <a:bodyPr wrap="square" lIns="0" rIns="0" tIns="0" bIns="0" anchor="ctr">
              <a:spAutoFit/>
            </a:bodyPr>
            <a:lstStyle/>
            <a:p>
              <a:pPr algn="ctr"/>
              <a:r>
                <a:rPr sz="1800" b="1">
                  <a:solidFill>
                    <a:srgbClr val="14161B"/>
                  </a:solidFill>
                  <a:latin typeface="Trade Gothic Next"/>
                </a:rPr>
                <a:t>IRON  Z = 26</a:t>
              </a:r>
            </a:p>
          </p:txBody>
        </p:sp>
        <p:sp>
          <p:nvSpPr>
            <p:cNvPr id="14" name="BUILD box 4s 1"/>
            <p:cNvSpPr/>
            <p:nvPr/>
          </p:nvSpPr>
          <p:spPr>
            <a:xfrm>
              <a:off x="941832"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ILD label 4s"/>
            <p:cNvSpPr txBox="1"/>
            <p:nvPr/>
          </p:nvSpPr>
          <p:spPr>
            <a:xfrm>
              <a:off x="1035263" y="3541013"/>
              <a:ext cx="281874" cy="274320"/>
            </a:xfrm>
            <a:prstGeom prst="rect">
              <a:avLst/>
            </a:prstGeom>
            <a:noFill/>
          </p:spPr>
          <p:txBody>
            <a:bodyPr wrap="none" lIns="0" rIns="0" tIns="0" bIns="0" anchor="ctr">
              <a:spAutoFit/>
            </a:bodyPr>
            <a:lstStyle/>
            <a:p>
              <a:pPr algn="l"/>
              <a:r>
                <a:rPr sz="1800" b="1">
                  <a:solidFill>
                    <a:srgbClr val="14161B"/>
                  </a:solidFill>
                  <a:latin typeface="Trade Gothic Next"/>
                </a:rPr>
                <a:t>4s</a:t>
              </a:r>
            </a:p>
          </p:txBody>
        </p:sp>
        <p:sp>
          <p:nvSpPr>
            <p:cNvPr id="16" name="BUILD box 3d 1"/>
            <p:cNvSpPr/>
            <p:nvPr/>
          </p:nvSpPr>
          <p:spPr>
            <a:xfrm>
              <a:off x="1732788"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box 3d 2"/>
            <p:cNvSpPr/>
            <p:nvPr/>
          </p:nvSpPr>
          <p:spPr>
            <a:xfrm>
              <a:off x="2313432"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ILD box 3d 3"/>
            <p:cNvSpPr/>
            <p:nvPr/>
          </p:nvSpPr>
          <p:spPr>
            <a:xfrm>
              <a:off x="2894076"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3d 4"/>
            <p:cNvSpPr/>
            <p:nvPr/>
          </p:nvSpPr>
          <p:spPr>
            <a:xfrm>
              <a:off x="3474720"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3d 5"/>
            <p:cNvSpPr/>
            <p:nvPr/>
          </p:nvSpPr>
          <p:spPr>
            <a:xfrm>
              <a:off x="4055364"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label 3d"/>
            <p:cNvSpPr txBox="1"/>
            <p:nvPr/>
          </p:nvSpPr>
          <p:spPr>
            <a:xfrm>
              <a:off x="2981685" y="3541013"/>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3d</a:t>
              </a:r>
            </a:p>
          </p:txBody>
        </p:sp>
      </p:grpSp>
      <p:sp>
        <p:nvSpPr>
          <p:cNvPr id="22" name="BUILD arrow 4s box1 up" descr="">
            <a:extLst>
              <a:ext uri="{C183D7F6-B498-43B3-948B-1728B52AA6E4}">
                <adec:decorative xmlns:adec="http://schemas.microsoft.com/office/drawing/2017/decorative" val="1"/>
              </a:ext>
            </a:extLst>
          </p:cNvPr>
          <p:cNvSpPr/>
          <p:nvPr/>
        </p:nvSpPr>
        <p:spPr>
          <a:xfrm>
            <a:off x="1035443"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arrow 4s box1 down" descr="">
            <a:extLst>
              <a:ext uri="{C183D7F6-B498-43B3-948B-1728B52AA6E4}">
                <adec:decorative xmlns:adec="http://schemas.microsoft.com/office/drawing/2017/decorative" val="1"/>
              </a:ext>
            </a:extLst>
          </p:cNvPr>
          <p:cNvSpPr/>
          <p:nvPr/>
        </p:nvSpPr>
        <p:spPr>
          <a:xfrm>
            <a:off x="1249413" y="3071149"/>
            <a:ext cx="133731" cy="331652"/>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UILD arrow 3d box1 up" descr="">
            <a:extLst>
              <a:ext uri="{C183D7F6-B498-43B3-948B-1728B52AA6E4}">
                <adec:decorative xmlns:adec="http://schemas.microsoft.com/office/drawing/2017/decorative" val="1"/>
              </a:ext>
            </a:extLst>
          </p:cNvPr>
          <p:cNvSpPr/>
          <p:nvPr/>
        </p:nvSpPr>
        <p:spPr>
          <a:xfrm>
            <a:off x="1826399"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3d box2 up" descr="">
            <a:extLst>
              <a:ext uri="{C183D7F6-B498-43B3-948B-1728B52AA6E4}">
                <adec:decorative xmlns:adec="http://schemas.microsoft.com/office/drawing/2017/decorative" val="1"/>
              </a:ext>
            </a:extLst>
          </p:cNvPr>
          <p:cNvSpPr/>
          <p:nvPr/>
        </p:nvSpPr>
        <p:spPr>
          <a:xfrm>
            <a:off x="2407043"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3d box3 up" descr="">
            <a:extLst>
              <a:ext uri="{C183D7F6-B498-43B3-948B-1728B52AA6E4}">
                <adec:decorative xmlns:adec="http://schemas.microsoft.com/office/drawing/2017/decorative" val="1"/>
              </a:ext>
            </a:extLst>
          </p:cNvPr>
          <p:cNvSpPr/>
          <p:nvPr/>
        </p:nvSpPr>
        <p:spPr>
          <a:xfrm>
            <a:off x="2987687"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3d box4 up" descr="">
            <a:extLst>
              <a:ext uri="{C183D7F6-B498-43B3-948B-1728B52AA6E4}">
                <adec:decorative xmlns:adec="http://schemas.microsoft.com/office/drawing/2017/decorative" val="1"/>
              </a:ext>
            </a:extLst>
          </p:cNvPr>
          <p:cNvSpPr/>
          <p:nvPr/>
        </p:nvSpPr>
        <p:spPr>
          <a:xfrm>
            <a:off x="3568331"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3d box5 up" descr="">
            <a:extLst>
              <a:ext uri="{C183D7F6-B498-43B3-948B-1728B52AA6E4}">
                <adec:decorative xmlns:adec="http://schemas.microsoft.com/office/drawing/2017/decorative" val="1"/>
              </a:ext>
            </a:extLst>
          </p:cNvPr>
          <p:cNvSpPr/>
          <p:nvPr/>
        </p:nvSpPr>
        <p:spPr>
          <a:xfrm>
            <a:off x="4148975"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3d box1 down" descr="">
            <a:extLst>
              <a:ext uri="{C183D7F6-B498-43B3-948B-1728B52AA6E4}">
                <adec:decorative xmlns:adec="http://schemas.microsoft.com/office/drawing/2017/decorative" val="1"/>
              </a:ext>
            </a:extLst>
          </p:cNvPr>
          <p:cNvSpPr/>
          <p:nvPr/>
        </p:nvSpPr>
        <p:spPr>
          <a:xfrm>
            <a:off x="2040369" y="3071149"/>
            <a:ext cx="133731" cy="331652"/>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count 4s"/>
          <p:cNvSpPr txBox="1"/>
          <p:nvPr/>
        </p:nvSpPr>
        <p:spPr>
          <a:xfrm>
            <a:off x="1262274" y="3541013"/>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1" name="BUILD count 3d"/>
          <p:cNvSpPr txBox="1"/>
          <p:nvPr/>
        </p:nvSpPr>
        <p:spPr>
          <a:xfrm>
            <a:off x="3220340" y="3541013"/>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6</a:t>
            </a:r>
          </a:p>
        </p:txBody>
      </p:sp>
      <p:sp>
        <p:nvSpPr>
          <p:cNvPr id="32" name="BUILD caption"/>
          <p:cNvSpPr txBox="1"/>
          <p:nvPr/>
        </p:nvSpPr>
        <p:spPr>
          <a:xfrm>
            <a:off x="941832" y="3851909"/>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Pauli: opposite spins</a:t>
            </a:r>
          </a:p>
        </p:txBody>
      </p:sp>
      <p:sp>
        <p:nvSpPr>
          <p:cNvPr id="33" name="BUILD caption"/>
          <p:cNvSpPr txBox="1"/>
          <p:nvPr/>
        </p:nvSpPr>
        <p:spPr>
          <a:xfrm>
            <a:off x="941832" y="4107941"/>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Hund: singles first</a:t>
            </a:r>
          </a:p>
        </p:txBody>
      </p:sp>
      <p:sp>
        <p:nvSpPr>
          <p:cNvPr id="34" name="BUILD sum"/>
          <p:cNvSpPr txBox="1"/>
          <p:nvPr/>
        </p:nvSpPr>
        <p:spPr>
          <a:xfrm>
            <a:off x="941832" y="4400549"/>
            <a:ext cx="3648456" cy="292608"/>
          </a:xfrm>
          <a:prstGeom prst="rect">
            <a:avLst/>
          </a:prstGeom>
          <a:noFill/>
        </p:spPr>
        <p:txBody>
          <a:bodyPr wrap="square" lIns="0" rIns="0" tIns="0" bIns="0" anchor="ctr">
            <a:spAutoFit/>
          </a:bodyPr>
          <a:lstStyle/>
          <a:p>
            <a:pPr algn="ctr"/>
            <a:r>
              <a:rPr sz="1800" b="1">
                <a:solidFill>
                  <a:srgbClr val="14161B"/>
                </a:solidFill>
                <a:latin typeface="Trade Gothic Next"/>
              </a:rPr>
              <a:t>[Ar] 18 + 2 + 6 = 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Exception: Copper</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The rules predict 4s</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2</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3d</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9</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Watch what the real atom does.</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WATCH</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Which sublevel loses an electron, and which gains one?</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ONE OF TWO</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Copper and chromium are the only exceptions we learn.</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LOOKING AHEAD (S2.4)</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 empties first in ions: Cu</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is [Ar]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10</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Cu</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is [Ar]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9</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copper, [Ar] core not drawn. As first drawn: 4s: one box, one pair. 3d: five boxes, four pairs and one single up arrow. After the steps: 4s: one box, one single up arrow. 3d: five boxes, five pairs."/>
          <p:cNvGrpSpPr/>
          <p:nvPr/>
        </p:nvGrpSpPr>
        <p:grpSpPr>
          <a:xfrm>
            <a:off x="932688" y="2797302"/>
            <a:ext cx="4581142" cy="1281683"/>
            <a:chOff x="932688" y="2797302"/>
            <a:chExt cx="4581142" cy="1281683"/>
          </a:xfrm>
        </p:grpSpPr>
        <p:sp>
          <p:nvSpPr>
            <p:cNvPr id="15" name="BUILD title"/>
            <p:cNvSpPr txBox="1"/>
            <p:nvPr/>
          </p:nvSpPr>
          <p:spPr>
            <a:xfrm>
              <a:off x="1024128" y="2797302"/>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COPPER  Z = 29  [Ar] CORE</a:t>
              </a:r>
            </a:p>
          </p:txBody>
        </p:sp>
        <p:sp>
          <p:nvSpPr>
            <p:cNvPr id="16" name="BUILD box 4s 1"/>
            <p:cNvSpPr/>
            <p:nvPr/>
          </p:nvSpPr>
          <p:spPr>
            <a:xfrm>
              <a:off x="102412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4s"/>
            <p:cNvSpPr txBox="1"/>
            <p:nvPr/>
          </p:nvSpPr>
          <p:spPr>
            <a:xfrm>
              <a:off x="932688" y="3804665"/>
              <a:ext cx="842772" cy="274320"/>
            </a:xfrm>
            <a:prstGeom prst="rect">
              <a:avLst/>
            </a:prstGeom>
            <a:noFill/>
          </p:spPr>
          <p:txBody>
            <a:bodyPr wrap="square" lIns="0" rIns="0" tIns="0" bIns="0" anchor="ctr">
              <a:spAutoFit/>
            </a:bodyPr>
            <a:lstStyle/>
            <a:p>
              <a:pPr algn="ctr"/>
              <a:r>
                <a:rPr sz="1800" b="1">
                  <a:solidFill>
                    <a:srgbClr val="14161B"/>
                  </a:solidFill>
                  <a:latin typeface="Trade Gothic Next"/>
                </a:rPr>
                <a:t>4s</a:t>
              </a:r>
              <a:r>
                <a:rPr sz="1800" b="1" baseline="30000">
                  <a:solidFill>
                    <a:srgbClr val="14161B"/>
                  </a:solidFill>
                  <a:latin typeface="Trade Gothic Next"/>
                </a:rPr>
                <a:t>1</a:t>
              </a:r>
            </a:p>
          </p:txBody>
        </p:sp>
        <p:sp>
          <p:nvSpPr>
            <p:cNvPr id="18" name="BUILD box 3d 1"/>
            <p:cNvSpPr/>
            <p:nvPr/>
          </p:nvSpPr>
          <p:spPr>
            <a:xfrm>
              <a:off x="1940052"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3d 2"/>
            <p:cNvSpPr/>
            <p:nvPr/>
          </p:nvSpPr>
          <p:spPr>
            <a:xfrm>
              <a:off x="2645664"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3d 3"/>
            <p:cNvSpPr/>
            <p:nvPr/>
          </p:nvSpPr>
          <p:spPr>
            <a:xfrm>
              <a:off x="3351276"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box 3d 4"/>
            <p:cNvSpPr/>
            <p:nvPr/>
          </p:nvSpPr>
          <p:spPr>
            <a:xfrm>
              <a:off x="405688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x 3d 5"/>
            <p:cNvSpPr/>
            <p:nvPr/>
          </p:nvSpPr>
          <p:spPr>
            <a:xfrm>
              <a:off x="4762500"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label 3d"/>
            <p:cNvSpPr txBox="1"/>
            <p:nvPr/>
          </p:nvSpPr>
          <p:spPr>
            <a:xfrm>
              <a:off x="1848611" y="3804665"/>
              <a:ext cx="3665219" cy="274320"/>
            </a:xfrm>
            <a:prstGeom prst="rect">
              <a:avLst/>
            </a:prstGeom>
            <a:noFill/>
          </p:spPr>
          <p:txBody>
            <a:bodyPr wrap="square" lIns="0" rIns="0" tIns="0" bIns="0" anchor="ctr">
              <a:spAutoFit/>
            </a:bodyPr>
            <a:lstStyle/>
            <a:p>
              <a:pPr algn="ctr"/>
              <a:r>
                <a:rPr sz="1800" b="1">
                  <a:solidFill>
                    <a:srgbClr val="14161B"/>
                  </a:solidFill>
                  <a:latin typeface="Trade Gothic Next"/>
                </a:rPr>
                <a:t>3d</a:t>
              </a:r>
              <a:r>
                <a:rPr sz="1800" b="1" baseline="30000">
                  <a:solidFill>
                    <a:srgbClr val="14161B"/>
                  </a:solidFill>
                  <a:latin typeface="Trade Gothic Next"/>
                </a:rPr>
                <a:t>10</a:t>
              </a:r>
            </a:p>
          </p:txBody>
        </p:sp>
      </p:grpSp>
      <p:sp>
        <p:nvSpPr>
          <p:cNvPr id="24" name="BUILD arrow 4s box1 up" descr="">
            <a:extLst>
              <a:ext uri="{C183D7F6-B498-43B3-948B-1728B52AA6E4}">
                <adec:decorative xmlns:adec="http://schemas.microsoft.com/office/drawing/2017/decorative" val="1"/>
              </a:ext>
            </a:extLst>
          </p:cNvPr>
          <p:cNvSpPr/>
          <p:nvPr/>
        </p:nvSpPr>
        <p:spPr>
          <a:xfrm>
            <a:off x="113960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3d box1 up" descr="">
            <a:extLst>
              <a:ext uri="{C183D7F6-B498-43B3-948B-1728B52AA6E4}">
                <adec:decorative xmlns:adec="http://schemas.microsoft.com/office/drawing/2017/decorative" val="1"/>
              </a:ext>
            </a:extLst>
          </p:cNvPr>
          <p:cNvSpPr/>
          <p:nvPr/>
        </p:nvSpPr>
        <p:spPr>
          <a:xfrm>
            <a:off x="2055533"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3d box2 up" descr="">
            <a:extLst>
              <a:ext uri="{C183D7F6-B498-43B3-948B-1728B52AA6E4}">
                <adec:decorative xmlns:adec="http://schemas.microsoft.com/office/drawing/2017/decorative" val="1"/>
              </a:ext>
            </a:extLst>
          </p:cNvPr>
          <p:cNvSpPr/>
          <p:nvPr/>
        </p:nvSpPr>
        <p:spPr>
          <a:xfrm>
            <a:off x="2761145"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3d box3 up" descr="">
            <a:extLst>
              <a:ext uri="{C183D7F6-B498-43B3-948B-1728B52AA6E4}">
                <adec:decorative xmlns:adec="http://schemas.microsoft.com/office/drawing/2017/decorative" val="1"/>
              </a:ext>
            </a:extLst>
          </p:cNvPr>
          <p:cNvSpPr/>
          <p:nvPr/>
        </p:nvSpPr>
        <p:spPr>
          <a:xfrm>
            <a:off x="3466757"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3d box4 up" descr="">
            <a:extLst>
              <a:ext uri="{C183D7F6-B498-43B3-948B-1728B52AA6E4}">
                <adec:decorative xmlns:adec="http://schemas.microsoft.com/office/drawing/2017/decorative" val="1"/>
              </a:ext>
            </a:extLst>
          </p:cNvPr>
          <p:cNvSpPr/>
          <p:nvPr/>
        </p:nvSpPr>
        <p:spPr>
          <a:xfrm>
            <a:off x="417236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arrow 3d box5 up" descr="">
            <a:extLst>
              <a:ext uri="{C183D7F6-B498-43B3-948B-1728B52AA6E4}">
                <adec:decorative xmlns:adec="http://schemas.microsoft.com/office/drawing/2017/decorative" val="1"/>
              </a:ext>
            </a:extLst>
          </p:cNvPr>
          <p:cNvSpPr/>
          <p:nvPr/>
        </p:nvSpPr>
        <p:spPr>
          <a:xfrm>
            <a:off x="4877981"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ILD arrow 3d box1 down" descr="">
            <a:extLst>
              <a:ext uri="{C183D7F6-B498-43B3-948B-1728B52AA6E4}">
                <adec:decorative xmlns:adec="http://schemas.microsoft.com/office/drawing/2017/decorative" val="1"/>
              </a:ext>
            </a:extLst>
          </p:cNvPr>
          <p:cNvSpPr/>
          <p:nvPr/>
        </p:nvSpPr>
        <p:spPr>
          <a:xfrm>
            <a:off x="2319489"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UILD arrow 3d box2 down" descr="">
            <a:extLst>
              <a:ext uri="{C183D7F6-B498-43B3-948B-1728B52AA6E4}">
                <adec:decorative xmlns:adec="http://schemas.microsoft.com/office/drawing/2017/decorative" val="1"/>
              </a:ext>
            </a:extLst>
          </p:cNvPr>
          <p:cNvSpPr/>
          <p:nvPr/>
        </p:nvSpPr>
        <p:spPr>
          <a:xfrm>
            <a:off x="3025101"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UILD arrow 3d box3 down" descr="">
            <a:extLst>
              <a:ext uri="{C183D7F6-B498-43B3-948B-1728B52AA6E4}">
                <adec:decorative xmlns:adec="http://schemas.microsoft.com/office/drawing/2017/decorative" val="1"/>
              </a:ext>
            </a:extLst>
          </p:cNvPr>
          <p:cNvSpPr/>
          <p:nvPr/>
        </p:nvSpPr>
        <p:spPr>
          <a:xfrm>
            <a:off x="3730713"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UILD arrow 3d box4 down" descr="">
            <a:extLst>
              <a:ext uri="{C183D7F6-B498-43B3-948B-1728B52AA6E4}">
                <adec:decorative xmlns:adec="http://schemas.microsoft.com/office/drawing/2017/decorative" val="1"/>
              </a:ext>
            </a:extLst>
          </p:cNvPr>
          <p:cNvSpPr/>
          <p:nvPr/>
        </p:nvSpPr>
        <p:spPr>
          <a:xfrm>
            <a:off x="4436325"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UILD arrow 3d box5 down" descr="">
            <a:extLst>
              <a:ext uri="{C183D7F6-B498-43B3-948B-1728B52AA6E4}">
                <adec:decorative xmlns:adec="http://schemas.microsoft.com/office/drawing/2017/decorative" val="1"/>
              </a:ext>
            </a:extLst>
          </p:cNvPr>
          <p:cNvSpPr/>
          <p:nvPr/>
        </p:nvSpPr>
        <p:spPr>
          <a:xfrm>
            <a:off x="5141937"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UILD caption"/>
          <p:cNvSpPr txBox="1"/>
          <p:nvPr/>
        </p:nvSpPr>
        <p:spPr>
          <a:xfrm>
            <a:off x="1024128" y="4115561"/>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What the rules predict</a:t>
            </a:r>
          </a:p>
        </p:txBody>
      </p:sp>
      <p:sp>
        <p:nvSpPr>
          <p:cNvPr id="37" name="BUILD state"/>
          <p:cNvSpPr txBox="1"/>
          <p:nvPr/>
        </p:nvSpPr>
        <p:spPr>
          <a:xfrm>
            <a:off x="1024128" y="437159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[Ar] 4s</a:t>
            </a:r>
            <a:r>
              <a:rPr sz="1800" b="1" baseline="30000">
                <a:solidFill>
                  <a:srgbClr val="14161B"/>
                </a:solidFill>
                <a:latin typeface="Trade Gothic Next"/>
              </a:rPr>
              <a:t>2</a:t>
            </a:r>
            <a:r>
              <a:rPr sz="1800" b="1">
                <a:solidFill>
                  <a:srgbClr val="14161B"/>
                </a:solidFill>
                <a:latin typeface="Trade Gothic Next"/>
              </a:rPr>
              <a:t> 3d</a:t>
            </a:r>
            <a:r>
              <a:rPr sz="1800" b="1" baseline="30000">
                <a:solidFill>
                  <a:srgbClr val="14161B"/>
                </a:solidFill>
                <a:latin typeface="Trade Gothic Next"/>
              </a:rPr>
              <a:t>9</a:t>
            </a:r>
          </a:p>
        </p:txBody>
      </p:sp>
      <p:sp>
        <p:nvSpPr>
          <p:cNvPr id="38" name="BUILD caption"/>
          <p:cNvSpPr txBox="1"/>
          <p:nvPr/>
        </p:nvSpPr>
        <p:spPr>
          <a:xfrm>
            <a:off x="1024128" y="4664202"/>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One 4s electron moves into 3d</a:t>
            </a:r>
          </a:p>
        </p:txBody>
      </p:sp>
      <p:sp>
        <p:nvSpPr>
          <p:cNvPr id="39" name="BUILD state"/>
          <p:cNvSpPr txBox="1"/>
          <p:nvPr/>
        </p:nvSpPr>
        <p:spPr>
          <a:xfrm>
            <a:off x="1024128" y="492023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Actual: [Ar] 4s</a:t>
            </a:r>
            <a:r>
              <a:rPr sz="1800" b="1" baseline="30000">
                <a:solidFill>
                  <a:srgbClr val="14161B"/>
                </a:solidFill>
                <a:latin typeface="Trade Gothic Next"/>
              </a:rPr>
              <a:t>1</a:t>
            </a:r>
            <a:r>
              <a:rPr sz="1800" b="1">
                <a:solidFill>
                  <a:srgbClr val="14161B"/>
                </a:solidFill>
                <a:latin typeface="Trade Gothic Next"/>
              </a:rPr>
              <a:t> 3d</a:t>
            </a:r>
            <a:r>
              <a:rPr sz="1800" b="1" baseline="30000">
                <a:solidFill>
                  <a:srgbClr val="14161B"/>
                </a:solidFill>
                <a:latin typeface="Trade Gothic Next"/>
              </a:rPr>
              <a:t>10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Exception: Chromium</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Same move. The rules predict 4s</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2</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3d</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4</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WATCH</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Count the arrows in 3d before and after.</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TOTAL</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Cr still has 24 electrons. [Ar] is 18, so 6 are drawn.</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UNPAIRED ELECTRONS</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Count them at the end. Is it more than iron's 4?</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chromium, [Ar] core not drawn. As first drawn: 4s: one box, one pair. 3d: five boxes, four single up arrows and one empty box. After the steps: 4s: one box, one single up arrow. 3d: five boxes, five single up arrows."/>
          <p:cNvGrpSpPr/>
          <p:nvPr/>
        </p:nvGrpSpPr>
        <p:grpSpPr>
          <a:xfrm>
            <a:off x="932688" y="2797302"/>
            <a:ext cx="4581142" cy="1281683"/>
            <a:chOff x="932688" y="2797302"/>
            <a:chExt cx="4581142" cy="1281683"/>
          </a:xfrm>
        </p:grpSpPr>
        <p:sp>
          <p:nvSpPr>
            <p:cNvPr id="15" name="BUILD title"/>
            <p:cNvSpPr txBox="1"/>
            <p:nvPr/>
          </p:nvSpPr>
          <p:spPr>
            <a:xfrm>
              <a:off x="1024128" y="2797302"/>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CHROMIUM  Z = 24  [Ar] CORE</a:t>
              </a:r>
            </a:p>
          </p:txBody>
        </p:sp>
        <p:sp>
          <p:nvSpPr>
            <p:cNvPr id="16" name="BUILD box 4s 1"/>
            <p:cNvSpPr/>
            <p:nvPr/>
          </p:nvSpPr>
          <p:spPr>
            <a:xfrm>
              <a:off x="102412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4s"/>
            <p:cNvSpPr txBox="1"/>
            <p:nvPr/>
          </p:nvSpPr>
          <p:spPr>
            <a:xfrm>
              <a:off x="932688" y="3804665"/>
              <a:ext cx="842772" cy="274320"/>
            </a:xfrm>
            <a:prstGeom prst="rect">
              <a:avLst/>
            </a:prstGeom>
            <a:noFill/>
          </p:spPr>
          <p:txBody>
            <a:bodyPr wrap="square" lIns="0" rIns="0" tIns="0" bIns="0" anchor="ctr">
              <a:spAutoFit/>
            </a:bodyPr>
            <a:lstStyle/>
            <a:p>
              <a:pPr algn="ctr"/>
              <a:r>
                <a:rPr sz="1800" b="1">
                  <a:solidFill>
                    <a:srgbClr val="14161B"/>
                  </a:solidFill>
                  <a:latin typeface="Trade Gothic Next"/>
                </a:rPr>
                <a:t>4s</a:t>
              </a:r>
              <a:r>
                <a:rPr sz="1800" b="1" baseline="30000">
                  <a:solidFill>
                    <a:srgbClr val="14161B"/>
                  </a:solidFill>
                  <a:latin typeface="Trade Gothic Next"/>
                </a:rPr>
                <a:t>1</a:t>
              </a:r>
            </a:p>
          </p:txBody>
        </p:sp>
        <p:sp>
          <p:nvSpPr>
            <p:cNvPr id="18" name="BUILD box 3d 1"/>
            <p:cNvSpPr/>
            <p:nvPr/>
          </p:nvSpPr>
          <p:spPr>
            <a:xfrm>
              <a:off x="1940052"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3d 2"/>
            <p:cNvSpPr/>
            <p:nvPr/>
          </p:nvSpPr>
          <p:spPr>
            <a:xfrm>
              <a:off x="2645664"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3d 3"/>
            <p:cNvSpPr/>
            <p:nvPr/>
          </p:nvSpPr>
          <p:spPr>
            <a:xfrm>
              <a:off x="3351276"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box 3d 4"/>
            <p:cNvSpPr/>
            <p:nvPr/>
          </p:nvSpPr>
          <p:spPr>
            <a:xfrm>
              <a:off x="405688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x 3d 5"/>
            <p:cNvSpPr/>
            <p:nvPr/>
          </p:nvSpPr>
          <p:spPr>
            <a:xfrm>
              <a:off x="4762500"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label 3d"/>
            <p:cNvSpPr txBox="1"/>
            <p:nvPr/>
          </p:nvSpPr>
          <p:spPr>
            <a:xfrm>
              <a:off x="1848611" y="3804665"/>
              <a:ext cx="3665219" cy="274320"/>
            </a:xfrm>
            <a:prstGeom prst="rect">
              <a:avLst/>
            </a:prstGeom>
            <a:noFill/>
          </p:spPr>
          <p:txBody>
            <a:bodyPr wrap="square" lIns="0" rIns="0" tIns="0" bIns="0" anchor="ctr">
              <a:spAutoFit/>
            </a:bodyPr>
            <a:lstStyle/>
            <a:p>
              <a:pPr algn="ctr"/>
              <a:r>
                <a:rPr sz="1800" b="1">
                  <a:solidFill>
                    <a:srgbClr val="14161B"/>
                  </a:solidFill>
                  <a:latin typeface="Trade Gothic Next"/>
                </a:rPr>
                <a:t>3d</a:t>
              </a:r>
              <a:r>
                <a:rPr sz="1800" b="1" baseline="30000">
                  <a:solidFill>
                    <a:srgbClr val="14161B"/>
                  </a:solidFill>
                  <a:latin typeface="Trade Gothic Next"/>
                </a:rPr>
                <a:t>5</a:t>
              </a:r>
            </a:p>
          </p:txBody>
        </p:sp>
      </p:grpSp>
      <p:sp>
        <p:nvSpPr>
          <p:cNvPr id="24" name="BUILD arrow 4s box1 up" descr="">
            <a:extLst>
              <a:ext uri="{C183D7F6-B498-43B3-948B-1728B52AA6E4}">
                <adec:decorative xmlns:adec="http://schemas.microsoft.com/office/drawing/2017/decorative" val="1"/>
              </a:ext>
            </a:extLst>
          </p:cNvPr>
          <p:cNvSpPr/>
          <p:nvPr/>
        </p:nvSpPr>
        <p:spPr>
          <a:xfrm>
            <a:off x="113960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3d box1 up" descr="">
            <a:extLst>
              <a:ext uri="{C183D7F6-B498-43B3-948B-1728B52AA6E4}">
                <adec:decorative xmlns:adec="http://schemas.microsoft.com/office/drawing/2017/decorative" val="1"/>
              </a:ext>
            </a:extLst>
          </p:cNvPr>
          <p:cNvSpPr/>
          <p:nvPr/>
        </p:nvSpPr>
        <p:spPr>
          <a:xfrm>
            <a:off x="2055533"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3d box2 up" descr="">
            <a:extLst>
              <a:ext uri="{C183D7F6-B498-43B3-948B-1728B52AA6E4}">
                <adec:decorative xmlns:adec="http://schemas.microsoft.com/office/drawing/2017/decorative" val="1"/>
              </a:ext>
            </a:extLst>
          </p:cNvPr>
          <p:cNvSpPr/>
          <p:nvPr/>
        </p:nvSpPr>
        <p:spPr>
          <a:xfrm>
            <a:off x="2761145"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3d box3 up" descr="">
            <a:extLst>
              <a:ext uri="{C183D7F6-B498-43B3-948B-1728B52AA6E4}">
                <adec:decorative xmlns:adec="http://schemas.microsoft.com/office/drawing/2017/decorative" val="1"/>
              </a:ext>
            </a:extLst>
          </p:cNvPr>
          <p:cNvSpPr/>
          <p:nvPr/>
        </p:nvSpPr>
        <p:spPr>
          <a:xfrm>
            <a:off x="3466757"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3d box4 up" descr="">
            <a:extLst>
              <a:ext uri="{C183D7F6-B498-43B3-948B-1728B52AA6E4}">
                <adec:decorative xmlns:adec="http://schemas.microsoft.com/office/drawing/2017/decorative" val="1"/>
              </a:ext>
            </a:extLst>
          </p:cNvPr>
          <p:cNvSpPr/>
          <p:nvPr/>
        </p:nvSpPr>
        <p:spPr>
          <a:xfrm>
            <a:off x="417236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arrow 3d box5 up" descr="">
            <a:extLst>
              <a:ext uri="{C183D7F6-B498-43B3-948B-1728B52AA6E4}">
                <adec:decorative xmlns:adec="http://schemas.microsoft.com/office/drawing/2017/decorative" val="1"/>
              </a:ext>
            </a:extLst>
          </p:cNvPr>
          <p:cNvSpPr/>
          <p:nvPr/>
        </p:nvSpPr>
        <p:spPr>
          <a:xfrm>
            <a:off x="4877981"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ILD caption"/>
          <p:cNvSpPr txBox="1"/>
          <p:nvPr/>
        </p:nvSpPr>
        <p:spPr>
          <a:xfrm>
            <a:off x="1024128" y="4115561"/>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What the rules predict</a:t>
            </a:r>
          </a:p>
        </p:txBody>
      </p:sp>
      <p:sp>
        <p:nvSpPr>
          <p:cNvPr id="32" name="BUILD state"/>
          <p:cNvSpPr txBox="1"/>
          <p:nvPr/>
        </p:nvSpPr>
        <p:spPr>
          <a:xfrm>
            <a:off x="1024128" y="437159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[Ar] 4s</a:t>
            </a:r>
            <a:r>
              <a:rPr sz="1800" b="1" baseline="30000">
                <a:solidFill>
                  <a:srgbClr val="14161B"/>
                </a:solidFill>
                <a:latin typeface="Trade Gothic Next"/>
              </a:rPr>
              <a:t>2</a:t>
            </a:r>
            <a:r>
              <a:rPr sz="1800" b="1">
                <a:solidFill>
                  <a:srgbClr val="14161B"/>
                </a:solidFill>
                <a:latin typeface="Trade Gothic Next"/>
              </a:rPr>
              <a:t> 3d</a:t>
            </a:r>
            <a:r>
              <a:rPr sz="1800" b="1" baseline="30000">
                <a:solidFill>
                  <a:srgbClr val="14161B"/>
                </a:solidFill>
                <a:latin typeface="Trade Gothic Next"/>
              </a:rPr>
              <a:t>4</a:t>
            </a:r>
          </a:p>
        </p:txBody>
      </p:sp>
      <p:sp>
        <p:nvSpPr>
          <p:cNvPr id="33" name="BUILD caption"/>
          <p:cNvSpPr txBox="1"/>
          <p:nvPr/>
        </p:nvSpPr>
        <p:spPr>
          <a:xfrm>
            <a:off x="1024128" y="4664202"/>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One 4s electron moves into 3d</a:t>
            </a:r>
          </a:p>
        </p:txBody>
      </p:sp>
      <p:sp>
        <p:nvSpPr>
          <p:cNvPr id="34" name="BUILD state"/>
          <p:cNvSpPr txBox="1"/>
          <p:nvPr/>
        </p:nvSpPr>
        <p:spPr>
          <a:xfrm>
            <a:off x="1024128" y="492023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Actual: [Ar] 4s</a:t>
            </a:r>
            <a:r>
              <a:rPr sz="1800" b="1" baseline="30000">
                <a:solidFill>
                  <a:srgbClr val="14161B"/>
                </a:solidFill>
                <a:latin typeface="Trade Gothic Next"/>
              </a:rPr>
              <a:t>1</a:t>
            </a:r>
            <a:r>
              <a:rPr sz="1800" b="1">
                <a:solidFill>
                  <a:srgbClr val="14161B"/>
                </a:solidFill>
                <a:latin typeface="Trade Gothic Next"/>
              </a:rPr>
              <a:t> 3d</a:t>
            </a:r>
            <a:r>
              <a:rPr sz="1800" b="1" baseline="30000">
                <a:solidFill>
                  <a:srgbClr val="14161B"/>
                </a:solidFill>
                <a:latin typeface="Trade Gothic Next"/>
              </a:rPr>
              <a:t>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Why Cr and Cu Break the Pattern</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A simplified reason, and where it stops working.</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ENERGIES ARE CLOSE</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 and 3d are almost the same energy, so a small change can tip the balance.</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PAYOFF</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4s electron moves. 3d becomes completely full (Cu) or half full with parallel spins (Cr).</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RESULT</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That lowers the atom's total energy slightly, so the real atom does it.</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 simplification, not a rule: it misses other exceptions. Learn Cr and Cu; look the rest up.</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Checking a Configuration</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Run these four checks in order.</a:t>
            </a:r>
            <a:endParaRPr lang="en-US" sz="1700" dirty="0"/>
          </a:p>
        </p:txBody>
      </p:sp>
      <p:sp>
        <p:nvSpPr>
          <p:cNvPr id="4" name="Text 6"/>
          <p:cNvSpPr txBox="1"/>
          <p:nvPr>
            <p:ph idx="110" type="body" hasCustomPrompt="1"/>
          </p:nvPr>
        </p:nvSpPr>
        <p:spPr>
          <a:xfrm>
            <a:off x="1234440"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Count</a:t>
            </a:r>
            <a:endParaRPr lang="en-US" sz="1200" dirty="0"/>
          </a:p>
        </p:txBody>
      </p:sp>
      <p:sp>
        <p:nvSpPr>
          <p:cNvPr id="5" name="Text 6"/>
          <p:cNvSpPr txBox="1"/>
          <p:nvPr>
            <p:ph idx="111" type="body" hasCustomPrompt="1"/>
          </p:nvPr>
        </p:nvSpPr>
        <p:spPr>
          <a:xfrm>
            <a:off x="832104"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Do the raised numbers add up to Z?</a:t>
            </a:r>
            <a:endParaRPr lang="en-US" sz="1600" dirty="0"/>
          </a:p>
        </p:txBody>
      </p:sp>
      <p:sp>
        <p:nvSpPr>
          <p:cNvPr id="6" name="Text 8"/>
          <p:cNvSpPr txBox="1"/>
          <p:nvPr>
            <p:ph idx="114" type="body" hasCustomPrompt="1"/>
          </p:nvPr>
        </p:nvSpPr>
        <p:spPr>
          <a:xfrm>
            <a:off x="3995928"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Caps and order</a:t>
            </a:r>
            <a:endParaRPr lang="en-US" sz="1200" dirty="0"/>
          </a:p>
        </p:txBody>
      </p:sp>
      <p:sp>
        <p:nvSpPr>
          <p:cNvPr id="7" name="Text 8"/>
          <p:cNvSpPr txBox="1"/>
          <p:nvPr>
            <p:ph idx="115" type="body" hasCustomPrompt="1"/>
          </p:nvPr>
        </p:nvSpPr>
        <p:spPr>
          <a:xfrm>
            <a:off x="3593592"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Max 2, 6, 10, 14. Aufbau order.</a:t>
            </a:r>
            <a:endParaRPr lang="en-US" sz="1600" dirty="0"/>
          </a:p>
        </p:txBody>
      </p:sp>
      <p:sp>
        <p:nvSpPr>
          <p:cNvPr id="8" name="Text 10"/>
          <p:cNvSpPr txBox="1"/>
          <p:nvPr>
            <p:ph idx="118" type="body" hasCustomPrompt="1"/>
          </p:nvPr>
        </p:nvSpPr>
        <p:spPr>
          <a:xfrm>
            <a:off x="6757416"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Hund and Pauli</a:t>
            </a:r>
            <a:endParaRPr lang="en-US" sz="1200" dirty="0"/>
          </a:p>
        </p:txBody>
      </p:sp>
      <p:sp>
        <p:nvSpPr>
          <p:cNvPr id="9" name="Text 10"/>
          <p:cNvSpPr txBox="1"/>
          <p:nvPr>
            <p:ph idx="119" type="body" hasCustomPrompt="1"/>
          </p:nvPr>
        </p:nvSpPr>
        <p:spPr>
          <a:xfrm>
            <a:off x="6355080"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Singles first. Pairs have opposite spins.</a:t>
            </a:r>
            <a:endParaRPr lang="en-US" sz="1600" dirty="0"/>
          </a:p>
        </p:txBody>
      </p:sp>
      <p:sp>
        <p:nvSpPr>
          <p:cNvPr id="10" name="Text 12"/>
          <p:cNvSpPr txBox="1"/>
          <p:nvPr>
            <p:ph idx="122" type="body" hasCustomPrompt="1"/>
          </p:nvPr>
        </p:nvSpPr>
        <p:spPr>
          <a:xfrm>
            <a:off x="9518904"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Core, Cr, Cu</a:t>
            </a:r>
            <a:endParaRPr lang="en-US" sz="1200" dirty="0"/>
          </a:p>
        </p:txBody>
      </p:sp>
      <p:sp>
        <p:nvSpPr>
          <p:cNvPr id="11" name="Text 12"/>
          <p:cNvSpPr txBox="1"/>
          <p:nvPr>
            <p:ph idx="123" type="body" hasCustomPrompt="1"/>
          </p:nvPr>
        </p:nvSpPr>
        <p:spPr>
          <a:xfrm>
            <a:off x="9116568"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Previous noble gas? Is it Cr or Cu?</a:t>
            </a:r>
            <a:endParaRPr lang="en-US" sz="1600" dirty="0"/>
          </a:p>
        </p:txBody>
      </p:sp>
      <p:sp>
        <p:nvSpPr>
          <p:cNvPr id="12"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3" name="Text 13"/>
          <p:cNvSpPr txBox="1"/>
          <p:nvPr>
            <p:ph idx="125"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5" name="Text 4"/>
          <p:cNvSpPr txBox="1"/>
          <p:nvPr>
            <p:ph idx="107" hasCustomPrompt="1"/>
          </p:nvPr>
        </p:nvSpPr>
        <p:spPr>
          <a:xfrm>
            <a:off x="3246120" y="2487168"/>
            <a:ext cx="5669280" cy="1828800"/>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Spot the Mistake</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Each was written as a ground state.</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Each of these is wrong. Name the rule or fact it breaks.</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 (a), (b)</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 O: 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(b) K: [Ar]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1</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 (c), (d)</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 Ca: [Ne] 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 Cr: [Ar] 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Add the electrons first. If the total is not Z, stop there.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Spot the Mistake,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Four problems, four different checks. Each fix is on the right.</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WHAT IS WRONG</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 Count: 10, not 8</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(b) Aufbau: 4s first</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 Core: needs [Ar]</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 Real Cr differs</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Corrected:</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(a) 1s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4</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(b)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1</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(c)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(d)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1</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5</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Cr follows the rules on paper, but the measured ground state is [Ar] 4s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1</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3d</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5</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Two wrong orbital diagrams. (e) Nitrogen 2p: up, down, up, three single arrows whose spins are not all the same. (f) Neon 2s: one box holding two up arrows.">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Spot the Mistake, Diagrams</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Two orbital diagrams. Each breaks a different rule.</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 NITROGEN, Z = 7</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Only the three 2p boxes are drawn.</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(F) NEON, Z = 10</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Only the 2s box is drawn.</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YOUR JOB</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Name the broken rule. Redraw it correctly.</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he corrected diagrams. (e) Nitrogen 2p: up, up, up, ticked as Hund. (f) Neon 2s: one up and one down arrow, ticked as Pauli.">    </p:cNvPr>
          <p:cNvPicPr>
            <a:picLocks noChangeAspect="1"/>
          </p:cNvPicPr>
          <p:nvPr/>
        </p:nvPicPr>
        <p:blipFill>
          <a:blip r:embed="rId1"/>
          <a:stretch>
            <a:fillRect/>
          </a:stretch>
        </p:blipFill>
        <p:spPr>
          <a:xfrm>
            <a:off x="832104" y="2542032"/>
            <a:ext cx="3867912" cy="2267712"/>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Spot the Mistake, Diagrams, Worked</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Hund error and one Pauli error. The fixes are drawn at left.</a:t>
            </a:r>
            <a:endParaRPr lang="en-US" sz="1700" dirty="0"/>
          </a:p>
        </p:txBody>
      </p:sp>
      <p:sp>
        <p:nvSpPr>
          <p:cNvPr id="5"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WHAT IS WRONG</a:t>
            </a:r>
            <a:endParaRPr lang="en-US" sz="1200" dirty="0"/>
          </a:p>
        </p:txBody>
      </p:sp>
      <p:sp>
        <p:nvSpPr>
          <p:cNvPr id="6"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 Hund: spins differ</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(f) Pauli: same spin</a:t>
            </a:r>
            <a:endParaRPr lang="en-US" sz="1600" dirty="0"/>
          </a:p>
        </p:txBody>
      </p:sp>
      <p:sp>
        <p:nvSpPr>
          <p:cNvPr id="7"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Fixed:</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(e) 2p: up, up, up</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(f) 2s: up, down</a:t>
            </a:r>
            <a:endParaRPr lang="en-US" sz="1900" dirty="0"/>
          </a:p>
        </p:txBody>
      </p:sp>
      <p:sp>
        <p:nvSpPr>
          <p:cNvPr id="8"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Hund: singles first, all spins the same. Pauli: two in one orbital must be opposite.</a:t>
            </a:r>
            <a:endParaRPr lang="en-US" sz="1600" dirty="0"/>
          </a:p>
        </p:txBody>
      </p:sp>
      <p:sp>
        <p:nvSpPr>
          <p:cNvPr id="9"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0"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2"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Check Yourself</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Work all three in your notes before we compare.</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PHOSPHORUS, Z = 15</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the longhand configuration.</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SULFUR, Z = 16</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the shorthand and sketch the 3p boxes.</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COPPER, Z = 29</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the actual shorthand. Say why it is an exception.</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Show the electron sum for each one. If it is not Z, find the error.</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5"/>
          <p:cNvSpPr txBox="1"/>
          <p:nvPr>
            <p:ph idx="106" type="body" hasCustomPrompt="1"/>
          </p:nvPr>
        </p:nvSpPr>
        <p:spPr>
          <a:xfrm>
            <a:off x="841248" y="1755648"/>
            <a:ext cx="3154680" cy="457200"/>
          </a:xfrm>
          <a:prstGeom prst="rect">
            <a:avLst/>
          </a:prstGeom>
          <a:noFill/>
          <a:ln/>
        </p:spPr>
        <p:txBody>
          <a:bodyPr wrap="square" lIns="0" tIns="0" rIns="0" bIns="0" rtlCol="0"/>
          <a:lstStyle/>
          <a:p>
            <a:pPr indent="0" marL="0">
              <a:buNone/>
            </a:pPr>
            <a:r>
              <a:rPr lang="en-US" sz="1100" b="1" spc="150" kern="0" dirty="0">
                <a:solidFill>
                  <a:srgbClr val="A3E635"/>
                </a:solidFill>
                <a:latin typeface="Trade Gothic Next" pitchFamily="34" charset="0"/>
                <a:ea typeface="Trade Gothic Next" pitchFamily="34" charset="-122"/>
                <a:cs typeface="Trade Gothic Next" pitchFamily="34" charset="-120"/>
              </a:rPr>
              <a:t>LOOKING AHEAD</a:t>
            </a:r>
            <a:endParaRPr lang="en-US" sz="1100" dirty="0"/>
          </a:p>
        </p:txBody>
      </p:sp>
      <p:sp>
        <p:nvSpPr>
          <p:cNvPr id="3" name="Text 5"/>
          <p:cNvSpPr txBox="1"/>
          <p:nvPr>
            <p:ph idx="107" type="title" hasCustomPrompt="1"/>
          </p:nvPr>
        </p:nvSpPr>
        <p:spPr>
          <a:xfrm>
            <a:off x="841248" y="2304288"/>
            <a:ext cx="3154680" cy="1417320"/>
          </a:xfrm>
          <a:prstGeom prst="rect">
            <a:avLst/>
          </a:prstGeom>
          <a:noFill/>
          <a:ln/>
        </p:spPr>
        <p:txBody>
          <a:bodyPr wrap="square" lIns="0" tIns="0" rIns="0" bIns="0" rtlCol="0"/>
          <a:lstStyle/>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Where This</a:t>
            </a:r>
            <a:endParaRPr lang="en-US" sz="2600" dirty="0"/>
          </a:p>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Goes Next</a:t>
            </a:r>
            <a:endParaRPr lang="en-US" sz="2600" dirty="0"/>
          </a:p>
        </p:txBody>
      </p:sp>
      <p:sp>
        <p:nvSpPr>
          <p:cNvPr id="4" name="Text 5"/>
          <p:cNvSpPr txBox="1"/>
          <p:nvPr>
            <p:ph idx="108" type="body" hasCustomPrompt="1"/>
          </p:nvPr>
        </p:nvSpPr>
        <p:spPr>
          <a:xfrm>
            <a:off x="841248" y="3858768"/>
            <a:ext cx="3154680" cy="1097280"/>
          </a:xfrm>
          <a:prstGeom prst="rect">
            <a:avLst/>
          </a:prstGeom>
          <a:noFill/>
          <a:ln/>
        </p:spPr>
        <p:txBody>
          <a:bodyPr wrap="square" lIns="0" tIns="0" rIns="0" bIns="0" rtlCol="0"/>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Next: valence electrons, and the configurations of ions.</a:t>
            </a:r>
            <a:endParaRPr lang="en-US" sz="1600" dirty="0"/>
          </a:p>
        </p:txBody>
      </p:sp>
      <p:sp>
        <p:nvSpPr>
          <p:cNvPr id="5" name="Text 6"/>
          <p:cNvSpPr txBox="1"/>
          <p:nvPr>
            <p:ph idx="110"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U02 • S02.3</a:t>
            </a:r>
            <a:endParaRPr lang="en-US" sz="1000" dirty="0"/>
          </a:p>
        </p:txBody>
      </p:sp>
      <p:sp>
        <p:nvSpPr>
          <p:cNvPr id="7" name="Text 2"/>
          <p:cNvSpPr txBox="1"/>
          <p:nvPr>
            <p:ph idx="102" hasCustomPrompt="1"/>
          </p:nvPr>
        </p:nvSpPr>
        <p:spPr>
          <a:xfrm>
            <a:off x="2926080" y="0"/>
            <a:ext cx="9262872" cy="6858000"/>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SHULL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SHULL Science — Slide Template (CHEMISTRY)</dc:title>
  <dc:subject>PptxGenJS Presentation</dc:subject>
  <dc:creator>Matthew Shull</dc:creator>
  <cp:lastModifiedBy>Matthew Shull</cp:lastModifiedBy>
  <cp:revision>1</cp:revision>
  <dcterms:created xsi:type="dcterms:W3CDTF">2026-10-04T20:08:15Z</dcterms:created>
  <dcterms:modified xsi:type="dcterms:W3CDTF">2026-10-04T20:08:15Z</dcterms:modified>
</cp:coreProperties>
</file>