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opener. Pacing: 22 slides is the top of range for a 50-minute period. Cuttable if short: slides 14, 15 and 19 (energy order, 4s before 3d, period lengths). Image slot (empty): section: a long-exposure photograph of fireflies over a dark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targets, condensed from the four in the brief to three cards: targets 2 and 3 (names, orbitals, capacities) are merged. Matt to confirm the merge. Read aloud, do not linger. Image slot (empty): aside: a hand ticking a checklist on a clipboard.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Hook. Ask first, then reveal: Bohr failed for helium. Answer to take: the quantum-mechanical (electron cloud) model. Image slot (empty): concept: a chalkboard with a half-erased circular orbit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nested words. Students write the bar. Check that they say 'inside', not 'equal to'. Image slot (empty): aside: a set of nested wooden boxes, open, on a bench.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Heisenberg only; do not derive. Probability replaces paths. Image slot (empty): aside: a vintage chalkboard covered in wave equations.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Misconception to hit: electrons do not travel along the orbital outline. Image slot (empty): concept: a long-exposure photograph of a swarm of fireflies forming a glowing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Higher n: higher energy, larger average distance. Image slot (empty): concept: a stone staircase seen from the bottom step, lit from above.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map bottom up. d starts at n = 3, f at n = 4; n = 1 has only s, n = 2 only s and 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Shapes are probability regions, not paths. Slide shows one of the five d orbitals; the fifth d shape differs slightly (named, not drawn). f is names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Misconception: an orbital holds 2 electrons, not as many as its sublevel. Spin pairing is formalised in S2.3. Image slot (empty): aside: an open egg carton on a lab bench.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together. Students list sublevels first (3s, 3p, 3d), then count. Work area stays empty for the board. Image slot (empty): aside: a three-tier wooden shelf with small 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3s 1 orbital 2 e-; 3p 3 orbitals 6 e-; 3d 5 orbitals 10 e-. Total 9 orbitals = n^2, 18 e- = 2n^2. Image slot (empty): data: pencil and graph paper with tally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Pattern: orbitals n^2 (1, 4, 9, 16); electrons 2n^2 (2, 8, 18, 32).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Within one level, energy rises s &lt; p &lt; d &lt; f for atoms with more than one electron. Hydrogen is the exception: same-n sublevels are equal. Image slot (empty): concept: four wooden shelves of increasing height in a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PROVISIONAL wording: '4s fills before 3d' is stated as a neutral-atom filling order, not as a claim that 4s is lower in energy in every situation. Matt to confirm the wording. Previews S2.3. Cuttable. Label reads 'Order rule'.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first. Work area stays empty. Image slot (empty): aside: a rack of seven small test tubes.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4f = 7 x 2 = 14 e-. n = 2: 2s 2 + 2p 6 = 8 e- = 2(2)^2. Image slot (empty): data: a handwritten tally on a lab notebook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PROVISIONAL: group 3 and f block drawing convention. The f block is drawn 14 wide below the table, detached, with a border; which elements sit in group 3 (La/Ac vs Lu/Lr) is not stated. Matt to confirm. Helium: 1s^2, sits in group 18, s-coloured.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Periods: 2, 8, 8, 18, 18, 32, 32 from the sublevels that fill in each. Cuttable. Image slot (empty): aside: a periodic table wall chart photographed at a shallow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Formative 1 to 3. Answers: (1) An orbit is a fixed path; an orbital is a region where the electron is probably found. (2) 2s and 2p. (3) 5 orbitals; 10 electrons. Image slot (empty): aside: a pencil resting on a blank notebook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Formative 4 and 5. Answers: (4) n = 3: 3s 2 + 3p 6 + 3d 10 = 18 electrons (2n^2 = 18). (5) n = 4: 1 + 3 + 5 + 7 = 16 orbitals (n^2 = 16). Collect or compare. Image slot (empty): concept: an empty desk with a calculator and a pencil.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Next section S2.3 uses the filling order from slide 15. Image slot (empty): divider: a long laboratory bench receding into shadow.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_UNIT_TITLE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5532120" y="1554480"/>
            <a:ext cx="6656832" cy="3749040"/>
          </a:xfrm>
          <a:prstGeom prst="rect">
            <a:avLst/>
          </a:prstGeom>
          <a:solidFill>
            <a:srgbClr val="2E3338"/>
          </a:solidFill>
          <a:ln w="12700">
            <a:solidFill>
              <a:srgbClr val="BDB6AA"/>
            </a:solidFill>
            <a:prstDash val="dash"/>
          </a:ln>
        </p:spPr>
      </p:sp>
      <p:sp>
        <p:nvSpPr>
          <p:cNvPr id="4" name="Text 2"/>
          <p:cNvSpPr txBox="1"/>
          <p:nvPr>
            <p:ph idx="102" hasCustomPrompt="1"/>
          </p:nvPr>
        </p:nvSpPr>
        <p:spPr>
          <a:xfrm>
            <a:off x="5532120" y="1554480"/>
            <a:ext cx="6656832" cy="3749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HERO IMAGE  •  16:9  •  1920×1080 min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6" name="Text 3"/>
          <p:cNvSpPr txBox="1"/>
          <p:nvPr>
            <p:ph idx="104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8" name="Text 4"/>
          <p:cNvSpPr txBox="1"/>
          <p:nvPr>
            <p:ph idx="106" type="title" hasCustomPrompt="1"/>
          </p:nvPr>
        </p:nvSpPr>
        <p:spPr>
          <a:xfrm>
            <a:off x="685800" y="1188720"/>
            <a:ext cx="461772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4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Title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Goes Here</a:t>
            </a:r>
            <a:endParaRPr lang="en-US" sz="4000" dirty="0"/>
          </a:p>
        </p:txBody>
      </p:sp>
      <p:sp>
        <p:nvSpPr>
          <p:cNvPr id="9" name="Text 4"/>
          <p:cNvSpPr txBox="1"/>
          <p:nvPr>
            <p:ph idx="107" type="body" hasCustomPrompt="1"/>
          </p:nvPr>
        </p:nvSpPr>
        <p:spPr>
          <a:xfrm>
            <a:off x="685800" y="3246120"/>
            <a:ext cx="4434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sentence on what this unit is actually about.</a:t>
            </a:r>
            <a:endParaRPr lang="en-US" sz="1700" dirty="0"/>
          </a:p>
        </p:txBody>
      </p:sp>
      <p:sp>
        <p:nvSpPr>
          <p:cNvPr id="10" name="Shape 4"/>
          <p:cNvSpPr/>
          <p:nvPr/>
        </p:nvSpPr>
        <p:spPr>
          <a:xfrm>
            <a:off x="685800" y="5074920"/>
            <a:ext cx="1417320" cy="329184"/>
          </a:xfrm>
          <a:prstGeom prst="rect">
            <a:avLst>
              <a:gd name="adj" fmla="val 50000"/>
            </a:avLst>
          </a:prstGeom>
          <a:solidFill>
            <a:srgbClr val="A3E635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685800" y="51023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MR. SHULL</a:t>
            </a:r>
            <a:endParaRPr lang="en-US" sz="1000" dirty="0"/>
          </a:p>
        </p:txBody>
      </p:sp>
      <p:sp>
        <p:nvSpPr>
          <p:cNvPr id="12" name="Text 6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3" name="Text 7"/>
          <p:cNvSpPr txBox="1"/>
          <p:nvPr>
            <p:ph idx="11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_SECTION_TITLE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4" name="Shape 2"/>
          <p:cNvSpPr/>
          <p:nvPr/>
        </p:nvSpPr>
        <p:spPr>
          <a:xfrm>
            <a:off x="4480560" y="777240"/>
            <a:ext cx="7086600" cy="3986784"/>
          </a:xfrm>
          <a:prstGeom prst="rect">
            <a:avLst/>
          </a:prstGeom>
          <a:solidFill>
            <a:srgbClr val="2E3338"/>
          </a:solidFill>
          <a:ln w="12700">
            <a:solidFill>
              <a:srgbClr val="BDB6AA"/>
            </a:solidFill>
            <a:prstDash val="dash"/>
          </a:ln>
        </p:spPr>
      </p:sp>
      <p:sp>
        <p:nvSpPr>
          <p:cNvPr id="5" name="Text 3"/>
          <p:cNvSpPr txBox="1"/>
          <p:nvPr>
            <p:ph idx="103" hasCustomPrompt="1"/>
          </p:nvPr>
        </p:nvSpPr>
        <p:spPr>
          <a:xfrm>
            <a:off x="4480560" y="777240"/>
            <a:ext cx="7086600" cy="39867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SECTION IMAGE  •  16:9</a:t>
            </a:r>
            <a:endParaRPr lang="en-US" sz="1200" dirty="0"/>
          </a:p>
        </p:txBody>
      </p:sp>
      <p:sp>
        <p:nvSpPr>
          <p:cNvPr id="6" name="Text 3"/>
          <p:cNvSpPr txBox="1"/>
          <p:nvPr>
            <p:ph idx="104" type="body" hasCustomPrompt="1"/>
          </p:nvPr>
        </p:nvSpPr>
        <p:spPr>
          <a:xfrm>
            <a:off x="777240" y="502920"/>
            <a:ext cx="201168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14813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SECTION TITLE</a:t>
            </a:r>
            <a:endParaRPr lang="en-US" sz="1100" dirty="0"/>
          </a:p>
        </p:txBody>
      </p:sp>
      <p:sp>
        <p:nvSpPr>
          <p:cNvPr id="8" name="Text 4"/>
          <p:cNvSpPr txBox="1"/>
          <p:nvPr>
            <p:ph idx="106" type="title" hasCustomPrompt="1"/>
          </p:nvPr>
        </p:nvSpPr>
        <p:spPr>
          <a:xfrm>
            <a:off x="777240" y="1847088"/>
            <a:ext cx="28346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6000"/>
              </a:lnSpc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1.1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Section Name</a:t>
            </a:r>
            <a:endParaRPr lang="en-US" sz="2800" dirty="0"/>
          </a:p>
        </p:txBody>
      </p:sp>
      <p:sp>
        <p:nvSpPr>
          <p:cNvPr id="9" name="Text 4"/>
          <p:cNvSpPr txBox="1"/>
          <p:nvPr>
            <p:ph idx="107" type="body" hasCustomPrompt="1"/>
          </p:nvPr>
        </p:nvSpPr>
        <p:spPr>
          <a:xfrm>
            <a:off x="777240" y="3749040"/>
            <a:ext cx="2834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students should be able to do by the end.</a:t>
            </a:r>
            <a:endParaRPr lang="en-US" sz="1600" dirty="0"/>
          </a:p>
        </p:txBody>
      </p:sp>
      <p:sp>
        <p:nvSpPr>
          <p:cNvPr id="10" name="Text 4"/>
          <p:cNvSpPr txBox="1"/>
          <p:nvPr/>
        </p:nvSpPr>
        <p:spPr>
          <a:xfrm>
            <a:off x="777240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1" name="Text 5"/>
          <p:cNvSpPr txBox="1"/>
          <p:nvPr>
            <p:ph idx="109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_GROUPED_CONCEP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77440"/>
            <a:ext cx="4663440" cy="262432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8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CONCEPT IMAGE  •  16:9</a:t>
            </a: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5532120" y="2377440"/>
            <a:ext cx="3154680" cy="262432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0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 ONE</a:t>
            </a:r>
            <a:endParaRPr lang="en-US" sz="1200" dirty="0"/>
          </a:p>
        </p:txBody>
      </p:sp>
      <p:sp>
        <p:nvSpPr>
          <p:cNvPr id="11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first idea, in one or two lines.</a:t>
            </a:r>
            <a:endParaRPr lang="en-US" sz="1600" dirty="0"/>
          </a:p>
        </p:txBody>
      </p:sp>
      <p:sp>
        <p:nvSpPr>
          <p:cNvPr id="12" name="Shape 4"/>
          <p:cNvSpPr/>
          <p:nvPr/>
        </p:nvSpPr>
        <p:spPr>
          <a:xfrm>
            <a:off x="8915400" y="2377440"/>
            <a:ext cx="3154680" cy="2624328"/>
          </a:xfrm>
          <a:prstGeom prst="rect">
            <a:avLst/>
          </a:prstGeom>
          <a:solidFill>
            <a:srgbClr val="2E3338"/>
          </a:solidFill>
          <a:ln w="12700">
            <a:solidFill>
              <a:srgbClr val="2E3338"/>
            </a:solidFill>
            <a:prstDash val="solid"/>
          </a:ln>
        </p:spPr>
      </p:sp>
      <p:sp>
        <p:nvSpPr>
          <p:cNvPr id="13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 TWO</a:t>
            </a:r>
            <a:endParaRPr lang="en-US" sz="1200" dirty="0"/>
          </a:p>
        </p:txBody>
      </p:sp>
      <p:sp>
        <p:nvSpPr>
          <p:cNvPr id="14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contrasting idea.</a:t>
            </a:r>
            <a:endParaRPr lang="en-US" sz="1600" dirty="0"/>
          </a:p>
        </p:txBody>
      </p:sp>
      <p:sp>
        <p:nvSpPr>
          <p:cNvPr id="15" name="Shape 5"/>
          <p:cNvSpPr/>
          <p:nvPr/>
        </p:nvSpPr>
        <p:spPr>
          <a:xfrm>
            <a:off x="685800" y="5321808"/>
            <a:ext cx="10820095" cy="566928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16" name="Text 6"/>
          <p:cNvSpPr txBox="1"/>
          <p:nvPr/>
        </p:nvSpPr>
        <p:spPr>
          <a:xfrm>
            <a:off x="886968" y="53766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MUST WRITE</a:t>
            </a:r>
            <a:endParaRPr lang="en-US" sz="900" dirty="0"/>
          </a:p>
        </p:txBody>
      </p:sp>
      <p:sp>
        <p:nvSpPr>
          <p:cNvPr id="17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sentence students copy down.</a:t>
            </a:r>
            <a:endParaRPr lang="en-US" sz="1600" dirty="0"/>
          </a:p>
        </p:txBody>
      </p:sp>
      <p:sp>
        <p:nvSpPr>
          <p:cNvPr id="18" name="Text 7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9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_DIVIDER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9262872" cy="6858000"/>
          </a:xfrm>
          <a:prstGeom prst="rect">
            <a:avLst/>
          </a:prstGeom>
          <a:solidFill>
            <a:srgbClr val="2E3338"/>
          </a:solidFill>
          <a:ln w="12700">
            <a:solidFill>
              <a:srgbClr val="BDB6AA"/>
            </a:solidFill>
            <a:prstDash val="dash"/>
          </a:ln>
        </p:spPr>
      </p:sp>
      <p:sp>
        <p:nvSpPr>
          <p:cNvPr id="4" name="Text 2"/>
          <p:cNvSpPr txBox="1"/>
          <p:nvPr>
            <p:ph idx="102" hasCustomPrompt="1"/>
          </p:nvPr>
        </p:nvSpPr>
        <p:spPr>
          <a:xfrm>
            <a:off x="2926080" y="0"/>
            <a:ext cx="9262872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FULL-BLEED CONCEPT IMAGE  •  one image, no decoration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481328"/>
            <a:ext cx="3703320" cy="3675888"/>
          </a:xfrm>
          <a:prstGeom prst="rect">
            <a:avLst/>
          </a:prstGeom>
          <a:solidFill>
            <a:srgbClr val="14161B"/>
          </a:solidFill>
          <a:ln w="15875">
            <a:solidFill>
              <a:srgbClr val="A3E635"/>
            </a:solidFill>
            <a:prstDash val="solid"/>
          </a:ln>
        </p:spPr>
      </p:sp>
      <p:sp>
        <p:nvSpPr>
          <p:cNvPr id="8" name="Text 5"/>
          <p:cNvSpPr txBox="1"/>
          <p:nvPr>
            <p:ph idx="106" type="body" hasCustomPrompt="1"/>
          </p:nvPr>
        </p:nvSpPr>
        <p:spPr>
          <a:xfrm>
            <a:off x="841248" y="1755648"/>
            <a:ext cx="3154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1.2  •  SECTION NAME</a:t>
            </a:r>
            <a:endParaRPr lang="en-US" sz="1100" dirty="0"/>
          </a:p>
        </p:txBody>
      </p:sp>
      <p:sp>
        <p:nvSpPr>
          <p:cNvPr id="9" name="Text 5"/>
          <p:cNvSpPr txBox="1"/>
          <p:nvPr>
            <p:ph idx="107" type="title" hasCustomPrompt="1"/>
          </p:nvPr>
        </p:nvSpPr>
        <p:spPr>
          <a:xfrm>
            <a:off x="841248" y="2304288"/>
            <a:ext cx="315468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8000"/>
              </a:lnSpc>
              <a:buNone/>
              <a:def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Big Idea</a:t>
            </a:r>
            <a:endParaRPr lang="en-US" sz="2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Of This Section</a:t>
            </a:r>
            <a:endParaRPr lang="en-US" sz="2600" dirty="0"/>
          </a:p>
        </p:txBody>
      </p:sp>
      <p:sp>
        <p:nvSpPr>
          <p:cNvPr id="10" name="Text 5"/>
          <p:cNvSpPr txBox="1"/>
          <p:nvPr>
            <p:ph idx="108" type="body" hasCustomPrompt="1"/>
          </p:nvPr>
        </p:nvSpPr>
        <p:spPr>
          <a:xfrm>
            <a:off x="841248" y="3858768"/>
            <a:ext cx="31546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Students see the story before the first bullet.</a:t>
            </a:r>
            <a:endParaRPr lang="en-US" sz="1600" dirty="0"/>
          </a:p>
        </p:txBody>
      </p:sp>
      <p:sp>
        <p:nvSpPr>
          <p:cNvPr id="11" name="Text 5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2" name="Text 6"/>
          <p:cNvSpPr txBox="1"/>
          <p:nvPr>
            <p:ph idx="110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_PROCESS_TIME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95728"/>
            <a:ext cx="10820095" cy="201168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8" name="Shape 3"/>
          <p:cNvSpPr/>
          <p:nvPr/>
        </p:nvSpPr>
        <p:spPr>
          <a:xfrm>
            <a:off x="3246120" y="2487168"/>
            <a:ext cx="5669280" cy="1828800"/>
          </a:xfrm>
          <a:prstGeom prst="rect">
            <a:avLst/>
          </a:prstGeom>
          <a:solidFill>
            <a:srgbClr val="2E3338"/>
          </a:solidFill>
          <a:ln w="12700">
            <a:solidFill>
              <a:srgbClr val="BDB6AA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3246120" y="2487168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PROCESS BAND  •  3:1  •  generate 16:9 and centre-crop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685800" y="4617720"/>
            <a:ext cx="2615184" cy="1188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832104" y="4736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6"/>
          <p:cNvSpPr txBox="1"/>
          <p:nvPr>
            <p:ph idx="110" type="body" hasCustomPrompt="1"/>
          </p:nvPr>
        </p:nvSpPr>
        <p:spPr>
          <a:xfrm>
            <a:off x="123444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1</a:t>
            </a:r>
            <a:endParaRPr lang="en-US" sz="1200" dirty="0"/>
          </a:p>
        </p:txBody>
      </p:sp>
      <p:sp>
        <p:nvSpPr>
          <p:cNvPr id="13" name="Text 6"/>
          <p:cNvSpPr txBox="1"/>
          <p:nvPr>
            <p:ph idx="111" type="body" hasCustomPrompt="1"/>
          </p:nvPr>
        </p:nvSpPr>
        <p:spPr>
          <a:xfrm>
            <a:off x="832104" y="5120640"/>
            <a:ext cx="2322576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changed, and why.</a:t>
            </a:r>
            <a:endParaRPr lang="en-US" sz="1600" dirty="0"/>
          </a:p>
        </p:txBody>
      </p:sp>
      <p:sp>
        <p:nvSpPr>
          <p:cNvPr id="14" name="Shape 6"/>
          <p:cNvSpPr/>
          <p:nvPr/>
        </p:nvSpPr>
        <p:spPr>
          <a:xfrm>
            <a:off x="3447288" y="4617720"/>
            <a:ext cx="2615184" cy="1188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3593592" y="4736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8"/>
          <p:cNvSpPr txBox="1"/>
          <p:nvPr>
            <p:ph idx="114" type="body" hasCustomPrompt="1"/>
          </p:nvPr>
        </p:nvSpPr>
        <p:spPr>
          <a:xfrm>
            <a:off x="3995928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2</a:t>
            </a:r>
            <a:endParaRPr lang="en-US" sz="1200" dirty="0"/>
          </a:p>
        </p:txBody>
      </p:sp>
      <p:sp>
        <p:nvSpPr>
          <p:cNvPr id="17" name="Text 8"/>
          <p:cNvSpPr txBox="1"/>
          <p:nvPr>
            <p:ph idx="115" type="body" hasCustomPrompt="1"/>
          </p:nvPr>
        </p:nvSpPr>
        <p:spPr>
          <a:xfrm>
            <a:off x="3593592" y="5120640"/>
            <a:ext cx="2322576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changed, and why.</a:t>
            </a:r>
            <a:endParaRPr lang="en-US" sz="1600" dirty="0"/>
          </a:p>
        </p:txBody>
      </p:sp>
      <p:sp>
        <p:nvSpPr>
          <p:cNvPr id="18" name="Shape 8"/>
          <p:cNvSpPr/>
          <p:nvPr/>
        </p:nvSpPr>
        <p:spPr>
          <a:xfrm>
            <a:off x="6208776" y="4617720"/>
            <a:ext cx="2615184" cy="1188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9" name="Text 9"/>
          <p:cNvSpPr txBox="1"/>
          <p:nvPr/>
        </p:nvSpPr>
        <p:spPr>
          <a:xfrm>
            <a:off x="6355080" y="4736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0"/>
          <p:cNvSpPr txBox="1"/>
          <p:nvPr>
            <p:ph idx="118" type="body" hasCustomPrompt="1"/>
          </p:nvPr>
        </p:nvSpPr>
        <p:spPr>
          <a:xfrm>
            <a:off x="6757416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3</a:t>
            </a:r>
            <a:endParaRPr lang="en-US" sz="1200" dirty="0"/>
          </a:p>
        </p:txBody>
      </p:sp>
      <p:sp>
        <p:nvSpPr>
          <p:cNvPr id="21" name="Text 10"/>
          <p:cNvSpPr txBox="1"/>
          <p:nvPr>
            <p:ph idx="119" type="body" hasCustomPrompt="1"/>
          </p:nvPr>
        </p:nvSpPr>
        <p:spPr>
          <a:xfrm>
            <a:off x="6355080" y="5120640"/>
            <a:ext cx="2322576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changed, and why.</a:t>
            </a:r>
            <a:endParaRPr lang="en-US" sz="1600" dirty="0"/>
          </a:p>
        </p:txBody>
      </p:sp>
      <p:sp>
        <p:nvSpPr>
          <p:cNvPr id="22" name="Shape 10"/>
          <p:cNvSpPr/>
          <p:nvPr/>
        </p:nvSpPr>
        <p:spPr>
          <a:xfrm>
            <a:off x="8970264" y="4617720"/>
            <a:ext cx="2615184" cy="1188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23" name="Text 11"/>
          <p:cNvSpPr txBox="1"/>
          <p:nvPr/>
        </p:nvSpPr>
        <p:spPr>
          <a:xfrm>
            <a:off x="9116568" y="4736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12"/>
          <p:cNvSpPr txBox="1"/>
          <p:nvPr>
            <p:ph idx="122" type="body" hasCustomPrompt="1"/>
          </p:nvPr>
        </p:nvSpPr>
        <p:spPr>
          <a:xfrm>
            <a:off x="9518904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4</a:t>
            </a:r>
            <a:endParaRPr lang="en-US" sz="1200" dirty="0"/>
          </a:p>
        </p:txBody>
      </p:sp>
      <p:sp>
        <p:nvSpPr>
          <p:cNvPr id="25" name="Text 12"/>
          <p:cNvSpPr txBox="1"/>
          <p:nvPr>
            <p:ph idx="123" type="body" hasCustomPrompt="1"/>
          </p:nvPr>
        </p:nvSpPr>
        <p:spPr>
          <a:xfrm>
            <a:off x="9116568" y="5120640"/>
            <a:ext cx="2322576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changed, and why.</a:t>
            </a:r>
            <a:endParaRPr lang="en-US" sz="1600" dirty="0"/>
          </a:p>
        </p:txBody>
      </p:sp>
      <p:sp>
        <p:nvSpPr>
          <p:cNvPr id="26" name="Text 12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7" name="Text 13"/>
          <p:cNvSpPr txBox="1"/>
          <p:nvPr>
            <p:ph idx="125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_CONCEPT_IMAGE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4" name="Shape 2"/>
          <p:cNvSpPr/>
          <p:nvPr/>
        </p:nvSpPr>
        <p:spPr>
          <a:xfrm>
            <a:off x="6172200" y="868680"/>
            <a:ext cx="5349240" cy="416052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5" name="Shape 3"/>
          <p:cNvSpPr/>
          <p:nvPr/>
        </p:nvSpPr>
        <p:spPr>
          <a:xfrm>
            <a:off x="6355080" y="1298448"/>
            <a:ext cx="4983480" cy="2798064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6" name="Text 4"/>
          <p:cNvSpPr txBox="1"/>
          <p:nvPr>
            <p:ph idx="104" hasCustomPrompt="1"/>
          </p:nvPr>
        </p:nvSpPr>
        <p:spPr>
          <a:xfrm>
            <a:off x="6355080" y="1298448"/>
            <a:ext cx="4983480" cy="2798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CONCEPT IMAGE  •  16:9</a:t>
            </a:r>
            <a:endParaRPr lang="en-US" sz="1200" dirty="0"/>
          </a:p>
        </p:txBody>
      </p:sp>
      <p:sp>
        <p:nvSpPr>
          <p:cNvPr id="7" name="Text 4"/>
          <p:cNvSpPr txBox="1"/>
          <p:nvPr>
            <p:ph idx="105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9" name="Text 5"/>
          <p:cNvSpPr txBox="1"/>
          <p:nvPr>
            <p:ph idx="107" type="title" hasCustomPrompt="1"/>
          </p:nvPr>
        </p:nvSpPr>
        <p:spPr>
          <a:xfrm>
            <a:off x="685800" y="1188720"/>
            <a:ext cx="48920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Concept Headline</a:t>
            </a:r>
            <a:endParaRPr lang="en-US" sz="2800" dirty="0"/>
          </a:p>
        </p:txBody>
      </p:sp>
      <p:sp>
        <p:nvSpPr>
          <p:cNvPr id="10" name="Text 5"/>
          <p:cNvSpPr txBox="1"/>
          <p:nvPr>
            <p:ph idx="108" type="body" hasCustomPrompt="1"/>
          </p:nvPr>
        </p:nvSpPr>
        <p:spPr>
          <a:xfrm>
            <a:off x="685800" y="2148840"/>
            <a:ext cx="4892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Keep it to what the image cannot say on its own.</a:t>
            </a: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685800" y="3520440"/>
            <a:ext cx="4892040" cy="1143000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86968" y="3657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KEY QUESTION</a:t>
            </a:r>
            <a:endParaRPr lang="en-US" sz="900" dirty="0"/>
          </a:p>
        </p:txBody>
      </p:sp>
      <p:sp>
        <p:nvSpPr>
          <p:cNvPr id="13" name="Text 7"/>
          <p:cNvSpPr txBox="1"/>
          <p:nvPr>
            <p:ph idx="111" type="body" hasCustomPrompt="1"/>
          </p:nvPr>
        </p:nvSpPr>
        <p:spPr>
          <a:xfrm>
            <a:off x="886968" y="3950208"/>
            <a:ext cx="4489704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question this slide is asking.</a:t>
            </a:r>
            <a:endParaRPr lang="en-US" sz="1600" dirty="0"/>
          </a:p>
        </p:txBody>
      </p:sp>
      <p:sp>
        <p:nvSpPr>
          <p:cNvPr id="14" name="Text 7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5" name="Text 8"/>
          <p:cNvSpPr txBox="1"/>
          <p:nvPr>
            <p:ph idx="113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_COMPARISON_CARD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73609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736092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8412480" y="960120"/>
            <a:ext cx="3090672" cy="173736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8" name="Shape 3"/>
          <p:cNvSpPr/>
          <p:nvPr/>
        </p:nvSpPr>
        <p:spPr>
          <a:xfrm>
            <a:off x="8641080" y="1088136"/>
            <a:ext cx="2633472" cy="148132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8641080" y="1088136"/>
            <a:ext cx="2633472" cy="14813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SUPPORTING IMAGE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685800" y="2788920"/>
            <a:ext cx="3401568" cy="2331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1" name="Text 5"/>
          <p:cNvSpPr txBox="1"/>
          <p:nvPr>
            <p:ph idx="109" type="body" hasCustomPrompt="1"/>
          </p:nvPr>
        </p:nvSpPr>
        <p:spPr>
          <a:xfrm>
            <a:off x="886968" y="2953512"/>
            <a:ext cx="2999232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ITEM ONE</a:t>
            </a:r>
            <a:endParaRPr lang="en-US" sz="1200" dirty="0"/>
          </a:p>
        </p:txBody>
      </p:sp>
      <p:sp>
        <p:nvSpPr>
          <p:cNvPr id="12" name="Text 5"/>
          <p:cNvSpPr txBox="1"/>
          <p:nvPr>
            <p:ph idx="110" type="body" hasCustomPrompt="1"/>
          </p:nvPr>
        </p:nvSpPr>
        <p:spPr>
          <a:xfrm>
            <a:off x="886968" y="3246120"/>
            <a:ext cx="2999232" cy="1673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Three parallel items.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job each.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4297680" y="2788920"/>
            <a:ext cx="3401568" cy="2331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4" name="Text 6"/>
          <p:cNvSpPr txBox="1"/>
          <p:nvPr>
            <p:ph idx="112" type="body" hasCustomPrompt="1"/>
          </p:nvPr>
        </p:nvSpPr>
        <p:spPr>
          <a:xfrm>
            <a:off x="4498848" y="2953512"/>
            <a:ext cx="2999232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ITEM TWO</a:t>
            </a:r>
            <a:endParaRPr lang="en-US" sz="1200" dirty="0"/>
          </a:p>
        </p:txBody>
      </p:sp>
      <p:sp>
        <p:nvSpPr>
          <p:cNvPr id="15" name="Text 6"/>
          <p:cNvSpPr txBox="1"/>
          <p:nvPr>
            <p:ph idx="113" type="body" hasCustomPrompt="1"/>
          </p:nvPr>
        </p:nvSpPr>
        <p:spPr>
          <a:xfrm>
            <a:off x="4498848" y="3246120"/>
            <a:ext cx="2999232" cy="1673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Not a wall of bullets.</a:t>
            </a:r>
            <a:endParaRPr lang="en-US" sz="1600" dirty="0"/>
          </a:p>
        </p:txBody>
      </p:sp>
      <p:sp>
        <p:nvSpPr>
          <p:cNvPr id="16" name="Shape 6"/>
          <p:cNvSpPr/>
          <p:nvPr/>
        </p:nvSpPr>
        <p:spPr>
          <a:xfrm>
            <a:off x="7909560" y="2788920"/>
            <a:ext cx="3401568" cy="2331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7" name="Text 7"/>
          <p:cNvSpPr txBox="1"/>
          <p:nvPr>
            <p:ph idx="115" type="body" hasCustomPrompt="1"/>
          </p:nvPr>
        </p:nvSpPr>
        <p:spPr>
          <a:xfrm>
            <a:off x="8110728" y="2953512"/>
            <a:ext cx="2999232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ITEM THREE</a:t>
            </a:r>
            <a:endParaRPr lang="en-US" sz="1200" dirty="0"/>
          </a:p>
        </p:txBody>
      </p:sp>
      <p:sp>
        <p:nvSpPr>
          <p:cNvPr id="18" name="Text 7"/>
          <p:cNvSpPr txBox="1"/>
          <p:nvPr>
            <p:ph idx="116" type="body" hasCustomPrompt="1"/>
          </p:nvPr>
        </p:nvSpPr>
        <p:spPr>
          <a:xfrm>
            <a:off x="8110728" y="3246120"/>
            <a:ext cx="2999232" cy="1673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third parallel item.</a:t>
            </a:r>
            <a:endParaRPr lang="en-US" sz="1600" dirty="0"/>
          </a:p>
        </p:txBody>
      </p:sp>
      <p:sp>
        <p:nvSpPr>
          <p:cNvPr id="19" name="Shape 7"/>
          <p:cNvSpPr/>
          <p:nvPr/>
        </p:nvSpPr>
        <p:spPr>
          <a:xfrm>
            <a:off x="685800" y="5413248"/>
            <a:ext cx="10820095" cy="566928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20" name="Text 8"/>
          <p:cNvSpPr txBox="1"/>
          <p:nvPr/>
        </p:nvSpPr>
        <p:spPr>
          <a:xfrm>
            <a:off x="886968" y="54681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MUST WRITE</a:t>
            </a:r>
            <a:endParaRPr lang="en-US" sz="900" dirty="0"/>
          </a:p>
        </p:txBody>
      </p:sp>
      <p:sp>
        <p:nvSpPr>
          <p:cNvPr id="21" name="Text 9"/>
          <p:cNvSpPr txBox="1"/>
          <p:nvPr>
            <p:ph idx="119" type="body" hasCustomPrompt="1"/>
          </p:nvPr>
        </p:nvSpPr>
        <p:spPr>
          <a:xfrm>
            <a:off x="2240280" y="5486400"/>
            <a:ext cx="89912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sentence students copy down.</a:t>
            </a:r>
            <a:endParaRPr lang="en-US" sz="1600" dirty="0"/>
          </a:p>
        </p:txBody>
      </p:sp>
      <p:sp>
        <p:nvSpPr>
          <p:cNvPr id="22" name="Text 9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3" name="Text 10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_DIAGRAM_ANNOTA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95728"/>
            <a:ext cx="5074920" cy="32461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8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0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Hand-built diagram here.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Anything with a number or a label is built, not generated.</a:t>
            </a:r>
            <a:endParaRPr lang="en-US" sz="2000" dirty="0"/>
          </a:p>
        </p:txBody>
      </p:sp>
      <p:sp>
        <p:nvSpPr>
          <p:cNvPr id="9" name="Shape 3"/>
          <p:cNvSpPr/>
          <p:nvPr/>
        </p:nvSpPr>
        <p:spPr>
          <a:xfrm>
            <a:off x="6126480" y="2395728"/>
            <a:ext cx="5532120" cy="987552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0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LABEL ONE</a:t>
            </a:r>
            <a:endParaRPr lang="en-US" sz="1200" dirty="0"/>
          </a:p>
        </p:txBody>
      </p:sp>
      <p:sp>
        <p:nvSpPr>
          <p:cNvPr id="11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this part of the diagram means.</a:t>
            </a:r>
            <a:endParaRPr lang="en-US" sz="1600" dirty="0"/>
          </a:p>
        </p:txBody>
      </p:sp>
      <p:sp>
        <p:nvSpPr>
          <p:cNvPr id="12" name="Shape 4"/>
          <p:cNvSpPr/>
          <p:nvPr/>
        </p:nvSpPr>
        <p:spPr>
          <a:xfrm>
            <a:off x="6126480" y="3529584"/>
            <a:ext cx="5532120" cy="987552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3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LABEL TWO</a:t>
            </a:r>
            <a:endParaRPr lang="en-US" sz="1200" dirty="0"/>
          </a:p>
        </p:txBody>
      </p:sp>
      <p:sp>
        <p:nvSpPr>
          <p:cNvPr id="14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this part of the diagram means.</a:t>
            </a:r>
            <a:endParaRPr lang="en-US" sz="1600" dirty="0"/>
          </a:p>
        </p:txBody>
      </p:sp>
      <p:sp>
        <p:nvSpPr>
          <p:cNvPr id="15" name="Shape 5"/>
          <p:cNvSpPr/>
          <p:nvPr/>
        </p:nvSpPr>
        <p:spPr>
          <a:xfrm>
            <a:off x="6126480" y="4663440"/>
            <a:ext cx="5532120" cy="97840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6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LABEL THREE</a:t>
            </a:r>
            <a:endParaRPr lang="en-US" sz="1200" dirty="0"/>
          </a:p>
        </p:txBody>
      </p:sp>
      <p:sp>
        <p:nvSpPr>
          <p:cNvPr id="17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this part of the diagram means.</a:t>
            </a:r>
            <a:endParaRPr lang="en-US" sz="1600" dirty="0"/>
          </a:p>
        </p:txBody>
      </p:sp>
      <p:sp>
        <p:nvSpPr>
          <p:cNvPr id="18" name="Text 6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9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_EXAMPLE_PROBLE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78638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786384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8915400" y="960120"/>
            <a:ext cx="2587752" cy="1325880"/>
          </a:xfrm>
          <a:prstGeom prst="rect">
            <a:avLst/>
          </a:prstGeom>
          <a:solidFill>
            <a:srgbClr val="EDF0E5"/>
          </a:solidFill>
          <a:ln w="25400">
            <a:solidFill>
              <a:srgbClr val="A3E635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9262872" y="1088136"/>
            <a:ext cx="1901952" cy="106984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9262872" y="1088136"/>
            <a:ext cx="1901952" cy="10698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SUPPORTING IMAGE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685800" y="2395728"/>
            <a:ext cx="5394960" cy="1051560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886968" y="2523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PROBLEM</a:t>
            </a:r>
            <a:endParaRPr lang="en-US" sz="900" dirty="0"/>
          </a:p>
        </p:txBody>
      </p:sp>
      <p:sp>
        <p:nvSpPr>
          <p:cNvPr id="12" name="Text 6"/>
          <p:cNvSpPr txBox="1"/>
          <p:nvPr>
            <p:ph idx="110" type="body" hasCustomPrompt="1"/>
          </p:nvPr>
        </p:nvSpPr>
        <p:spPr>
          <a:xfrm>
            <a:off x="886968" y="2798064"/>
            <a:ext cx="4992624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State the problem in one sentence.</a:t>
            </a:r>
            <a:endParaRPr lang="en-US" sz="1600" dirty="0"/>
          </a:p>
        </p:txBody>
      </p:sp>
      <p:sp>
        <p:nvSpPr>
          <p:cNvPr id="13" name="Shape 6"/>
          <p:cNvSpPr/>
          <p:nvPr/>
        </p:nvSpPr>
        <p:spPr>
          <a:xfrm>
            <a:off x="685800" y="3611880"/>
            <a:ext cx="2606040" cy="173736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4" name="Text 7"/>
          <p:cNvSpPr txBox="1"/>
          <p:nvPr>
            <p:ph idx="112" type="body" hasCustomPrompt="1"/>
          </p:nvPr>
        </p:nvSpPr>
        <p:spPr>
          <a:xfrm>
            <a:off x="886968" y="3776472"/>
            <a:ext cx="220370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15" name="Text 7"/>
          <p:cNvSpPr txBox="1"/>
          <p:nvPr>
            <p:ph idx="113" type="body" hasCustomPrompt="1"/>
          </p:nvPr>
        </p:nvSpPr>
        <p:spPr>
          <a:xfrm>
            <a:off x="886968" y="4069080"/>
            <a:ext cx="2203704" cy="107899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the problem hands you.</a:t>
            </a:r>
            <a:endParaRPr lang="en-US" sz="1600" dirty="0"/>
          </a:p>
        </p:txBody>
      </p:sp>
      <p:sp>
        <p:nvSpPr>
          <p:cNvPr id="16" name="Shape 7"/>
          <p:cNvSpPr/>
          <p:nvPr/>
        </p:nvSpPr>
        <p:spPr>
          <a:xfrm>
            <a:off x="3474720" y="3611880"/>
            <a:ext cx="2606040" cy="173736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7" name="Text 8"/>
          <p:cNvSpPr txBox="1"/>
          <p:nvPr>
            <p:ph idx="115" type="body" hasCustomPrompt="1"/>
          </p:nvPr>
        </p:nvSpPr>
        <p:spPr>
          <a:xfrm>
            <a:off x="3675888" y="3776472"/>
            <a:ext cx="220370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NEED</a:t>
            </a:r>
            <a:endParaRPr lang="en-US" sz="1200" dirty="0"/>
          </a:p>
        </p:txBody>
      </p:sp>
      <p:sp>
        <p:nvSpPr>
          <p:cNvPr id="18" name="Text 8"/>
          <p:cNvSpPr txBox="1"/>
          <p:nvPr>
            <p:ph idx="116" type="body" hasCustomPrompt="1"/>
          </p:nvPr>
        </p:nvSpPr>
        <p:spPr>
          <a:xfrm>
            <a:off x="3675888" y="4069080"/>
            <a:ext cx="2203704" cy="107899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you are solving for.</a:t>
            </a:r>
            <a:endParaRPr lang="en-US" sz="1600" dirty="0"/>
          </a:p>
        </p:txBody>
      </p:sp>
      <p:sp>
        <p:nvSpPr>
          <p:cNvPr id="19" name="Shape 8"/>
          <p:cNvSpPr/>
          <p:nvPr/>
        </p:nvSpPr>
        <p:spPr>
          <a:xfrm>
            <a:off x="6263640" y="2395728"/>
            <a:ext cx="5239512" cy="2953512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20" name="Text 9"/>
          <p:cNvSpPr txBox="1"/>
          <p:nvPr/>
        </p:nvSpPr>
        <p:spPr>
          <a:xfrm>
            <a:off x="6464808" y="2560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WORK AREA</a:t>
            </a:r>
            <a:endParaRPr lang="en-US" sz="900" dirty="0"/>
          </a:p>
        </p:txBody>
      </p:sp>
      <p:sp>
        <p:nvSpPr>
          <p:cNvPr id="21" name="Text 10"/>
          <p:cNvSpPr txBox="1"/>
          <p:nvPr>
            <p:ph idx="119" type="body" hasCustomPrompt="1"/>
          </p:nvPr>
        </p:nvSpPr>
        <p:spPr>
          <a:xfrm>
            <a:off x="6464808" y="2880360"/>
            <a:ext cx="4837176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Leave this blank in the projected copy. It is filled live on the board.</a:t>
            </a:r>
            <a:endParaRPr lang="en-US" sz="1900" dirty="0"/>
          </a:p>
        </p:txBody>
      </p:sp>
      <p:sp>
        <p:nvSpPr>
          <p:cNvPr id="22" name="Shape 10"/>
          <p:cNvSpPr/>
          <p:nvPr/>
        </p:nvSpPr>
        <p:spPr>
          <a:xfrm>
            <a:off x="685800" y="5532120"/>
            <a:ext cx="10820095" cy="566928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23" name="Text 11"/>
          <p:cNvSpPr txBox="1"/>
          <p:nvPr/>
        </p:nvSpPr>
        <p:spPr>
          <a:xfrm>
            <a:off x="886968" y="55869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MUST WRITE</a:t>
            </a:r>
            <a:endParaRPr lang="en-US" sz="900" dirty="0"/>
          </a:p>
        </p:txBody>
      </p:sp>
      <p:sp>
        <p:nvSpPr>
          <p:cNvPr id="24" name="Text 12"/>
          <p:cNvSpPr txBox="1"/>
          <p:nvPr>
            <p:ph idx="122" type="body" hasCustomPrompt="1"/>
          </p:nvPr>
        </p:nvSpPr>
        <p:spPr>
          <a:xfrm>
            <a:off x="2240280" y="5605272"/>
            <a:ext cx="89912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sentence students copy down.</a:t>
            </a:r>
            <a:endParaRPr lang="en-US" sz="1600" dirty="0"/>
          </a:p>
        </p:txBody>
      </p:sp>
      <p:sp>
        <p:nvSpPr>
          <p:cNvPr id="25" name="Text 12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6" name="Text 13"/>
          <p:cNvSpPr txBox="1"/>
          <p:nvPr>
            <p:ph idx="124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WORKED_SOLU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95728"/>
            <a:ext cx="4160520" cy="256032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8" name="Shape 3"/>
          <p:cNvSpPr/>
          <p:nvPr/>
        </p:nvSpPr>
        <p:spPr>
          <a:xfrm>
            <a:off x="832104" y="2542032"/>
            <a:ext cx="3867912" cy="2267712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832104" y="2542032"/>
            <a:ext cx="3867912" cy="22677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DATA IMAGE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5074920" y="2395728"/>
            <a:ext cx="3154680" cy="25603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1" name="Text 5"/>
          <p:cNvSpPr txBox="1"/>
          <p:nvPr>
            <p:ph idx="109" type="body" hasCustomPrompt="1"/>
          </p:nvPr>
        </p:nvSpPr>
        <p:spPr>
          <a:xfrm>
            <a:off x="5276088" y="2560320"/>
            <a:ext cx="275234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FORMULA</a:t>
            </a:r>
            <a:endParaRPr lang="en-US" sz="1200" dirty="0"/>
          </a:p>
        </p:txBody>
      </p:sp>
      <p:sp>
        <p:nvSpPr>
          <p:cNvPr id="12" name="Text 5"/>
          <p:cNvSpPr txBox="1"/>
          <p:nvPr>
            <p:ph idx="110" type="body" hasCustomPrompt="1"/>
          </p:nvPr>
        </p:nvSpPr>
        <p:spPr>
          <a:xfrm>
            <a:off x="5276088" y="2852928"/>
            <a:ext cx="2752344" cy="19019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relationship, before any numbers.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8412480" y="2395728"/>
            <a:ext cx="3090672" cy="25603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4" name="Text 6"/>
          <p:cNvSpPr txBox="1"/>
          <p:nvPr/>
        </p:nvSpPr>
        <p:spPr>
          <a:xfrm>
            <a:off x="8613648" y="25603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WORK</a:t>
            </a:r>
            <a:endParaRPr lang="en-US" sz="900" dirty="0"/>
          </a:p>
        </p:txBody>
      </p:sp>
      <p:sp>
        <p:nvSpPr>
          <p:cNvPr id="15" name="Text 7"/>
          <p:cNvSpPr txBox="1"/>
          <p:nvPr>
            <p:ph idx="113" type="body" hasCustomPrompt="1"/>
          </p:nvPr>
        </p:nvSpPr>
        <p:spPr>
          <a:xfrm>
            <a:off x="8613648" y="2871216"/>
            <a:ext cx="2688336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completed work,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by step.</a:t>
            </a:r>
            <a:endParaRPr lang="en-US" sz="1900" dirty="0"/>
          </a:p>
        </p:txBody>
      </p:sp>
      <p:sp>
        <p:nvSpPr>
          <p:cNvPr id="16" name="Shape 7"/>
          <p:cNvSpPr/>
          <p:nvPr/>
        </p:nvSpPr>
        <p:spPr>
          <a:xfrm>
            <a:off x="685800" y="5138928"/>
            <a:ext cx="10820095" cy="566928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17" name="Text 8"/>
          <p:cNvSpPr txBox="1"/>
          <p:nvPr/>
        </p:nvSpPr>
        <p:spPr>
          <a:xfrm>
            <a:off x="886968" y="5193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MUST WRITE</a:t>
            </a:r>
            <a:endParaRPr lang="en-US" sz="900" dirty="0"/>
          </a:p>
        </p:txBody>
      </p:sp>
      <p:sp>
        <p:nvSpPr>
          <p:cNvPr id="18" name="Text 9"/>
          <p:cNvSpPr txBox="1"/>
          <p:nvPr>
            <p:ph idx="116" type="body" hasCustomPrompt="1"/>
          </p:nvPr>
        </p:nvSpPr>
        <p:spPr>
          <a:xfrm>
            <a:off x="2240280" y="5212080"/>
            <a:ext cx="89912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sentence students copy down.</a:t>
            </a:r>
            <a:endParaRPr lang="en-US" sz="1600" dirty="0"/>
          </a:p>
        </p:txBody>
      </p:sp>
      <p:sp>
        <p:nvSpPr>
          <p:cNvPr id="19" name="Text 9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0" name="Text 10"/>
          <p:cNvSpPr txBox="1"/>
          <p:nvPr>
            <p:ph idx="118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GIVENS_EQUATION_ANSW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95728"/>
            <a:ext cx="4663440" cy="2624328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8" name="Shape 3"/>
          <p:cNvSpPr/>
          <p:nvPr/>
        </p:nvSpPr>
        <p:spPr>
          <a:xfrm>
            <a:off x="832104" y="2542032"/>
            <a:ext cx="4370832" cy="2331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832104" y="2542032"/>
            <a:ext cx="4370832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SETUP IMAGE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5577840" y="2395728"/>
            <a:ext cx="5925312" cy="960120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5779008" y="2505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PROBLEM</a:t>
            </a:r>
            <a:endParaRPr lang="en-US" sz="900" dirty="0"/>
          </a:p>
        </p:txBody>
      </p:sp>
      <p:sp>
        <p:nvSpPr>
          <p:cNvPr id="12" name="Text 6"/>
          <p:cNvSpPr txBox="1"/>
          <p:nvPr>
            <p:ph idx="110" type="body" hasCustomPrompt="1"/>
          </p:nvPr>
        </p:nvSpPr>
        <p:spPr>
          <a:xfrm>
            <a:off x="5779008" y="2743200"/>
            <a:ext cx="5522976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State the problem in one sentence.</a:t>
            </a:r>
            <a:endParaRPr lang="en-US" sz="1600" dirty="0"/>
          </a:p>
        </p:txBody>
      </p:sp>
      <p:sp>
        <p:nvSpPr>
          <p:cNvPr id="13" name="Shape 6"/>
          <p:cNvSpPr/>
          <p:nvPr/>
        </p:nvSpPr>
        <p:spPr>
          <a:xfrm>
            <a:off x="5577840" y="3520440"/>
            <a:ext cx="2871216" cy="1499616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4" name="Text 7"/>
          <p:cNvSpPr txBox="1"/>
          <p:nvPr>
            <p:ph idx="112" type="body" hasCustomPrompt="1"/>
          </p:nvPr>
        </p:nvSpPr>
        <p:spPr>
          <a:xfrm>
            <a:off x="5779008" y="3685032"/>
            <a:ext cx="246888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15" name="Text 7"/>
          <p:cNvSpPr txBox="1"/>
          <p:nvPr>
            <p:ph idx="113" type="body" hasCustomPrompt="1"/>
          </p:nvPr>
        </p:nvSpPr>
        <p:spPr>
          <a:xfrm>
            <a:off x="5779008" y="3977640"/>
            <a:ext cx="2468880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Values the problem supplies.</a:t>
            </a:r>
            <a:endParaRPr lang="en-US" sz="1600" dirty="0"/>
          </a:p>
        </p:txBody>
      </p:sp>
      <p:sp>
        <p:nvSpPr>
          <p:cNvPr id="16" name="Shape 7"/>
          <p:cNvSpPr/>
          <p:nvPr/>
        </p:nvSpPr>
        <p:spPr>
          <a:xfrm>
            <a:off x="8631936" y="3520440"/>
            <a:ext cx="2871216" cy="1499616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7" name="Text 8"/>
          <p:cNvSpPr txBox="1"/>
          <p:nvPr>
            <p:ph idx="115" type="body" hasCustomPrompt="1"/>
          </p:nvPr>
        </p:nvSpPr>
        <p:spPr>
          <a:xfrm>
            <a:off x="8833104" y="3685032"/>
            <a:ext cx="246888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EQUATION</a:t>
            </a:r>
            <a:endParaRPr lang="en-US" sz="1200" dirty="0"/>
          </a:p>
        </p:txBody>
      </p:sp>
      <p:sp>
        <p:nvSpPr>
          <p:cNvPr id="18" name="Text 8"/>
          <p:cNvSpPr txBox="1"/>
          <p:nvPr>
            <p:ph idx="116" type="body" hasCustomPrompt="1"/>
          </p:nvPr>
        </p:nvSpPr>
        <p:spPr>
          <a:xfrm>
            <a:off x="8833104" y="3977640"/>
            <a:ext cx="2468880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relationship you will use.</a:t>
            </a:r>
            <a:endParaRPr lang="en-US" sz="1600" dirty="0"/>
          </a:p>
        </p:txBody>
      </p:sp>
      <p:sp>
        <p:nvSpPr>
          <p:cNvPr id="19" name="Shape 8"/>
          <p:cNvSpPr/>
          <p:nvPr/>
        </p:nvSpPr>
        <p:spPr>
          <a:xfrm>
            <a:off x="5577840" y="5193792"/>
            <a:ext cx="5925312" cy="777240"/>
          </a:xfrm>
          <a:prstGeom prst="rect">
            <a:avLst/>
          </a:prstGeom>
          <a:solidFill>
            <a:srgbClr val="EDF0E5"/>
          </a:solidFill>
          <a:ln w="19050">
            <a:solidFill>
              <a:srgbClr val="A3E635"/>
            </a:solidFill>
            <a:prstDash val="solid"/>
          </a:ln>
        </p:spPr>
      </p:sp>
      <p:sp>
        <p:nvSpPr>
          <p:cNvPr id="20" name="Text 9"/>
          <p:cNvSpPr txBox="1"/>
          <p:nvPr/>
        </p:nvSpPr>
        <p:spPr>
          <a:xfrm>
            <a:off x="5779008" y="5285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ANSWER</a:t>
            </a:r>
            <a:endParaRPr lang="en-US" sz="900" dirty="0"/>
          </a:p>
        </p:txBody>
      </p:sp>
      <p:sp>
        <p:nvSpPr>
          <p:cNvPr id="21" name="Text 10"/>
          <p:cNvSpPr txBox="1"/>
          <p:nvPr>
            <p:ph idx="119" type="body" hasCustomPrompt="1"/>
          </p:nvPr>
        </p:nvSpPr>
        <p:spPr>
          <a:xfrm>
            <a:off x="5779008" y="5504688"/>
            <a:ext cx="5522976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20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with units</a:t>
            </a:r>
            <a:endParaRPr lang="en-US" sz="2000" dirty="0"/>
          </a:p>
        </p:txBody>
      </p:sp>
      <p:sp>
        <p:nvSpPr>
          <p:cNvPr id="22" name="Text 10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3" name="Text 11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DECK_INDEX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4" name="Text 2"/>
          <p:cNvSpPr txBox="1"/>
          <p:nvPr>
            <p:ph idx="102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6" name="Text 3"/>
          <p:cNvSpPr txBox="1"/>
          <p:nvPr>
            <p:ph idx="104" type="title" hasCustomPrompt="1"/>
          </p:nvPr>
        </p:nvSpPr>
        <p:spPr>
          <a:xfrm>
            <a:off x="685800" y="1097280"/>
            <a:ext cx="3200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6000"/>
              </a:lnSpc>
              <a:buNone/>
              <a:defRPr lang="en-US" sz="3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Template Slide</a:t>
            </a:r>
            <a:endParaRPr lang="en-US" sz="3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Family</a:t>
            </a:r>
            <a:endParaRPr lang="en-US" sz="3000" dirty="0"/>
          </a:p>
        </p:txBody>
      </p:sp>
      <p:sp>
        <p:nvSpPr>
          <p:cNvPr id="7" name="Text 3"/>
          <p:cNvSpPr txBox="1"/>
          <p:nvPr>
            <p:ph idx="105" type="body" hasCustomPrompt="1"/>
          </p:nvPr>
        </p:nvSpPr>
        <p:spPr>
          <a:xfrm>
            <a:off x="685800" y="2514600"/>
            <a:ext cx="3200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Twelve layouts shared by Chemistry, Physics, and Geology.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New slide → Layout → pick one. Never build from scratch.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4434840" y="1097280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4599432" y="12252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5038344" y="12252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Title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4599432" y="15727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opens a unit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766560" y="1097280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6931152" y="12252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7370064" y="12252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Section Title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6931152" y="15727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opens a section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9098280" y="1097280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262872" y="12252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9701784" y="12252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Grouped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9262872" y="15727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two contrasting ideas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434840" y="2212848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599432" y="2340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5038344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Divider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599432" y="26883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visual reset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766560" y="2212848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931152" y="2340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7370064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Process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6931152" y="26883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four numbered steps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9098280" y="2212848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9262872" y="2340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06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9701784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Concept Image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9262872" y="26883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panel + key question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434840" y="3328416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4599432" y="3456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07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5038344" y="34564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4599432" y="38039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three parallel items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766560" y="3328416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6931152" y="3456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08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7370064" y="34564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Diagram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6931152" y="38039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figure + annotation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9098280" y="3328416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9262872" y="3456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09</a:t>
            </a:r>
            <a:endParaRPr lang="en-US" sz="1100" dirty="0"/>
          </a:p>
        </p:txBody>
      </p:sp>
      <p:sp>
        <p:nvSpPr>
          <p:cNvPr id="42" name="Text 37"/>
          <p:cNvSpPr txBox="1"/>
          <p:nvPr/>
        </p:nvSpPr>
        <p:spPr>
          <a:xfrm>
            <a:off x="9701784" y="34564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Example</a:t>
            </a:r>
            <a:endParaRPr lang="en-US" sz="1200" dirty="0"/>
          </a:p>
        </p:txBody>
      </p:sp>
      <p:sp>
        <p:nvSpPr>
          <p:cNvPr id="43" name="Text 38"/>
          <p:cNvSpPr txBox="1"/>
          <p:nvPr/>
        </p:nvSpPr>
        <p:spPr>
          <a:xfrm>
            <a:off x="9262872" y="38039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empty work area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4434840" y="4443984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4599432" y="45720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10</a:t>
            </a:r>
            <a:endParaRPr lang="en-US" sz="1100" dirty="0"/>
          </a:p>
        </p:txBody>
      </p:sp>
      <p:sp>
        <p:nvSpPr>
          <p:cNvPr id="46" name="Text 41"/>
          <p:cNvSpPr txBox="1"/>
          <p:nvPr/>
        </p:nvSpPr>
        <p:spPr>
          <a:xfrm>
            <a:off x="5038344" y="4572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7" name="Text 42"/>
          <p:cNvSpPr txBox="1"/>
          <p:nvPr/>
        </p:nvSpPr>
        <p:spPr>
          <a:xfrm>
            <a:off x="4599432" y="491947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pairs with 09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6766560" y="4443984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6931152" y="45720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11</a:t>
            </a:r>
            <a:endParaRPr lang="en-US" sz="1100" dirty="0"/>
          </a:p>
        </p:txBody>
      </p:sp>
      <p:sp>
        <p:nvSpPr>
          <p:cNvPr id="50" name="Text 45"/>
          <p:cNvSpPr txBox="1"/>
          <p:nvPr/>
        </p:nvSpPr>
        <p:spPr>
          <a:xfrm>
            <a:off x="7370064" y="4572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Given/Eq/Ans</a:t>
            </a:r>
            <a:endParaRPr lang="en-US" sz="1200" dirty="0"/>
          </a:p>
        </p:txBody>
      </p:sp>
      <p:sp>
        <p:nvSpPr>
          <p:cNvPr id="51" name="Text 46"/>
          <p:cNvSpPr txBox="1"/>
          <p:nvPr/>
        </p:nvSpPr>
        <p:spPr>
          <a:xfrm>
            <a:off x="6931152" y="491947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any course</a:t>
            </a:r>
            <a:endParaRPr lang="en-US" sz="1100" dirty="0"/>
          </a:p>
        </p:txBody>
      </p:sp>
      <p:sp>
        <p:nvSpPr>
          <p:cNvPr id="52" name="Shape 47"/>
          <p:cNvSpPr/>
          <p:nvPr/>
        </p:nvSpPr>
        <p:spPr>
          <a:xfrm>
            <a:off x="9098280" y="4443984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9262872" y="45720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12</a:t>
            </a:r>
            <a:endParaRPr lang="en-US" sz="1100" dirty="0"/>
          </a:p>
        </p:txBody>
      </p:sp>
      <p:sp>
        <p:nvSpPr>
          <p:cNvPr id="54" name="Text 49"/>
          <p:cNvSpPr txBox="1"/>
          <p:nvPr/>
        </p:nvSpPr>
        <p:spPr>
          <a:xfrm>
            <a:off x="9701784" y="4572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Deck Index</a:t>
            </a:r>
            <a:endParaRPr lang="en-US" sz="1200" dirty="0"/>
          </a:p>
        </p:txBody>
      </p:sp>
      <p:sp>
        <p:nvSpPr>
          <p:cNvPr id="55" name="Text 50"/>
          <p:cNvSpPr txBox="1"/>
          <p:nvPr/>
        </p:nvSpPr>
        <p:spPr>
          <a:xfrm>
            <a:off x="9262872" y="491947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delete before class</a:t>
            </a:r>
            <a:endParaRPr lang="en-US" sz="1100" dirty="0"/>
          </a:p>
        </p:txBody>
      </p:sp>
      <p:sp>
        <p:nvSpPr>
          <p:cNvPr id="56" name="Text 51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57" name="Text 52"/>
          <p:cNvSpPr txBox="1"/>
          <p:nvPr>
            <p:ph idx="155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4" type="body" hasCustomPrompt="1"/>
          </p:nvPr>
        </p:nvSpPr>
        <p:spPr>
          <a:xfrm>
            <a:off x="777240" y="502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4"/>
          <p:cNvSpPr txBox="1"/>
          <p:nvPr>
            <p:ph idx="106" type="title" hasCustomPrompt="1"/>
          </p:nvPr>
        </p:nvSpPr>
        <p:spPr>
          <a:xfrm>
            <a:off x="777240" y="1847088"/>
            <a:ext cx="2834640" cy="1691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2.2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Energy Levels, Sublevels &amp; Orbitals</a:t>
            </a:r>
            <a:endParaRPr lang="en-US" sz="2800" dirty="0"/>
          </a:p>
        </p:txBody>
      </p:sp>
      <p:sp>
        <p:nvSpPr>
          <p:cNvPr id="4" name="Text 4"/>
          <p:cNvSpPr txBox="1"/>
          <p:nvPr>
            <p:ph idx="107" type="body" hasCustomPrompt="1"/>
          </p:nvPr>
        </p:nvSpPr>
        <p:spPr>
          <a:xfrm>
            <a:off x="777240" y="37490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Name the levels, sublevels, and orbitals, and say how many electrons each can hold.</a:t>
            </a:r>
            <a:endParaRPr lang="en-US" sz="1600" dirty="0"/>
          </a:p>
        </p:txBody>
      </p:sp>
      <p:sp>
        <p:nvSpPr>
          <p:cNvPr id="5" name="Text 5"/>
          <p:cNvSpPr txBox="1"/>
          <p:nvPr>
            <p:ph idx="109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S02.2</a:t>
            </a:r>
            <a:endParaRPr lang="en-US" sz="1000" dirty="0"/>
          </a:p>
        </p:txBody>
      </p:sp>
      <p:sp>
        <p:nvSpPr>
          <p:cNvPr id="7" name="Text 3"/>
          <p:cNvSpPr txBox="1"/>
          <p:nvPr>
            <p:ph idx="103" hasCustomPrompt="1"/>
          </p:nvPr>
        </p:nvSpPr>
        <p:spPr>
          <a:xfrm>
            <a:off x="4480560" y="777240"/>
            <a:ext cx="708660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360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You Will Be Able to Do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By the end of 2.2 you can do these three things.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88696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88696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Describe an orbital as a region where an electron is probably found.</a:t>
            </a:r>
            <a:endParaRPr lang="en-US" sz="1600" dirty="0"/>
          </a:p>
        </p:txBody>
      </p:sp>
      <p:sp>
        <p:nvSpPr>
          <p:cNvPr id="6" name="Text 6"/>
          <p:cNvSpPr txBox="1"/>
          <p:nvPr>
            <p:ph idx="112" type="body" hasCustomPrompt="1"/>
          </p:nvPr>
        </p:nvSpPr>
        <p:spPr>
          <a:xfrm>
            <a:off x="449884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NAMES AND COUNTS</a:t>
            </a:r>
            <a:endParaRPr lang="en-US" sz="1200" dirty="0"/>
          </a:p>
        </p:txBody>
      </p:sp>
      <p:sp>
        <p:nvSpPr>
          <p:cNvPr id="7" name="Text 6"/>
          <p:cNvSpPr txBox="1"/>
          <p:nvPr>
            <p:ph idx="113" type="body" hasCustomPrompt="1"/>
          </p:nvPr>
        </p:nvSpPr>
        <p:spPr>
          <a:xfrm>
            <a:off x="449884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Name the sublevels in each level. State the orbitals and electrons each holds.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811072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TABLE</a:t>
            </a:r>
            <a:endParaRPr lang="en-US" sz="1200" dirty="0"/>
          </a:p>
        </p:txBody>
      </p:sp>
      <p:sp>
        <p:nvSpPr>
          <p:cNvPr id="9" name="Text 7"/>
          <p:cNvSpPr txBox="1"/>
          <p:nvPr>
            <p:ph idx="116" type="body" hasCustomPrompt="1"/>
          </p:nvPr>
        </p:nvSpPr>
        <p:spPr>
          <a:xfrm>
            <a:off x="811072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Link sublevels and orbitals to the block layout of the periodic table.</a:t>
            </a:r>
            <a:endParaRPr lang="en-US" sz="1600" dirty="0"/>
          </a:p>
        </p:txBody>
      </p:sp>
      <p:sp>
        <p:nvSpPr>
          <p:cNvPr id="10" name="Text 9"/>
          <p:cNvSpPr txBox="1"/>
          <p:nvPr>
            <p:ph idx="119" type="body" hasCustomPrompt="1"/>
          </p:nvPr>
        </p:nvSpPr>
        <p:spPr>
          <a:xfrm>
            <a:off x="2240280" y="548640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 can name any sublevel and say how many electrons it holds.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0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S02.2</a:t>
            </a:r>
            <a:endParaRPr lang="en-US" sz="1000" dirty="0"/>
          </a:p>
        </p:txBody>
      </p:sp>
      <p:sp>
        <p:nvSpPr>
          <p:cNvPr id="14" name="Text 4"/>
          <p:cNvSpPr txBox="1"/>
          <p:nvPr>
            <p:ph idx="107" hasCustomPrompt="1"/>
          </p:nvPr>
        </p:nvSpPr>
        <p:spPr>
          <a:xfrm>
            <a:off x="8641080" y="1088136"/>
            <a:ext cx="26334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 txBox="1"/>
          <p:nvPr>
            <p:ph idx="107" type="title" hasCustomPrompt="1"/>
          </p:nvPr>
        </p:nvSpPr>
        <p:spPr>
          <a:xfrm>
            <a:off x="685800" y="11887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Bohr Failed for Helium</a:t>
            </a:r>
            <a:endParaRPr lang="en-US" sz="2800" dirty="0"/>
          </a:p>
        </p:txBody>
      </p:sp>
      <p:sp>
        <p:nvSpPr>
          <p:cNvPr id="3" name="Text 5"/>
          <p:cNvSpPr txBox="1"/>
          <p:nvPr>
            <p:ph idx="108" type="body" hasCustomPrompt="1"/>
          </p:nvPr>
        </p:nvSpPr>
        <p:spPr>
          <a:xfrm>
            <a:off x="685800" y="214884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Bohr model worked for hydrogen. For helium and every atom after it, the energies came out wrong.</a:t>
            </a:r>
            <a:endParaRPr lang="en-US" sz="1600" dirty="0"/>
          </a:p>
        </p:txBody>
      </p:sp>
      <p:sp>
        <p:nvSpPr>
          <p:cNvPr id="4" name="Text 7"/>
          <p:cNvSpPr txBox="1"/>
          <p:nvPr>
            <p:ph idx="111" type="body" hasCustomPrompt="1"/>
          </p:nvPr>
        </p:nvSpPr>
        <p:spPr>
          <a:xfrm>
            <a:off x="886968" y="3950208"/>
            <a:ext cx="4489704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Bohr failed for helium. What replaced it?</a:t>
            </a:r>
            <a:endParaRPr lang="en-US" sz="1600" dirty="0"/>
          </a:p>
        </p:txBody>
      </p:sp>
      <p:sp>
        <p:nvSpPr>
          <p:cNvPr id="5" name="Text 4"/>
          <p:cNvSpPr txBox="1"/>
          <p:nvPr>
            <p:ph idx="105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6" name="Text 8"/>
          <p:cNvSpPr txBox="1"/>
          <p:nvPr>
            <p:ph idx="113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S02.2</a:t>
            </a:r>
            <a:endParaRPr lang="en-US" sz="1000" dirty="0"/>
          </a:p>
        </p:txBody>
      </p:sp>
      <p:sp>
        <p:nvSpPr>
          <p:cNvPr id="8" name="Text 4"/>
          <p:cNvSpPr txBox="1"/>
          <p:nvPr>
            <p:ph idx="104" hasCustomPrompt="1"/>
          </p:nvPr>
        </p:nvSpPr>
        <p:spPr>
          <a:xfrm>
            <a:off x="6355080" y="1298448"/>
            <a:ext cx="498348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360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Three Words You Need First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Write these before we go further. Each one sits inside the one before.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88696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ENERGY LEVEL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88696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main shell. Numbered n = 1, 2, 3, 4, and up.</a:t>
            </a:r>
            <a:endParaRPr lang="en-US" sz="1600" dirty="0"/>
          </a:p>
        </p:txBody>
      </p:sp>
      <p:sp>
        <p:nvSpPr>
          <p:cNvPr id="6" name="Text 6"/>
          <p:cNvSpPr txBox="1"/>
          <p:nvPr>
            <p:ph idx="112" type="body" hasCustomPrompt="1"/>
          </p:nvPr>
        </p:nvSpPr>
        <p:spPr>
          <a:xfrm>
            <a:off x="449884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SUBLEVEL</a:t>
            </a:r>
            <a:endParaRPr lang="en-US" sz="1200" dirty="0"/>
          </a:p>
        </p:txBody>
      </p:sp>
      <p:sp>
        <p:nvSpPr>
          <p:cNvPr id="7" name="Text 6"/>
          <p:cNvSpPr txBox="1"/>
          <p:nvPr>
            <p:ph idx="113" type="body" hasCustomPrompt="1"/>
          </p:nvPr>
        </p:nvSpPr>
        <p:spPr>
          <a:xfrm>
            <a:off x="449884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group of orbitals inside a level. Named s, p, d, f.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811072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ORBITAL</a:t>
            </a:r>
            <a:endParaRPr lang="en-US" sz="1200" dirty="0"/>
          </a:p>
        </p:txBody>
      </p:sp>
      <p:sp>
        <p:nvSpPr>
          <p:cNvPr id="9" name="Text 7"/>
          <p:cNvSpPr txBox="1"/>
          <p:nvPr>
            <p:ph idx="116" type="body" hasCustomPrompt="1"/>
          </p:nvPr>
        </p:nvSpPr>
        <p:spPr>
          <a:xfrm>
            <a:off x="811072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region where an electron is probably found. Holds up to 2 electrons.</a:t>
            </a:r>
            <a:endParaRPr lang="en-US" sz="1600" dirty="0"/>
          </a:p>
        </p:txBody>
      </p:sp>
      <p:sp>
        <p:nvSpPr>
          <p:cNvPr id="10" name="Text 9"/>
          <p:cNvSpPr txBox="1"/>
          <p:nvPr>
            <p:ph idx="119" type="body" hasCustomPrompt="1"/>
          </p:nvPr>
        </p:nvSpPr>
        <p:spPr>
          <a:xfrm>
            <a:off x="2240280" y="548640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Energy levels contain sublevels. Sublevels contain orbitals.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0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S02.2</a:t>
            </a:r>
            <a:endParaRPr lang="en-US" sz="1000" dirty="0"/>
          </a:p>
        </p:txBody>
      </p:sp>
      <p:sp>
        <p:nvSpPr>
          <p:cNvPr id="14" name="Text 4"/>
          <p:cNvSpPr txBox="1"/>
          <p:nvPr>
            <p:ph idx="107" hasCustomPrompt="1"/>
          </p:nvPr>
        </p:nvSpPr>
        <p:spPr>
          <a:xfrm>
            <a:off x="8641080" y="1088136"/>
            <a:ext cx="26334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360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How the Model Changed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Two ideas replaced Bohr's circular paths.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88696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SCHRÖDINGER, 1926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88696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Described electrons with wave equations.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math gives probabilities, not paths.</a:t>
            </a:r>
            <a:endParaRPr lang="en-US" sz="1600" dirty="0"/>
          </a:p>
        </p:txBody>
      </p:sp>
      <p:sp>
        <p:nvSpPr>
          <p:cNvPr id="6" name="Text 6"/>
          <p:cNvSpPr txBox="1"/>
          <p:nvPr>
            <p:ph idx="112" type="body" hasCustomPrompt="1"/>
          </p:nvPr>
        </p:nvSpPr>
        <p:spPr>
          <a:xfrm>
            <a:off x="449884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HEISENBERG</a:t>
            </a:r>
            <a:endParaRPr lang="en-US" sz="1200" dirty="0"/>
          </a:p>
        </p:txBody>
      </p:sp>
      <p:sp>
        <p:nvSpPr>
          <p:cNvPr id="7" name="Text 6"/>
          <p:cNvSpPr txBox="1"/>
          <p:nvPr>
            <p:ph idx="113" type="body" hasCustomPrompt="1"/>
          </p:nvPr>
        </p:nvSpPr>
        <p:spPr>
          <a:xfrm>
            <a:off x="449884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uncertainty principle: you cannot know an electron's exact position and exact momentum at once.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811072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9" name="Text 7"/>
          <p:cNvSpPr txBox="1"/>
          <p:nvPr>
            <p:ph idx="116" type="body" hasCustomPrompt="1"/>
          </p:nvPr>
        </p:nvSpPr>
        <p:spPr>
          <a:xfrm>
            <a:off x="811072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quantum-mechanical model, also called the electron cloud model.</a:t>
            </a:r>
            <a:endParaRPr lang="en-US" sz="1600" dirty="0"/>
          </a:p>
        </p:txBody>
      </p:sp>
      <p:sp>
        <p:nvSpPr>
          <p:cNvPr id="10" name="Text 9"/>
          <p:cNvSpPr txBox="1"/>
          <p:nvPr>
            <p:ph idx="119" type="body" hasCustomPrompt="1"/>
          </p:nvPr>
        </p:nvSpPr>
        <p:spPr>
          <a:xfrm>
            <a:off x="2240280" y="548640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Electrons are described by probability, not by paths.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0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S02.2</a:t>
            </a:r>
            <a:endParaRPr lang="en-US" sz="1000" dirty="0"/>
          </a:p>
        </p:txBody>
      </p:sp>
      <p:sp>
        <p:nvSpPr>
          <p:cNvPr id="14" name="Text 4"/>
          <p:cNvSpPr txBox="1"/>
          <p:nvPr>
            <p:ph idx="107" hasCustomPrompt="1"/>
          </p:nvPr>
        </p:nvSpPr>
        <p:spPr>
          <a:xfrm>
            <a:off x="8641080" y="1088136"/>
            <a:ext cx="26334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Orbit vs. Orbital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two words sound alike. They mean different things.</a:t>
            </a:r>
            <a:endParaRPr lang="en-US" sz="1700" dirty="0"/>
          </a:p>
        </p:txBody>
      </p:sp>
      <p:sp>
        <p:nvSpPr>
          <p:cNvPr id="4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BOHR ORBIT</a:t>
            </a:r>
            <a:endParaRPr lang="en-US" sz="1200" dirty="0"/>
          </a:p>
        </p:txBody>
      </p:sp>
      <p:sp>
        <p:nvSpPr>
          <p:cNvPr id="5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fixed circular path.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electron is on the line.</a:t>
            </a:r>
            <a:endParaRPr lang="en-US" sz="1600" dirty="0"/>
          </a:p>
        </p:txBody>
      </p:sp>
      <p:sp>
        <p:nvSpPr>
          <p:cNvPr id="6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ORBITAL</a:t>
            </a:r>
            <a:endParaRPr lang="en-US" sz="1200" dirty="0"/>
          </a:p>
        </p:txBody>
      </p:sp>
      <p:sp>
        <p:nvSpPr>
          <p:cNvPr id="7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region of space.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electron is probably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inside it.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 orbital is a region of high probability for finding an electron, not a path.</a:t>
            </a:r>
            <a:endParaRPr lang="en-US" sz="1600" dirty="0"/>
          </a:p>
        </p:txBody>
      </p:sp>
      <p:sp>
        <p:nvSpPr>
          <p:cNvPr id="9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0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S02.2</a:t>
            </a:r>
            <a:endParaRPr lang="en-US" sz="1000" dirty="0"/>
          </a:p>
        </p:txBody>
      </p:sp>
      <p:sp>
        <p:nvSpPr>
          <p:cNvPr id="12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Energy Levels: the Number n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 is the principal quantum number: 1, 2, 3, 4, and up.</a:t>
            </a:r>
            <a:endParaRPr lang="en-US" sz="1700" dirty="0"/>
          </a:p>
        </p:txBody>
      </p:sp>
      <p:sp>
        <p:nvSpPr>
          <p:cNvPr id="4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LOW n</a:t>
            </a:r>
            <a:endParaRPr lang="en-US" sz="1200" dirty="0"/>
          </a:p>
        </p:txBody>
      </p:sp>
      <p:sp>
        <p:nvSpPr>
          <p:cNvPr id="5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 =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Closest to the nucleus on average.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Lowest energy.</a:t>
            </a:r>
            <a:endParaRPr lang="en-US" sz="1600" dirty="0"/>
          </a:p>
        </p:txBody>
      </p:sp>
      <p:sp>
        <p:nvSpPr>
          <p:cNvPr id="6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HIGH n</a:t>
            </a:r>
            <a:endParaRPr lang="en-US" sz="1200" dirty="0"/>
          </a:p>
        </p:txBody>
      </p:sp>
      <p:sp>
        <p:nvSpPr>
          <p:cNvPr id="7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 = 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Farther from the nucleus on average.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Higher energy.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Higher n means higher energy and a larger average distance from the nucleus.</a:t>
            </a:r>
            <a:endParaRPr lang="en-US" sz="1600" dirty="0"/>
          </a:p>
        </p:txBody>
      </p:sp>
      <p:sp>
        <p:nvSpPr>
          <p:cNvPr id="9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0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S02.2</a:t>
            </a:r>
            <a:endParaRPr lang="en-US" sz="1000" dirty="0"/>
          </a:p>
        </p:txBody>
      </p:sp>
      <p:sp>
        <p:nvSpPr>
          <p:cNvPr id="12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2_level_sublevel_orbital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Levels, Sublevels, Orbitals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Each box is one orbital. Read the map from the bottom up.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SUBLEVELS PER LEVEL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Level n has n sublevels.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ORBITALS PER SUBLEVEL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 = 1, p = 3, d = 5, f = 7.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WHERE THEY START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 starts at n = 3. f starts at n = 4.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S02.2</a:t>
            </a:r>
            <a:endParaRPr lang="en-US" sz="1000" dirty="0"/>
          </a:p>
        </p:txBody>
      </p:sp>
      <p:sp>
        <p:nvSpPr>
          <p:cNvPr id="14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2_orbital_sha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Orbital Shapes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These are probability regions. The electron does not travel along the outline.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s: SPHERE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orbital, centered on the nucleus.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p: DUMBBELL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Three orbitals: along x, y, and z.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 AND f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d: five orbitals, mostly four lobes. f: more complex.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S02.2</a:t>
            </a:r>
            <a:endParaRPr lang="en-US" sz="1000" dirty="0"/>
          </a:p>
        </p:txBody>
      </p:sp>
      <p:sp>
        <p:nvSpPr>
          <p:cNvPr id="14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360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How Many Electrons Fit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Orbitals are the unit. Count orbitals, then double.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88696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ORBITAL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88696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Holds at most 2 electrons.</a:t>
            </a:r>
            <a:endParaRPr lang="en-US" sz="1600" dirty="0"/>
          </a:p>
        </p:txBody>
      </p:sp>
      <p:sp>
        <p:nvSpPr>
          <p:cNvPr id="6" name="Text 6"/>
          <p:cNvSpPr txBox="1"/>
          <p:nvPr>
            <p:ph idx="112" type="body" hasCustomPrompt="1"/>
          </p:nvPr>
        </p:nvSpPr>
        <p:spPr>
          <a:xfrm>
            <a:off x="449884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SUBLEVEL</a:t>
            </a:r>
            <a:endParaRPr lang="en-US" sz="1200" dirty="0"/>
          </a:p>
        </p:txBody>
      </p:sp>
      <p:sp>
        <p:nvSpPr>
          <p:cNvPr id="7" name="Text 6"/>
          <p:cNvSpPr txBox="1"/>
          <p:nvPr>
            <p:ph idx="113" type="body" hasCustomPrompt="1"/>
          </p:nvPr>
        </p:nvSpPr>
        <p:spPr>
          <a:xfrm>
            <a:off x="449884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s: 1 × 2 =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p: 3 × 2 = 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d: 5 × 2 = 10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f: 7 × 2 = 14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811072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OPPOSITE SPINS</a:t>
            </a:r>
            <a:endParaRPr lang="en-US" sz="1200" dirty="0"/>
          </a:p>
        </p:txBody>
      </p:sp>
      <p:sp>
        <p:nvSpPr>
          <p:cNvPr id="9" name="Text 7"/>
          <p:cNvSpPr txBox="1"/>
          <p:nvPr>
            <p:ph idx="116" type="body" hasCustomPrompt="1"/>
          </p:nvPr>
        </p:nvSpPr>
        <p:spPr>
          <a:xfrm>
            <a:off x="811072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2 electrons in one orbital have opposite spins. Section 2.3 puts this to work.</a:t>
            </a:r>
            <a:endParaRPr lang="en-US" sz="1600" dirty="0"/>
          </a:p>
        </p:txBody>
      </p:sp>
      <p:sp>
        <p:nvSpPr>
          <p:cNvPr id="10" name="Text 9"/>
          <p:cNvSpPr txBox="1"/>
          <p:nvPr>
            <p:ph idx="119" type="body" hasCustomPrompt="1"/>
          </p:nvPr>
        </p:nvSpPr>
        <p:spPr>
          <a:xfrm>
            <a:off x="2240280" y="548640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orbital holds 2 electrons. s holds 2, p holds 6, d holds 10, f holds 14.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0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S02.2</a:t>
            </a:r>
            <a:endParaRPr lang="en-US" sz="1000" dirty="0"/>
          </a:p>
        </p:txBody>
      </p:sp>
      <p:sp>
        <p:nvSpPr>
          <p:cNvPr id="14" name="Text 4"/>
          <p:cNvSpPr txBox="1"/>
          <p:nvPr>
            <p:ph idx="107" hasCustomPrompt="1"/>
          </p:nvPr>
        </p:nvSpPr>
        <p:spPr>
          <a:xfrm>
            <a:off x="8641080" y="1088136"/>
            <a:ext cx="26334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Example: The n = 3 Level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We do this one together. List first, then count.</a:t>
            </a:r>
            <a:endParaRPr lang="en-US" sz="1700" dirty="0"/>
          </a:p>
        </p:txBody>
      </p:sp>
      <p:sp>
        <p:nvSpPr>
          <p:cNvPr id="4" name="Text 6"/>
          <p:cNvSpPr txBox="1"/>
          <p:nvPr>
            <p:ph idx="110" type="body" hasCustomPrompt="1"/>
          </p:nvPr>
        </p:nvSpPr>
        <p:spPr>
          <a:xfrm>
            <a:off x="886968" y="2798064"/>
            <a:ext cx="4992624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List the sublevels in n = 3. Give the orbitals and maximum electrons in each.</a:t>
            </a:r>
            <a:endParaRPr lang="en-US" sz="1600" dirty="0"/>
          </a:p>
        </p:txBody>
      </p:sp>
      <p:sp>
        <p:nvSpPr>
          <p:cNvPr id="5" name="Text 7"/>
          <p:cNvSpPr txBox="1"/>
          <p:nvPr>
            <p:ph idx="112" type="body" hasCustomPrompt="1"/>
          </p:nvPr>
        </p:nvSpPr>
        <p:spPr>
          <a:xfrm>
            <a:off x="88696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8696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 = 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Level n has n sublevels</a:t>
            </a:r>
            <a:endParaRPr lang="en-US" sz="1600" dirty="0"/>
          </a:p>
        </p:txBody>
      </p:sp>
      <p:sp>
        <p:nvSpPr>
          <p:cNvPr id="7" name="Text 8"/>
          <p:cNvSpPr txBox="1"/>
          <p:nvPr>
            <p:ph idx="115" type="body" hasCustomPrompt="1"/>
          </p:nvPr>
        </p:nvSpPr>
        <p:spPr>
          <a:xfrm>
            <a:off x="367588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NEED</a:t>
            </a:r>
            <a:endParaRPr lang="en-US" sz="1200" dirty="0"/>
          </a:p>
        </p:txBody>
      </p:sp>
      <p:sp>
        <p:nvSpPr>
          <p:cNvPr id="8" name="Text 8"/>
          <p:cNvSpPr txBox="1"/>
          <p:nvPr>
            <p:ph idx="116" type="body" hasCustomPrompt="1"/>
          </p:nvPr>
        </p:nvSpPr>
        <p:spPr>
          <a:xfrm>
            <a:off x="367588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Sublevels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Orbitals in each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Max electrons</a:t>
            </a:r>
            <a:endParaRPr lang="en-US" sz="1600" dirty="0"/>
          </a:p>
        </p:txBody>
      </p:sp>
      <p:sp>
        <p:nvSpPr>
          <p:cNvPr id="9" name="Text 10"/>
          <p:cNvSpPr txBox="1"/>
          <p:nvPr>
            <p:ph idx="119" type="body" hasCustomPrompt="1"/>
          </p:nvPr>
        </p:nvSpPr>
        <p:spPr>
          <a:xfrm>
            <a:off x="6464808" y="2880360"/>
            <a:ext cx="4837176" cy="2286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900" dirty="0"/>
          </a:p>
        </p:txBody>
      </p:sp>
      <p:sp>
        <p:nvSpPr>
          <p:cNvPr id="10" name="Text 12"/>
          <p:cNvSpPr txBox="1"/>
          <p:nvPr>
            <p:ph idx="122" type="body" hasCustomPrompt="1"/>
          </p:nvPr>
        </p:nvSpPr>
        <p:spPr>
          <a:xfrm>
            <a:off x="2240280" y="5605272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Level n has n sublevels. List them, then count the orbitals.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3"/>
          <p:cNvSpPr txBox="1"/>
          <p:nvPr>
            <p:ph idx="124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S02.2</a:t>
            </a:r>
            <a:endParaRPr lang="en-US" sz="1000" dirty="0"/>
          </a:p>
        </p:txBody>
      </p:sp>
      <p:sp>
        <p:nvSpPr>
          <p:cNvPr id="14" name="Text 4"/>
          <p:cNvSpPr txBox="1"/>
          <p:nvPr>
            <p:ph idx="107" hasCustomPrompt="1"/>
          </p:nvPr>
        </p:nvSpPr>
        <p:spPr>
          <a:xfrm>
            <a:off x="9262872" y="1088136"/>
            <a:ext cx="190195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n = 3 Level, Worked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Check your list against this.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5276088" y="2560320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SETUP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5276088" y="2852928"/>
            <a:ext cx="2752344" cy="19019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 = 3 gives 3 sublevels: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3s, 3p, 3d</a:t>
            </a:r>
            <a:endParaRPr lang="en-US" sz="16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613648" y="2871216"/>
            <a:ext cx="2688336" cy="1920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3s: 1 orbital, 2 e</a:t>
            </a:r>
            <a:pPr indent="0" marL="0">
              <a:buNone/>
            </a:pPr>
            <a:r>
              <a:rPr lang="en-US" sz="19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−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3p: 3 orbitals, 6 e</a:t>
            </a:r>
            <a:pPr indent="0" marL="0">
              <a:buNone/>
            </a:pPr>
            <a:r>
              <a:rPr lang="en-US" sz="19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−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3d: 5 orbitals, 10 e</a:t>
            </a:r>
            <a:pPr indent="0" marL="0">
              <a:buNone/>
            </a:pPr>
            <a:r>
              <a:rPr lang="en-US" sz="19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−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Total: 9 orbitals, 18 e</a:t>
            </a:r>
            <a:pPr indent="0" marL="0">
              <a:buNone/>
            </a:pPr>
            <a:r>
              <a:rPr lang="en-US" sz="19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−</a:t>
            </a:r>
            <a:endParaRPr lang="en-US" sz="1900" dirty="0"/>
          </a:p>
        </p:txBody>
      </p:sp>
      <p:sp>
        <p:nvSpPr>
          <p:cNvPr id="7" name="Text 9"/>
          <p:cNvSpPr txBox="1"/>
          <p:nvPr>
            <p:ph idx="116" type="body" hasCustomPrompt="1"/>
          </p:nvPr>
        </p:nvSpPr>
        <p:spPr>
          <a:xfrm>
            <a:off x="2240280" y="521208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 = 3 holds 9 orbitals (n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) and 18 electrons (2n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).</a:t>
            </a:r>
            <a:endParaRPr lang="en-US" sz="1600" dirty="0"/>
          </a:p>
        </p:txBody>
      </p:sp>
      <p:sp>
        <p:nvSpPr>
          <p:cNvPr id="8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9" name="Text 10"/>
          <p:cNvSpPr txBox="1"/>
          <p:nvPr>
            <p:ph idx="118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S02.2</a:t>
            </a:r>
            <a:endParaRPr lang="en-US" sz="1000" dirty="0"/>
          </a:p>
        </p:txBody>
      </p:sp>
      <p:sp>
        <p:nvSpPr>
          <p:cNvPr id="11" name="Text 4"/>
          <p:cNvSpPr txBox="1"/>
          <p:nvPr>
            <p:ph idx="107" hasCustomPrompt="1"/>
          </p:nvPr>
        </p:nvSpPr>
        <p:spPr>
          <a:xfrm>
            <a:off x="832104" y="2542032"/>
            <a:ext cx="386791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2_shell_capacity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Capacity of Each Level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Add up the sublevels and the pattern shows.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ORBITALS IN LEVEL n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: 1, 4, 9, 16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ELECTRONS IN LEVEL n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2n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: 2, 8, 18, 32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SUBLEVELS IN LEVEL n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 of them, one new letter per level.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S02.2</a:t>
            </a:r>
            <a:endParaRPr lang="en-US" sz="1000" dirty="0"/>
          </a:p>
        </p:txBody>
      </p:sp>
      <p:sp>
        <p:nvSpPr>
          <p:cNvPr id="14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Energy Order Inside a Level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answer depends on how many electrons the atom has.</a:t>
            </a:r>
            <a:endParaRPr lang="en-US" sz="1700" dirty="0"/>
          </a:p>
        </p:txBody>
      </p:sp>
      <p:sp>
        <p:nvSpPr>
          <p:cNvPr id="4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MORE THAN ONE ELECTRON</a:t>
            </a:r>
            <a:endParaRPr lang="en-US" sz="1200" dirty="0"/>
          </a:p>
        </p:txBody>
      </p:sp>
      <p:sp>
        <p:nvSpPr>
          <p:cNvPr id="5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Within one level, energy rises s, then p, then d, then f.</a:t>
            </a:r>
            <a:endParaRPr lang="en-US" sz="1600" dirty="0"/>
          </a:p>
        </p:txBody>
      </p:sp>
      <p:sp>
        <p:nvSpPr>
          <p:cNvPr id="6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HYDROGEN ONLY</a:t>
            </a:r>
            <a:endParaRPr lang="en-US" sz="1200" dirty="0"/>
          </a:p>
        </p:txBody>
      </p:sp>
      <p:sp>
        <p:nvSpPr>
          <p:cNvPr id="7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electron, so every sublevel of the same n has the same energy.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Do not carry this to other atoms.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With more than one electron, energy rises s &lt; p &lt; d &lt; f within a level.</a:t>
            </a:r>
            <a:endParaRPr lang="en-US" sz="1600" dirty="0"/>
          </a:p>
        </p:txBody>
      </p:sp>
      <p:sp>
        <p:nvSpPr>
          <p:cNvPr id="9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0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S02.2</a:t>
            </a:r>
            <a:endParaRPr lang="en-US" sz="1000" dirty="0"/>
          </a:p>
        </p:txBody>
      </p:sp>
      <p:sp>
        <p:nvSpPr>
          <p:cNvPr id="12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2_filling_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4s Fills Before 3d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Filling order for a neutral atom. Levels overlap.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FILLING ORDER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1s 2s 2p 3s 3p 4s 3d 4p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ORDER RULE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In a neutral atom, 4s fills before 3d.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IS NEXT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Section 2.3 uses this order.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S02.2</a:t>
            </a:r>
            <a:endParaRPr lang="en-US" sz="1000" dirty="0"/>
          </a:p>
        </p:txBody>
      </p:sp>
      <p:sp>
        <p:nvSpPr>
          <p:cNvPr id="14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Example: Capacity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Your turn first. Then we compare.</a:t>
            </a:r>
            <a:endParaRPr lang="en-US" sz="1700" dirty="0"/>
          </a:p>
        </p:txBody>
      </p:sp>
      <p:sp>
        <p:nvSpPr>
          <p:cNvPr id="4" name="Text 6"/>
          <p:cNvSpPr txBox="1"/>
          <p:nvPr>
            <p:ph idx="110" type="body" hasCustomPrompt="1"/>
          </p:nvPr>
        </p:nvSpPr>
        <p:spPr>
          <a:xfrm>
            <a:off x="886968" y="2798064"/>
            <a:ext cx="4992624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is the maximum number of electrons in the 4f sublevel? In the n = 2 level?</a:t>
            </a:r>
            <a:endParaRPr lang="en-US" sz="1600" dirty="0"/>
          </a:p>
        </p:txBody>
      </p:sp>
      <p:sp>
        <p:nvSpPr>
          <p:cNvPr id="5" name="Text 7"/>
          <p:cNvSpPr txBox="1"/>
          <p:nvPr>
            <p:ph idx="112" type="body" hasCustomPrompt="1"/>
          </p:nvPr>
        </p:nvSpPr>
        <p:spPr>
          <a:xfrm>
            <a:off x="88696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8696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4f sublevel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 = 2 level</a:t>
            </a:r>
            <a:endParaRPr lang="en-US" sz="1600" dirty="0"/>
          </a:p>
        </p:txBody>
      </p:sp>
      <p:sp>
        <p:nvSpPr>
          <p:cNvPr id="7" name="Text 8"/>
          <p:cNvSpPr txBox="1"/>
          <p:nvPr>
            <p:ph idx="115" type="body" hasCustomPrompt="1"/>
          </p:nvPr>
        </p:nvSpPr>
        <p:spPr>
          <a:xfrm>
            <a:off x="367588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NEED</a:t>
            </a:r>
            <a:endParaRPr lang="en-US" sz="1200" dirty="0"/>
          </a:p>
        </p:txBody>
      </p:sp>
      <p:sp>
        <p:nvSpPr>
          <p:cNvPr id="8" name="Text 8"/>
          <p:cNvSpPr txBox="1"/>
          <p:nvPr>
            <p:ph idx="116" type="body" hasCustomPrompt="1"/>
          </p:nvPr>
        </p:nvSpPr>
        <p:spPr>
          <a:xfrm>
            <a:off x="367588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Electrons in 4f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Electrons in n = 2</a:t>
            </a:r>
            <a:endParaRPr lang="en-US" sz="1600" dirty="0"/>
          </a:p>
        </p:txBody>
      </p:sp>
      <p:sp>
        <p:nvSpPr>
          <p:cNvPr id="9" name="Text 10"/>
          <p:cNvSpPr txBox="1"/>
          <p:nvPr>
            <p:ph idx="119" type="body" hasCustomPrompt="1"/>
          </p:nvPr>
        </p:nvSpPr>
        <p:spPr>
          <a:xfrm>
            <a:off x="6464808" y="2880360"/>
            <a:ext cx="4837176" cy="2286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900" dirty="0"/>
          </a:p>
        </p:txBody>
      </p:sp>
      <p:sp>
        <p:nvSpPr>
          <p:cNvPr id="10" name="Text 12"/>
          <p:cNvSpPr txBox="1"/>
          <p:nvPr>
            <p:ph idx="122" type="body" hasCustomPrompt="1"/>
          </p:nvPr>
        </p:nvSpPr>
        <p:spPr>
          <a:xfrm>
            <a:off x="2240280" y="5605272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Electrons in a sublevel = orbitals × 2.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3"/>
          <p:cNvSpPr txBox="1"/>
          <p:nvPr>
            <p:ph idx="124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S02.2</a:t>
            </a:r>
            <a:endParaRPr lang="en-US" sz="1000" dirty="0"/>
          </a:p>
        </p:txBody>
      </p:sp>
      <p:sp>
        <p:nvSpPr>
          <p:cNvPr id="14" name="Text 4"/>
          <p:cNvSpPr txBox="1"/>
          <p:nvPr>
            <p:ph idx="107" hasCustomPrompt="1"/>
          </p:nvPr>
        </p:nvSpPr>
        <p:spPr>
          <a:xfrm>
            <a:off x="9262872" y="1088136"/>
            <a:ext cx="190195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Capacity, Worked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Check yours against this.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5276088" y="2560320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SETUP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5276088" y="2852928"/>
            <a:ext cx="2752344" cy="19019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 has 7 orbitals.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 = 2 has 2s and 2p.</a:t>
            </a:r>
            <a:endParaRPr lang="en-US" sz="16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613648" y="2871216"/>
            <a:ext cx="2688336" cy="1920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4f: 7 × 2 = 14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2s: 1 × 2 = 2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2p: 3 × 2 = 6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 = 2: 2 + 6 = 8</a:t>
            </a:r>
            <a:endParaRPr lang="en-US" sz="1900" dirty="0"/>
          </a:p>
        </p:txBody>
      </p:sp>
      <p:sp>
        <p:nvSpPr>
          <p:cNvPr id="7" name="Text 9"/>
          <p:cNvSpPr txBox="1"/>
          <p:nvPr>
            <p:ph idx="116" type="body" hasCustomPrompt="1"/>
          </p:nvPr>
        </p:nvSpPr>
        <p:spPr>
          <a:xfrm>
            <a:off x="2240280" y="521208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4f holds 14 electrons. The n = 2 level holds 8, which is 2n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9" name="Text 10"/>
          <p:cNvSpPr txBox="1"/>
          <p:nvPr>
            <p:ph idx="118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S02.2</a:t>
            </a:r>
            <a:endParaRPr lang="en-US" sz="1000" dirty="0"/>
          </a:p>
        </p:txBody>
      </p:sp>
      <p:sp>
        <p:nvSpPr>
          <p:cNvPr id="11" name="Text 4"/>
          <p:cNvSpPr txBox="1"/>
          <p:nvPr>
            <p:ph idx="107" hasCustomPrompt="1"/>
          </p:nvPr>
        </p:nvSpPr>
        <p:spPr>
          <a:xfrm>
            <a:off x="832104" y="2542032"/>
            <a:ext cx="386791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2_periodic_table_blo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Table Maps the Sublevels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Block width equals sublevel capacity. Helium (1s</a:t>
            </a:r>
            <a:pPr indent="0" marL="0">
              <a:buNone/>
            </a:pPr>
            <a:r>
              <a:rPr lang="en-US" sz="1700" baseline="300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) sits in group 18.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 BLOCK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Groups 1 and 2: 2 columns wide.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 BLOCK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Groups 13 to 18: 6 columns wide.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 AND f BLOCKS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d: groups 3 to 12. f: drawn below, 14 wide.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S02.2</a:t>
            </a:r>
            <a:endParaRPr lang="en-US" sz="1000" dirty="0"/>
          </a:p>
        </p:txBody>
      </p:sp>
      <p:sp>
        <p:nvSpPr>
          <p:cNvPr id="14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360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Why Periods Have These Lengths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number after = is how many elements are in that period.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88696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PERIODS 1 TO 3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88696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Period 1: 1s =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Period 2: 2s 2p = 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Period 3: 3s 3p = 8</a:t>
            </a:r>
            <a:endParaRPr lang="en-US" sz="1600" dirty="0"/>
          </a:p>
        </p:txBody>
      </p:sp>
      <p:sp>
        <p:nvSpPr>
          <p:cNvPr id="6" name="Text 6"/>
          <p:cNvSpPr txBox="1"/>
          <p:nvPr>
            <p:ph idx="112" type="body" hasCustomPrompt="1"/>
          </p:nvPr>
        </p:nvSpPr>
        <p:spPr>
          <a:xfrm>
            <a:off x="449884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PERIODS 4 AND 5</a:t>
            </a:r>
            <a:endParaRPr lang="en-US" sz="1200" dirty="0"/>
          </a:p>
        </p:txBody>
      </p:sp>
      <p:sp>
        <p:nvSpPr>
          <p:cNvPr id="7" name="Text 6"/>
          <p:cNvSpPr txBox="1"/>
          <p:nvPr>
            <p:ph idx="113" type="body" hasCustomPrompt="1"/>
          </p:nvPr>
        </p:nvSpPr>
        <p:spPr>
          <a:xfrm>
            <a:off x="449884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Period 4: 4s 3d 4p = 18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Period 5: 5s 4d 5p = 18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811072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PERIODS 6 AND 7</a:t>
            </a:r>
            <a:endParaRPr lang="en-US" sz="1200" dirty="0"/>
          </a:p>
        </p:txBody>
      </p:sp>
      <p:sp>
        <p:nvSpPr>
          <p:cNvPr id="9" name="Text 7"/>
          <p:cNvSpPr txBox="1"/>
          <p:nvPr>
            <p:ph idx="116" type="body" hasCustomPrompt="1"/>
          </p:nvPr>
        </p:nvSpPr>
        <p:spPr>
          <a:xfrm>
            <a:off x="811072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Period 6: 6s 4f 5d 6p = 32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Period 7: 7s 5f 6d 7p = 32</a:t>
            </a:r>
            <a:endParaRPr lang="en-US" sz="1600" dirty="0"/>
          </a:p>
        </p:txBody>
      </p:sp>
      <p:sp>
        <p:nvSpPr>
          <p:cNvPr id="10" name="Text 9"/>
          <p:cNvSpPr txBox="1"/>
          <p:nvPr>
            <p:ph idx="119" type="body" hasCustomPrompt="1"/>
          </p:nvPr>
        </p:nvSpPr>
        <p:spPr>
          <a:xfrm>
            <a:off x="2240280" y="548640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Period lengths 2, 8, 8, 18, 18, 32, 32 come from the sublevels that fill in each.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0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S02.2</a:t>
            </a:r>
            <a:endParaRPr lang="en-US" sz="1000" dirty="0"/>
          </a:p>
        </p:txBody>
      </p:sp>
      <p:sp>
        <p:nvSpPr>
          <p:cNvPr id="14" name="Text 4"/>
          <p:cNvSpPr txBox="1"/>
          <p:nvPr>
            <p:ph idx="107" hasCustomPrompt="1"/>
          </p:nvPr>
        </p:nvSpPr>
        <p:spPr>
          <a:xfrm>
            <a:off x="8641080" y="1088136"/>
            <a:ext cx="26334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360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Check: Level, Sublevel, Orbital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Questions 1 to 3. Answer in your notes.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88696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QUESTION 1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88696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How is an orbital different from a Bohr orbit?</a:t>
            </a:r>
            <a:endParaRPr lang="en-US" sz="1600" dirty="0"/>
          </a:p>
        </p:txBody>
      </p:sp>
      <p:sp>
        <p:nvSpPr>
          <p:cNvPr id="6" name="Text 6"/>
          <p:cNvSpPr txBox="1"/>
          <p:nvPr>
            <p:ph idx="112" type="body" hasCustomPrompt="1"/>
          </p:nvPr>
        </p:nvSpPr>
        <p:spPr>
          <a:xfrm>
            <a:off x="449884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QUESTION 2</a:t>
            </a:r>
            <a:endParaRPr lang="en-US" sz="1200" dirty="0"/>
          </a:p>
        </p:txBody>
      </p:sp>
      <p:sp>
        <p:nvSpPr>
          <p:cNvPr id="7" name="Text 6"/>
          <p:cNvSpPr txBox="1"/>
          <p:nvPr>
            <p:ph idx="113" type="body" hasCustomPrompt="1"/>
          </p:nvPr>
        </p:nvSpPr>
        <p:spPr>
          <a:xfrm>
            <a:off x="449884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List all the sublevels in n = 2.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811072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QUESTION 3</a:t>
            </a:r>
            <a:endParaRPr lang="en-US" sz="1200" dirty="0"/>
          </a:p>
        </p:txBody>
      </p:sp>
      <p:sp>
        <p:nvSpPr>
          <p:cNvPr id="9" name="Text 7"/>
          <p:cNvSpPr txBox="1"/>
          <p:nvPr>
            <p:ph idx="116" type="body" hasCustomPrompt="1"/>
          </p:nvPr>
        </p:nvSpPr>
        <p:spPr>
          <a:xfrm>
            <a:off x="811072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How many orbitals are in a d sublevel? How many electrons can it hold?</a:t>
            </a:r>
            <a:endParaRPr lang="en-US" sz="1600" dirty="0"/>
          </a:p>
        </p:txBody>
      </p:sp>
      <p:sp>
        <p:nvSpPr>
          <p:cNvPr id="10" name="Text 9"/>
          <p:cNvSpPr txBox="1"/>
          <p:nvPr>
            <p:ph idx="119" type="body" hasCustomPrompt="1"/>
          </p:nvPr>
        </p:nvSpPr>
        <p:spPr>
          <a:xfrm>
            <a:off x="2240280" y="548640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Level n has n sublevels. Orbitals per sublevel: s 1, p 3, d 5, f 7.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0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S02.2</a:t>
            </a:r>
            <a:endParaRPr lang="en-US" sz="1000" dirty="0"/>
          </a:p>
        </p:txBody>
      </p:sp>
      <p:sp>
        <p:nvSpPr>
          <p:cNvPr id="14" name="Text 4"/>
          <p:cNvSpPr txBox="1"/>
          <p:nvPr>
            <p:ph idx="107" hasCustomPrompt="1"/>
          </p:nvPr>
        </p:nvSpPr>
        <p:spPr>
          <a:xfrm>
            <a:off x="8641080" y="1088136"/>
            <a:ext cx="26334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Check: Capacity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Questions 4 and 5. Show the count.</a:t>
            </a:r>
            <a:endParaRPr lang="en-US" sz="1700" dirty="0"/>
          </a:p>
        </p:txBody>
      </p:sp>
      <p:sp>
        <p:nvSpPr>
          <p:cNvPr id="4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QUESTION 4</a:t>
            </a:r>
            <a:endParaRPr lang="en-US" sz="1200" dirty="0"/>
          </a:p>
        </p:txBody>
      </p:sp>
      <p:sp>
        <p:nvSpPr>
          <p:cNvPr id="5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is the maximum number of electrons in the third energy level?</a:t>
            </a:r>
            <a:endParaRPr lang="en-US" sz="1600" dirty="0"/>
          </a:p>
        </p:txBody>
      </p:sp>
      <p:sp>
        <p:nvSpPr>
          <p:cNvPr id="6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QUESTION 5</a:t>
            </a:r>
            <a:endParaRPr lang="en-US" sz="1200" dirty="0"/>
          </a:p>
        </p:txBody>
      </p:sp>
      <p:sp>
        <p:nvSpPr>
          <p:cNvPr id="7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How many orbitals are in the n = 4 level?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Orbitals in level n = n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. Electrons in a sublevel = orbitals × 2.</a:t>
            </a:r>
            <a:endParaRPr lang="en-US" sz="1600" dirty="0"/>
          </a:p>
        </p:txBody>
      </p:sp>
      <p:sp>
        <p:nvSpPr>
          <p:cNvPr id="9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0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S02.2</a:t>
            </a:r>
            <a:endParaRPr lang="en-US" sz="1000" dirty="0"/>
          </a:p>
        </p:txBody>
      </p:sp>
      <p:sp>
        <p:nvSpPr>
          <p:cNvPr id="12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 txBox="1"/>
          <p:nvPr>
            <p:ph idx="106" type="body" hasCustomPrompt="1"/>
          </p:nvPr>
        </p:nvSpPr>
        <p:spPr>
          <a:xfrm>
            <a:off x="841248" y="17556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5"/>
          <p:cNvSpPr txBox="1"/>
          <p:nvPr>
            <p:ph idx="107" type="title" hasCustomPrompt="1"/>
          </p:nvPr>
        </p:nvSpPr>
        <p:spPr>
          <a:xfrm>
            <a:off x="841248" y="2304288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S2.3</a:t>
            </a:r>
            <a:endParaRPr lang="en-US" sz="2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Electron Configurations</a:t>
            </a:r>
            <a:endParaRPr lang="en-US" sz="2600" dirty="0"/>
          </a:p>
        </p:txBody>
      </p:sp>
      <p:sp>
        <p:nvSpPr>
          <p:cNvPr id="4" name="Text 5"/>
          <p:cNvSpPr txBox="1"/>
          <p:nvPr>
            <p:ph idx="108" type="body" hasCustomPrompt="1"/>
          </p:nvPr>
        </p:nvSpPr>
        <p:spPr>
          <a:xfrm>
            <a:off x="841248" y="3858768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Fill the orbitals in order.</a:t>
            </a:r>
            <a:endParaRPr lang="en-US" sz="1600" dirty="0"/>
          </a:p>
        </p:txBody>
      </p:sp>
      <p:sp>
        <p:nvSpPr>
          <p:cNvPr id="5" name="Text 6"/>
          <p:cNvSpPr txBox="1"/>
          <p:nvPr>
            <p:ph idx="110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S02.2</a:t>
            </a:r>
            <a:endParaRPr lang="en-US" sz="1000" dirty="0"/>
          </a:p>
        </p:txBody>
      </p:sp>
      <p:sp>
        <p:nvSpPr>
          <p:cNvPr id="7" name="Text 2"/>
          <p:cNvSpPr txBox="1"/>
          <p:nvPr>
            <p:ph idx="102" hasCustomPrompt="1"/>
          </p:nvPr>
        </p:nvSpPr>
        <p:spPr>
          <a:xfrm>
            <a:off x="2926080" y="0"/>
            <a:ext cx="9262872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SHULL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SHULL Science — Slide Template (CHEMISTRY)</dc:title>
  <dc:subject>PptxGenJS Presentation</dc:subject>
  <dc:creator>Matthew Shull</dc:creator>
  <cp:lastModifiedBy>Matthew Shull</cp:lastModifiedBy>
  <cp:revision>1</cp:revision>
  <dcterms:created xsi:type="dcterms:W3CDTF">2026-10-04T12:54:19Z</dcterms:created>
  <dcterms:modified xsi:type="dcterms:W3CDTF">2026-10-04T12:54:19Z</dcterms:modified>
</cp:coreProperties>
</file>