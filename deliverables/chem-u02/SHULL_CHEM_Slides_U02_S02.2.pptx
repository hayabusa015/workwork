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1_UNIT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5532120" y="1554480"/>
            <a:ext cx="6656832" cy="374904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5532120" y="1554480"/>
            <a:ext cx="6656832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HERO IMAGE  •  16:9  •  1920×1080 min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685800" y="1188720"/>
            <a:ext cx="461772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Goes Here</a:t>
            </a:r>
            <a:endParaRPr lang="en-US" sz="40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685800" y="3246120"/>
            <a:ext cx="4434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sentence on what this unit is actually about.</a:t>
            </a:r>
            <a:endParaRPr lang="en-US" sz="1700" dirty="0"/>
          </a:p>
        </p:txBody>
      </p:sp>
      <p:sp>
        <p:nvSpPr>
          <p:cNvPr id="10" name="Shape 4"/>
          <p:cNvSpPr/>
          <p:nvPr/>
        </p:nvSpPr>
        <p:spPr>
          <a:xfrm>
            <a:off x="685800" y="5074920"/>
            <a:ext cx="1417320" cy="329184"/>
          </a:xfrm>
          <a:prstGeom prst="rect">
            <a:avLst>
              <a:gd name="adj" fmla="val 50000"/>
            </a:avLst>
          </a:prstGeom>
          <a:solidFill>
            <a:srgbClr val="A3E635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85800" y="5102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MR. SHULL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2_SECTION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4480560" y="777240"/>
            <a:ext cx="7086600" cy="3986784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5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IMAGE  •  16:9</a:t>
            </a:r>
            <a:endParaRPr lang="en-US" sz="1200" dirty="0"/>
          </a:p>
        </p:txBody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14813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100" dirty="0"/>
          </a:p>
        </p:txBody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1.1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Name</a:t>
            </a:r>
            <a:endParaRPr lang="en-US" sz="28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students should be able to do by the end.</a:t>
            </a:r>
            <a:endParaRPr lang="en-US" sz="1600" dirty="0"/>
          </a:p>
        </p:txBody>
      </p:sp>
      <p:sp>
        <p:nvSpPr>
          <p:cNvPr id="10" name="Text 4"/>
          <p:cNvSpPr txBox="1"/>
          <p:nvPr/>
        </p:nvSpPr>
        <p:spPr>
          <a:xfrm>
            <a:off x="777240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3_GROUPED_CONCEP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77440"/>
            <a:ext cx="466344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8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9" name="Shape 3"/>
          <p:cNvSpPr/>
          <p:nvPr/>
        </p:nvSpPr>
        <p:spPr>
          <a:xfrm>
            <a:off x="5532120" y="2377440"/>
            <a:ext cx="315468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first idea, in one or two lines.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8915400" y="2377440"/>
            <a:ext cx="3154680" cy="2624328"/>
          </a:xfrm>
          <a:prstGeom prst="rect">
            <a:avLst/>
          </a:prstGeom>
          <a:solidFill>
            <a:srgbClr val="2E3338"/>
          </a:solidFill>
          <a:ln w="12700">
            <a:solidFill>
              <a:srgbClr val="2E3338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contrasting idea.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85800" y="532180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6" name="Text 6"/>
          <p:cNvSpPr txBox="1"/>
          <p:nvPr/>
        </p:nvSpPr>
        <p:spPr>
          <a:xfrm>
            <a:off x="886968" y="53766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8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4_DIVIDER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0" y="0"/>
            <a:ext cx="9262872" cy="68580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FULL-BLEED CONCEPT IMAGE  •  one image, no decoration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6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3703320" cy="3675888"/>
          </a:xfrm>
          <a:prstGeom prst="rect">
            <a:avLst/>
          </a:prstGeom>
          <a:solidFill>
            <a:srgbClr val="14161B"/>
          </a:solidFill>
          <a:ln w="15875">
            <a:solidFill>
              <a:srgbClr val="A3E635"/>
            </a:solidFill>
            <a:prstDash val="solid"/>
          </a:ln>
        </p:spPr>
      </p:sp>
      <p:sp>
        <p:nvSpPr>
          <p:cNvPr id="8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1.2  •  SECTION NAME</a:t>
            </a:r>
            <a:endParaRPr lang="en-US" sz="1100" dirty="0"/>
          </a:p>
        </p:txBody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Big Idea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Of This Section</a:t>
            </a:r>
            <a:endParaRPr lang="en-US" sz="26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Students see the story before the first bullet.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5_PROCESS_TIME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10820095" cy="201168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8" name="Shape 3"/>
          <p:cNvSpPr/>
          <p:nvPr/>
        </p:nvSpPr>
        <p:spPr>
          <a:xfrm>
            <a:off x="3246120" y="2487168"/>
            <a:ext cx="5669280" cy="18288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 BAND  •  3:1  •  generate 16:9 and centre-crop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32104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1</a:t>
            </a:r>
            <a:endParaRPr lang="en-US" sz="1200" dirty="0"/>
          </a:p>
        </p:txBody>
      </p:sp>
      <p:sp>
        <p:nvSpPr>
          <p:cNvPr id="13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4" name="Shape 6"/>
          <p:cNvSpPr/>
          <p:nvPr/>
        </p:nvSpPr>
        <p:spPr>
          <a:xfrm>
            <a:off x="3447288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3593592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2</a:t>
            </a:r>
            <a:endParaRPr lang="en-US" sz="1200" dirty="0"/>
          </a:p>
        </p:txBody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8" name="Shape 8"/>
          <p:cNvSpPr/>
          <p:nvPr/>
        </p:nvSpPr>
        <p:spPr>
          <a:xfrm>
            <a:off x="6208776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6355080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2" name="Shape 10"/>
          <p:cNvSpPr/>
          <p:nvPr/>
        </p:nvSpPr>
        <p:spPr>
          <a:xfrm>
            <a:off x="8970264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3" name="Text 11"/>
          <p:cNvSpPr txBox="1"/>
          <p:nvPr/>
        </p:nvSpPr>
        <p:spPr>
          <a:xfrm>
            <a:off x="9116568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4</a:t>
            </a:r>
            <a:endParaRPr lang="en-US" sz="1200" dirty="0"/>
          </a:p>
        </p:txBody>
      </p:sp>
      <p:sp>
        <p:nvSpPr>
          <p:cNvPr id="25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6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7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6_CONCEPT_IMAG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6172200" y="868680"/>
            <a:ext cx="5349240" cy="41605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5" name="Shape 3"/>
          <p:cNvSpPr/>
          <p:nvPr/>
        </p:nvSpPr>
        <p:spPr>
          <a:xfrm>
            <a:off x="6355080" y="1298448"/>
            <a:ext cx="4983480" cy="2798064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6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7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Headline</a:t>
            </a:r>
            <a:endParaRPr lang="en-US" sz="28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Keep it to what the image cannot say on its own.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685800" y="3520440"/>
            <a:ext cx="4892040" cy="114300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86968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KEY QUESTION</a:t>
            </a:r>
            <a:endParaRPr lang="en-US" sz="9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question this slide is asking.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5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7_COMPARISON_CARD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412480" y="960120"/>
            <a:ext cx="3090672" cy="173736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641080" y="1088136"/>
            <a:ext cx="2633472" cy="1481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ONE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job each.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429768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TWO</a:t>
            </a:r>
            <a:endParaRPr lang="en-US" sz="1200" dirty="0"/>
          </a:p>
        </p:txBody>
      </p:sp>
      <p:sp>
        <p:nvSpPr>
          <p:cNvPr id="15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 a wall of bullets.</a:t>
            </a:r>
            <a:endParaRPr lang="en-US" sz="1600" dirty="0"/>
          </a:p>
        </p:txBody>
      </p:sp>
      <p:sp>
        <p:nvSpPr>
          <p:cNvPr id="16" name="Shape 6"/>
          <p:cNvSpPr/>
          <p:nvPr/>
        </p:nvSpPr>
        <p:spPr>
          <a:xfrm>
            <a:off x="790956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THREE</a:t>
            </a:r>
            <a:endParaRPr lang="en-US" sz="12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third parallel item.</a:t>
            </a:r>
            <a:endParaRPr lang="en-US" sz="1600" dirty="0"/>
          </a:p>
        </p:txBody>
      </p:sp>
      <p:sp>
        <p:nvSpPr>
          <p:cNvPr id="19" name="Shape 7"/>
          <p:cNvSpPr/>
          <p:nvPr/>
        </p:nvSpPr>
        <p:spPr>
          <a:xfrm>
            <a:off x="685800" y="541324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0" name="Text 8"/>
          <p:cNvSpPr txBox="1"/>
          <p:nvPr/>
        </p:nvSpPr>
        <p:spPr>
          <a:xfrm>
            <a:off x="886968" y="54681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1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2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8_DIAGRAM_ANNOTA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5074920" cy="32461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Hand-built diagram here.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Anything with a number or a label is built, not generated.</a:t>
            </a:r>
            <a:endParaRPr lang="en-US" sz="2000" dirty="0"/>
          </a:p>
        </p:txBody>
      </p:sp>
      <p:sp>
        <p:nvSpPr>
          <p:cNvPr id="9" name="Shape 3"/>
          <p:cNvSpPr/>
          <p:nvPr/>
        </p:nvSpPr>
        <p:spPr>
          <a:xfrm>
            <a:off x="6126480" y="2395728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6126480" y="3529584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126480" y="4663440"/>
            <a:ext cx="5532120" cy="97840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6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THREE</a:t>
            </a:r>
            <a:endParaRPr lang="en-US" sz="1200" dirty="0"/>
          </a:p>
        </p:txBody>
      </p:sp>
      <p:sp>
        <p:nvSpPr>
          <p:cNvPr id="17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8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9_EXAMPLE_PROBLE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915400" y="960120"/>
            <a:ext cx="2587752" cy="1325880"/>
          </a:xfrm>
          <a:prstGeom prst="rect">
            <a:avLst/>
          </a:prstGeom>
          <a:solidFill>
            <a:srgbClr val="EDF0E5"/>
          </a:solidFill>
          <a:ln w="25400">
            <a:solidFill>
              <a:srgbClr val="A3E635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262872" y="1088136"/>
            <a:ext cx="1901952" cy="106984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395728"/>
            <a:ext cx="5394960" cy="105156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886968" y="25237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68580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the problem hands you.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347472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you are solving for.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6263640" y="2395728"/>
            <a:ext cx="5239512" cy="29535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6464808" y="2560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AREA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Leave this blank in the projected copy. It is filled live on the board.</a:t>
            </a:r>
            <a:endParaRPr lang="en-US" sz="1900" dirty="0"/>
          </a:p>
        </p:txBody>
      </p:sp>
      <p:sp>
        <p:nvSpPr>
          <p:cNvPr id="22" name="Shape 10"/>
          <p:cNvSpPr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3" name="Text 11"/>
          <p:cNvSpPr txBox="1"/>
          <p:nvPr/>
        </p:nvSpPr>
        <p:spPr>
          <a:xfrm>
            <a:off x="886968" y="55869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5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6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WORKED_SOL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160520" cy="25603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3867912" cy="22677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DATA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074920" y="2395728"/>
            <a:ext cx="3154680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FORMULA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relationship, before any numbers.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412480" y="2395728"/>
            <a:ext cx="3090672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8613648" y="25603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</a:t>
            </a:r>
            <a:endParaRPr lang="en-US" sz="9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completed work,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by step.</a:t>
            </a:r>
            <a:endParaRPr lang="en-US" sz="1900" dirty="0"/>
          </a:p>
        </p:txBody>
      </p:sp>
      <p:sp>
        <p:nvSpPr>
          <p:cNvPr id="16" name="Shape 7"/>
          <p:cNvSpPr/>
          <p:nvPr/>
        </p:nvSpPr>
        <p:spPr>
          <a:xfrm>
            <a:off x="685800" y="513892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7" name="Text 8"/>
          <p:cNvSpPr txBox="1"/>
          <p:nvPr/>
        </p:nvSpPr>
        <p:spPr>
          <a:xfrm>
            <a:off x="886968" y="5193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9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GIVENS_EQUATION_ANSW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663440" cy="2624328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4370832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4370832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577840" y="2395728"/>
            <a:ext cx="5925312" cy="96012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5779008" y="25054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5779008" y="2743200"/>
            <a:ext cx="5522976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577840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5779008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5779008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Values the problem supplies.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8631936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8833104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EQUATION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8833104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 you will use.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5577840" y="5193792"/>
            <a:ext cx="5925312" cy="777240"/>
          </a:xfrm>
          <a:prstGeom prst="rect">
            <a:avLst/>
          </a:prstGeom>
          <a:solidFill>
            <a:srgbClr val="EDF0E5"/>
          </a:solidFill>
          <a:ln w="19050">
            <a:solidFill>
              <a:srgbClr val="A3E635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5779008" y="5285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ANSWER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5779008" y="5504688"/>
            <a:ext cx="5522976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with units</a:t>
            </a:r>
            <a:endParaRPr lang="en-US" sz="2000" dirty="0"/>
          </a:p>
        </p:txBody>
      </p:sp>
      <p:sp>
        <p:nvSpPr>
          <p:cNvPr id="22" name="Text 10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1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DECK_INDEX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Text 2"/>
          <p:cNvSpPr txBox="1"/>
          <p:nvPr>
            <p:ph idx="102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6" name="Text 3"/>
          <p:cNvSpPr txBox="1"/>
          <p:nvPr>
            <p:ph idx="104" type="title" hasCustomPrompt="1"/>
          </p:nvPr>
        </p:nvSpPr>
        <p:spPr>
          <a:xfrm>
            <a:off x="685800" y="1097280"/>
            <a:ext cx="32004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Template Slide</a:t>
            </a:r>
            <a:endParaRPr lang="en-US" sz="3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Family</a:t>
            </a:r>
            <a:endParaRPr lang="en-US" sz="3000" dirty="0"/>
          </a:p>
        </p:txBody>
      </p:sp>
      <p:sp>
        <p:nvSpPr>
          <p:cNvPr id="7" name="Text 3"/>
          <p:cNvSpPr txBox="1"/>
          <p:nvPr>
            <p:ph idx="105" type="body" hasCustomPrompt="1"/>
          </p:nvPr>
        </p:nvSpPr>
        <p:spPr>
          <a:xfrm>
            <a:off x="685800" y="25146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Twelve layouts shared by Chemistry, Physics, and Geology.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New slide → Layout → pick one. Never build from scratch.</a:t>
            </a: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443484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459943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503834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459943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unit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76656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693115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737006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93115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section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09828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926287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70178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Grouped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6287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contrasting ideas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43484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59943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503834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Divider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9943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visual reset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76656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693115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737006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93115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numbered steps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909828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926287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970178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926287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panel + key question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443484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459943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503834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459943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76656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693115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737006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Diagram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693115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figure + annotation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909828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926287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970178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</a:t>
            </a:r>
            <a:endParaRPr lang="en-US" sz="1200" dirty="0"/>
          </a:p>
        </p:txBody>
      </p:sp>
      <p:sp>
        <p:nvSpPr>
          <p:cNvPr id="43" name="Text 38"/>
          <p:cNvSpPr txBox="1"/>
          <p:nvPr/>
        </p:nvSpPr>
        <p:spPr>
          <a:xfrm>
            <a:off x="926287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empty work area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443484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459943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503834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Solution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459943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pairs with 09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676656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693115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11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737006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Given/Eq/Ans</a:t>
            </a:r>
            <a:endParaRPr lang="en-US" sz="1200" dirty="0"/>
          </a:p>
        </p:txBody>
      </p:sp>
      <p:sp>
        <p:nvSpPr>
          <p:cNvPr id="51" name="Text 46"/>
          <p:cNvSpPr txBox="1"/>
          <p:nvPr/>
        </p:nvSpPr>
        <p:spPr>
          <a:xfrm>
            <a:off x="693115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 course</a:t>
            </a:r>
            <a:endParaRPr lang="en-US" sz="1100" dirty="0"/>
          </a:p>
        </p:txBody>
      </p:sp>
      <p:sp>
        <p:nvSpPr>
          <p:cNvPr id="52" name="Shape 47"/>
          <p:cNvSpPr/>
          <p:nvPr/>
        </p:nvSpPr>
        <p:spPr>
          <a:xfrm>
            <a:off x="909828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926287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49"/>
          <p:cNvSpPr txBox="1"/>
          <p:nvPr/>
        </p:nvSpPr>
        <p:spPr>
          <a:xfrm>
            <a:off x="970178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Deck Index</a:t>
            </a:r>
            <a:endParaRPr lang="en-US" sz="1200" dirty="0"/>
          </a:p>
        </p:txBody>
      </p:sp>
      <p:sp>
        <p:nvSpPr>
          <p:cNvPr id="55" name="Text 50"/>
          <p:cNvSpPr txBox="1"/>
          <p:nvPr/>
        </p:nvSpPr>
        <p:spPr>
          <a:xfrm>
            <a:off x="926287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delete before class</a:t>
            </a:r>
            <a:endParaRPr lang="en-US" sz="1100" dirty="0"/>
          </a:p>
        </p:txBody>
      </p:sp>
      <p:sp>
        <p:nvSpPr>
          <p:cNvPr id="56" name="Text 51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57" name="Text 52"/>
          <p:cNvSpPr txBox="1"/>
          <p:nvPr>
            <p:ph idx="15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02</a:t>
            </a:r>
            <a:endParaRPr lang="en-US" sz="4400" dirty="0"/>
          </a:p>
        </p:txBody>
      </p:sp>
      <p:sp>
        <p:nvSpPr>
          <p:cNvPr id="3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2.2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Levels, Sublevels &amp; Orbitals</a:t>
            </a:r>
            <a:endParaRPr lang="en-US" sz="2800" dirty="0"/>
          </a:p>
        </p:txBody>
      </p:sp>
      <p:sp>
        <p:nvSpPr>
          <p:cNvPr id="4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Name the levels, sublevels, and orbitals, and say how many electrons each can hold.</a:t>
            </a:r>
            <a:endParaRPr lang="en-US" sz="16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6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Bohr Failed for Helium</a:t>
            </a:r>
            <a:endParaRPr lang="en-US" sz="2800" dirty="0"/>
          </a:p>
        </p:txBody>
      </p:sp>
      <p:sp>
        <p:nvSpPr>
          <p:cNvPr id="3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Bohr model worked for hydrogen. For helium and every atom after it, the energies came out wrong.</a:t>
            </a:r>
            <a:endParaRPr lang="en-US" sz="1600" dirty="0"/>
          </a:p>
        </p:txBody>
      </p:sp>
      <p:sp>
        <p:nvSpPr>
          <p:cNvPr id="4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Bohr failed for helium. What replaced it?</a:t>
            </a:r>
            <a:endParaRPr lang="en-US" sz="1600" dirty="0"/>
          </a:p>
        </p:txBody>
      </p:sp>
      <p:sp>
        <p:nvSpPr>
          <p:cNvPr id="5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6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7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Words You Need First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these before we go further. Each one sits inside the one before.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LEVEL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main shell. Numbered n = 1, 2, 3, 4, and up.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SUBLEVEL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group of orbitals inside a level. Named s, p, d, f.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ORBITAL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region where an electron is probably found. Holds up to 2 electrons.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levels contain sublevels. Sublevels contain orbitals.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How the Model Changed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ideas replaced Bohr's circular paths.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SCHRÖDINGER, 1926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Described electrons with wave equations.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math gives probabilities, not paths.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HEISENBERG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uncertainty principle: you cannot know an electron's exact position and exact momentum at once.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RESULT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quantum-mechanical model, also called the electron cloud model.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are described by probability, not by paths.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 vs. Orbital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two words sound alike. They mean different things.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BOHR ORBIT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fixed circular path.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electron is on the line.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ORBITAL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region of space.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electron is probably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inside it.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 orbital is a region of high probability for finding an electron, not a path.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1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Levels: the Number 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is the principal quantum number: 1, 2, 3, 4, and up.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LOW n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Closest to the nucleus on average.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Lowest energy.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HIGH n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Farther from the nucleus on average.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Higher energy.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Higher n means higher energy and a larger average distance from the nucleus.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1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2_level_sublevel_orbital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Levels, Sublevels, Orbitals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box is one orbital. Read the map from the bottom up.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SUBLEVELS PER LEVEL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Level n has n sublevels.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ORBITALS PER SUBLEVEL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 = 1, p = 3, d = 5, f = 7.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WHERE THEY START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 starts at n = 3. f starts at n = 4.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2_orbital_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Orbital Shapes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These are probability regions. The electron does not travel along the outline.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s: SPHERE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orbital, centered on the nucleus.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p: DUMBBELL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orbitals: along x, y, and z.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 AND f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d: mostly four lobes. f: more complex.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How Many Electrons Fit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Orbitals are the unit. Count orbitals, then double.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ORBITAL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Holds at most 2 electrons.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SUBLEVEL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s: 1 × 2 =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p: 3 × 2 = 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d: 5 × 2 = 10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f: 7 × 2 = 14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OPPOSITE SPINS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2 electrons in one orbital have opposite spins. Section 2.3 puts this to work.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orbital holds 2 electrons. s holds 2, p holds 6, d holds 10, f holds 14.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The n = 3 Level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We do this one together. List first, then count.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List the sublevels in n = 3. Give the orbitals and maximum electrons in each.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Level n has n sublevels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Sublevels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Orbitals in each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Max electrons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Level n has n sublevels. List them, then count the orbitals.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n = 3 Level,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your list against this.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3 gives 3 sublevels: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3s, 3p, 3d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3s: 1 orbital, 2 e−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3p: 3 orbitals, 6 e−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3d: 5 orbitals, 10 e−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Total: 9 orbitals, 18 e−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3 holds 9 orbitals (n²) and 18 electrons (2n²).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0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2_shell_capacity_t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Capacity of Each Level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Add up the sublevels and the pattern shows.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ORBITALS IN LEVEL n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n² : 1, 4, 9, 16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IN LEVEL 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2n² : 2, 8, 18, 32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SUBLEVELS IN LEVEL n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of them, one new letter per level.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Order Inside a Level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answer depends on how many electrons the atom has.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MORE THAN ONE ELECTRON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Within one level, energy rises s, then p, then d, then f.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HYDROGEN ONLY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electron, so every sublevel of the same n has the same energy.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Do not carry this to other atoms.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With more than one electron, energy rises s &lt; p &lt; d &lt; f within a level.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1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2_filling_or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4s Fills Before 3d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Filling order for a neutral atom. Levels overlap.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FILLING ORDER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 2s 2p 3s 3p 4s 3d 4p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SURPRISE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In a neutral atom, 4s fills before 3d.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NEXT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2.3 uses this order.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Capacity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Your turn first. Then we compare.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the maximum number of electrons in the 4f sublevel? In the n = 2 level?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4f sublevel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2 level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in 4f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in n = 2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in a sublevel = orbitals × 2.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Capacity,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yours against this.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 has 7 orbitals.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2 has 2s and 2p.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4f: 7 × 2 = 14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2s: 1 × 2 = 2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2p: 3 × 2 = 6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2: 2 + 6 = 8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4f holds 14 electrons. The n = 2 level holds 8, which is 2n².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0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2_periodic_table_bloc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Table Maps the Sublevels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Block width equals sublevel capacity. Helium (1s²) sits in group 18.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 BLOCK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 and 2: 2 columns wide.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 BLOCK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13 to 18: 6 columns wide.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 AND f BLOCKS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d: groups 3 to 12, 10 wide. f: 14 wide.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Periods Have These Lengths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number after = is how many elements are in that period.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PERIODS 1 TO 3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 1: 1s =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 2: 2s 2p = 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 3: 3s 3p = 8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PERIODS 4 AND 5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 4: 4s 3d 4p = 18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 5: 5s 4d 5p = 18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PERIODS 6 AND 7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 6: 6s 4f 5d 6p = 32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 7: 7s 5f 6d 7p = 32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 lengths 2, 8, 8, 18, 18, 32, 32 come from the sublevels that fill in each.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Check: Level, Sublevel, Orbital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Questions 1 to 3. Answer in your notes.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QUESTION 1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How is an orbital different from a Bohr orbit?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QUESTION 2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List all the sublevels in n = 2.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QUESTION 3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How many orbitals are in a d sublevel? How many electrons can it hold?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Answer all three in your notes before we compare.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Check: Capacity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Questions 4 and 5. Show the count.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QUESTION 4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the maximum number of electrons in the third energy level?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QUESTION 5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How many orbitals are in the n = 4 level?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Show the count: sublevels first, then orbitals, then electrons.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1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LOOKING AHEAD</a:t>
            </a:r>
            <a:endParaRPr lang="en-US" sz="1100" dirty="0"/>
          </a:p>
        </p:txBody>
      </p:sp>
      <p:sp>
        <p:nvSpPr>
          <p:cNvPr id="3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Where This Goes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Next</a:t>
            </a:r>
            <a:endParaRPr lang="en-US" sz="2600" dirty="0"/>
          </a:p>
        </p:txBody>
      </p:sp>
      <p:sp>
        <p:nvSpPr>
          <p:cNvPr id="4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You can now name every orbital. Next: filling them in order to write an electron configuration.</a:t>
            </a:r>
            <a:endParaRPr lang="en-US" sz="1600" dirty="0"/>
          </a:p>
        </p:txBody>
      </p:sp>
      <p:sp>
        <p:nvSpPr>
          <p:cNvPr id="5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6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SHULL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SHULL Science — Slide Template (CHEMISTRY)</dc:title>
  <dc:subject>PptxGenJS Presentation</dc:subject>
  <dc:creator>Matthew Shull</dc:creator>
  <cp:lastModifiedBy>Matthew Shull</cp:lastModifiedBy>
  <cp:revision>1</cp:revision>
  <dcterms:created xsi:type="dcterms:W3CDTF">2026-10-04T12:44:42Z</dcterms:created>
  <dcterms:modified xsi:type="dcterms:W3CDTF">2026-10-04T12:44:42Z</dcterms:modified>
</cp:coreProperties>
</file>