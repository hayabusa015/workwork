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2.5; builds on 2.1 energy levels and delta E. Goal: students leave able to say how an atom makes colored light. IMAGE SLOT EMPTY, photo to shoot or generate: a hydrogen gas discharge tube glowing in a dark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Take two or three answers, do not correct yet; the answer is the section. IMAGE SLOT EMPTY, photo to shoot or generate: a firework burst beside a glowing neon sign, shot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Frequency is defined on slide 5 (waves per second). Misconception to catch: 'longer wavelength means more energy'. It is the opposite. IMAGE SLOT EMPTY, photo to shoot or generate: a glass prism splitting white light on a dark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Ranges: violet 400-450, blue 450-495, green 495-570, yellow 570-590, orange 590-620, red 620-700 nm (approximate).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Defines frequency here: how many waves pass per second. Short wavelength, high frequency, high energy. IMAGE SLOT EMPTY, photo to shoot or generate: a red and a violet laser pointer beam crossing in haze.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Matt to confirm: the course sequencing rule delays scientific notation and heavy math (courses/chemistry/DECISIONS.md, Course sequencing rules). This deck holds to ONE student calculation, calculator provided, 3 sig figs. If you prefer S2.5 conceptual only, defer the calculation. Constants: h = 6.626e-34 J s, c = 3.00e8 m/s. Equations are for reference; students use only E = hc / wavelength today. IMAGE SLOT EMPTY, photo to shoot or generate: a handheld spectroscope resting on a notebook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Hot solid gives all colors; hot gas gives separate lines. LED and fluorescence are out of scope. IMAGE SLOT EMPTY, photo to shoot or generate: an incandescent bulb filament beside a lit neon tube.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Absorption lines sit at the same wavelengths as the element's emission lines. Absorption in starlight reveals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Lines are 656, 486, 434, 410 nm, all ending at n = 2. Hydrogen has more lines in the UV (2 to 1 is about 122 nm) and IR (4 to 3 is about 1876 nm). Misconception: 'hydrogen has only four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line is one drop to n = 2. Electrons drop to lower levels; they do not fall into the nucleus.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Matt to confirm: the course sequencing rule delays scientific notation and heavy math (courses/chemistry/DECISIONS.md, Course sequencing rules). This deck holds to ONE student calculation, calculator provided, 3 sig figs. If you prefer S2.5 conceptual only, defer the calculation. Delta E for 3 to 2 comes from S2.1 (3.03e-19 J). OPTIONAL Example 2 (dropped from this deck): the 486 nm line is the 4 to 2 drop. Check: delta E = 2.18e-18 x (1/4 - 1/16) = 4.09e-19 J; wavelength = 1.988e-25 / 4.09e-19 = 4.86e-7 m = 486 nm, blue-green. Re-derived for this revision. IMAGE SLOT EMPTY, photo to shoot or generate: a hydrogen discharge tube glowing pink-magenta.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Matt to confirm: the course sequencing rule delays scientific notation and heavy math (courses/chemistry/DECISIONS.md, Course sequencing rules). This deck holds to ONE student calculation, calculator provided, 3 sig figs. If you prefer S2.5 conceptual only, defer the calculation. Accept 656 or 657 nm: the unrounded energy 3.025e-19 J gives 657. Frequency check (optional): 3.00e8 / 6.56e-7 = 4.57e14 Hz. IMAGE SLOT EMPTY, photo to shoot or generate: a calculator beside handwritten wavelength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Pre-built table, read-only; check values against the example. 3 to 2: 3.03e-19 J, 656 nm; 4 to 2: 4.09e-19 J, 486 nm; 5 to 2: 4.58e-19 J, 434 nm; 6 to 2: 4.84e-19 J, 410 nm. Scientific-notation flag applies here too (see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Helium was first detected in the Sun's spectrum, 1868 (Janssen and Lockyer). Line positions identify an element. IMAGE SLOT EMPTY, photo to shoot or generate: line spectra of several gas discharge tubes side by side, photographed through a spectroscope.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Divider into flame tests. Flame photos are still to be shot. IMAGE SLOT EMPTY, photo to shoot or generate: a lab burner flame with a wire loop of metal salt, shot in a darkened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PROVISIONAL: Ca, Sr, Ba and Cu flame colors come largely from molecular emitters (such as CaOH, SrOH, BaOH, CuCl), not single atomic lines; the electron-drop explanation is a valid HS simplification. Flame photos still to be shot. Color claims checked against textbook convention only. The color suggests the ion; it does not prove it. IMAGE SLOT EMPTY, photo to shoot or generate: a flame test photograph, a bright lilac flame from a wire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PROVISIONAL: colors are textbook convention only; swatches are illustrations, not photographs, and flame photos are still to be shot. Do not state a color is one exact wavelength. K lilac is often masked by sodium; the cobalt-glass technique is lab procedure and is not in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PROVISIONAL: textbook colors only, Ca, Sr, Ba, Cu largely molecular emitters; photos still to be shot. Many elements give no visible flame color.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Textbook colors only; photos still to be shot. Intended answer: K+ (lilac) with a Na+ yellow trace; Ca2+ orange-red. IMAGE SLOT EMPTY, photo to shoot or generate: two wire loops of metal salt in a flame, one lilac and one orange-red, shot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Ca2+ is the likely answer for orange-red, but Sr2+ looks similar, so a flame test alone cannot settle it. Textbook colors only; photos still to be shot. IMAGE SLOT EMPTY, photo to shoot or generate: a notebook page with a flame color table and pencil check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Formative check. OPTIONAL extra item 3 (dropped from this deck): calculate the wavelength of a 4.58e-19 J photon (5 to 2 in hydrogen) and state the color. Answer: wavelength = 1.988e-25 / 4.58e-19 = 4.34e-7 m = 434 nm, blue-violet. Check: delta E = 2.18e-18 x (1/4 - 1/25) = 4.58e-19 J. Re-derived for this revision. Answers to the three on-slide items: blue (shorter wavelength, more energy); each element has unique energy levels so unique photon energies; lilac suggests K+ (heat lifts electrons, they drop, photons of visible light). IMAGE SLOT EMPTY, photo to shoot or generate: a student's notebook with a half-finished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01_UNIT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5532120" y="1554480"/>
            <a:ext cx="6656832" cy="374904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5532120" y="1554480"/>
            <a:ext cx="6656832" cy="374904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UNIT HERO IMAGE  •  16:9  •  1920×1080 min</a:t>
            </a:r>
            <a:endParaRPr lang="en-US" sz="1200" dirty="0"/>
          </a:p>
        </p:txBody>
      </p:sp>
      <p:sp>
        <p:nvSpPr>
          <p:cNvPr id="5" name="Shape 2"/>
          <p:cNvSpPr/>
          <p:nvPr/>
        </p:nvSpPr>
        <p:spPr>
          <a:xfrm>
            <a:off x="0" y="0"/>
            <a:ext cx="164592" cy="6858000"/>
          </a:xfrm>
          <a:prstGeom prst="rect">
            <a:avLst/>
          </a:prstGeom>
          <a:solidFill>
            <a:srgbClr val="A3E635"/>
          </a:solidFill>
          <a:ln/>
        </p:spPr>
      </p:sp>
      <p:sp>
        <p:nvSpPr>
          <p:cNvPr id="6" name="Text 3"/>
          <p:cNvSpPr txBox="1"/>
          <p:nvPr>
            <p:ph idx="104"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7" name="Shape 3"/>
          <p:cNvSpPr/>
          <p:nvPr/>
        </p:nvSpPr>
        <p:spPr>
          <a:xfrm>
            <a:off x="685800" y="676656"/>
            <a:ext cx="1371600" cy="0"/>
          </a:xfrm>
          <a:prstGeom prst="line">
            <a:avLst/>
          </a:prstGeom>
          <a:noFill/>
          <a:ln w="22225">
            <a:solidFill>
              <a:srgbClr val="A3E635"/>
            </a:solidFill>
            <a:prstDash val="solid"/>
          </a:ln>
        </p:spPr>
      </p:sp>
      <p:sp>
        <p:nvSpPr>
          <p:cNvPr id="8" name="Text 4"/>
          <p:cNvSpPr txBox="1"/>
          <p:nvPr>
            <p:ph idx="106" type="title" hasCustomPrompt="1"/>
          </p:nvPr>
        </p:nvSpPr>
        <p:spPr>
          <a:xfrm>
            <a:off x="685800" y="1188720"/>
            <a:ext cx="4617720" cy="1920240"/>
          </a:xfrm>
          <a:prstGeom prst="rect">
            <a:avLst/>
          </a:prstGeom>
          <a:noFill/>
          <a:ln/>
        </p:spPr>
        <p:txBody>
          <a:bodyPr wrap="square" rtlCol="0"/>
          <a:lstStyle>
            <a:lvl1pPr algn="l" indent="0" marL="0">
              <a:lnSpc>
                <a:spcPct val="105000"/>
              </a:lnSpc>
              <a:buNone/>
              <a:defRPr lang="en-US" sz="4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Unit Title</a:t>
            </a:r>
            <a:endParaRPr lang="en-US" sz="4000" dirty="0"/>
          </a:p>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Goes Here</a:t>
            </a:r>
            <a:endParaRPr lang="en-US" sz="4000" dirty="0"/>
          </a:p>
        </p:txBody>
      </p:sp>
      <p:sp>
        <p:nvSpPr>
          <p:cNvPr id="9" name="Text 4"/>
          <p:cNvSpPr txBox="1"/>
          <p:nvPr>
            <p:ph idx="107" type="body" hasCustomPrompt="1"/>
          </p:nvPr>
        </p:nvSpPr>
        <p:spPr>
          <a:xfrm>
            <a:off x="685800" y="3246120"/>
            <a:ext cx="4434840" cy="822960"/>
          </a:xfrm>
          <a:prstGeom prst="rect">
            <a:avLst/>
          </a:prstGeom>
          <a:noFill/>
          <a:ln/>
        </p:spPr>
        <p:txBody>
          <a:bodyPr wrap="square" rtlCol="0"/>
          <a:lstStyle>
            <a:lvl1pPr indent="0" marL="0">
              <a:buNone/>
              <a:defRPr lang="en-US" sz="17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BDB6AA"/>
                </a:solidFill>
                <a:latin typeface="Trade Gothic Next" pitchFamily="34" charset="0"/>
                <a:ea typeface="Trade Gothic Next" pitchFamily="34" charset="-122"/>
                <a:cs typeface="Trade Gothic Next" pitchFamily="34" charset="-120"/>
              </a:rPr>
              <a:t>One sentence on what this unit is actually about.</a:t>
            </a:r>
            <a:endParaRPr lang="en-US" sz="1700" dirty="0"/>
          </a:p>
        </p:txBody>
      </p:sp>
      <p:sp>
        <p:nvSpPr>
          <p:cNvPr id="10" name="Shape 4"/>
          <p:cNvSpPr/>
          <p:nvPr/>
        </p:nvSpPr>
        <p:spPr>
          <a:xfrm>
            <a:off x="685800" y="5074920"/>
            <a:ext cx="1417320" cy="329184"/>
          </a:xfrm>
          <a:prstGeom prst="rect">
            <a:avLst>
              <a:gd name="adj" fmla="val 50000"/>
            </a:avLst>
          </a:prstGeom>
          <a:solidFill>
            <a:srgbClr val="A3E635"/>
          </a:solidFill>
          <a:ln/>
        </p:spPr>
      </p:sp>
      <p:sp>
        <p:nvSpPr>
          <p:cNvPr id="11" name="Text 5"/>
          <p:cNvSpPr txBox="1"/>
          <p:nvPr/>
        </p:nvSpPr>
        <p:spPr>
          <a:xfrm>
            <a:off x="685800" y="5102352"/>
            <a:ext cx="1417320" cy="274320"/>
          </a:xfrm>
          <a:prstGeom prst="rect">
            <a:avLst/>
          </a:prstGeom>
          <a:noFill/>
          <a:ln/>
        </p:spPr>
        <p:txBody>
          <a:bodyPr wrap="square" lIns="0" tIns="0" rIns="0" bIns="0" rtlCol="0" anchor="ctr"/>
          <a:lstStyle/>
          <a:p>
            <a:pPr algn="ctr" indent="0" marL="0">
              <a:buNone/>
            </a:pPr>
            <a:r>
              <a:rPr lang="en-US" sz="1000" b="1" spc="120" kern="0" dirty="0">
                <a:solidFill>
                  <a:srgbClr val="14161B"/>
                </a:solidFill>
                <a:latin typeface="Trade Gothic Next" pitchFamily="34" charset="0"/>
                <a:ea typeface="Trade Gothic Next" pitchFamily="34" charset="-122"/>
                <a:cs typeface="Trade Gothic Next" pitchFamily="34" charset="-120"/>
              </a:rPr>
              <a:t>MR. SHULL</a:t>
            </a:r>
            <a:endParaRPr lang="en-US" sz="1000" dirty="0"/>
          </a:p>
        </p:txBody>
      </p:sp>
      <p:sp>
        <p:nvSpPr>
          <p:cNvPr id="12"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3" name="Text 7"/>
          <p:cNvSpPr txBox="1"/>
          <p:nvPr>
            <p:ph idx="11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02_SECTION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3977640" cy="6858000"/>
          </a:xfrm>
          <a:prstGeom prst="rect">
            <a:avLst/>
          </a:prstGeom>
          <a:solidFill>
            <a:srgbClr val="A3E635"/>
          </a:solidFill>
          <a:ln/>
        </p:spPr>
      </p:sp>
      <p:sp>
        <p:nvSpPr>
          <p:cNvPr id="4" name="Shape 2"/>
          <p:cNvSpPr/>
          <p:nvPr/>
        </p:nvSpPr>
        <p:spPr>
          <a:xfrm>
            <a:off x="4480560" y="777240"/>
            <a:ext cx="7086600" cy="3986784"/>
          </a:xfrm>
          <a:prstGeom prst="rect">
            <a:avLst/>
          </a:prstGeom>
          <a:solidFill>
            <a:srgbClr val="2E3338"/>
          </a:solidFill>
          <a:ln w="12700">
            <a:solidFill>
              <a:srgbClr val="BDB6AA"/>
            </a:solidFill>
            <a:prstDash val="dash"/>
          </a:ln>
        </p:spPr>
      </p:sp>
      <p:sp>
        <p:nvSpPr>
          <p:cNvPr id="5" name="Text 3"/>
          <p:cNvSpPr txBox="1"/>
          <p:nvPr>
            <p:ph idx="103" hasCustomPrompt="1"/>
          </p:nvPr>
        </p:nvSpPr>
        <p:spPr>
          <a:xfrm>
            <a:off x="4480560" y="777240"/>
            <a:ext cx="7086600" cy="3986784"/>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SECTION IMAGE  •  16:9</a:t>
            </a:r>
            <a:endParaRPr lang="en-US" sz="1200" dirty="0"/>
          </a:p>
        </p:txBody>
      </p:sp>
      <p:sp>
        <p:nvSpPr>
          <p:cNvPr id="6" name="Text 3"/>
          <p:cNvSpPr txBox="1"/>
          <p:nvPr>
            <p:ph idx="104" type="body" hasCustomPrompt="1"/>
          </p:nvPr>
        </p:nvSpPr>
        <p:spPr>
          <a:xfrm>
            <a:off x="777240" y="502920"/>
            <a:ext cx="2011680" cy="868680"/>
          </a:xfrm>
          <a:prstGeom prst="rect">
            <a:avLst/>
          </a:prstGeom>
          <a:noFill/>
          <a:ln/>
        </p:spPr>
        <p:txBody>
          <a:bodyPr wrap="square" rtlCol="0"/>
          <a:lstStyle>
            <a:lvl1pPr algn="l" indent="0" marL="0">
              <a:buNone/>
              <a:defRPr lang="en-US" sz="44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01</a:t>
            </a:r>
            <a:endParaRPr lang="en-US" sz="4400" dirty="0"/>
          </a:p>
        </p:txBody>
      </p:sp>
      <p:sp>
        <p:nvSpPr>
          <p:cNvPr id="7" name="Text 3"/>
          <p:cNvSpPr txBox="1"/>
          <p:nvPr/>
        </p:nvSpPr>
        <p:spPr>
          <a:xfrm>
            <a:off x="777240" y="1481328"/>
            <a:ext cx="2743200" cy="219456"/>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SECTION TITLE</a:t>
            </a:r>
            <a:endParaRPr lang="en-US" sz="1100" dirty="0"/>
          </a:p>
        </p:txBody>
      </p:sp>
      <p:sp>
        <p:nvSpPr>
          <p:cNvPr id="8" name="Text 4"/>
          <p:cNvSpPr txBox="1"/>
          <p:nvPr>
            <p:ph idx="106" type="title" hasCustomPrompt="1"/>
          </p:nvPr>
        </p:nvSpPr>
        <p:spPr>
          <a:xfrm>
            <a:off x="777240" y="1847088"/>
            <a:ext cx="2834640" cy="1691640"/>
          </a:xfrm>
          <a:prstGeom prst="rect">
            <a:avLst/>
          </a:prstGeom>
          <a:noFill/>
          <a:ln/>
        </p:spPr>
        <p:txBody>
          <a:bodyPr wrap="square" rtlCol="0"/>
          <a:lstStyle>
            <a:lvl1pPr algn="l" indent="0" marL="0">
              <a:lnSpc>
                <a:spcPct val="106000"/>
              </a:lnSpc>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1.1</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Section Name</a:t>
            </a:r>
            <a:endParaRPr lang="en-US" sz="2800" dirty="0"/>
          </a:p>
        </p:txBody>
      </p:sp>
      <p:sp>
        <p:nvSpPr>
          <p:cNvPr id="9" name="Text 4"/>
          <p:cNvSpPr txBox="1"/>
          <p:nvPr>
            <p:ph idx="107" type="body" hasCustomPrompt="1"/>
          </p:nvPr>
        </p:nvSpPr>
        <p:spPr>
          <a:xfrm>
            <a:off x="777240" y="3749040"/>
            <a:ext cx="2834640" cy="109728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students should be able to do by the end.</a:t>
            </a:r>
            <a:endParaRPr lang="en-US" sz="1600" dirty="0"/>
          </a:p>
        </p:txBody>
      </p:sp>
      <p:sp>
        <p:nvSpPr>
          <p:cNvPr id="10" name="Text 4"/>
          <p:cNvSpPr txBox="1"/>
          <p:nvPr/>
        </p:nvSpPr>
        <p:spPr>
          <a:xfrm>
            <a:off x="777240" y="6382512"/>
            <a:ext cx="2743200" cy="237744"/>
          </a:xfrm>
          <a:prstGeom prst="rect">
            <a:avLst/>
          </a:prstGeom>
          <a:noFill/>
          <a:ln/>
        </p:spPr>
        <p:txBody>
          <a:bodyPr wrap="square" lIns="0" tIns="0" rIns="0" bIns="0" rtlCol="0" anchor="ctr"/>
          <a:lstStyle/>
          <a:p>
            <a:pPr indent="0" marL="0">
              <a:buNone/>
            </a:pPr>
            <a:r>
              <a:rPr lang="en-US" sz="1000" b="1" spc="140" kern="0" dirty="0">
                <a:solidFill>
                  <a:srgbClr val="14161B"/>
                </a:solidFill>
                <a:latin typeface="Trade Gothic Next" pitchFamily="34" charset="0"/>
                <a:ea typeface="Trade Gothic Next" pitchFamily="34" charset="-122"/>
                <a:cs typeface="Trade Gothic Next" pitchFamily="34" charset="-120"/>
              </a:rPr>
              <a:t>SHULL SCIENCE</a:t>
            </a:r>
            <a:endParaRPr lang="en-US" sz="1000" dirty="0"/>
          </a:p>
        </p:txBody>
      </p:sp>
      <p:sp>
        <p:nvSpPr>
          <p:cNvPr id="11" name="Text 5"/>
          <p:cNvSpPr txBox="1"/>
          <p:nvPr>
            <p:ph idx="109"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03_GROUPED_CONCEP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77440"/>
            <a:ext cx="4663440" cy="2624328"/>
          </a:xfrm>
          <a:prstGeom prst="rect">
            <a:avLst/>
          </a:prstGeom>
          <a:solidFill>
            <a:srgbClr val="EDF0E5"/>
          </a:solidFill>
          <a:ln w="12700">
            <a:solidFill>
              <a:srgbClr val="C8CDC2"/>
            </a:solidFill>
            <a:prstDash val="dash"/>
          </a:ln>
        </p:spPr>
      </p:sp>
      <p:sp>
        <p:nvSpPr>
          <p:cNvPr id="8" name="Text 3"/>
          <p:cNvSpPr txBox="1"/>
          <p:nvPr>
            <p:ph idx="106" hasCustomPrompt="1"/>
          </p:nvPr>
        </p:nvSpPr>
        <p:spPr>
          <a:xfrm>
            <a:off x="685800" y="2377440"/>
            <a:ext cx="4663440" cy="2624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9" name="Shape 3"/>
          <p:cNvSpPr/>
          <p:nvPr/>
        </p:nvSpPr>
        <p:spPr>
          <a:xfrm>
            <a:off x="5532120" y="2377440"/>
            <a:ext cx="3154680" cy="2624328"/>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5733288" y="2542032"/>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GROUP ONE</a:t>
            </a:r>
            <a:endParaRPr lang="en-US" sz="1200" dirty="0"/>
          </a:p>
        </p:txBody>
      </p:sp>
      <p:sp>
        <p:nvSpPr>
          <p:cNvPr id="11" name="Text 4"/>
          <p:cNvSpPr txBox="1"/>
          <p:nvPr>
            <p:ph idx="109" type="body" hasCustomPrompt="1"/>
          </p:nvPr>
        </p:nvSpPr>
        <p:spPr>
          <a:xfrm>
            <a:off x="5733288" y="2834640"/>
            <a:ext cx="2752344" cy="196596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first idea, in one or two lines.</a:t>
            </a:r>
            <a:endParaRPr lang="en-US" sz="1600" dirty="0"/>
          </a:p>
        </p:txBody>
      </p:sp>
      <p:sp>
        <p:nvSpPr>
          <p:cNvPr id="12" name="Shape 4"/>
          <p:cNvSpPr/>
          <p:nvPr/>
        </p:nvSpPr>
        <p:spPr>
          <a:xfrm>
            <a:off x="8915400" y="2377440"/>
            <a:ext cx="3154680" cy="2624328"/>
          </a:xfrm>
          <a:prstGeom prst="rect">
            <a:avLst/>
          </a:prstGeom>
          <a:solidFill>
            <a:srgbClr val="2E3338"/>
          </a:solidFill>
          <a:ln w="12700">
            <a:solidFill>
              <a:srgbClr val="2E3338"/>
            </a:solidFill>
            <a:prstDash val="solid"/>
          </a:ln>
        </p:spPr>
      </p:sp>
      <p:sp>
        <p:nvSpPr>
          <p:cNvPr id="13" name="Text 5"/>
          <p:cNvSpPr txBox="1"/>
          <p:nvPr>
            <p:ph idx="111" type="body" hasCustomPrompt="1"/>
          </p:nvPr>
        </p:nvSpPr>
        <p:spPr>
          <a:xfrm>
            <a:off x="9116568" y="2542032"/>
            <a:ext cx="2752344" cy="219456"/>
          </a:xfrm>
          <a:prstGeom prst="rect">
            <a:avLst/>
          </a:prstGeom>
          <a:noFill/>
          <a:ln/>
        </p:spPr>
        <p:txBody>
          <a:bodyPr wrap="square" rtlCol="0"/>
          <a:lstStyle>
            <a:lvl1pPr indent="0" marL="0">
              <a:buNone/>
              <a:defRPr lang="en-US" sz="1200" b="1" spc="120" kern="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GROUP TWO</a:t>
            </a:r>
            <a:endParaRPr lang="en-US" sz="1200" dirty="0"/>
          </a:p>
        </p:txBody>
      </p:sp>
      <p:sp>
        <p:nvSpPr>
          <p:cNvPr id="14" name="Text 5"/>
          <p:cNvSpPr txBox="1"/>
          <p:nvPr>
            <p:ph idx="112" type="body" hasCustomPrompt="1"/>
          </p:nvPr>
        </p:nvSpPr>
        <p:spPr>
          <a:xfrm>
            <a:off x="9116568" y="2834640"/>
            <a:ext cx="2752344" cy="196596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The contrasting idea.</a:t>
            </a:r>
            <a:endParaRPr lang="en-US" sz="1600" dirty="0"/>
          </a:p>
        </p:txBody>
      </p:sp>
      <p:sp>
        <p:nvSpPr>
          <p:cNvPr id="15" name="Shape 5"/>
          <p:cNvSpPr/>
          <p:nvPr/>
        </p:nvSpPr>
        <p:spPr>
          <a:xfrm>
            <a:off x="685800" y="5321808"/>
            <a:ext cx="10820095" cy="566928"/>
          </a:xfrm>
          <a:prstGeom prst="rect">
            <a:avLst/>
          </a:prstGeom>
          <a:solidFill>
            <a:srgbClr val="14161B"/>
          </a:solidFill>
          <a:ln/>
        </p:spPr>
      </p:sp>
      <p:sp>
        <p:nvSpPr>
          <p:cNvPr id="16" name="Text 6"/>
          <p:cNvSpPr txBox="1"/>
          <p:nvPr/>
        </p:nvSpPr>
        <p:spPr>
          <a:xfrm>
            <a:off x="886968" y="537667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7" name="Text 7"/>
          <p:cNvSpPr txBox="1"/>
          <p:nvPr>
            <p:ph idx="115" type="body" hasCustomPrompt="1"/>
          </p:nvPr>
        </p:nvSpPr>
        <p:spPr>
          <a:xfrm>
            <a:off x="2240280" y="539496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8"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8"/>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04_DIVIDER">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2926080" y="0"/>
            <a:ext cx="9262872" cy="685800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2926080" y="0"/>
            <a:ext cx="9262872" cy="68580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FULL-BLEED CONCEPT IMAGE  •  one image, no decoration</a:t>
            </a:r>
            <a:endParaRPr lang="en-US" sz="1200" dirty="0"/>
          </a:p>
        </p:txBody>
      </p:sp>
      <p:sp>
        <p:nvSpPr>
          <p:cNvPr id="5" name="Shape 2"/>
          <p:cNvSpPr/>
          <p:nvPr/>
        </p:nvSpPr>
        <p:spPr>
          <a:xfrm>
            <a:off x="0" y="0"/>
            <a:ext cx="3931920" cy="6858000"/>
          </a:xfrm>
          <a:prstGeom prst="rect">
            <a:avLst/>
          </a:prstGeom>
          <a:solidFill>
            <a:srgbClr val="14161B"/>
          </a:solidFill>
          <a:ln/>
        </p:spPr>
      </p:sp>
      <p:sp>
        <p:nvSpPr>
          <p:cNvPr id="6" name="Shape 3"/>
          <p:cNvSpPr/>
          <p:nvPr/>
        </p:nvSpPr>
        <p:spPr>
          <a:xfrm>
            <a:off x="0" y="0"/>
            <a:ext cx="164592" cy="6858000"/>
          </a:xfrm>
          <a:prstGeom prst="rect">
            <a:avLst/>
          </a:prstGeom>
          <a:solidFill>
            <a:srgbClr val="A3E635"/>
          </a:solidFill>
          <a:ln/>
        </p:spPr>
      </p:sp>
      <p:sp>
        <p:nvSpPr>
          <p:cNvPr id="7" name="Shape 4"/>
          <p:cNvSpPr/>
          <p:nvPr/>
        </p:nvSpPr>
        <p:spPr>
          <a:xfrm>
            <a:off x="566928" y="1481328"/>
            <a:ext cx="3703320" cy="3675888"/>
          </a:xfrm>
          <a:prstGeom prst="rect">
            <a:avLst/>
          </a:prstGeom>
          <a:solidFill>
            <a:srgbClr val="14161B"/>
          </a:solidFill>
          <a:ln w="15875">
            <a:solidFill>
              <a:srgbClr val="A3E635"/>
            </a:solidFill>
            <a:prstDash val="solid"/>
          </a:ln>
        </p:spPr>
      </p:sp>
      <p:sp>
        <p:nvSpPr>
          <p:cNvPr id="8" name="Text 5"/>
          <p:cNvSpPr txBox="1"/>
          <p:nvPr>
            <p:ph idx="106" type="body" hasCustomPrompt="1"/>
          </p:nvPr>
        </p:nvSpPr>
        <p:spPr>
          <a:xfrm>
            <a:off x="841248" y="1755648"/>
            <a:ext cx="3154680" cy="457200"/>
          </a:xfrm>
          <a:prstGeom prst="rect">
            <a:avLst/>
          </a:prstGeom>
          <a:noFill/>
          <a:ln/>
        </p:spPr>
        <p:txBody>
          <a:bodyPr wrap="square" rtlCol="0"/>
          <a:lstStyle>
            <a:lvl1pPr indent="0" marL="0">
              <a:buNone/>
              <a:defRPr lang="en-US" sz="1100" b="1" spc="150" kern="0" dirty="0">
                <a:solidFill>
                  <a:srgbClr val="A3E635"/>
                </a:solidFill>
                <a:latin typeface="Trade Gothic Next" pitchFamily="34" charset="0"/>
                <a:ea typeface="Trade Gothic Next" pitchFamily="34" charset="-122"/>
                <a:cs typeface="Trade Gothic Next" pitchFamily="34" charset="-120"/>
              </a:defRPr>
            </a:lvl1pPr>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1.2  •  SECTION NAME</a:t>
            </a:r>
            <a:endParaRPr lang="en-US" sz="1100" dirty="0"/>
          </a:p>
        </p:txBody>
      </p:sp>
      <p:sp>
        <p:nvSpPr>
          <p:cNvPr id="9" name="Text 5"/>
          <p:cNvSpPr txBox="1"/>
          <p:nvPr>
            <p:ph idx="107" type="title" hasCustomPrompt="1"/>
          </p:nvPr>
        </p:nvSpPr>
        <p:spPr>
          <a:xfrm>
            <a:off x="841248" y="2304288"/>
            <a:ext cx="3154680" cy="1417320"/>
          </a:xfrm>
          <a:prstGeom prst="rect">
            <a:avLst/>
          </a:prstGeom>
          <a:noFill/>
          <a:ln/>
        </p:spPr>
        <p:txBody>
          <a:bodyPr wrap="square" rtlCol="0"/>
          <a:lstStyle>
            <a:lvl1pPr algn="l" indent="0" marL="0">
              <a:lnSpc>
                <a:spcPct val="108000"/>
              </a:lnSpc>
              <a:buNone/>
              <a:defRPr lang="en-US" sz="26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The Big Idea</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Of This Section</a:t>
            </a:r>
            <a:endParaRPr lang="en-US" sz="2600" dirty="0"/>
          </a:p>
        </p:txBody>
      </p:sp>
      <p:sp>
        <p:nvSpPr>
          <p:cNvPr id="10" name="Text 5"/>
          <p:cNvSpPr txBox="1"/>
          <p:nvPr>
            <p:ph idx="108" type="body" hasCustomPrompt="1"/>
          </p:nvPr>
        </p:nvSpPr>
        <p:spPr>
          <a:xfrm>
            <a:off x="841248" y="3858768"/>
            <a:ext cx="3154680" cy="109728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Students see the story before the first bullet.</a:t>
            </a:r>
            <a:endParaRPr lang="en-US" sz="1600" dirty="0"/>
          </a:p>
        </p:txBody>
      </p:sp>
      <p:sp>
        <p:nvSpPr>
          <p:cNvPr id="11" name="Text 5"/>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2" name="Text 6"/>
          <p:cNvSpPr txBox="1"/>
          <p:nvPr>
            <p:ph idx="110"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05_PROCESS_TIMELIN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10820095" cy="2011680"/>
          </a:xfrm>
          <a:prstGeom prst="rect">
            <a:avLst/>
          </a:prstGeom>
          <a:solidFill>
            <a:srgbClr val="14161B"/>
          </a:solidFill>
          <a:ln/>
        </p:spPr>
      </p:sp>
      <p:sp>
        <p:nvSpPr>
          <p:cNvPr id="8" name="Shape 3"/>
          <p:cNvSpPr/>
          <p:nvPr/>
        </p:nvSpPr>
        <p:spPr>
          <a:xfrm>
            <a:off x="3246120" y="2487168"/>
            <a:ext cx="5669280" cy="1828800"/>
          </a:xfrm>
          <a:prstGeom prst="rect">
            <a:avLst/>
          </a:prstGeom>
          <a:solidFill>
            <a:srgbClr val="2E3338"/>
          </a:solidFill>
          <a:ln w="12700">
            <a:solidFill>
              <a:srgbClr val="BDB6AA"/>
            </a:solidFill>
            <a:prstDash val="dash"/>
          </a:ln>
        </p:spPr>
      </p:sp>
      <p:sp>
        <p:nvSpPr>
          <p:cNvPr id="9" name="Text 4"/>
          <p:cNvSpPr txBox="1"/>
          <p:nvPr>
            <p:ph idx="107" hasCustomPrompt="1"/>
          </p:nvPr>
        </p:nvSpPr>
        <p:spPr>
          <a:xfrm>
            <a:off x="3246120" y="2487168"/>
            <a:ext cx="5669280" cy="18288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PROCESS BAND  •  3:1  •  generate 16:9 and centre-crop</a:t>
            </a:r>
            <a:endParaRPr lang="en-US" sz="1200" dirty="0"/>
          </a:p>
        </p:txBody>
      </p:sp>
      <p:sp>
        <p:nvSpPr>
          <p:cNvPr id="10" name="Shape 4"/>
          <p:cNvSpPr/>
          <p:nvPr/>
        </p:nvSpPr>
        <p:spPr>
          <a:xfrm>
            <a:off x="685800" y="4617720"/>
            <a:ext cx="2615184" cy="1188720"/>
          </a:xfrm>
          <a:prstGeom prst="rect">
            <a:avLst/>
          </a:prstGeom>
          <a:solidFill>
            <a:srgbClr val="EDF0E5"/>
          </a:solidFill>
          <a:ln w="12700">
            <a:solidFill>
              <a:srgbClr val="C8CDC2"/>
            </a:solidFill>
            <a:prstDash val="solid"/>
          </a:ln>
        </p:spPr>
      </p:sp>
      <p:sp>
        <p:nvSpPr>
          <p:cNvPr id="11" name="Text 5"/>
          <p:cNvSpPr txBox="1"/>
          <p:nvPr/>
        </p:nvSpPr>
        <p:spPr>
          <a:xfrm>
            <a:off x="832104"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1</a:t>
            </a:r>
            <a:endParaRPr lang="en-US" sz="1300" dirty="0"/>
          </a:p>
        </p:txBody>
      </p:sp>
      <p:sp>
        <p:nvSpPr>
          <p:cNvPr id="12" name="Text 6"/>
          <p:cNvSpPr txBox="1"/>
          <p:nvPr>
            <p:ph idx="110" type="body" hasCustomPrompt="1"/>
          </p:nvPr>
        </p:nvSpPr>
        <p:spPr>
          <a:xfrm>
            <a:off x="1234440"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1</a:t>
            </a:r>
            <a:endParaRPr lang="en-US" sz="1200" dirty="0"/>
          </a:p>
        </p:txBody>
      </p:sp>
      <p:sp>
        <p:nvSpPr>
          <p:cNvPr id="13" name="Text 6"/>
          <p:cNvSpPr txBox="1"/>
          <p:nvPr>
            <p:ph idx="111" type="body" hasCustomPrompt="1"/>
          </p:nvPr>
        </p:nvSpPr>
        <p:spPr>
          <a:xfrm>
            <a:off x="832104"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4" name="Shape 6"/>
          <p:cNvSpPr/>
          <p:nvPr/>
        </p:nvSpPr>
        <p:spPr>
          <a:xfrm>
            <a:off x="3447288" y="4617720"/>
            <a:ext cx="2615184" cy="1188720"/>
          </a:xfrm>
          <a:prstGeom prst="rect">
            <a:avLst/>
          </a:prstGeom>
          <a:solidFill>
            <a:srgbClr val="EDF0E5"/>
          </a:solidFill>
          <a:ln w="12700">
            <a:solidFill>
              <a:srgbClr val="C8CDC2"/>
            </a:solidFill>
            <a:prstDash val="solid"/>
          </a:ln>
        </p:spPr>
      </p:sp>
      <p:sp>
        <p:nvSpPr>
          <p:cNvPr id="15" name="Text 7"/>
          <p:cNvSpPr txBox="1"/>
          <p:nvPr/>
        </p:nvSpPr>
        <p:spPr>
          <a:xfrm>
            <a:off x="3593592"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2</a:t>
            </a:r>
            <a:endParaRPr lang="en-US" sz="1300" dirty="0"/>
          </a:p>
        </p:txBody>
      </p:sp>
      <p:sp>
        <p:nvSpPr>
          <p:cNvPr id="16" name="Text 8"/>
          <p:cNvSpPr txBox="1"/>
          <p:nvPr>
            <p:ph idx="114" type="body" hasCustomPrompt="1"/>
          </p:nvPr>
        </p:nvSpPr>
        <p:spPr>
          <a:xfrm>
            <a:off x="3995928"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2</a:t>
            </a:r>
            <a:endParaRPr lang="en-US" sz="1200" dirty="0"/>
          </a:p>
        </p:txBody>
      </p:sp>
      <p:sp>
        <p:nvSpPr>
          <p:cNvPr id="17" name="Text 8"/>
          <p:cNvSpPr txBox="1"/>
          <p:nvPr>
            <p:ph idx="115" type="body" hasCustomPrompt="1"/>
          </p:nvPr>
        </p:nvSpPr>
        <p:spPr>
          <a:xfrm>
            <a:off x="3593592"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8" name="Shape 8"/>
          <p:cNvSpPr/>
          <p:nvPr/>
        </p:nvSpPr>
        <p:spPr>
          <a:xfrm>
            <a:off x="6208776" y="4617720"/>
            <a:ext cx="2615184" cy="1188720"/>
          </a:xfrm>
          <a:prstGeom prst="rect">
            <a:avLst/>
          </a:prstGeom>
          <a:solidFill>
            <a:srgbClr val="EDF0E5"/>
          </a:solidFill>
          <a:ln w="12700">
            <a:solidFill>
              <a:srgbClr val="C8CDC2"/>
            </a:solidFill>
            <a:prstDash val="solid"/>
          </a:ln>
        </p:spPr>
      </p:sp>
      <p:sp>
        <p:nvSpPr>
          <p:cNvPr id="19" name="Text 9"/>
          <p:cNvSpPr txBox="1"/>
          <p:nvPr/>
        </p:nvSpPr>
        <p:spPr>
          <a:xfrm>
            <a:off x="6355080"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3</a:t>
            </a:r>
            <a:endParaRPr lang="en-US" sz="1300" dirty="0"/>
          </a:p>
        </p:txBody>
      </p:sp>
      <p:sp>
        <p:nvSpPr>
          <p:cNvPr id="20" name="Text 10"/>
          <p:cNvSpPr txBox="1"/>
          <p:nvPr>
            <p:ph idx="118" type="body" hasCustomPrompt="1"/>
          </p:nvPr>
        </p:nvSpPr>
        <p:spPr>
          <a:xfrm>
            <a:off x="6757416"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3</a:t>
            </a:r>
            <a:endParaRPr lang="en-US" sz="1200" dirty="0"/>
          </a:p>
        </p:txBody>
      </p:sp>
      <p:sp>
        <p:nvSpPr>
          <p:cNvPr id="21" name="Text 10"/>
          <p:cNvSpPr txBox="1"/>
          <p:nvPr>
            <p:ph idx="119" type="body" hasCustomPrompt="1"/>
          </p:nvPr>
        </p:nvSpPr>
        <p:spPr>
          <a:xfrm>
            <a:off x="6355080"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2" name="Shape 10"/>
          <p:cNvSpPr/>
          <p:nvPr/>
        </p:nvSpPr>
        <p:spPr>
          <a:xfrm>
            <a:off x="8970264" y="4617720"/>
            <a:ext cx="2615184" cy="1188720"/>
          </a:xfrm>
          <a:prstGeom prst="rect">
            <a:avLst/>
          </a:prstGeom>
          <a:solidFill>
            <a:srgbClr val="EDF0E5"/>
          </a:solidFill>
          <a:ln w="12700">
            <a:solidFill>
              <a:srgbClr val="C8CDC2"/>
            </a:solidFill>
            <a:prstDash val="solid"/>
          </a:ln>
        </p:spPr>
      </p:sp>
      <p:sp>
        <p:nvSpPr>
          <p:cNvPr id="23" name="Text 11"/>
          <p:cNvSpPr txBox="1"/>
          <p:nvPr/>
        </p:nvSpPr>
        <p:spPr>
          <a:xfrm>
            <a:off x="9116568"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4</a:t>
            </a:r>
            <a:endParaRPr lang="en-US" sz="1300" dirty="0"/>
          </a:p>
        </p:txBody>
      </p:sp>
      <p:sp>
        <p:nvSpPr>
          <p:cNvPr id="24" name="Text 12"/>
          <p:cNvSpPr txBox="1"/>
          <p:nvPr>
            <p:ph idx="122" type="body" hasCustomPrompt="1"/>
          </p:nvPr>
        </p:nvSpPr>
        <p:spPr>
          <a:xfrm>
            <a:off x="9518904"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4</a:t>
            </a:r>
            <a:endParaRPr lang="en-US" sz="1200" dirty="0"/>
          </a:p>
        </p:txBody>
      </p:sp>
      <p:sp>
        <p:nvSpPr>
          <p:cNvPr id="25" name="Text 12"/>
          <p:cNvSpPr txBox="1"/>
          <p:nvPr>
            <p:ph idx="123" type="body" hasCustomPrompt="1"/>
          </p:nvPr>
        </p:nvSpPr>
        <p:spPr>
          <a:xfrm>
            <a:off x="9116568"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6"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7" name="Text 13"/>
          <p:cNvSpPr txBox="1"/>
          <p:nvPr>
            <p:ph idx="12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06_CONCEPT_IMAG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Shape 2"/>
          <p:cNvSpPr/>
          <p:nvPr/>
        </p:nvSpPr>
        <p:spPr>
          <a:xfrm>
            <a:off x="6172200" y="868680"/>
            <a:ext cx="5349240" cy="4160520"/>
          </a:xfrm>
          <a:prstGeom prst="rect">
            <a:avLst/>
          </a:prstGeom>
          <a:solidFill>
            <a:srgbClr val="A3E635"/>
          </a:solidFill>
          <a:ln/>
        </p:spPr>
      </p:sp>
      <p:sp>
        <p:nvSpPr>
          <p:cNvPr id="5" name="Shape 3"/>
          <p:cNvSpPr/>
          <p:nvPr/>
        </p:nvSpPr>
        <p:spPr>
          <a:xfrm>
            <a:off x="6355080" y="1298448"/>
            <a:ext cx="4983480" cy="2798064"/>
          </a:xfrm>
          <a:prstGeom prst="rect">
            <a:avLst/>
          </a:prstGeom>
          <a:solidFill>
            <a:srgbClr val="EDF0E5"/>
          </a:solidFill>
          <a:ln w="12700">
            <a:solidFill>
              <a:srgbClr val="C8CDC2"/>
            </a:solidFill>
            <a:prstDash val="dash"/>
          </a:ln>
        </p:spPr>
      </p:sp>
      <p:sp>
        <p:nvSpPr>
          <p:cNvPr id="6" name="Text 4"/>
          <p:cNvSpPr txBox="1"/>
          <p:nvPr>
            <p:ph idx="104" hasCustomPrompt="1"/>
          </p:nvPr>
        </p:nvSpPr>
        <p:spPr>
          <a:xfrm>
            <a:off x="6355080" y="1298448"/>
            <a:ext cx="4983480" cy="2798064"/>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7" name="Text 4"/>
          <p:cNvSpPr txBox="1"/>
          <p:nvPr>
            <p:ph idx="105"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8" name="Shape 4"/>
          <p:cNvSpPr/>
          <p:nvPr/>
        </p:nvSpPr>
        <p:spPr>
          <a:xfrm>
            <a:off x="685800" y="676656"/>
            <a:ext cx="1371600" cy="0"/>
          </a:xfrm>
          <a:prstGeom prst="line">
            <a:avLst/>
          </a:prstGeom>
          <a:noFill/>
          <a:ln w="22225">
            <a:solidFill>
              <a:srgbClr val="A3E635"/>
            </a:solidFill>
            <a:prstDash val="solid"/>
          </a:ln>
        </p:spPr>
      </p:sp>
      <p:sp>
        <p:nvSpPr>
          <p:cNvPr id="9" name="Text 5"/>
          <p:cNvSpPr txBox="1"/>
          <p:nvPr>
            <p:ph idx="107" type="title" hasCustomPrompt="1"/>
          </p:nvPr>
        </p:nvSpPr>
        <p:spPr>
          <a:xfrm>
            <a:off x="685800" y="1188720"/>
            <a:ext cx="4892040" cy="868680"/>
          </a:xfrm>
          <a:prstGeom prst="rect">
            <a:avLst/>
          </a:prstGeom>
          <a:noFill/>
          <a:ln/>
        </p:spPr>
        <p:txBody>
          <a:bodyPr wrap="square" rtlCol="0"/>
          <a:lstStyle>
            <a:lvl1pPr algn="l" indent="0" marL="0">
              <a:buNone/>
              <a:defRPr lang="en-US" sz="2800" b="1" dirty="0">
                <a:solidFill>
                  <a:srgbClr val="EDF0E5"/>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Concept Headline</a:t>
            </a:r>
            <a:endParaRPr lang="en-US" sz="2800" dirty="0"/>
          </a:p>
        </p:txBody>
      </p:sp>
      <p:sp>
        <p:nvSpPr>
          <p:cNvPr id="10" name="Text 5"/>
          <p:cNvSpPr txBox="1"/>
          <p:nvPr>
            <p:ph idx="108" type="body" hasCustomPrompt="1"/>
          </p:nvPr>
        </p:nvSpPr>
        <p:spPr>
          <a:xfrm>
            <a:off x="685800" y="2148840"/>
            <a:ext cx="4892040" cy="10058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Keep it to what the image cannot say on its own.</a:t>
            </a:r>
            <a:endParaRPr lang="en-US" sz="1600" dirty="0"/>
          </a:p>
        </p:txBody>
      </p:sp>
      <p:sp>
        <p:nvSpPr>
          <p:cNvPr id="11" name="Shape 5"/>
          <p:cNvSpPr/>
          <p:nvPr/>
        </p:nvSpPr>
        <p:spPr>
          <a:xfrm>
            <a:off x="685800" y="3520440"/>
            <a:ext cx="4892040" cy="1143000"/>
          </a:xfrm>
          <a:prstGeom prst="rect">
            <a:avLst/>
          </a:prstGeom>
          <a:solidFill>
            <a:srgbClr val="2E3338"/>
          </a:solidFill>
          <a:ln/>
        </p:spPr>
      </p:sp>
      <p:sp>
        <p:nvSpPr>
          <p:cNvPr id="12" name="Text 6"/>
          <p:cNvSpPr txBox="1"/>
          <p:nvPr/>
        </p:nvSpPr>
        <p:spPr>
          <a:xfrm>
            <a:off x="886968" y="3657600"/>
            <a:ext cx="2743200" cy="219456"/>
          </a:xfrm>
          <a:prstGeom prst="rect">
            <a:avLst/>
          </a:prstGeom>
          <a:noFill/>
          <a:ln/>
        </p:spPr>
        <p:txBody>
          <a:bodyPr wrap="square" lIns="0" tIns="0" rIns="0" bIns="0" rtlCol="0" anchor="ctr"/>
          <a:lstStyle/>
          <a:p>
            <a:pPr indent="0" marL="0">
              <a:buNone/>
            </a:pPr>
            <a:r>
              <a:rPr lang="en-US" sz="900" b="1" spc="140" kern="0" dirty="0">
                <a:solidFill>
                  <a:srgbClr val="BDB6AA"/>
                </a:solidFill>
                <a:latin typeface="Trade Gothic Next" pitchFamily="34" charset="0"/>
                <a:ea typeface="Trade Gothic Next" pitchFamily="34" charset="-122"/>
                <a:cs typeface="Trade Gothic Next" pitchFamily="34" charset="-120"/>
              </a:rPr>
              <a:t>KEY QUESTION</a:t>
            </a:r>
            <a:endParaRPr lang="en-US" sz="900" dirty="0"/>
          </a:p>
        </p:txBody>
      </p:sp>
      <p:sp>
        <p:nvSpPr>
          <p:cNvPr id="13" name="Text 7"/>
          <p:cNvSpPr txBox="1"/>
          <p:nvPr>
            <p:ph idx="111" type="body" hasCustomPrompt="1"/>
          </p:nvPr>
        </p:nvSpPr>
        <p:spPr>
          <a:xfrm>
            <a:off x="886968" y="3950208"/>
            <a:ext cx="4489704" cy="566928"/>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question this slide is asking.</a:t>
            </a:r>
            <a:endParaRPr lang="en-US" sz="1600" dirty="0"/>
          </a:p>
        </p:txBody>
      </p:sp>
      <p:sp>
        <p:nvSpPr>
          <p:cNvPr id="14"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5" name="Text 8"/>
          <p:cNvSpPr txBox="1"/>
          <p:nvPr>
            <p:ph idx="113"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07_COMPARISON_CARDS">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36092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36092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412480" y="960120"/>
            <a:ext cx="3090672" cy="1737360"/>
          </a:xfrm>
          <a:prstGeom prst="rect">
            <a:avLst/>
          </a:prstGeom>
          <a:solidFill>
            <a:srgbClr val="A3E635"/>
          </a:solidFill>
          <a:ln/>
        </p:spPr>
      </p:sp>
      <p:sp>
        <p:nvSpPr>
          <p:cNvPr id="8" name="Shape 3"/>
          <p:cNvSpPr/>
          <p:nvPr/>
        </p:nvSpPr>
        <p:spPr>
          <a:xfrm>
            <a:off x="8641080" y="1088136"/>
            <a:ext cx="2633472" cy="148132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641080" y="1088136"/>
            <a:ext cx="2633472" cy="1481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788920"/>
            <a:ext cx="3401568" cy="23317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88696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ONE</a:t>
            </a:r>
            <a:endParaRPr lang="en-US" sz="1200" dirty="0"/>
          </a:p>
        </p:txBody>
      </p:sp>
      <p:sp>
        <p:nvSpPr>
          <p:cNvPr id="12" name="Text 5"/>
          <p:cNvSpPr txBox="1"/>
          <p:nvPr>
            <p:ph idx="110" type="body" hasCustomPrompt="1"/>
          </p:nvPr>
        </p:nvSpPr>
        <p:spPr>
          <a:xfrm>
            <a:off x="88696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Three parallel items.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job each.</a:t>
            </a:r>
            <a:endParaRPr lang="en-US" sz="1600" dirty="0"/>
          </a:p>
        </p:txBody>
      </p:sp>
      <p:sp>
        <p:nvSpPr>
          <p:cNvPr id="13" name="Shape 5"/>
          <p:cNvSpPr/>
          <p:nvPr/>
        </p:nvSpPr>
        <p:spPr>
          <a:xfrm>
            <a:off x="4297680" y="2788920"/>
            <a:ext cx="3401568" cy="2331720"/>
          </a:xfrm>
          <a:prstGeom prst="rect">
            <a:avLst/>
          </a:prstGeom>
          <a:solidFill>
            <a:srgbClr val="EDF0E5"/>
          </a:solidFill>
          <a:ln w="12700">
            <a:solidFill>
              <a:srgbClr val="C8CDC2"/>
            </a:solidFill>
            <a:prstDash val="solid"/>
          </a:ln>
        </p:spPr>
      </p:sp>
      <p:sp>
        <p:nvSpPr>
          <p:cNvPr id="14" name="Text 6"/>
          <p:cNvSpPr txBox="1"/>
          <p:nvPr>
            <p:ph idx="112" type="body" hasCustomPrompt="1"/>
          </p:nvPr>
        </p:nvSpPr>
        <p:spPr>
          <a:xfrm>
            <a:off x="449884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TWO</a:t>
            </a:r>
            <a:endParaRPr lang="en-US" sz="1200" dirty="0"/>
          </a:p>
        </p:txBody>
      </p:sp>
      <p:sp>
        <p:nvSpPr>
          <p:cNvPr id="15" name="Text 6"/>
          <p:cNvSpPr txBox="1"/>
          <p:nvPr>
            <p:ph idx="113" type="body" hasCustomPrompt="1"/>
          </p:nvPr>
        </p:nvSpPr>
        <p:spPr>
          <a:xfrm>
            <a:off x="449884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Not a wall of bullets.</a:t>
            </a:r>
            <a:endParaRPr lang="en-US" sz="1600" dirty="0"/>
          </a:p>
        </p:txBody>
      </p:sp>
      <p:sp>
        <p:nvSpPr>
          <p:cNvPr id="16" name="Shape 6"/>
          <p:cNvSpPr/>
          <p:nvPr/>
        </p:nvSpPr>
        <p:spPr>
          <a:xfrm>
            <a:off x="7909560" y="2788920"/>
            <a:ext cx="3401568" cy="2331720"/>
          </a:xfrm>
          <a:prstGeom prst="rect">
            <a:avLst/>
          </a:prstGeom>
          <a:solidFill>
            <a:srgbClr val="EDF0E5"/>
          </a:solidFill>
          <a:ln w="12700">
            <a:solidFill>
              <a:srgbClr val="C8CDC2"/>
            </a:solidFill>
            <a:prstDash val="solid"/>
          </a:ln>
        </p:spPr>
      </p:sp>
      <p:sp>
        <p:nvSpPr>
          <p:cNvPr id="17" name="Text 7"/>
          <p:cNvSpPr txBox="1"/>
          <p:nvPr>
            <p:ph idx="115" type="body" hasCustomPrompt="1"/>
          </p:nvPr>
        </p:nvSpPr>
        <p:spPr>
          <a:xfrm>
            <a:off x="811072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THREE</a:t>
            </a:r>
            <a:endParaRPr lang="en-US" sz="1200" dirty="0"/>
          </a:p>
        </p:txBody>
      </p:sp>
      <p:sp>
        <p:nvSpPr>
          <p:cNvPr id="18" name="Text 7"/>
          <p:cNvSpPr txBox="1"/>
          <p:nvPr>
            <p:ph idx="116" type="body" hasCustomPrompt="1"/>
          </p:nvPr>
        </p:nvSpPr>
        <p:spPr>
          <a:xfrm>
            <a:off x="811072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third parallel item.</a:t>
            </a:r>
            <a:endParaRPr lang="en-US" sz="1600" dirty="0"/>
          </a:p>
        </p:txBody>
      </p:sp>
      <p:sp>
        <p:nvSpPr>
          <p:cNvPr id="19" name="Shape 7"/>
          <p:cNvSpPr/>
          <p:nvPr/>
        </p:nvSpPr>
        <p:spPr>
          <a:xfrm>
            <a:off x="685800" y="5413248"/>
            <a:ext cx="10820095" cy="566928"/>
          </a:xfrm>
          <a:prstGeom prst="rect">
            <a:avLst/>
          </a:prstGeom>
          <a:solidFill>
            <a:srgbClr val="14161B"/>
          </a:solidFill>
          <a:ln/>
        </p:spPr>
      </p:sp>
      <p:sp>
        <p:nvSpPr>
          <p:cNvPr id="20" name="Text 8"/>
          <p:cNvSpPr txBox="1"/>
          <p:nvPr/>
        </p:nvSpPr>
        <p:spPr>
          <a:xfrm>
            <a:off x="886968" y="546811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1" name="Text 9"/>
          <p:cNvSpPr txBox="1"/>
          <p:nvPr>
            <p:ph idx="119" type="body" hasCustomPrompt="1"/>
          </p:nvPr>
        </p:nvSpPr>
        <p:spPr>
          <a:xfrm>
            <a:off x="2240280" y="548640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2"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0"/>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08_DIAGRAM_ANNOTA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5074920" cy="3246120"/>
          </a:xfrm>
          <a:prstGeom prst="rect">
            <a:avLst/>
          </a:prstGeom>
          <a:solidFill>
            <a:srgbClr val="EDF0E5"/>
          </a:solidFill>
          <a:ln w="12700">
            <a:solidFill>
              <a:srgbClr val="C8CDC2"/>
            </a:solidFill>
            <a:prstDash val="solid"/>
          </a:ln>
        </p:spPr>
      </p:sp>
      <p:sp>
        <p:nvSpPr>
          <p:cNvPr id="8" name="Text 3"/>
          <p:cNvSpPr txBox="1"/>
          <p:nvPr>
            <p:ph idx="106" type="body" hasCustomPrompt="1"/>
          </p:nvPr>
        </p:nvSpPr>
        <p:spPr>
          <a:xfrm>
            <a:off x="914400" y="2651760"/>
            <a:ext cx="4617720" cy="2743200"/>
          </a:xfrm>
          <a:prstGeom prst="rect">
            <a:avLst/>
          </a:prstGeom>
          <a:noFill/>
          <a:ln/>
        </p:spPr>
        <p:txBody>
          <a:bodyPr wrap="square" rtlCol="0"/>
          <a:lstStyle>
            <a:lvl1pPr algn="ctr" indent="0" marL="0">
              <a:buNone/>
              <a:defRPr lang="en-US" sz="20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Hand-built diagram here.</a:t>
            </a:r>
            <a:endParaRPr lang="en-US" sz="2000" dirty="0"/>
          </a:p>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Anything with a number or a label is built, not generated.</a:t>
            </a:r>
            <a:endParaRPr lang="en-US" sz="2000" dirty="0"/>
          </a:p>
        </p:txBody>
      </p:sp>
      <p:sp>
        <p:nvSpPr>
          <p:cNvPr id="9" name="Shape 3"/>
          <p:cNvSpPr/>
          <p:nvPr/>
        </p:nvSpPr>
        <p:spPr>
          <a:xfrm>
            <a:off x="6126480" y="2395728"/>
            <a:ext cx="5532120" cy="987552"/>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6327648" y="2560320"/>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ONE</a:t>
            </a:r>
            <a:endParaRPr lang="en-US" sz="1200" dirty="0"/>
          </a:p>
        </p:txBody>
      </p:sp>
      <p:sp>
        <p:nvSpPr>
          <p:cNvPr id="11" name="Text 4"/>
          <p:cNvSpPr txBox="1"/>
          <p:nvPr>
            <p:ph idx="109" type="body" hasCustomPrompt="1"/>
          </p:nvPr>
        </p:nvSpPr>
        <p:spPr>
          <a:xfrm>
            <a:off x="6327648" y="2852928"/>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2" name="Shape 4"/>
          <p:cNvSpPr/>
          <p:nvPr/>
        </p:nvSpPr>
        <p:spPr>
          <a:xfrm>
            <a:off x="6126480" y="3529584"/>
            <a:ext cx="5532120" cy="987552"/>
          </a:xfrm>
          <a:prstGeom prst="rect">
            <a:avLst/>
          </a:prstGeom>
          <a:solidFill>
            <a:srgbClr val="EDF0E5"/>
          </a:solidFill>
          <a:ln w="12700">
            <a:solidFill>
              <a:srgbClr val="C8CDC2"/>
            </a:solidFill>
            <a:prstDash val="solid"/>
          </a:ln>
        </p:spPr>
      </p:sp>
      <p:sp>
        <p:nvSpPr>
          <p:cNvPr id="13" name="Text 5"/>
          <p:cNvSpPr txBox="1"/>
          <p:nvPr>
            <p:ph idx="111" type="body" hasCustomPrompt="1"/>
          </p:nvPr>
        </p:nvSpPr>
        <p:spPr>
          <a:xfrm>
            <a:off x="6327648" y="3694176"/>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TWO</a:t>
            </a:r>
            <a:endParaRPr lang="en-US" sz="1200" dirty="0"/>
          </a:p>
        </p:txBody>
      </p:sp>
      <p:sp>
        <p:nvSpPr>
          <p:cNvPr id="14" name="Text 5"/>
          <p:cNvSpPr txBox="1"/>
          <p:nvPr>
            <p:ph idx="112" type="body" hasCustomPrompt="1"/>
          </p:nvPr>
        </p:nvSpPr>
        <p:spPr>
          <a:xfrm>
            <a:off x="6327648" y="3986784"/>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5" name="Shape 5"/>
          <p:cNvSpPr/>
          <p:nvPr/>
        </p:nvSpPr>
        <p:spPr>
          <a:xfrm>
            <a:off x="6126480" y="4663440"/>
            <a:ext cx="5532120" cy="978408"/>
          </a:xfrm>
          <a:prstGeom prst="rect">
            <a:avLst/>
          </a:prstGeom>
          <a:solidFill>
            <a:srgbClr val="EDF0E5"/>
          </a:solidFill>
          <a:ln w="12700">
            <a:solidFill>
              <a:srgbClr val="C8CDC2"/>
            </a:solidFill>
            <a:prstDash val="solid"/>
          </a:ln>
        </p:spPr>
      </p:sp>
      <p:sp>
        <p:nvSpPr>
          <p:cNvPr id="16" name="Text 6"/>
          <p:cNvSpPr txBox="1"/>
          <p:nvPr>
            <p:ph idx="114" type="body" hasCustomPrompt="1"/>
          </p:nvPr>
        </p:nvSpPr>
        <p:spPr>
          <a:xfrm>
            <a:off x="6327648" y="4828032"/>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THREE</a:t>
            </a:r>
            <a:endParaRPr lang="en-US" sz="1200" dirty="0"/>
          </a:p>
        </p:txBody>
      </p:sp>
      <p:sp>
        <p:nvSpPr>
          <p:cNvPr id="17" name="Text 6"/>
          <p:cNvSpPr txBox="1"/>
          <p:nvPr>
            <p:ph idx="115" type="body" hasCustomPrompt="1"/>
          </p:nvPr>
        </p:nvSpPr>
        <p:spPr>
          <a:xfrm>
            <a:off x="6327648" y="5120640"/>
            <a:ext cx="5129784" cy="32004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8"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7"/>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09_EXAMPLE_PROBLEM">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86384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86384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915400" y="960120"/>
            <a:ext cx="2587752" cy="1325880"/>
          </a:xfrm>
          <a:prstGeom prst="rect">
            <a:avLst/>
          </a:prstGeom>
          <a:solidFill>
            <a:srgbClr val="EDF0E5"/>
          </a:solidFill>
          <a:ln w="25400">
            <a:solidFill>
              <a:srgbClr val="A3E635"/>
            </a:solidFill>
            <a:prstDash val="solid"/>
          </a:ln>
        </p:spPr>
      </p:sp>
      <p:sp>
        <p:nvSpPr>
          <p:cNvPr id="8" name="Shape 3"/>
          <p:cNvSpPr/>
          <p:nvPr/>
        </p:nvSpPr>
        <p:spPr>
          <a:xfrm>
            <a:off x="9262872" y="1088136"/>
            <a:ext cx="1901952" cy="106984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9262872" y="1088136"/>
            <a:ext cx="1901952" cy="106984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395728"/>
            <a:ext cx="5394960" cy="1051560"/>
          </a:xfrm>
          <a:prstGeom prst="rect">
            <a:avLst/>
          </a:prstGeom>
          <a:solidFill>
            <a:srgbClr val="2E3338"/>
          </a:solidFill>
          <a:ln/>
        </p:spPr>
      </p:sp>
      <p:sp>
        <p:nvSpPr>
          <p:cNvPr id="11" name="Text 5"/>
          <p:cNvSpPr txBox="1"/>
          <p:nvPr/>
        </p:nvSpPr>
        <p:spPr>
          <a:xfrm>
            <a:off x="886968" y="2523744"/>
            <a:ext cx="1828800" cy="219456"/>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886968" y="2798064"/>
            <a:ext cx="4992624" cy="54864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685800" y="3611880"/>
            <a:ext cx="2606040" cy="1737360"/>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88696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88696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the problem hands you.</a:t>
            </a:r>
            <a:endParaRPr lang="en-US" sz="1600" dirty="0"/>
          </a:p>
        </p:txBody>
      </p:sp>
      <p:sp>
        <p:nvSpPr>
          <p:cNvPr id="16" name="Shape 7"/>
          <p:cNvSpPr/>
          <p:nvPr/>
        </p:nvSpPr>
        <p:spPr>
          <a:xfrm>
            <a:off x="3474720" y="3611880"/>
            <a:ext cx="2606040" cy="1737360"/>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367588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18" name="Text 8"/>
          <p:cNvSpPr txBox="1"/>
          <p:nvPr>
            <p:ph idx="116" type="body" hasCustomPrompt="1"/>
          </p:nvPr>
        </p:nvSpPr>
        <p:spPr>
          <a:xfrm>
            <a:off x="367588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you are solving for.</a:t>
            </a:r>
            <a:endParaRPr lang="en-US" sz="1600" dirty="0"/>
          </a:p>
        </p:txBody>
      </p:sp>
      <p:sp>
        <p:nvSpPr>
          <p:cNvPr id="19" name="Shape 8"/>
          <p:cNvSpPr/>
          <p:nvPr/>
        </p:nvSpPr>
        <p:spPr>
          <a:xfrm>
            <a:off x="6263640" y="2395728"/>
            <a:ext cx="5239512" cy="2953512"/>
          </a:xfrm>
          <a:prstGeom prst="rect">
            <a:avLst/>
          </a:prstGeom>
          <a:solidFill>
            <a:srgbClr val="EDF0E5"/>
          </a:solidFill>
          <a:ln w="12700">
            <a:solidFill>
              <a:srgbClr val="C8CDC2"/>
            </a:solidFill>
            <a:prstDash val="solid"/>
          </a:ln>
        </p:spPr>
      </p:sp>
      <p:sp>
        <p:nvSpPr>
          <p:cNvPr id="20" name="Text 9"/>
          <p:cNvSpPr txBox="1"/>
          <p:nvPr/>
        </p:nvSpPr>
        <p:spPr>
          <a:xfrm>
            <a:off x="6464808" y="2560320"/>
            <a:ext cx="22860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 AREA</a:t>
            </a:r>
            <a:endParaRPr lang="en-US" sz="900" dirty="0"/>
          </a:p>
        </p:txBody>
      </p:sp>
      <p:sp>
        <p:nvSpPr>
          <p:cNvPr id="21" name="Text 10"/>
          <p:cNvSpPr txBox="1"/>
          <p:nvPr>
            <p:ph idx="119" type="body" hasCustomPrompt="1"/>
          </p:nvPr>
        </p:nvSpPr>
        <p:spPr>
          <a:xfrm>
            <a:off x="6464808" y="2880360"/>
            <a:ext cx="4837176" cy="228600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Leave this blank in the projected copy. It is filled live on the board.</a:t>
            </a:r>
            <a:endParaRPr lang="en-US" sz="1900" dirty="0"/>
          </a:p>
        </p:txBody>
      </p:sp>
      <p:sp>
        <p:nvSpPr>
          <p:cNvPr id="22" name="Shape 10"/>
          <p:cNvSpPr/>
          <p:nvPr/>
        </p:nvSpPr>
        <p:spPr>
          <a:xfrm>
            <a:off x="685800" y="5532120"/>
            <a:ext cx="10820095" cy="566928"/>
          </a:xfrm>
          <a:prstGeom prst="rect">
            <a:avLst/>
          </a:prstGeom>
          <a:solidFill>
            <a:srgbClr val="14161B"/>
          </a:solidFill>
          <a:ln/>
        </p:spPr>
      </p:sp>
      <p:sp>
        <p:nvSpPr>
          <p:cNvPr id="23" name="Text 11"/>
          <p:cNvSpPr txBox="1"/>
          <p:nvPr/>
        </p:nvSpPr>
        <p:spPr>
          <a:xfrm>
            <a:off x="886968" y="5586984"/>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4" name="Text 12"/>
          <p:cNvSpPr txBox="1"/>
          <p:nvPr>
            <p:ph idx="122" type="body" hasCustomPrompt="1"/>
          </p:nvPr>
        </p:nvSpPr>
        <p:spPr>
          <a:xfrm>
            <a:off x="2240280" y="5605272"/>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5"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6" name="Text 13"/>
          <p:cNvSpPr txBox="1"/>
          <p:nvPr>
            <p:ph idx="124"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0_WORKED_SOLU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160520" cy="2560320"/>
          </a:xfrm>
          <a:prstGeom prst="rect">
            <a:avLst/>
          </a:prstGeom>
          <a:solidFill>
            <a:srgbClr val="A3E635"/>
          </a:solidFill>
          <a:ln/>
        </p:spPr>
      </p:sp>
      <p:sp>
        <p:nvSpPr>
          <p:cNvPr id="8" name="Shape 3"/>
          <p:cNvSpPr/>
          <p:nvPr/>
        </p:nvSpPr>
        <p:spPr>
          <a:xfrm>
            <a:off x="832104" y="2542032"/>
            <a:ext cx="3867912" cy="2267712"/>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3867912" cy="2267712"/>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DATA IMAGE</a:t>
            </a:r>
            <a:endParaRPr lang="en-US" sz="1200" dirty="0"/>
          </a:p>
        </p:txBody>
      </p:sp>
      <p:sp>
        <p:nvSpPr>
          <p:cNvPr id="10" name="Shape 4"/>
          <p:cNvSpPr/>
          <p:nvPr/>
        </p:nvSpPr>
        <p:spPr>
          <a:xfrm>
            <a:off x="5074920" y="2395728"/>
            <a:ext cx="3154680" cy="25603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5276088" y="2560320"/>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FORMULA</a:t>
            </a:r>
            <a:endParaRPr lang="en-US" sz="1200" dirty="0"/>
          </a:p>
        </p:txBody>
      </p:sp>
      <p:sp>
        <p:nvSpPr>
          <p:cNvPr id="12" name="Text 5"/>
          <p:cNvSpPr txBox="1"/>
          <p:nvPr>
            <p:ph idx="110" type="body" hasCustomPrompt="1"/>
          </p:nvPr>
        </p:nvSpPr>
        <p:spPr>
          <a:xfrm>
            <a:off x="5276088" y="2852928"/>
            <a:ext cx="2752344" cy="19019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before any numbers.</a:t>
            </a:r>
            <a:endParaRPr lang="en-US" sz="1600" dirty="0"/>
          </a:p>
        </p:txBody>
      </p:sp>
      <p:sp>
        <p:nvSpPr>
          <p:cNvPr id="13" name="Shape 5"/>
          <p:cNvSpPr/>
          <p:nvPr/>
        </p:nvSpPr>
        <p:spPr>
          <a:xfrm>
            <a:off x="8412480" y="2395728"/>
            <a:ext cx="3090672" cy="2560320"/>
          </a:xfrm>
          <a:prstGeom prst="rect">
            <a:avLst/>
          </a:prstGeom>
          <a:solidFill>
            <a:srgbClr val="EDF0E5"/>
          </a:solidFill>
          <a:ln w="12700">
            <a:solidFill>
              <a:srgbClr val="C8CDC2"/>
            </a:solidFill>
            <a:prstDash val="solid"/>
          </a:ln>
        </p:spPr>
      </p:sp>
      <p:sp>
        <p:nvSpPr>
          <p:cNvPr id="14" name="Text 6"/>
          <p:cNvSpPr txBox="1"/>
          <p:nvPr/>
        </p:nvSpPr>
        <p:spPr>
          <a:xfrm>
            <a:off x="8613648" y="2560320"/>
            <a:ext cx="18288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a:t>
            </a:r>
            <a:endParaRPr lang="en-US" sz="900" dirty="0"/>
          </a:p>
        </p:txBody>
      </p:sp>
      <p:sp>
        <p:nvSpPr>
          <p:cNvPr id="15" name="Text 7"/>
          <p:cNvSpPr txBox="1"/>
          <p:nvPr>
            <p:ph idx="113" type="body" hasCustomPrompt="1"/>
          </p:nvPr>
        </p:nvSpPr>
        <p:spPr>
          <a:xfrm>
            <a:off x="8613648" y="2871216"/>
            <a:ext cx="2688336" cy="192024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 completed work,</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step by step.</a:t>
            </a:r>
            <a:endParaRPr lang="en-US" sz="1900" dirty="0"/>
          </a:p>
        </p:txBody>
      </p:sp>
      <p:sp>
        <p:nvSpPr>
          <p:cNvPr id="16" name="Shape 7"/>
          <p:cNvSpPr/>
          <p:nvPr/>
        </p:nvSpPr>
        <p:spPr>
          <a:xfrm>
            <a:off x="685800" y="5138928"/>
            <a:ext cx="10820095" cy="566928"/>
          </a:xfrm>
          <a:prstGeom prst="rect">
            <a:avLst/>
          </a:prstGeom>
          <a:solidFill>
            <a:srgbClr val="14161B"/>
          </a:solidFill>
          <a:ln/>
        </p:spPr>
      </p:sp>
      <p:sp>
        <p:nvSpPr>
          <p:cNvPr id="17" name="Text 8"/>
          <p:cNvSpPr txBox="1"/>
          <p:nvPr/>
        </p:nvSpPr>
        <p:spPr>
          <a:xfrm>
            <a:off x="886968" y="519379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8" name="Text 9"/>
          <p:cNvSpPr txBox="1"/>
          <p:nvPr>
            <p:ph idx="116" type="body" hasCustomPrompt="1"/>
          </p:nvPr>
        </p:nvSpPr>
        <p:spPr>
          <a:xfrm>
            <a:off x="2240280" y="521208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9"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0" name="Text 10"/>
          <p:cNvSpPr txBox="1"/>
          <p:nvPr>
            <p:ph idx="118"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1_GIVENS_EQUATION_ANSW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663440" cy="2624328"/>
          </a:xfrm>
          <a:prstGeom prst="rect">
            <a:avLst/>
          </a:prstGeom>
          <a:solidFill>
            <a:srgbClr val="A3E635"/>
          </a:solidFill>
          <a:ln/>
        </p:spPr>
      </p:sp>
      <p:sp>
        <p:nvSpPr>
          <p:cNvPr id="8" name="Shape 3"/>
          <p:cNvSpPr/>
          <p:nvPr/>
        </p:nvSpPr>
        <p:spPr>
          <a:xfrm>
            <a:off x="832104" y="2542032"/>
            <a:ext cx="4370832" cy="2331720"/>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4370832" cy="2331720"/>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SETUP IMAGE</a:t>
            </a:r>
            <a:endParaRPr lang="en-US" sz="1200" dirty="0"/>
          </a:p>
        </p:txBody>
      </p:sp>
      <p:sp>
        <p:nvSpPr>
          <p:cNvPr id="10" name="Shape 4"/>
          <p:cNvSpPr/>
          <p:nvPr/>
        </p:nvSpPr>
        <p:spPr>
          <a:xfrm>
            <a:off x="5577840" y="2395728"/>
            <a:ext cx="5925312" cy="960120"/>
          </a:xfrm>
          <a:prstGeom prst="rect">
            <a:avLst/>
          </a:prstGeom>
          <a:solidFill>
            <a:srgbClr val="2E3338"/>
          </a:solidFill>
          <a:ln/>
        </p:spPr>
      </p:sp>
      <p:sp>
        <p:nvSpPr>
          <p:cNvPr id="11" name="Text 5"/>
          <p:cNvSpPr txBox="1"/>
          <p:nvPr/>
        </p:nvSpPr>
        <p:spPr>
          <a:xfrm>
            <a:off x="5779008" y="2505456"/>
            <a:ext cx="1828800" cy="201168"/>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5779008" y="2743200"/>
            <a:ext cx="5522976" cy="50292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5577840" y="3520440"/>
            <a:ext cx="2871216" cy="1499616"/>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5779008"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5779008"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Values the problem supplies.</a:t>
            </a:r>
            <a:endParaRPr lang="en-US" sz="1600" dirty="0"/>
          </a:p>
        </p:txBody>
      </p:sp>
      <p:sp>
        <p:nvSpPr>
          <p:cNvPr id="16" name="Shape 7"/>
          <p:cNvSpPr/>
          <p:nvPr/>
        </p:nvSpPr>
        <p:spPr>
          <a:xfrm>
            <a:off x="8631936" y="3520440"/>
            <a:ext cx="2871216" cy="1499616"/>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8833104"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EQUATION</a:t>
            </a:r>
            <a:endParaRPr lang="en-US" sz="1200" dirty="0"/>
          </a:p>
        </p:txBody>
      </p:sp>
      <p:sp>
        <p:nvSpPr>
          <p:cNvPr id="18" name="Text 8"/>
          <p:cNvSpPr txBox="1"/>
          <p:nvPr>
            <p:ph idx="116" type="body" hasCustomPrompt="1"/>
          </p:nvPr>
        </p:nvSpPr>
        <p:spPr>
          <a:xfrm>
            <a:off x="8833104"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you will use.</a:t>
            </a:r>
            <a:endParaRPr lang="en-US" sz="1600" dirty="0"/>
          </a:p>
        </p:txBody>
      </p:sp>
      <p:sp>
        <p:nvSpPr>
          <p:cNvPr id="19" name="Shape 8"/>
          <p:cNvSpPr/>
          <p:nvPr/>
        </p:nvSpPr>
        <p:spPr>
          <a:xfrm>
            <a:off x="5577840" y="5193792"/>
            <a:ext cx="5925312" cy="777240"/>
          </a:xfrm>
          <a:prstGeom prst="rect">
            <a:avLst/>
          </a:prstGeom>
          <a:solidFill>
            <a:srgbClr val="EDF0E5"/>
          </a:solidFill>
          <a:ln w="19050">
            <a:solidFill>
              <a:srgbClr val="A3E635"/>
            </a:solidFill>
            <a:prstDash val="solid"/>
          </a:ln>
        </p:spPr>
      </p:sp>
      <p:sp>
        <p:nvSpPr>
          <p:cNvPr id="20" name="Text 9"/>
          <p:cNvSpPr txBox="1"/>
          <p:nvPr/>
        </p:nvSpPr>
        <p:spPr>
          <a:xfrm>
            <a:off x="5779008" y="5285232"/>
            <a:ext cx="1828800" cy="201168"/>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ANSWER</a:t>
            </a:r>
            <a:endParaRPr lang="en-US" sz="900" dirty="0"/>
          </a:p>
        </p:txBody>
      </p:sp>
      <p:sp>
        <p:nvSpPr>
          <p:cNvPr id="21" name="Text 10"/>
          <p:cNvSpPr txBox="1"/>
          <p:nvPr>
            <p:ph idx="119" type="body" hasCustomPrompt="1"/>
          </p:nvPr>
        </p:nvSpPr>
        <p:spPr>
          <a:xfrm>
            <a:off x="5779008" y="5504688"/>
            <a:ext cx="5522976" cy="384048"/>
          </a:xfrm>
          <a:prstGeom prst="rect">
            <a:avLst/>
          </a:prstGeom>
          <a:noFill/>
          <a:ln/>
        </p:spPr>
        <p:txBody>
          <a:bodyPr wrap="square" rtlCol="0"/>
          <a:lstStyle>
            <a:lvl1pPr indent="0" marL="0">
              <a:buNone/>
              <a:defRPr lang="en-US" sz="20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2000" b="1" dirty="0">
                <a:solidFill>
                  <a:srgbClr val="14161B"/>
                </a:solidFill>
                <a:latin typeface="Trade Gothic Next" pitchFamily="34" charset="0"/>
                <a:ea typeface="Trade Gothic Next" pitchFamily="34" charset="-122"/>
                <a:cs typeface="Trade Gothic Next" pitchFamily="34" charset="-120"/>
              </a:rPr>
              <a:t>with units</a:t>
            </a:r>
            <a:endParaRPr lang="en-US" sz="2000" dirty="0"/>
          </a:p>
        </p:txBody>
      </p:sp>
      <p:sp>
        <p:nvSpPr>
          <p:cNvPr id="22" name="Text 10"/>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1"/>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2_DECK_INDEX">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Text 2"/>
          <p:cNvSpPr txBox="1"/>
          <p:nvPr>
            <p:ph idx="102"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5" name="Shape 2"/>
          <p:cNvSpPr/>
          <p:nvPr/>
        </p:nvSpPr>
        <p:spPr>
          <a:xfrm>
            <a:off x="685800" y="676656"/>
            <a:ext cx="1371600" cy="0"/>
          </a:xfrm>
          <a:prstGeom prst="line">
            <a:avLst/>
          </a:prstGeom>
          <a:noFill/>
          <a:ln w="22225">
            <a:solidFill>
              <a:srgbClr val="A3E635"/>
            </a:solidFill>
            <a:prstDash val="solid"/>
          </a:ln>
        </p:spPr>
      </p:sp>
      <p:sp>
        <p:nvSpPr>
          <p:cNvPr id="6" name="Text 3"/>
          <p:cNvSpPr txBox="1"/>
          <p:nvPr>
            <p:ph idx="104" type="title" hasCustomPrompt="1"/>
          </p:nvPr>
        </p:nvSpPr>
        <p:spPr>
          <a:xfrm>
            <a:off x="685800" y="1097280"/>
            <a:ext cx="3200400" cy="1280160"/>
          </a:xfrm>
          <a:prstGeom prst="rect">
            <a:avLst/>
          </a:prstGeom>
          <a:noFill/>
          <a:ln/>
        </p:spPr>
        <p:txBody>
          <a:bodyPr wrap="square" rtlCol="0"/>
          <a:lstStyle>
            <a:lvl1pPr algn="l" indent="0" marL="0">
              <a:lnSpc>
                <a:spcPct val="106000"/>
              </a:lnSpc>
              <a:buNone/>
              <a:defRPr lang="en-US" sz="3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Template Slide</a:t>
            </a:r>
            <a:endParaRPr lang="en-US" sz="3000" dirty="0"/>
          </a:p>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Family</a:t>
            </a:r>
            <a:endParaRPr lang="en-US" sz="3000" dirty="0"/>
          </a:p>
        </p:txBody>
      </p:sp>
      <p:sp>
        <p:nvSpPr>
          <p:cNvPr id="7" name="Text 3"/>
          <p:cNvSpPr txBox="1"/>
          <p:nvPr>
            <p:ph idx="105" type="body" hasCustomPrompt="1"/>
          </p:nvPr>
        </p:nvSpPr>
        <p:spPr>
          <a:xfrm>
            <a:off x="685800" y="2514600"/>
            <a:ext cx="3200400" cy="14630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Twelve layouts shared by Chemistry, Physics, and Geology.</a:t>
            </a:r>
            <a:endParaRPr lang="en-US" sz="1600" dirty="0"/>
          </a:p>
          <a:p>
            <a:pPr indent="0" marL="0">
              <a:buNone/>
            </a:pPr>
            <a:endParaRPr lang="en-US" sz="1600" dirty="0"/>
          </a:p>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New slide → Layout → pick one. Never build from scratch.</a:t>
            </a:r>
            <a:endParaRPr lang="en-US" sz="1600" dirty="0"/>
          </a:p>
        </p:txBody>
      </p:sp>
      <p:sp>
        <p:nvSpPr>
          <p:cNvPr id="8" name="Shape 3"/>
          <p:cNvSpPr/>
          <p:nvPr/>
        </p:nvSpPr>
        <p:spPr>
          <a:xfrm>
            <a:off x="4434840" y="1097280"/>
            <a:ext cx="2148840" cy="932688"/>
          </a:xfrm>
          <a:prstGeom prst="rect">
            <a:avLst/>
          </a:prstGeom>
          <a:solidFill>
            <a:srgbClr val="2E3338"/>
          </a:solidFill>
          <a:ln/>
        </p:spPr>
      </p:sp>
      <p:sp>
        <p:nvSpPr>
          <p:cNvPr id="9" name="Text 4"/>
          <p:cNvSpPr txBox="1"/>
          <p:nvPr/>
        </p:nvSpPr>
        <p:spPr>
          <a:xfrm>
            <a:off x="459943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01</a:t>
            </a:r>
            <a:endParaRPr lang="en-US" sz="1100" dirty="0"/>
          </a:p>
        </p:txBody>
      </p:sp>
      <p:sp>
        <p:nvSpPr>
          <p:cNvPr id="10" name="Text 5"/>
          <p:cNvSpPr txBox="1"/>
          <p:nvPr/>
        </p:nvSpPr>
        <p:spPr>
          <a:xfrm>
            <a:off x="503834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Unit Title</a:t>
            </a:r>
            <a:endParaRPr lang="en-US" sz="1200" dirty="0"/>
          </a:p>
        </p:txBody>
      </p:sp>
      <p:sp>
        <p:nvSpPr>
          <p:cNvPr id="11" name="Text 6"/>
          <p:cNvSpPr txBox="1"/>
          <p:nvPr/>
        </p:nvSpPr>
        <p:spPr>
          <a:xfrm>
            <a:off x="459943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unit</a:t>
            </a:r>
            <a:endParaRPr lang="en-US" sz="1100" dirty="0"/>
          </a:p>
        </p:txBody>
      </p:sp>
      <p:sp>
        <p:nvSpPr>
          <p:cNvPr id="12" name="Shape 7"/>
          <p:cNvSpPr/>
          <p:nvPr/>
        </p:nvSpPr>
        <p:spPr>
          <a:xfrm>
            <a:off x="6766560" y="1097280"/>
            <a:ext cx="2148840" cy="932688"/>
          </a:xfrm>
          <a:prstGeom prst="rect">
            <a:avLst/>
          </a:prstGeom>
          <a:solidFill>
            <a:srgbClr val="2E3338"/>
          </a:solidFill>
          <a:ln/>
        </p:spPr>
      </p:sp>
      <p:sp>
        <p:nvSpPr>
          <p:cNvPr id="13" name="Text 8"/>
          <p:cNvSpPr txBox="1"/>
          <p:nvPr/>
        </p:nvSpPr>
        <p:spPr>
          <a:xfrm>
            <a:off x="693115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02</a:t>
            </a:r>
            <a:endParaRPr lang="en-US" sz="1100" dirty="0"/>
          </a:p>
        </p:txBody>
      </p:sp>
      <p:sp>
        <p:nvSpPr>
          <p:cNvPr id="14" name="Text 9"/>
          <p:cNvSpPr txBox="1"/>
          <p:nvPr/>
        </p:nvSpPr>
        <p:spPr>
          <a:xfrm>
            <a:off x="737006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Section Title</a:t>
            </a:r>
            <a:endParaRPr lang="en-US" sz="1200" dirty="0"/>
          </a:p>
        </p:txBody>
      </p:sp>
      <p:sp>
        <p:nvSpPr>
          <p:cNvPr id="15" name="Text 10"/>
          <p:cNvSpPr txBox="1"/>
          <p:nvPr/>
        </p:nvSpPr>
        <p:spPr>
          <a:xfrm>
            <a:off x="693115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section</a:t>
            </a:r>
            <a:endParaRPr lang="en-US" sz="1100" dirty="0"/>
          </a:p>
        </p:txBody>
      </p:sp>
      <p:sp>
        <p:nvSpPr>
          <p:cNvPr id="16" name="Shape 11"/>
          <p:cNvSpPr/>
          <p:nvPr/>
        </p:nvSpPr>
        <p:spPr>
          <a:xfrm>
            <a:off x="9098280" y="1097280"/>
            <a:ext cx="2148840" cy="932688"/>
          </a:xfrm>
          <a:prstGeom prst="rect">
            <a:avLst/>
          </a:prstGeom>
          <a:solidFill>
            <a:srgbClr val="2E3338"/>
          </a:solidFill>
          <a:ln/>
        </p:spPr>
      </p:sp>
      <p:sp>
        <p:nvSpPr>
          <p:cNvPr id="17" name="Text 12"/>
          <p:cNvSpPr txBox="1"/>
          <p:nvPr/>
        </p:nvSpPr>
        <p:spPr>
          <a:xfrm>
            <a:off x="926287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03</a:t>
            </a:r>
            <a:endParaRPr lang="en-US" sz="1100" dirty="0"/>
          </a:p>
        </p:txBody>
      </p:sp>
      <p:sp>
        <p:nvSpPr>
          <p:cNvPr id="18" name="Text 13"/>
          <p:cNvSpPr txBox="1"/>
          <p:nvPr/>
        </p:nvSpPr>
        <p:spPr>
          <a:xfrm>
            <a:off x="970178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Grouped</a:t>
            </a:r>
            <a:endParaRPr lang="en-US" sz="1200" dirty="0"/>
          </a:p>
        </p:txBody>
      </p:sp>
      <p:sp>
        <p:nvSpPr>
          <p:cNvPr id="19" name="Text 14"/>
          <p:cNvSpPr txBox="1"/>
          <p:nvPr/>
        </p:nvSpPr>
        <p:spPr>
          <a:xfrm>
            <a:off x="926287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two contrasting ideas</a:t>
            </a:r>
            <a:endParaRPr lang="en-US" sz="1100" dirty="0"/>
          </a:p>
        </p:txBody>
      </p:sp>
      <p:sp>
        <p:nvSpPr>
          <p:cNvPr id="20" name="Shape 15"/>
          <p:cNvSpPr/>
          <p:nvPr/>
        </p:nvSpPr>
        <p:spPr>
          <a:xfrm>
            <a:off x="4434840" y="2212848"/>
            <a:ext cx="2148840" cy="932688"/>
          </a:xfrm>
          <a:prstGeom prst="rect">
            <a:avLst/>
          </a:prstGeom>
          <a:solidFill>
            <a:srgbClr val="2E3338"/>
          </a:solidFill>
          <a:ln/>
        </p:spPr>
      </p:sp>
      <p:sp>
        <p:nvSpPr>
          <p:cNvPr id="21" name="Text 16"/>
          <p:cNvSpPr txBox="1"/>
          <p:nvPr/>
        </p:nvSpPr>
        <p:spPr>
          <a:xfrm>
            <a:off x="459943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04</a:t>
            </a:r>
            <a:endParaRPr lang="en-US" sz="1100" dirty="0"/>
          </a:p>
        </p:txBody>
      </p:sp>
      <p:sp>
        <p:nvSpPr>
          <p:cNvPr id="22" name="Text 17"/>
          <p:cNvSpPr txBox="1"/>
          <p:nvPr/>
        </p:nvSpPr>
        <p:spPr>
          <a:xfrm>
            <a:off x="503834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Divider</a:t>
            </a:r>
            <a:endParaRPr lang="en-US" sz="1200" dirty="0"/>
          </a:p>
        </p:txBody>
      </p:sp>
      <p:sp>
        <p:nvSpPr>
          <p:cNvPr id="23" name="Text 18"/>
          <p:cNvSpPr txBox="1"/>
          <p:nvPr/>
        </p:nvSpPr>
        <p:spPr>
          <a:xfrm>
            <a:off x="459943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visual reset</a:t>
            </a:r>
            <a:endParaRPr lang="en-US" sz="1100" dirty="0"/>
          </a:p>
        </p:txBody>
      </p:sp>
      <p:sp>
        <p:nvSpPr>
          <p:cNvPr id="24" name="Shape 19"/>
          <p:cNvSpPr/>
          <p:nvPr/>
        </p:nvSpPr>
        <p:spPr>
          <a:xfrm>
            <a:off x="6766560" y="2212848"/>
            <a:ext cx="2148840" cy="932688"/>
          </a:xfrm>
          <a:prstGeom prst="rect">
            <a:avLst/>
          </a:prstGeom>
          <a:solidFill>
            <a:srgbClr val="2E3338"/>
          </a:solidFill>
          <a:ln/>
        </p:spPr>
      </p:sp>
      <p:sp>
        <p:nvSpPr>
          <p:cNvPr id="25" name="Text 20"/>
          <p:cNvSpPr txBox="1"/>
          <p:nvPr/>
        </p:nvSpPr>
        <p:spPr>
          <a:xfrm>
            <a:off x="693115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05</a:t>
            </a:r>
            <a:endParaRPr lang="en-US" sz="1100" dirty="0"/>
          </a:p>
        </p:txBody>
      </p:sp>
      <p:sp>
        <p:nvSpPr>
          <p:cNvPr id="26" name="Text 21"/>
          <p:cNvSpPr txBox="1"/>
          <p:nvPr/>
        </p:nvSpPr>
        <p:spPr>
          <a:xfrm>
            <a:off x="737006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Process</a:t>
            </a:r>
            <a:endParaRPr lang="en-US" sz="1200" dirty="0"/>
          </a:p>
        </p:txBody>
      </p:sp>
      <p:sp>
        <p:nvSpPr>
          <p:cNvPr id="27" name="Text 22"/>
          <p:cNvSpPr txBox="1"/>
          <p:nvPr/>
        </p:nvSpPr>
        <p:spPr>
          <a:xfrm>
            <a:off x="693115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four numbered steps</a:t>
            </a:r>
            <a:endParaRPr lang="en-US" sz="1100" dirty="0"/>
          </a:p>
        </p:txBody>
      </p:sp>
      <p:sp>
        <p:nvSpPr>
          <p:cNvPr id="28" name="Shape 23"/>
          <p:cNvSpPr/>
          <p:nvPr/>
        </p:nvSpPr>
        <p:spPr>
          <a:xfrm>
            <a:off x="9098280" y="2212848"/>
            <a:ext cx="2148840" cy="932688"/>
          </a:xfrm>
          <a:prstGeom prst="rect">
            <a:avLst/>
          </a:prstGeom>
          <a:solidFill>
            <a:srgbClr val="2E3338"/>
          </a:solidFill>
          <a:ln/>
        </p:spPr>
      </p:sp>
      <p:sp>
        <p:nvSpPr>
          <p:cNvPr id="29" name="Text 24"/>
          <p:cNvSpPr txBox="1"/>
          <p:nvPr/>
        </p:nvSpPr>
        <p:spPr>
          <a:xfrm>
            <a:off x="926287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06</a:t>
            </a:r>
            <a:endParaRPr lang="en-US" sz="1100" dirty="0"/>
          </a:p>
        </p:txBody>
      </p:sp>
      <p:sp>
        <p:nvSpPr>
          <p:cNvPr id="30" name="Text 25"/>
          <p:cNvSpPr txBox="1"/>
          <p:nvPr/>
        </p:nvSpPr>
        <p:spPr>
          <a:xfrm>
            <a:off x="970178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Concept Image</a:t>
            </a:r>
            <a:endParaRPr lang="en-US" sz="1200" dirty="0"/>
          </a:p>
        </p:txBody>
      </p:sp>
      <p:sp>
        <p:nvSpPr>
          <p:cNvPr id="31" name="Text 26"/>
          <p:cNvSpPr txBox="1"/>
          <p:nvPr/>
        </p:nvSpPr>
        <p:spPr>
          <a:xfrm>
            <a:off x="926287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panel + key question</a:t>
            </a:r>
            <a:endParaRPr lang="en-US" sz="1100" dirty="0"/>
          </a:p>
        </p:txBody>
      </p:sp>
      <p:sp>
        <p:nvSpPr>
          <p:cNvPr id="32" name="Shape 27"/>
          <p:cNvSpPr/>
          <p:nvPr/>
        </p:nvSpPr>
        <p:spPr>
          <a:xfrm>
            <a:off x="4434840" y="3328416"/>
            <a:ext cx="2148840" cy="932688"/>
          </a:xfrm>
          <a:prstGeom prst="rect">
            <a:avLst/>
          </a:prstGeom>
          <a:solidFill>
            <a:srgbClr val="2E3338"/>
          </a:solidFill>
          <a:ln/>
        </p:spPr>
      </p:sp>
      <p:sp>
        <p:nvSpPr>
          <p:cNvPr id="33" name="Text 28"/>
          <p:cNvSpPr txBox="1"/>
          <p:nvPr/>
        </p:nvSpPr>
        <p:spPr>
          <a:xfrm>
            <a:off x="459943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07</a:t>
            </a:r>
            <a:endParaRPr lang="en-US" sz="1100" dirty="0"/>
          </a:p>
        </p:txBody>
      </p:sp>
      <p:sp>
        <p:nvSpPr>
          <p:cNvPr id="34" name="Text 29"/>
          <p:cNvSpPr txBox="1"/>
          <p:nvPr/>
        </p:nvSpPr>
        <p:spPr>
          <a:xfrm>
            <a:off x="503834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Comparison</a:t>
            </a:r>
            <a:endParaRPr lang="en-US" sz="1200" dirty="0"/>
          </a:p>
        </p:txBody>
      </p:sp>
      <p:sp>
        <p:nvSpPr>
          <p:cNvPr id="35" name="Text 30"/>
          <p:cNvSpPr txBox="1"/>
          <p:nvPr/>
        </p:nvSpPr>
        <p:spPr>
          <a:xfrm>
            <a:off x="459943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three parallel items</a:t>
            </a:r>
            <a:endParaRPr lang="en-US" sz="1100" dirty="0"/>
          </a:p>
        </p:txBody>
      </p:sp>
      <p:sp>
        <p:nvSpPr>
          <p:cNvPr id="36" name="Shape 31"/>
          <p:cNvSpPr/>
          <p:nvPr/>
        </p:nvSpPr>
        <p:spPr>
          <a:xfrm>
            <a:off x="6766560" y="3328416"/>
            <a:ext cx="2148840" cy="932688"/>
          </a:xfrm>
          <a:prstGeom prst="rect">
            <a:avLst/>
          </a:prstGeom>
          <a:solidFill>
            <a:srgbClr val="2E3338"/>
          </a:solidFill>
          <a:ln/>
        </p:spPr>
      </p:sp>
      <p:sp>
        <p:nvSpPr>
          <p:cNvPr id="37" name="Text 32"/>
          <p:cNvSpPr txBox="1"/>
          <p:nvPr/>
        </p:nvSpPr>
        <p:spPr>
          <a:xfrm>
            <a:off x="693115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08</a:t>
            </a:r>
            <a:endParaRPr lang="en-US" sz="1100" dirty="0"/>
          </a:p>
        </p:txBody>
      </p:sp>
      <p:sp>
        <p:nvSpPr>
          <p:cNvPr id="38" name="Text 33"/>
          <p:cNvSpPr txBox="1"/>
          <p:nvPr/>
        </p:nvSpPr>
        <p:spPr>
          <a:xfrm>
            <a:off x="737006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Diagram</a:t>
            </a:r>
            <a:endParaRPr lang="en-US" sz="1200" dirty="0"/>
          </a:p>
        </p:txBody>
      </p:sp>
      <p:sp>
        <p:nvSpPr>
          <p:cNvPr id="39" name="Text 34"/>
          <p:cNvSpPr txBox="1"/>
          <p:nvPr/>
        </p:nvSpPr>
        <p:spPr>
          <a:xfrm>
            <a:off x="693115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figure + annotation</a:t>
            </a:r>
            <a:endParaRPr lang="en-US" sz="1100" dirty="0"/>
          </a:p>
        </p:txBody>
      </p:sp>
      <p:sp>
        <p:nvSpPr>
          <p:cNvPr id="40" name="Shape 35"/>
          <p:cNvSpPr/>
          <p:nvPr/>
        </p:nvSpPr>
        <p:spPr>
          <a:xfrm>
            <a:off x="9098280" y="3328416"/>
            <a:ext cx="2148840" cy="932688"/>
          </a:xfrm>
          <a:prstGeom prst="rect">
            <a:avLst/>
          </a:prstGeom>
          <a:solidFill>
            <a:srgbClr val="2E3338"/>
          </a:solidFill>
          <a:ln/>
        </p:spPr>
      </p:sp>
      <p:sp>
        <p:nvSpPr>
          <p:cNvPr id="41" name="Text 36"/>
          <p:cNvSpPr txBox="1"/>
          <p:nvPr/>
        </p:nvSpPr>
        <p:spPr>
          <a:xfrm>
            <a:off x="926287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09</a:t>
            </a:r>
            <a:endParaRPr lang="en-US" sz="1100" dirty="0"/>
          </a:p>
        </p:txBody>
      </p:sp>
      <p:sp>
        <p:nvSpPr>
          <p:cNvPr id="42" name="Text 37"/>
          <p:cNvSpPr txBox="1"/>
          <p:nvPr/>
        </p:nvSpPr>
        <p:spPr>
          <a:xfrm>
            <a:off x="970178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Example</a:t>
            </a:r>
            <a:endParaRPr lang="en-US" sz="1200" dirty="0"/>
          </a:p>
        </p:txBody>
      </p:sp>
      <p:sp>
        <p:nvSpPr>
          <p:cNvPr id="43" name="Text 38"/>
          <p:cNvSpPr txBox="1"/>
          <p:nvPr/>
        </p:nvSpPr>
        <p:spPr>
          <a:xfrm>
            <a:off x="926287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empty work area</a:t>
            </a:r>
            <a:endParaRPr lang="en-US" sz="1100" dirty="0"/>
          </a:p>
        </p:txBody>
      </p:sp>
      <p:sp>
        <p:nvSpPr>
          <p:cNvPr id="44" name="Shape 39"/>
          <p:cNvSpPr/>
          <p:nvPr/>
        </p:nvSpPr>
        <p:spPr>
          <a:xfrm>
            <a:off x="4434840" y="4443984"/>
            <a:ext cx="2148840" cy="932688"/>
          </a:xfrm>
          <a:prstGeom prst="rect">
            <a:avLst/>
          </a:prstGeom>
          <a:solidFill>
            <a:srgbClr val="2E3338"/>
          </a:solidFill>
          <a:ln/>
        </p:spPr>
      </p:sp>
      <p:sp>
        <p:nvSpPr>
          <p:cNvPr id="45" name="Text 40"/>
          <p:cNvSpPr txBox="1"/>
          <p:nvPr/>
        </p:nvSpPr>
        <p:spPr>
          <a:xfrm>
            <a:off x="459943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10</a:t>
            </a:r>
            <a:endParaRPr lang="en-US" sz="1100" dirty="0"/>
          </a:p>
        </p:txBody>
      </p:sp>
      <p:sp>
        <p:nvSpPr>
          <p:cNvPr id="46" name="Text 41"/>
          <p:cNvSpPr txBox="1"/>
          <p:nvPr/>
        </p:nvSpPr>
        <p:spPr>
          <a:xfrm>
            <a:off x="503834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Solution</a:t>
            </a:r>
            <a:endParaRPr lang="en-US" sz="1200" dirty="0"/>
          </a:p>
        </p:txBody>
      </p:sp>
      <p:sp>
        <p:nvSpPr>
          <p:cNvPr id="47" name="Text 42"/>
          <p:cNvSpPr txBox="1"/>
          <p:nvPr/>
        </p:nvSpPr>
        <p:spPr>
          <a:xfrm>
            <a:off x="459943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pairs with 09</a:t>
            </a:r>
            <a:endParaRPr lang="en-US" sz="1100" dirty="0"/>
          </a:p>
        </p:txBody>
      </p:sp>
      <p:sp>
        <p:nvSpPr>
          <p:cNvPr id="48" name="Shape 43"/>
          <p:cNvSpPr/>
          <p:nvPr/>
        </p:nvSpPr>
        <p:spPr>
          <a:xfrm>
            <a:off x="6766560" y="4443984"/>
            <a:ext cx="2148840" cy="932688"/>
          </a:xfrm>
          <a:prstGeom prst="rect">
            <a:avLst/>
          </a:prstGeom>
          <a:solidFill>
            <a:srgbClr val="2E3338"/>
          </a:solidFill>
          <a:ln/>
        </p:spPr>
      </p:sp>
      <p:sp>
        <p:nvSpPr>
          <p:cNvPr id="49" name="Text 44"/>
          <p:cNvSpPr txBox="1"/>
          <p:nvPr/>
        </p:nvSpPr>
        <p:spPr>
          <a:xfrm>
            <a:off x="693115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11</a:t>
            </a:r>
            <a:endParaRPr lang="en-US" sz="1100" dirty="0"/>
          </a:p>
        </p:txBody>
      </p:sp>
      <p:sp>
        <p:nvSpPr>
          <p:cNvPr id="50" name="Text 45"/>
          <p:cNvSpPr txBox="1"/>
          <p:nvPr/>
        </p:nvSpPr>
        <p:spPr>
          <a:xfrm>
            <a:off x="737006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Given/Eq/Ans</a:t>
            </a:r>
            <a:endParaRPr lang="en-US" sz="1200" dirty="0"/>
          </a:p>
        </p:txBody>
      </p:sp>
      <p:sp>
        <p:nvSpPr>
          <p:cNvPr id="51" name="Text 46"/>
          <p:cNvSpPr txBox="1"/>
          <p:nvPr/>
        </p:nvSpPr>
        <p:spPr>
          <a:xfrm>
            <a:off x="693115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any course</a:t>
            </a:r>
            <a:endParaRPr lang="en-US" sz="1100" dirty="0"/>
          </a:p>
        </p:txBody>
      </p:sp>
      <p:sp>
        <p:nvSpPr>
          <p:cNvPr id="52" name="Shape 47"/>
          <p:cNvSpPr/>
          <p:nvPr/>
        </p:nvSpPr>
        <p:spPr>
          <a:xfrm>
            <a:off x="9098280" y="4443984"/>
            <a:ext cx="2148840" cy="932688"/>
          </a:xfrm>
          <a:prstGeom prst="rect">
            <a:avLst/>
          </a:prstGeom>
          <a:solidFill>
            <a:srgbClr val="2E3338"/>
          </a:solidFill>
          <a:ln/>
        </p:spPr>
      </p:sp>
      <p:sp>
        <p:nvSpPr>
          <p:cNvPr id="53" name="Text 48"/>
          <p:cNvSpPr txBox="1"/>
          <p:nvPr/>
        </p:nvSpPr>
        <p:spPr>
          <a:xfrm>
            <a:off x="926287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12</a:t>
            </a:r>
            <a:endParaRPr lang="en-US" sz="1100" dirty="0"/>
          </a:p>
        </p:txBody>
      </p:sp>
      <p:sp>
        <p:nvSpPr>
          <p:cNvPr id="54" name="Text 49"/>
          <p:cNvSpPr txBox="1"/>
          <p:nvPr/>
        </p:nvSpPr>
        <p:spPr>
          <a:xfrm>
            <a:off x="970178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Deck Index</a:t>
            </a:r>
            <a:endParaRPr lang="en-US" sz="1200" dirty="0"/>
          </a:p>
        </p:txBody>
      </p:sp>
      <p:sp>
        <p:nvSpPr>
          <p:cNvPr id="55" name="Text 50"/>
          <p:cNvSpPr txBox="1"/>
          <p:nvPr/>
        </p:nvSpPr>
        <p:spPr>
          <a:xfrm>
            <a:off x="926287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delete before class</a:t>
            </a:r>
            <a:endParaRPr lang="en-US" sz="1100" dirty="0"/>
          </a:p>
        </p:txBody>
      </p:sp>
      <p:sp>
        <p:nvSpPr>
          <p:cNvPr id="56" name="Text 51"/>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57" name="Text 52"/>
          <p:cNvSpPr txBox="1"/>
          <p:nvPr>
            <p:ph idx="15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9.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9.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9.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9.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9.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9.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9.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txBox="1"/>
          <p:nvPr>
            <p:ph idx="104" type="body" hasCustomPrompt="1"/>
          </p:nvPr>
        </p:nvSpPr>
        <p:spPr>
          <a:xfrm>
            <a:off x="777240" y="502920"/>
            <a:ext cx="2011680" cy="868680"/>
          </a:xfrm>
          <a:prstGeom prst="rect">
            <a:avLst/>
          </a:prstGeom>
          <a:noFill/>
          <a:ln/>
        </p:spPr>
        <p:txBody>
          <a:bodyPr wrap="square" lIns="0" tIns="0" rIns="0" bIns="0" rtlCol="0"/>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05</a:t>
            </a:r>
            <a:endParaRPr lang="en-US" sz="4400" dirty="0"/>
          </a:p>
        </p:txBody>
      </p:sp>
      <p:sp>
        <p:nvSpPr>
          <p:cNvPr id="3" name="Text 4"/>
          <p:cNvSpPr txBox="1"/>
          <p:nvPr>
            <p:ph idx="106" type="title" hasCustomPrompt="1"/>
          </p:nvPr>
        </p:nvSpPr>
        <p:spPr>
          <a:xfrm>
            <a:off x="777240" y="1847088"/>
            <a:ext cx="2834640" cy="1691640"/>
          </a:xfrm>
          <a:prstGeom prst="rect">
            <a:avLst/>
          </a:prstGeom>
          <a:noFill/>
          <a:ln/>
        </p:spPr>
        <p:txBody>
          <a:bodyPr wrap="square" lIns="0" tIns="0" rIns="0" bIns="0" rtlCol="0"/>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2.5</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Atomic &amp;</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Electron</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Spectra</a:t>
            </a:r>
            <a:endParaRPr lang="en-US" sz="2800" dirty="0"/>
          </a:p>
        </p:txBody>
      </p:sp>
      <p:sp>
        <p:nvSpPr>
          <p:cNvPr id="4" name="Text 4"/>
          <p:cNvSpPr txBox="1"/>
          <p:nvPr>
            <p:ph idx="107" type="body" hasCustomPrompt="1"/>
          </p:nvPr>
        </p:nvSpPr>
        <p:spPr>
          <a:xfrm>
            <a:off x="777240" y="3749040"/>
            <a:ext cx="2834640" cy="109728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Explain how atoms make colored light, and use it to identify elements.</a:t>
            </a:r>
            <a:endParaRPr lang="en-US" sz="1600" dirty="0"/>
          </a:p>
        </p:txBody>
      </p:sp>
      <p:sp>
        <p:nvSpPr>
          <p:cNvPr id="5" name="Text 5"/>
          <p:cNvSpPr txBox="1"/>
          <p:nvPr>
            <p:ph idx="109"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S02.5</a:t>
            </a:r>
            <a:endParaRPr lang="en-US" sz="1000" dirty="0"/>
          </a:p>
        </p:txBody>
      </p:sp>
      <p:sp>
        <p:nvSpPr>
          <p:cNvPr id="7" name="Text 3"/>
          <p:cNvSpPr txBox="1"/>
          <p:nvPr>
            <p:ph idx="103" hasCustomPrompt="1"/>
          </p:nvPr>
        </p:nvSpPr>
        <p:spPr>
          <a:xfrm>
            <a:off x="4480560" y="777240"/>
            <a:ext cx="7086600" cy="398678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txBox="1"/>
          <p:nvPr>
            <p:ph idx="107" type="title" hasCustomPrompt="1"/>
          </p:nvPr>
        </p:nvSpPr>
        <p:spPr>
          <a:xfrm>
            <a:off x="685800" y="1188720"/>
            <a:ext cx="4892040" cy="868680"/>
          </a:xfrm>
          <a:prstGeom prst="rect">
            <a:avLst/>
          </a:prstGeom>
          <a:noFill/>
          <a:ln/>
        </p:spPr>
        <p:txBody>
          <a:bodyPr wrap="square" lIns="0" tIns="0" rIns="0" bIns="0" rtlCol="0"/>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Where Does Color</a:t>
            </a:r>
            <a:endParaRPr lang="en-US" sz="2800" dirty="0"/>
          </a:p>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Come From?</a:t>
            </a:r>
            <a:endParaRPr lang="en-US" sz="2800" dirty="0"/>
          </a:p>
        </p:txBody>
      </p:sp>
      <p:sp>
        <p:nvSpPr>
          <p:cNvPr id="3" name="Text 5"/>
          <p:cNvSpPr txBox="1"/>
          <p:nvPr>
            <p:ph idx="108" type="body" hasCustomPrompt="1"/>
          </p:nvPr>
        </p:nvSpPr>
        <p:spPr>
          <a:xfrm>
            <a:off x="685800" y="2148840"/>
            <a:ext cx="4892040" cy="100584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Fireworks, neon signs, a flame on a lab burner. Different colors, one question.</a:t>
            </a:r>
            <a:endParaRPr lang="en-US" sz="1600" dirty="0"/>
          </a:p>
        </p:txBody>
      </p:sp>
      <p:sp>
        <p:nvSpPr>
          <p:cNvPr id="4" name="Text 7"/>
          <p:cNvSpPr txBox="1"/>
          <p:nvPr>
            <p:ph idx="111" type="body" hasCustomPrompt="1"/>
          </p:nvPr>
        </p:nvSpPr>
        <p:spPr>
          <a:xfrm>
            <a:off x="886968" y="3950208"/>
            <a:ext cx="4489704" cy="566928"/>
          </a:xfrm>
          <a:prstGeom prst="rect">
            <a:avLst/>
          </a:prstGeom>
          <a:noFill/>
          <a:ln/>
        </p:spPr>
        <p:txBody>
          <a:bodyPr wrap="square" lIns="0" tIns="0" rIns="0" bIns="0" rtlCol="0"/>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What inside an atom decides the color of the light it gives off?</a:t>
            </a:r>
            <a:endParaRPr lang="en-US" sz="1600" dirty="0"/>
          </a:p>
        </p:txBody>
      </p:sp>
      <p:sp>
        <p:nvSpPr>
          <p:cNvPr id="5" name="Text 4"/>
          <p:cNvSpPr txBox="1"/>
          <p:nvPr>
            <p:ph idx="105"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6" name="Text 8"/>
          <p:cNvSpPr txBox="1"/>
          <p:nvPr>
            <p:ph idx="113"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S02.5</a:t>
            </a:r>
            <a:endParaRPr lang="en-US" sz="1000" dirty="0"/>
          </a:p>
        </p:txBody>
      </p:sp>
      <p:sp>
        <p:nvSpPr>
          <p:cNvPr id="8" name="Text 4"/>
          <p:cNvSpPr txBox="1"/>
          <p:nvPr>
            <p:ph idx="104" hasCustomPrompt="1"/>
          </p:nvPr>
        </p:nvSpPr>
        <p:spPr>
          <a:xfrm>
            <a:off x="6355080" y="1298448"/>
            <a:ext cx="4983480" cy="279806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Three Words to Start</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Write these first. The rest of the section uses them.</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PHOTON</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single packet of light energy.</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WAVELENGTH</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distance between two wave crests, measured in nm.</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SPECTRUM</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Light spread out by wavelength.</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photon is one packet of light. Its energy is set by its wavelength.</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home/user/WorkWork/templates/slide/assets/chem_u02_s2.5_visible_spectrum.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The Visible Spectrum</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Light we can see runs from about 400 nm to 700 nm.</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UNITS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nm is one billionth of a meter: 1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−9</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m.</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VIOLET END</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Shortest wavelength, most energy.</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RED END</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Longest wavelength, least energy.</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Wavelength Sets the Energy</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Shorter wavelength means higher frequency (more waves per second) and more energy per photon.</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LONG WAVELENGTH</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Red light.</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Low frequency.</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Low energy per photon.</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SHORT WAVELENGTH</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Violet light.</a:t>
            </a: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High frequency.</a:t>
            </a: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High energy per photon.</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Shorter wavelength means more energy. A violet photon beats a red one.</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The Photon Energy Equation</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Energy goes up as wavelength goes down. Calculator provided.</a:t>
            </a:r>
            <a:endParaRPr lang="en-US" sz="1700" dirty="0"/>
          </a:p>
        </p:txBody>
      </p:sp>
      <p:sp>
        <p:nvSpPr>
          <p:cNvPr id="4" name="Text 6"/>
          <p:cNvSpPr txBox="1"/>
          <p:nvPr>
            <p:ph idx="110" type="body" hasCustomPrompt="1"/>
          </p:nvPr>
        </p:nvSpPr>
        <p:spPr>
          <a:xfrm>
            <a:off x="5779008" y="2743200"/>
            <a:ext cx="5522976" cy="50292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How much energy does one photon of a given wavelength carry?</a:t>
            </a:r>
            <a:endParaRPr lang="en-US" sz="1600" dirty="0"/>
          </a:p>
        </p:txBody>
      </p:sp>
      <p:sp>
        <p:nvSpPr>
          <p:cNvPr id="5" name="Text 7"/>
          <p:cNvSpPr txBox="1"/>
          <p:nvPr>
            <p:ph idx="112" type="body" hasCustomPrompt="1"/>
          </p:nvPr>
        </p:nvSpPr>
        <p:spPr>
          <a:xfrm>
            <a:off x="5779008" y="3685032"/>
            <a:ext cx="2468880"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5779008" y="3977640"/>
            <a:ext cx="2468880" cy="84124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 = 6.626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−34</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J·s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 = 3.00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8</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m/s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 nm = 1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−9</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m</a:t>
            </a:r>
            <a:endParaRPr lang="en-US" sz="1600" dirty="0"/>
          </a:p>
        </p:txBody>
      </p:sp>
      <p:sp>
        <p:nvSpPr>
          <p:cNvPr id="7" name="Text 8"/>
          <p:cNvSpPr txBox="1"/>
          <p:nvPr>
            <p:ph idx="115" type="body" hasCustomPrompt="1"/>
          </p:nvPr>
        </p:nvSpPr>
        <p:spPr>
          <a:xfrm>
            <a:off x="8833104" y="3685032"/>
            <a:ext cx="2468880"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EQUATION</a:t>
            </a:r>
            <a:endParaRPr lang="en-US" sz="1200" dirty="0"/>
          </a:p>
        </p:txBody>
      </p:sp>
      <p:sp>
        <p:nvSpPr>
          <p:cNvPr id="8" name="Text 8"/>
          <p:cNvSpPr txBox="1"/>
          <p:nvPr>
            <p:ph idx="116" type="body" hasCustomPrompt="1"/>
          </p:nvPr>
        </p:nvSpPr>
        <p:spPr>
          <a:xfrm>
            <a:off x="8833104" y="3977640"/>
            <a:ext cx="2468880" cy="84124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 = hc ÷ wavelength</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 = h × frequency</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 = wavelength × frequency</a:t>
            </a:r>
            <a:endParaRPr lang="en-US" sz="1600" dirty="0"/>
          </a:p>
        </p:txBody>
      </p:sp>
      <p:sp>
        <p:nvSpPr>
          <p:cNvPr id="9" name="Text 10"/>
          <p:cNvSpPr txBox="1"/>
          <p:nvPr>
            <p:ph idx="119" type="body" hasCustomPrompt="1"/>
          </p:nvPr>
        </p:nvSpPr>
        <p:spPr>
          <a:xfrm>
            <a:off x="5779008" y="5504688"/>
            <a:ext cx="5522976" cy="384048"/>
          </a:xfrm>
          <a:prstGeom prst="rect">
            <a:avLst/>
          </a:prstGeom>
          <a:noFill/>
          <a:ln/>
        </p:spPr>
        <p:txBody>
          <a:bodyPr wrap="square" lIns="0" tIns="0" rIns="0" bIns="0" rtlCol="0"/>
          <a:lstStyle/>
          <a:p>
            <a:pPr indent="0" marL="0">
              <a:buNone/>
            </a:pPr>
            <a:r>
              <a:rPr lang="en-US" sz="2000" b="1" dirty="0">
                <a:solidFill>
                  <a:srgbClr val="14161B"/>
                </a:solidFill>
                <a:latin typeface="Trade Gothic Next" pitchFamily="34" charset="0"/>
                <a:ea typeface="Trade Gothic Next" pitchFamily="34" charset="-122"/>
                <a:cs typeface="Trade Gothic Next" pitchFamily="34" charset="-120"/>
              </a:rPr>
              <a:t>E in joules (J)</a:t>
            </a:r>
            <a:endParaRPr lang="en-US" sz="20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11"/>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3" name="Text 4"/>
          <p:cNvSpPr txBox="1"/>
          <p:nvPr>
            <p:ph idx="107" hasCustomPrompt="1"/>
          </p:nvPr>
        </p:nvSpPr>
        <p:spPr>
          <a:xfrm>
            <a:off x="832104" y="2542032"/>
            <a:ext cx="4370832" cy="233172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Hot Solid or Hot Gas</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What is glowing decides what the spectrum looks like.</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HOT SOLID</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glowing filament.</a:t>
            </a:r>
            <a:endParaRPr lang="en-US" sz="1600" dirty="0"/>
          </a:p>
          <a:p>
            <a:pPr indent="0" marL="0">
              <a:buNone/>
            </a:pP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Gives every color, no gaps.</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HOT GAS</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Excited atoms in a tube.</a:t>
            </a:r>
            <a:endParaRPr lang="en-US" sz="1600" dirty="0"/>
          </a:p>
          <a:p>
            <a:pPr indent="0" marL="0">
              <a:buNone/>
            </a:pP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Give a few separate lines.</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hot solid gives a continuous spectrum. A hot gas gives a line spectrum.</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home/user/WorkWork/templates/slide/assets/chem_u02_s2.5_spectra_types.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Three Kinds of Spectra</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Same range of colors, three different patterns.</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CONTINUOUS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Every color, no gaps. Made by a hot solid.</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EMISSION</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Bright lines on black. Made by a hot gas.</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ABSORPTION</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Dark lines at the same places as emission lines.</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home/user/WorkWork/templates/slide/assets/chem_u02_s2.5_hydrogen_emission_lines.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Hydrogen's Visible Emission Spectrum</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Four lines, computed from the energy levels.</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FOUR LINES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656, 486, 434, and 410 nm. Red to violet.</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WHERE THEY END</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Every one is a drop that ends at n = 2.</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MORE LINES</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More are in ultraviolet (UV) and infrared (IR).</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home/user/WorkWork/templates/slide/assets/chem_u02_s2.5_energy_transitions.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Which Drop Makes Which Line</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Each line is one electron dropping to n = 2.</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EXCITED STATE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Heat or electricity lifts an electron up a level.</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EMISSION</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drop releases one photon with energy ΔE.</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BIGGER DROP</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More energy, shorter wavelength, bluer light.</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Color of the 3 to 2 Drop</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Calculator provided. Copy the setup, not just the answer.</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Hydrogen's 3 to 2 drop emits a 3.03 × 10</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−19</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 J photon. Find its wavelength and color.</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 = 3.03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−19</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J</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 = 6.626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−34</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J·s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 = 3.00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8</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m/s</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Wavelength in nm</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Color</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Rearrange first: wavelength = hc ÷ 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The 3 to 2 Drop,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Rearrange, divide, then convert meters to nanometers.</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SETUP</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wavelength = hc ÷ E</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hc = 6.626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−34</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 3.00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8</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hc = 1.988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−25</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J·m</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(1.988 × 10</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−25</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(3.03 × 10</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−19</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 6.56 × 10</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−7</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m</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 10</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9</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 656 nm (red)</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656 nm is red: the 3 to 2 drop makes hydrogen's red line.</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home/user/WorkWork/templates/slide/assets/chem_u02_s2.5_balmer_table.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Four Drops to n = 2</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A pre-built table. Read it, do not recalculate it.</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READ DOWN</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Bigger drop: more energy, shorter wavelength.</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CHECK</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first row is the example you just solved.</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ΔE UNITS</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Joules, for one photon from one atom.</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Every Element Has Its Own Lines</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Only certain energy drops exist, so only certain lines appear.</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UNIQUE LEVELS</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Each element has its own energy levels.</a:t>
            </a:r>
            <a:endParaRPr lang="en-US" sz="1600" dirty="0"/>
          </a:p>
          <a:p>
            <a:pPr indent="0" marL="0">
              <a:buNone/>
            </a:pP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So its drops, and its lines, are its own.</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A FINGERPRINT</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Line positions identify an element.</a:t>
            </a:r>
            <a:endParaRPr lang="en-US" sz="1600" dirty="0"/>
          </a:p>
          <a:p>
            <a:pPr indent="0" marL="0">
              <a:buNone/>
            </a:pP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Helium was first found in sunlight, 1868.</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Each element has a unique line spectrum because its energy levels are unique.</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5"/>
          <p:cNvSpPr txBox="1"/>
          <p:nvPr>
            <p:ph idx="106" type="body" hasCustomPrompt="1"/>
          </p:nvPr>
        </p:nvSpPr>
        <p:spPr>
          <a:xfrm>
            <a:off x="841248" y="1755648"/>
            <a:ext cx="3154680" cy="457200"/>
          </a:xfrm>
          <a:prstGeom prst="rect">
            <a:avLst/>
          </a:prstGeom>
          <a:noFill/>
          <a:ln/>
        </p:spPr>
        <p:txBody>
          <a:bodyPr wrap="square" lIns="0" tIns="0" rIns="0" bIns="0" rtlCol="0"/>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FLAME TESTS</a:t>
            </a:r>
            <a:endParaRPr lang="en-US" sz="1100" dirty="0"/>
          </a:p>
        </p:txBody>
      </p:sp>
      <p:sp>
        <p:nvSpPr>
          <p:cNvPr id="3" name="Text 5"/>
          <p:cNvSpPr txBox="1"/>
          <p:nvPr>
            <p:ph idx="107" type="title" hasCustomPrompt="1"/>
          </p:nvPr>
        </p:nvSpPr>
        <p:spPr>
          <a:xfrm>
            <a:off x="841248" y="2304288"/>
            <a:ext cx="3154680" cy="1417320"/>
          </a:xfrm>
          <a:prstGeom prst="rect">
            <a:avLst/>
          </a:prstGeom>
          <a:noFill/>
          <a:ln/>
        </p:spPr>
        <p:txBody>
          <a:bodyPr wrap="square" lIns="0" tIns="0" rIns="0" bIns="0" rtlCol="0"/>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Same Idea,</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In a Flame</a:t>
            </a:r>
            <a:endParaRPr lang="en-US" sz="2600" dirty="0"/>
          </a:p>
        </p:txBody>
      </p:sp>
      <p:sp>
        <p:nvSpPr>
          <p:cNvPr id="4" name="Text 5"/>
          <p:cNvSpPr txBox="1"/>
          <p:nvPr>
            <p:ph idx="108" type="body" hasCustomPrompt="1"/>
          </p:nvPr>
        </p:nvSpPr>
        <p:spPr>
          <a:xfrm>
            <a:off x="841248" y="3858768"/>
            <a:ext cx="3154680" cy="109728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Metal ions in a flame emit light too. The color helps you identify the metal.</a:t>
            </a:r>
            <a:endParaRPr lang="en-US" sz="1600" dirty="0"/>
          </a:p>
        </p:txBody>
      </p:sp>
      <p:sp>
        <p:nvSpPr>
          <p:cNvPr id="5" name="Text 6"/>
          <p:cNvSpPr txBox="1"/>
          <p:nvPr>
            <p:ph idx="110"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S02.5</a:t>
            </a:r>
            <a:endParaRPr lang="en-US" sz="1000" dirty="0"/>
          </a:p>
        </p:txBody>
      </p:sp>
      <p:sp>
        <p:nvSpPr>
          <p:cNvPr id="7" name="Text 2"/>
          <p:cNvSpPr txBox="1"/>
          <p:nvPr>
            <p:ph idx="102" hasCustomPrompt="1"/>
          </p:nvPr>
        </p:nvSpPr>
        <p:spPr>
          <a:xfrm>
            <a:off x="2926080" y="0"/>
            <a:ext cx="9262872" cy="68580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How a Flame Test Makes Color</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color is not the metal burning. It is electrons dropping levels.</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IN THE FLAME</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Heat lifts electrons in the metal ion to higher levels.</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AS THEY DROP</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They release photons of visible light. The color helps identify the metal.</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color of the emitted light helps identify the metal ion.</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home/user/WorkWork/templates/slide/assets/chem_u02_s2.5_flame_colors_1.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Flame Test Colors, Part 1</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Compare the color you see to the table.</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READ THE TABLE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Each metal ion has a typical flame color.</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 COMMON CONTAMINANT</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little Na</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can turn a flame yellow.</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NOT ONE WAVELENGTH</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flame color is a mix, not one exact line.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home/user/WorkWork/templates/slide/assets/chem_u02_s2.5_flame_colors_2.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Flame Test Colors, Part 2</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Some of these colors look a lot alike.</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LOOK-ALIKES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Sr</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red and Ca</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orange-red are easy to confuse.</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NO COLOR</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Many elements give no flame color we can see.</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ONE TEST IS NOT ENOUGH</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It narrows the options. It does not prove the ion.</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Identify the Metals</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Use the flame color tables. Copy the reasoning.</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One salt burns lilac with a trace of yellow. Another burns orange-red. Which metals?</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Salt A: lilac, with some yellow</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Salt B: orange-red</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metal ion behind each color</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Write the metal ion for each color, not just the color.</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Two Unknowns, Identified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Sodium is a common contaminant.</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SETUP</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Match each color</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to the table.</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Na</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gives yellow.</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Salt A: K</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(lilac)</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Yellow trace: Na</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Salt B: Ca</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(orange-red)</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Sr</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looks similar</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Flame colors can look alike, so a flame test alone does not prove the ion.</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Check Yourself</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Answer in your notes, in full sentences.</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ENERGY</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Which has more energy, a red photon or a blue photon? Why?</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WHY DIFFERENT</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Why does each element have its own line spectrum?</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FLAME TEST</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flame is lilac. Which ion is it likely to be? Explain the color with electrons.</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Use the words photon and energy level.</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SHULL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SHULL Science — Slide Template (CHEMISTRY)</dc:title>
  <dc:subject>PptxGenJS Presentation</dc:subject>
  <dc:creator>Matthew Shull</dc:creator>
  <cp:lastModifiedBy>Matthew Shull</cp:lastModifiedBy>
  <cp:revision>1</cp:revision>
  <dcterms:created xsi:type="dcterms:W3CDTF">2026-10-04T12:54:22Z</dcterms:created>
  <dcterms:modified xsi:type="dcterms:W3CDTF">2026-10-04T12:54:22Z</dcterms:modified>
</cp:coreProperties>
</file>