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UNIT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554480"/>
            <a:ext cx="6656832" cy="374904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5532120" y="1554480"/>
            <a:ext cx="665683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HERO IMAGE  •  16:9  •  1920×1080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685800" y="1188720"/>
            <a:ext cx="4617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685800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sentence on what this unit is actually about.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85800" y="5074920"/>
            <a:ext cx="1417320" cy="329184"/>
          </a:xfrm>
          <a:prstGeom prst="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858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MR. SHULL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ECTION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7086600" cy="3986784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5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IMAGE  •  16:9</a:t>
            </a:r>
            <a:endParaRPr lang="en-US" sz="1200" dirty="0"/>
          </a:p>
        </p:txBody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Name</a:t>
            </a:r>
            <a:endParaRPr lang="en-US" sz="28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students should be able to do by the end.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7724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GROUPED_CONCEP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8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532120" y="2377440"/>
            <a:ext cx="315468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idea, in one or two lines.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8915400" y="2377440"/>
            <a:ext cx="3154680" cy="2624328"/>
          </a:xfrm>
          <a:prstGeom prst="rect">
            <a:avLst/>
          </a:prstGeom>
          <a:solidFill>
            <a:srgbClr val="2E3338"/>
          </a:solidFill>
          <a:ln w="12700">
            <a:solidFill>
              <a:srgbClr val="2E3338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contrasting idea.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85800" y="532180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6" name="Text 6"/>
          <p:cNvSpPr txBox="1"/>
          <p:nvPr/>
        </p:nvSpPr>
        <p:spPr>
          <a:xfrm>
            <a:off x="886968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DIVID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FULL-BLEED CONCEPT IMAGE  •  one image, no decoration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3703320" cy="3675888"/>
          </a:xfrm>
          <a:prstGeom prst="rect">
            <a:avLst/>
          </a:prstGeom>
          <a:solidFill>
            <a:srgbClr val="14161B"/>
          </a:solidFill>
          <a:ln w="15875">
            <a:solidFill>
              <a:srgbClr val="A3E635"/>
            </a:solidFill>
            <a:prstDash val="solid"/>
          </a:ln>
        </p:spPr>
      </p:sp>
      <p:sp>
        <p:nvSpPr>
          <p:cNvPr id="8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1.2  •  SECTION NAME</a:t>
            </a:r>
            <a:endParaRPr lang="en-US" sz="1100" dirty="0"/>
          </a:p>
        </p:txBody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Big Idea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Of This Section</a:t>
            </a:r>
            <a:endParaRPr lang="en-US" sz="26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Students see the story before the first bullet.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OCESS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10820095" cy="201168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8" name="Shape 3"/>
          <p:cNvSpPr/>
          <p:nvPr/>
        </p:nvSpPr>
        <p:spPr>
          <a:xfrm>
            <a:off x="3246120" y="2487168"/>
            <a:ext cx="5669280" cy="18288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 BAND  •  3:1  •  generate 16:9 and centre-crop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2104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3447288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3593592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8" name="Shape 8"/>
          <p:cNvSpPr/>
          <p:nvPr/>
        </p:nvSpPr>
        <p:spPr>
          <a:xfrm>
            <a:off x="6208776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6355080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8970264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9116568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7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CEPT_IMAG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868680"/>
            <a:ext cx="5349240" cy="4160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298448"/>
            <a:ext cx="4983480" cy="2798064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6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7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Headline</a:t>
            </a:r>
            <a:endParaRPr lang="en-US" sz="28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it to what the image cannot say on its own.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85800" y="3520440"/>
            <a:ext cx="4892040" cy="114300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8696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question this slide is asking.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5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MPARISON_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412480" y="960120"/>
            <a:ext cx="3090672" cy="173736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641080" y="1088136"/>
            <a:ext cx="2633472" cy="1481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ONE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job each.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29768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TWO</a:t>
            </a:r>
            <a:endParaRPr lang="en-US" sz="1200" dirty="0"/>
          </a:p>
        </p:txBody>
      </p:sp>
      <p:sp>
        <p:nvSpPr>
          <p:cNvPr id="15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a wall of bullets.</a:t>
            </a:r>
            <a:endParaRPr lang="en-US" sz="1600" dirty="0"/>
          </a:p>
        </p:txBody>
      </p:sp>
      <p:sp>
        <p:nvSpPr>
          <p:cNvPr id="16" name="Shape 6"/>
          <p:cNvSpPr/>
          <p:nvPr/>
        </p:nvSpPr>
        <p:spPr>
          <a:xfrm>
            <a:off x="790956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third parallel item.</a:t>
            </a:r>
            <a:endParaRPr lang="en-US" sz="1600" dirty="0"/>
          </a:p>
        </p:txBody>
      </p:sp>
      <p:sp>
        <p:nvSpPr>
          <p:cNvPr id="19" name="Shape 7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0" name="Text 8"/>
          <p:cNvSpPr txBox="1"/>
          <p:nvPr/>
        </p:nvSpPr>
        <p:spPr>
          <a:xfrm>
            <a:off x="886968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1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IAGRAM_ANNO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5074920" cy="32461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Hand-built diagram here.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Anything with a number or a label is built, not generated.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6126480" y="2395728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6126480" y="3529584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126480" y="4663440"/>
            <a:ext cx="5532120" cy="97840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6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THREE</a:t>
            </a:r>
            <a:endParaRPr lang="en-US" sz="1200" dirty="0"/>
          </a:p>
        </p:txBody>
      </p:sp>
      <p:sp>
        <p:nvSpPr>
          <p:cNvPr id="17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8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EXAMPLE_PROBL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915400" y="960120"/>
            <a:ext cx="2587752" cy="1325880"/>
          </a:xfrm>
          <a:prstGeom prst="rect">
            <a:avLst/>
          </a:prstGeom>
          <a:solidFill>
            <a:srgbClr val="EDF0E5"/>
          </a:solidFill>
          <a:ln w="25400">
            <a:solidFill>
              <a:srgbClr val="A3E635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262872" y="1088136"/>
            <a:ext cx="1901952" cy="106984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395728"/>
            <a:ext cx="5394960" cy="105156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88696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8580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the problem hands you.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347472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are solving for.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6263640" y="2395728"/>
            <a:ext cx="5239512" cy="29535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64648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AREA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Leave this blank in the projected copy. It is filled live on the board.</a:t>
            </a:r>
            <a:endParaRPr lang="en-US" sz="1900" dirty="0"/>
          </a:p>
        </p:txBody>
      </p:sp>
      <p:sp>
        <p:nvSpPr>
          <p:cNvPr id="22" name="Shape 10"/>
          <p:cNvSpPr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886968" y="5586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6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WORKED_SOL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160520" cy="25603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DATA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074920" y="2395728"/>
            <a:ext cx="3154680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relationship, before any numbers.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412480" y="2395728"/>
            <a:ext cx="3090672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861364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</a:t>
            </a:r>
            <a:endParaRPr lang="en-US" sz="9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completed work,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by step.</a:t>
            </a:r>
            <a:endParaRPr lang="en-US" sz="1900" dirty="0"/>
          </a:p>
        </p:txBody>
      </p:sp>
      <p:sp>
        <p:nvSpPr>
          <p:cNvPr id="16" name="Shape 7"/>
          <p:cNvSpPr/>
          <p:nvPr/>
        </p:nvSpPr>
        <p:spPr>
          <a:xfrm>
            <a:off x="685800" y="513892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7" name="Text 8"/>
          <p:cNvSpPr txBox="1"/>
          <p:nvPr/>
        </p:nvSpPr>
        <p:spPr>
          <a:xfrm>
            <a:off x="8869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9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GIVENS_EQUATION_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663440" cy="262432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4370832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577840" y="2395728"/>
            <a:ext cx="5925312" cy="96012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779008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577840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Values the problem supplies.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8631936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 you will use.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577840" y="5193792"/>
            <a:ext cx="5925312" cy="777240"/>
          </a:xfrm>
          <a:prstGeom prst="rect">
            <a:avLst/>
          </a:prstGeom>
          <a:solidFill>
            <a:srgbClr val="EDF0E5"/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5779008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units</a:t>
            </a:r>
            <a:endParaRPr lang="en-US" sz="2000" dirty="0"/>
          </a:p>
        </p:txBody>
      </p:sp>
      <p:sp>
        <p:nvSpPr>
          <p:cNvPr id="22" name="Text 10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ECK_INDEX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Text 2"/>
          <p:cNvSpPr txBox="1"/>
          <p:nvPr>
            <p:ph idx="102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6" name="Text 3"/>
          <p:cNvSpPr txBox="1"/>
          <p:nvPr>
            <p:ph idx="104" type="title" hasCustomPrompt="1"/>
          </p:nvPr>
        </p:nvSpPr>
        <p:spPr>
          <a:xfrm>
            <a:off x="685800" y="1097280"/>
            <a:ext cx="3200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Template Slide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Family</a:t>
            </a:r>
            <a:endParaRPr lang="en-US" sz="3000" dirty="0"/>
          </a:p>
        </p:txBody>
      </p:sp>
      <p:sp>
        <p:nvSpPr>
          <p:cNvPr id="7" name="Text 3"/>
          <p:cNvSpPr txBox="1"/>
          <p:nvPr>
            <p:ph idx="105" type="body" hasCustomPrompt="1"/>
          </p:nvPr>
        </p:nvSpPr>
        <p:spPr>
          <a:xfrm>
            <a:off x="685800" y="2514600"/>
            <a:ext cx="3200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Twelve layouts shared by Chemistry, Physics, and Geology.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New slide → Layout → pick one. Never build from scratch.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43484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59943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03834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9943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unit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76656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93115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7006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93115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section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9828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26287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70178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contrasting ideas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943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3834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Divider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9943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visual reset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3115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3115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numbered steps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9828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6287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70178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26287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panel + key question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59943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3834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9943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6656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93115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737006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Diagram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93115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figure + annotation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09828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926287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970178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26287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empty work area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3484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459943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03834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459943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pairs with 09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76656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93115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37006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Given/Eq/Ans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693115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course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909828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6287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70178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Deck Index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delete before class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57" name="Text 52"/>
          <p:cNvSpPr txBox="1"/>
          <p:nvPr>
            <p:ph idx="15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2.5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Atomic &amp;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Spectra</a:t>
            </a:r>
            <a:endParaRPr lang="en-US" sz="2800" dirty="0"/>
          </a:p>
        </p:txBody>
      </p:sp>
      <p:sp>
        <p:nvSpPr>
          <p:cNvPr id="4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Explain how atoms make colored light, and use it to identify elements.</a:t>
            </a:r>
            <a:endParaRPr lang="en-US" sz="16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6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Does Color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Come From?</a:t>
            </a:r>
            <a:endParaRPr lang="en-US" sz="2800" dirty="0"/>
          </a:p>
        </p:txBody>
      </p:sp>
      <p:sp>
        <p:nvSpPr>
          <p:cNvPr id="3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Fireworks, neon signs, a flame on a lab burner. Different colors, one question.</a:t>
            </a:r>
            <a:endParaRPr lang="en-US" sz="1600" dirty="0"/>
          </a:p>
        </p:txBody>
      </p:sp>
      <p:sp>
        <p:nvSpPr>
          <p:cNvPr id="4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inside an atom decides the color of the light it gives off?</a:t>
            </a:r>
            <a:endParaRPr lang="en-US" sz="1600" dirty="0"/>
          </a:p>
        </p:txBody>
      </p:sp>
      <p:sp>
        <p:nvSpPr>
          <p:cNvPr id="5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6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7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Words to Start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these first. The rest of the section uses them.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PHOTON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single packet of light energy.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WAVELENGTH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distance between two wave crests, measured in nm.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SPECTRUM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Light spread out by wavelength.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photon is one packet of light. Its energy is set by its wavelength.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visible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Visible Spectrum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Light we can see runs from about 400 nm to 700 nm.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UNITS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nm is one billionth of a meter: 1e-9 m.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VIOLET END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Shortest wavelength, most energy.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RED END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Longest wavelength, least energy.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Wavelength Sets the Energy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Shorter wavelength means higher frequency and more energy per photon.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LONG WAVELENGTH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Red light.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Low frequency.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Low energy per photon.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SHORT WAVELENGTH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Violet light.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 frequency.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 energy per photon.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Shorter wavelength means more energy. A violet photon beats a red one.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Photon Energy Equation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goes up as wavelength goes down. Calculator provided.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much energy does one photon of a given wavelength carry?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 = 6.626e-34 J·s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 = 3.00e8 m/s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 nm = 1e-9 m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 = hc ÷ wavelength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 = h × frequency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 = wavelength × frequency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 in joules (J)</a:t>
            </a:r>
            <a:endParaRPr lang="en-US" sz="2000" dirty="0"/>
          </a:p>
        </p:txBody>
      </p:sp>
      <p:sp>
        <p:nvSpPr>
          <p:cNvPr id="10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1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2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Hot Solid or Hot Gas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glowing decides what the spectrum looks like.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HOT SOLID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glowing filament.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Gives every color, no gaps.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HOT GAS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Excited atoms in a tube.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 a few separate lines.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hot solid gives a continuous spectrum. A hot gas gives a line spectrum.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spectra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Kinds of Spectra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range of colors, three different patterns.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Every color, no gaps. Made by a hot solid.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EMISSION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Bright lines on black. Made by a hot gas.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ABSORPTION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Dark lines at the same places as emission lines.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hydrogen_emission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Hydrogen's Visible Emission Spectrum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lines, computed from the energy levels.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FOUR LINES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656, 486, 434, and 410 nm. Red to violet.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THEY END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Every one is a drop that ends at n = 2.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MORE LINES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More sit in the UV and IR. Your eyes miss them.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energy_trans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Which Drop Makes Which Line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line is one electron dropping to n = 2.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EXCITED STATE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Heat or electricity lifts an electron up a level.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EMISSION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drop releases one photon with energy ΔE.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BIGGER DROP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More energy, shorter wavelength, bluer light.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Color of the 3 to 2 Drop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Calculator provided.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Hydrogen's 3 to 2 drop emits a 3.03e-19 J photon. Find its wavelength and color.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 = 3.03e-19 J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 = 6.626e-34 J·s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 = 3.00e8 m/s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Wavelength in nm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Color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Rearrange first: wavelength = hc ÷ E.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3 to 2 Drop,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Accept 656 or 657 nm, depending on rounding.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wavelength = hc ÷ 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 × c = 6.626e-34 × 3.00e8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 × c = 1.988e-25 J·m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1.988e-25 ÷ 3.03e-19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6.56e-7 m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656 nm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Red light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656 nm is red: the 3 to 2 drop makes hydrogen's red line.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0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balmer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Drops to n = 2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pre-built table. Read it, do not recalculate it.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READ DOWN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Bigger drop: more energy, shorter wavelength.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row is the example you just solved.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ΔE UNITS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Joules, for one photon from one atom.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Every Element Has Its Own Lines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Only certain energy drops exist, so only certain lines appear.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UNIQUE LEVELS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element has its own energy levels.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 its drops, and its lines, are its own.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FINGERPRINT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Line positions identify an element.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Helium was first found in sunlight, 1868.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element has a unique line spectrum because its energy levels are unique.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FLAME TESTS</a:t>
            </a:r>
            <a:endParaRPr lang="en-US" sz="1100" dirty="0"/>
          </a:p>
        </p:txBody>
      </p:sp>
      <p:sp>
        <p:nvSpPr>
          <p:cNvPr id="3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Idea,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 a Flame</a:t>
            </a:r>
            <a:endParaRPr lang="en-US" sz="2600" dirty="0"/>
          </a:p>
        </p:txBody>
      </p:sp>
      <p:sp>
        <p:nvSpPr>
          <p:cNvPr id="4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Metal ions in a flame emit light too. The color tells you which metal.</a:t>
            </a:r>
            <a:endParaRPr lang="en-US" sz="1600" dirty="0"/>
          </a:p>
        </p:txBody>
      </p:sp>
      <p:sp>
        <p:nvSpPr>
          <p:cNvPr id="5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6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a Flame Test Makes Color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color is not the metal burning. It is electrons dropping levels.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 THE FLAME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Heat lifts electrons in the metal ion to higher levels.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AS THEY DROP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They release photons of visible light. The color names the metal.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color of the emitted light identifies the metal ion.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1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flame_color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Flame Test Colors, Part 1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Match the color you see to the metal ion.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READ THE TABLE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metal ion gives its own flame color.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SODIUM IS EVERYWHERE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little Na+ turns many flames yellow.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ONE WAVELENGTH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flame color is a mix, not one exact line.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5_flame_color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Flame Test Colors, Part 2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Some of these colors look a lot alike.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LOOK-ALIKES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Sr2+ red and Ca2+ orange-red are easy to confuse.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 COLOR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Many elements give no flame color we can see.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TEST IS NOT ENOUGH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 narrows the options. It does not prove the ion.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Identify the Metals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Use the flame color tables. Copy the reasoning.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salt burns lilac with a trace of yellow. Another burns orange-red. Which metals?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Salt A: lilac, with some yellow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Salt B: orange-red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metal ion behind each color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 metal ion for each color, not just the color.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Unknowns, Identified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Sodium contaminates almost every flame.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Match each color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to the table.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Na+ gives yellow.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Salt A: K+ (lilac)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Yellow trace: Na+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Salt B: Ca2+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(orange-red)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Flame colors can look alike, so a flame test alone does not prove the ion.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0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 in your notes. Use the words photon and energy level.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Which has more energy, a red photon or a blue photon? Why?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DIFFERENT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does each element have its own line spectrum?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FLAME TEST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flame is lilac. Which ion? Explain the color with electrons.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 in full sentences. Name the photon and the energy level.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S02.5</a:t>
            </a:r>
            <a:endParaRPr lang="en-US" sz="1000" dirty="0"/>
          </a:p>
        </p:txBody>
      </p:sp>
      <p:sp>
        <p:nvSpPr>
          <p:cNvPr id="13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SHULL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SHULL Science — Slide Template (CHEMISTRY)</dc:title>
  <dc:subject>PptxGenJS Presentation</dc:subject>
  <dc:creator>Matthew Shull</dc:creator>
  <cp:lastModifiedBy>Matthew Shull</cp:lastModifiedBy>
  <cp:revision>1</cp:revision>
  <dcterms:created xsi:type="dcterms:W3CDTF">2026-10-04T12:45:44Z</dcterms:created>
  <dcterms:modified xsi:type="dcterms:W3CDTF">2026-10-04T12:45:44Z</dcterms:modified>
</cp:coreProperties>
</file>