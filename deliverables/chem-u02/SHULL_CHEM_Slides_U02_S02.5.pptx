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2.5; builds on 2.1 energy levels and delta E. Goal: students leave able to say how an atom makes colored light. IMAGE SLOT EMPTY, photo to shoot or generate: a hydrogen gas discharge tube glowing in a dark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Take two or three answers, do not correct yet; the answer is the section. IMAGE SLOT EMPTY, photo to shoot or generate: a firework burst beside a glowing neon sign, shot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is defined on slide 5 (waves per second). Misconception to catch: 'longer wavelength means more energy'. It is the opposite. IMAGE SLOT EMPTY, photo to shoot or generate: a glass prism splitting white light on a dark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 violet 400-450, blue 450-495, green 495-570, yellow 570-590, orange 590-620, red 620-700 nm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Defines frequency here: how many waves pass per second. Short wavelength, high frequency, high energy. IMAGE SLOT EMPTY, photo to shoot or generate: a red and a violet laser pointer beam crossing in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Matt to confirm: the course sequencing rule delays scientific notation and heavy math (courses/chemistry/DECISIONS.md, Course sequencing rules). This deck holds to ONE student calculation, calculator provided, 3 sig figs. If you prefer S2.5 conceptual only, defer the calculation. Constants: h = 6.626e-34 J s, c = 3.00e8 m/s. Equations are for reference; students use only E = hc / wavelength today. IMAGE SLOT EMPTY, photo to shoot or generate: a handheld spectroscope resting on a notebook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Hot solid gives all colors; hot gas gives separate lines. LED and fluorescence are out of scope. IMAGE SLOT EMPTY, photo to shoot or generate: an incandescent bulb filament beside a lit neon 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Absorption lines sit at the same wavelengths as the element's emission lines. Absorption in starlight reveals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Lines are 656, 486, 434, 410 nm, all ending at n = 2. Hydrogen has more lines in the UV (2 to 1 is about 122 nm) and IR (4 to 3 is about 1876 nm). Misconception: 'hydrogen has only four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line is one drop to n = 2. Electrons drop to lower levels; they do not fall into the nucleus.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Matt to confirm: the course sequencing rule delays scientific notation and heavy math (courses/chemistry/DECISIONS.md, Course sequencing rules). This deck holds to ONE student calculation, calculator provided, 3 sig figs. If you prefer S2.5 conceptual only, defer the calculation. Delta E for 3 to 2 comes from S2.1 (3.03e-19 J). OPTIONAL Example 2 (dropped from this deck): the 486 nm line is the 4 to 2 drop. Check: delta E = 2.18e-18 x (1/4 - 1/16) = 4.09e-19 J; wavelength = 1.988e-25 / 4.09e-19 = 4.86e-7 m = 486 nm, blue-green. Re-derived for this revision. IMAGE SLOT EMPTY, photo to shoot or generate: a hydrogen discharge tube glowing pink-magenta.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Matt to confirm: the course sequencing rule delays scientific notation and heavy math (courses/chemistry/DECISIONS.md, Course sequencing rules). This deck holds to ONE student calculation, calculator provided, 3 sig figs. If you prefer S2.5 conceptual only, defer the calculation. Accept 656 or 657 nm: the unrounded energy 3.025e-19 J gives 657. Frequency check (optional): 3.00e8 / 6.56e-7 = 4.57e14 Hz. IMAGE SLOT EMPTY, photo to shoot or generate: a calculator beside handwritten wavelength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Pre-built table, read-only; check values against the example. 3 to 2: 3.03e-19 J, 656 nm; 4 to 2: 4.09e-19 J, 486 nm; 5 to 2: 4.58e-19 J, 434 nm; 6 to 2: 4.84e-19 J, 410 nm. Scientific-notation flag applies here too (see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Helium was first detected in the Sun's spectrum, 1868 (Janssen and Lockyer). Line positions identify an element. IMAGE SLOT EMPTY, photo to shoot or generate: line spectra of several gas discharge tubes side by side, photographed through a spectroscope.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Divider into flame tests. Flame photos are still to be shot. IMAGE SLOT EMPTY, photo to shoot or generate: a lab burner flame with a wire loop of metal salt, shot in a darkened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Ca, Sr, Ba and Cu flame colors come largely from molecular emitters (such as CaOH, SrOH, BaOH, CuCl), not single atomic lines; the electron-drop explanation is a valid HS simplification. Flame photos still to be shot. Color claims checked against textbook convention only. The color suggests the ion; it does not prove it. IMAGE SLOT EMPTY, photo to shoot or generate: a flame test photograph, a bright lilac flame from a wire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colors are textbook convention only; swatches are illustrations, not photographs, and flame photos are still to be shot. Do not state a color is one exact wavelength. K lilac is often masked by sodium; the cobalt-glass technique is lab procedure and is not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textbook colors only, Ca, Sr, Ba, Cu largely molecular emitters; photos still to be shot. Many elements give no visible flame color.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Textbook colors only; photos still to be shot. Intended answer: K+ (lilac) with a Na+ yellow trace; Ca2+ orange-red. IMAGE SLOT EMPTY, photo to shoot or generate: two wire loops of metal salt in a flame, one lilac and one orange-red, shot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Ca2+ is the likely answer for orange-red, but Sr2+ looks similar, so a flame test alone cannot settle it. Textbook colors only; photos still to be shot. IMAGE SLOT EMPTY, photo to shoot or generate: a notebook page with a flame color table and pencil check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Formative check. OPTIONAL extra item 3 (dropped from this deck): calculate the wavelength of a 4.58e-19 J photon (5 to 2 in hydrogen) and state the color. Answer: wavelength = 1.988e-25 / 4.58e-19 = 4.34e-7 m = 434 nm, blue-violet. Check: delta E = 2.18e-18 x (1/4 - 1/25) = 4.58e-19 J. Re-derived for this revision. Answers to the three on-slide items: blue (shorter wavelength, more energy); each element has unique energy levels so unique photon energies; lilac suggests K+ (heat lifts electrons, they drop, photons of visible light). IMAGE SLOT EMPTY, photo to shoot or generate: a student's notebook with a half-finished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9.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9.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9.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9.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9.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9.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9.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05</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2.5</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Atomic &amp;</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Electron</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Spectra</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Explain how atoms make colored light, and use it to identify elements.</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Where Does Color</a:t>
            </a:r>
            <a:endParaRPr lang="en-US" sz="2800" dirty="0"/>
          </a:p>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Come From?</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Fireworks, neon signs, a flame on a lab burner. Different colors, one question.</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What inside an atom decides the color of the light it gives off?</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Three Words to Start</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these first. The rest of the section uses them.</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PHOTON</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single packet of light energy.</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WAVELENGTH</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distance between two wave crests, measured in nm.</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SPECTRUM</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Light spread out by wavelength.</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photon is one packet of light. Its energy is set by its wavelength.</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home/user/WorkWork/templates/slide/assets/chem_u02_s2.5_visible_spectrum.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Visible Spectrum</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Light we can see runs from about 400 nm to 700 nm.</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UNITS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nm is one billionth of a meter: 1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VIOLET END</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Shortest wavelength, most energy.</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RED END</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Longest wavelength, least energy.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Wavelength Sets the Energy</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Shorter wavelength means higher frequency (more waves per second) and more energy per photon.</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 WAVELENGTH</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Red light.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Low frequency.</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Low energy per photon.</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SHORT WAVELENGTH</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Violet light.</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High frequency.</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High energy per photon.</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Shorter wavelength means more energy. A violet photon beats a red one.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Photon Energy Equation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Energy goes up as wavelength goes down. Calculator provided.</a:t>
            </a:r>
            <a:endParaRPr lang="en-US" sz="1700" dirty="0"/>
          </a:p>
        </p:txBody>
      </p:sp>
      <p:sp>
        <p:nvSpPr>
          <p:cNvPr id="4" name="Text 6"/>
          <p:cNvSpPr txBox="1"/>
          <p:nvPr>
            <p:ph idx="110" type="body" hasCustomPrompt="1"/>
          </p:nvPr>
        </p:nvSpPr>
        <p:spPr>
          <a:xfrm>
            <a:off x="5779008" y="2743200"/>
            <a:ext cx="5522976" cy="50292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How much energy does one photon of a given wavelength carry?</a:t>
            </a:r>
            <a:endParaRPr lang="en-US" sz="1600" dirty="0"/>
          </a:p>
        </p:txBody>
      </p:sp>
      <p:sp>
        <p:nvSpPr>
          <p:cNvPr id="5" name="Text 7"/>
          <p:cNvSpPr txBox="1"/>
          <p:nvPr>
            <p:ph idx="112" type="body" hasCustomPrompt="1"/>
          </p:nvPr>
        </p:nvSpPr>
        <p:spPr>
          <a:xfrm>
            <a:off x="5779008" y="3685032"/>
            <a:ext cx="2468880"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5779008" y="3977640"/>
            <a:ext cx="2468880" cy="84124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 = 6.626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−34</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J·s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 3.00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8</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 nm = 1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m</a:t>
            </a:r>
            <a:endParaRPr lang="en-US" sz="1600" dirty="0"/>
          </a:p>
        </p:txBody>
      </p:sp>
      <p:sp>
        <p:nvSpPr>
          <p:cNvPr id="7" name="Text 8"/>
          <p:cNvSpPr txBox="1"/>
          <p:nvPr>
            <p:ph idx="115" type="body" hasCustomPrompt="1"/>
          </p:nvPr>
        </p:nvSpPr>
        <p:spPr>
          <a:xfrm>
            <a:off x="8833104" y="3685032"/>
            <a:ext cx="2468880"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8" name="Text 8"/>
          <p:cNvSpPr txBox="1"/>
          <p:nvPr>
            <p:ph idx="116" type="body" hasCustomPrompt="1"/>
          </p:nvPr>
        </p:nvSpPr>
        <p:spPr>
          <a:xfrm>
            <a:off x="8833104" y="3977640"/>
            <a:ext cx="2468880" cy="84124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 = hc ÷ wavelength</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 = h × frequency</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 wavelength × frequency</a:t>
            </a:r>
            <a:endParaRPr lang="en-US" sz="1600" dirty="0"/>
          </a:p>
        </p:txBody>
      </p:sp>
      <p:sp>
        <p:nvSpPr>
          <p:cNvPr id="9" name="Text 10"/>
          <p:cNvSpPr txBox="1"/>
          <p:nvPr>
            <p:ph idx="119" type="body" hasCustomPrompt="1"/>
          </p:nvPr>
        </p:nvSpPr>
        <p:spPr>
          <a:xfrm>
            <a:off x="5779008" y="5504688"/>
            <a:ext cx="5522976" cy="384048"/>
          </a:xfrm>
          <a:prstGeom prst="rect">
            <a:avLst/>
          </a:prstGeom>
          <a:noFill/>
          <a:ln/>
        </p:spPr>
        <p:txBody>
          <a:bodyPr wrap="square" lIns="0" tIns="0" rIns="0" bIns="0" rtlCol="0"/>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E in joules (J)</a:t>
            </a:r>
            <a:endParaRPr lang="en-US" sz="20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11"/>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3" name="Text 4"/>
          <p:cNvSpPr txBox="1"/>
          <p:nvPr>
            <p:ph idx="107" hasCustomPrompt="1"/>
          </p:nvPr>
        </p:nvSpPr>
        <p:spPr>
          <a:xfrm>
            <a:off x="832104" y="2542032"/>
            <a:ext cx="4370832" cy="233172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Hot Solid or Hot Gas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What is glowing decides what the spectrum looks like.</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HOT SOLID</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glowing filament.</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Gives every color, no gaps.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HOT GAS</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Excited atoms in a tube.</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Give a few separate lines.</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hot solid gives a continuous spectrum. A hot gas gives a line spectrum.</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home/user/WorkWork/templates/slide/assets/chem_u02_s2.5_spectra_type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Three Kinds of Spectra</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range of colors, three different patterns.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CONTINUOUS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Every color, no gaps. Made by a hot solid.</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EMISSION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Bright lines on black. Made by a hot gas.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ABSORPTION</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Dark lines at the same places as emission lines.</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ome/user/WorkWork/templates/slide/assets/chem_u02_s2.5_hydrogen_emission_line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Hydrogen's Visible Emission Spectrum</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lines, computed from the energy levels.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FOUR LINES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656, 486, 434, and 410 nm. Red to violet.</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WHERE THEY END</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Every one is a drop that ends at n = 2.</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MORE LINES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sit in the ultraviolet (UV) and infrared (IR). Your eyes miss them.</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WorkWork/templates/slide/assets/chem_u02_s2.5_energy_transition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Which Drop Makes Which Line</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line is one electron dropping to n = 2.</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EXCITED STATE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Heat or electricity lifts an electron up a level.</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EMISSION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drop releases one photon with energy ΔE.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BIGGER DROP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energy, shorter wavelength, bluer light.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Color of the 3 to 2 Drop</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Calculator provided. Copy the setup, not just the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Hydrogen's 3 to 2 drop emits a 3.03 × 10</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−19</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J photon. Find its wavelength and color.</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 = 3.03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J</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 = 6.626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−34</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J·s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 3.00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8</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m/s</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Wavelength in nm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Color</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Rearrange first: wavelength = hc ÷ 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3 to 2 Drop,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Rearrange, divide, then convert meters to nanometers.</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wavelength = hc ÷ E</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hc = 6.626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−34</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 3.00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hc = 1.988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−25</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J·m</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1.988 × 10</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−25</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 3.03 × 10</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−19</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 6.56 × 10</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−7</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m</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 10</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nm per m = 656 nm</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Red light</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656 nm is red: the 3 to 2 drop makes hydrogen's red line.</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WorkWork/templates/slide/assets/chem_u02_s2.5_balmer_table.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Four Drops to n = 2</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 pre-built table. Read it, do not recalculate it.</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READ DOWN</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Bigger drop: more energy, shorter wavelength.</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CHECK</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row is the example you just solved.</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ΔE UNITS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Joules, for one photon from one atom.</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Every Element Has Its Own Lines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Only certain energy drops exist, so only certain lines appear.</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UNIQUE LEVELS</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Each element has its own energy levels.</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So its drops, and its lines, are its own.</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A FINGERPRINT</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Line positions identify an element.</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Helium was first found in sunlight, 1868.</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Each element has a unique line spectrum because its energy levels are unique.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FLAME TESTS</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Same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In a Flame</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Metal ions in a flame emit light too. The color helps you identify the metal.</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How a Flame Test Makes Color</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color is not the metal burning. It is electrons dropping levels.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IN THE FLAME</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Heat lifts electrons in the metal ion to higher levels.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AS THEY DROP</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They release photons of visible light. The color helps identify the metal.</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color of the emitted light helps identify the metal ion.</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home/user/WorkWork/templates/slide/assets/chem_u02_s2.5_flame_colors_1.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Flame Test Colors, Part 1</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Compare the color you see to the table.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READ THE TABLE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Each metal ion has a typical flame color.</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 COMMON CONTAMINANT</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little Na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can turn a flame yellow.</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NOT ONE WAVELENGTH</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flame color is a mix, not one exact line.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home/user/WorkWork/templates/slide/assets/chem_u02_s2.5_flame_colors_2.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Flame Test Colors, Part 2</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Some of these colors look a lot alike.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LOOK-ALIKES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Sr</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red and Ca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orange-red are easy to confuse.</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NO COLOR</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Many elements give no flame color we can see.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ONE TEST IS NOT ENOUGH</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 narrows the options. It does not prove the ion.</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Identify the Metals</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Use the flame color tables. Copy the reasoning.</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One salt burns lilac with a trace of yellow. Another burns orange-red. Which metals?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Salt A: lilac, with some yellow</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Salt B: orange-red</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metal ion behind each color</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Write the metal ion for each color, not just the color.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Two Unknowns, Identified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Sodium is a common contaminant.</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Match each color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to the table.</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gives yellow.</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Salt A: K</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(lilac)</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Yellow trace: Na</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Salt B: Ca</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(orange-red)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Sr</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looks similar</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Flame colors can look alike, so a flame test alone does not prove the ion.</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 Yourself</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Answer in your notes, in full sentences.</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Which has more energy, a red photon or a blue photon? Why?</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WHY DIFFERENT</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Why does each element have its own line spectrum?</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FLAME TEST</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flame is lilac. Which ion is it likely to be? Explain the color with electrons.</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Use the words photon and energy level.</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2026-10-04T12:53:35Z</dcterms:created>
  <dcterms:modified xsi:type="dcterms:W3CDTF">2026-10-04T12:53:35Z</dcterms:modified>
</cp:coreProperties>
</file>