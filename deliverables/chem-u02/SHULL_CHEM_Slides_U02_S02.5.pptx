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2.5; builds on 2.1 energy levels and delta E. Goal: students leave able to say how an atom makes colored light. IMAGE SLOT EMPTY, photo to shoot or generate: a hydrogen gas discharge tube glowing in a dark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Take two or three answers, do not correct yet; the answer is the section. IMAGE SLOT EMPTY, photo to shoot or generate: a firework burst beside a glowing neon sign, shot at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Frequency is defined on slide 5 (waves per second). Misconception to catch: 'longer wavelength means more energy'. It is the opposite. IMAGE SLOT EMPTY, photo to shoot or generate: a glass prism splitting white light on a dark 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Ranges: violet 400-450, blue 450-495, green 495-570, yellow 570-590, orange 590-620, red 620-700 nm (approximate). The arrows under the bar show the rule: shorter wavelength, more energy; longer wavelength, less energy. Per Matt, the range is shown in nm and in scientific notation (meters): 400 nm is 4.00 × 10^-7 m, 700 nm is 7.00 × 10^-7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Defines frequency here: how many waves pass per second. Short wavelength, high frequency, high energy. State the rule in words only: more energy released means shorter wavelength and bluer light. No numbers needed. IMAGE SLOT EMPTY, photo to shoot or generate: a red and a violet laser pointer beam crossing in haze.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Hot solid gives all colors; hot gas gives separate lines. LED and fluorescence are out of scope. IMAGE SLOT EMPTY, photo to shoot or generate: an incandescent bulb filament beside a lit neon tube.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Absorption lines sit at the same wavelengths as the element's emission lines. Absorption in starlight reveals 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Lines are 656, 486, 434, 410 nm, all ending at n = 2. Hydrogen has more lines in the UV (2 to 1 is about 122 nm) and IR (4 to 3 is about 1876 nm). Misconception: 'hydrogen has only four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line is one drop to n = 2. Electrons drop to lower levels; they do not fall into the nucleus. The levels are drawn to scale from the 1/n^2 pattern, so students can SEE that 6 to 2 is the longest arrow and 3 to 2 the shortest. Bigger drop, more energy, shorter wavelength, bluer light. Wavelengths in meters (scientific notation, per Matt) are on the table slide: 6.56, 4.86, 4.34, 4.10 × 10^-7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Pre-built table, read-only. 3 to 2: 656 nm (6.56 × 10^-7 m), red; 4 to 2: 486 nm (4.86 × 10^-7 m), blue-green; 5 to 2: 434 nm (4.34 × 10^-7 m), blue-violet; 6 to 2: 410 nm (4.10 × 10^-7 m), violet. Scientific notation shown per Matt. Students match drop to color by comparing drop size on the previous slide's figure; no calculation.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energy and wavelength calculations were removed on Matt's instruction; wavelengths stay in nm and scientific notation per Matt. Students reason from the table instead. OPTIONAL Example 2 (not on a slide): the 486 nm blue-green line is a bigger or smaller drop than the red line? Answer: bigger (4 to 2 versus 3 to 2), because 486 nm is a shorter wavelength than 656 nm; but smaller than the 5 to 2 drop, which makes the 434 nm line. IMAGE SLOT EMPTY, photo to shoot or generate: a hydrogen discharge tube glowing pink-magenta.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(a) Red, 656 nm, the 3 to 2 drop. It is the smallest of the four (one step down from n = 3 to n = 2), so it releases the least energy, gives the longest wavelength, and looks red. (b) Violet, 410 nm, the 6 to 2 drop: the biggest drop of the four, the most energy, the shortest wavelength. IMAGE SLOT EMPTY, photo to shoot or generate: a notebook page with the table of four drops and pencil marks beside each color.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Helium was first detected in the Sun's spectrum, 1868 (Janssen/Lockyer observations). Line positions identify an element. IMAGE SLOT EMPTY, photo to shoot or generate: line spectra of several gas discharge tubes side by side, photographed through a spectroscope.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(flame section): flame tests are not a confirmed U2 lab (DECISIONS.md open question 4), so this is science only, no procedure. Divider into flame tests. Flame photos are still to be shot. IMAGE SLOT EMPTY, photo to shoot or generate: a lab burner flame with a wire loop of metal salt, shot in a darkened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(flame section): flame tests are not a confirmed U2 lab (DECISIONS.md open question 4), so this is science only, no procedure. PROVISIONAL: Ca, Sr, Ba and Cu flame colors come largely from molecular emitters (such as CaOH, SrOH, BaOH, CuCl), not single atomic lines; the electron-drop explanation is a valid HS simplification. Flame photos still to be shot. Color claims checked against textbook convention only. The color suggests the ion; it does not prove it. IMAGE SLOT EMPTY, photo to shoot or generate: a flame test photograph, a bright lilac flame from a wire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(flame section): flame tests are not a confirmed U2 lab (DECISIONS.md open question 4), so this is science only, no procedure. PROVISIONAL: colors are textbook convention only; swatches are illustrations, not photographs, and flame photos are still to be shot. Do not state a color is one exact wavelength. K lilac is often masked by sodium; the cobalt-glass technique is lab procedure and is not in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(flame section): flame tests are not a confirmed U2 lab (DECISIONS.md open question 4), so this is science only, no procedure. PROVISIONAL: textbook colors only, Ca, Sr, Ba, Cu largely molecular emitters; photos still to be shot. Many elements give no visible flame color.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(flame section): flame tests are not a confirmed U2 lab (DECISIONS.md open question 4), so this is science only, no procedure. Textbook colors only; photos still to be shot. Intended answer: K+ (lilac) with a Na+ yellow trace; Ca2+ orange-red. IMAGE SLOT EMPTY, photo to shoot or generate: two wire loops of metal salt in a flame, one lilac and one orange-red, shot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(flame section): flame tests are not a confirmed U2 lab (DECISIONS.md open question 4), so this is science only, no procedure. Ca2+ is the likely answer for orange-red, but Sr2+ looks similar, so a flame test alone cannot settle it. Textbook colors only; photos still to be shot. IMAGE SLOT EMPTY, photo to shoot or generate: a notebook page with a flame color table and pencil check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Formative check. OPTIONAL extra item 3 (replaces a calculation item): a hydrogen line looks blue-violet at 434 nm. Is it the 4 to 2 drop or the 5 to 2 drop? Answer: 5 to 2. The 4 to 2 drop makes the 486 nm blue-green line; 434 nm is a shorter wavelength, so it is the bigger drop. Answers to the three on-slide items: blue (shorter wavelength, more energy); each element has unique energy levels so unique photon energies; lilac suggests K+ (heat lifts electrons, they drop, photons of visible light). IMAGE SLOT EMPTY, photo to shoot or generate: a student's notebook with a half-finished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01_UNIT_TITL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5532120" y="1554480"/>
            <a:ext cx="6656832" cy="3749040"/>
          </a:xfrm>
          <a:prstGeom prst="rect">
            <a:avLst/>
          </a:prstGeom>
          <a:solidFill>
            <a:srgbClr val="2E3338"/>
          </a:solidFill>
          <a:ln w="12700">
            <a:solidFill>
              <a:srgbClr val="BDB6AA"/>
            </a:solidFill>
            <a:prstDash val="dash"/>
          </a:ln>
        </p:spPr>
      </p:sp>
      <p:sp>
        <p:nvSpPr>
          <p:cNvPr id="4" name="Text 2"/>
          <p:cNvSpPr txBox="1"/>
          <p:nvPr>
            <p:ph idx="102" hasCustomPrompt="1"/>
          </p:nvPr>
        </p:nvSpPr>
        <p:spPr>
          <a:xfrm>
            <a:off x="5532120" y="1554480"/>
            <a:ext cx="6656832" cy="374904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UNIT HERO IMAGE  •  16:9  •  1920×1080 min</a:t>
            </a:r>
            <a:endParaRPr lang="en-US" sz="1200" dirty="0"/>
          </a:p>
        </p:txBody>
      </p:sp>
      <p:sp>
        <p:nvSpPr>
          <p:cNvPr id="5" name="Shape 2"/>
          <p:cNvSpPr/>
          <p:nvPr/>
        </p:nvSpPr>
        <p:spPr>
          <a:xfrm>
            <a:off x="0" y="0"/>
            <a:ext cx="164592" cy="6858000"/>
          </a:xfrm>
          <a:prstGeom prst="rect">
            <a:avLst/>
          </a:prstGeom>
          <a:solidFill>
            <a:srgbClr val="A3E635"/>
          </a:solidFill>
          <a:ln/>
        </p:spPr>
      </p:sp>
      <p:sp>
        <p:nvSpPr>
          <p:cNvPr id="6" name="Text 3"/>
          <p:cNvSpPr txBox="1"/>
          <p:nvPr>
            <p:ph idx="104"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7" name="Shape 3"/>
          <p:cNvSpPr/>
          <p:nvPr/>
        </p:nvSpPr>
        <p:spPr>
          <a:xfrm>
            <a:off x="685800" y="676656"/>
            <a:ext cx="1371600" cy="0"/>
          </a:xfrm>
          <a:prstGeom prst="line">
            <a:avLst/>
          </a:prstGeom>
          <a:noFill/>
          <a:ln w="22225">
            <a:solidFill>
              <a:srgbClr val="A3E635"/>
            </a:solidFill>
            <a:prstDash val="solid"/>
          </a:ln>
        </p:spPr>
      </p:sp>
      <p:sp>
        <p:nvSpPr>
          <p:cNvPr id="8" name="Text 4"/>
          <p:cNvSpPr txBox="1"/>
          <p:nvPr>
            <p:ph idx="106" type="title" hasCustomPrompt="1"/>
          </p:nvPr>
        </p:nvSpPr>
        <p:spPr>
          <a:xfrm>
            <a:off x="685800" y="1188720"/>
            <a:ext cx="4617720" cy="1920240"/>
          </a:xfrm>
          <a:prstGeom prst="rect">
            <a:avLst/>
          </a:prstGeom>
          <a:noFill/>
          <a:ln/>
        </p:spPr>
        <p:txBody>
          <a:bodyPr wrap="square" rtlCol="0"/>
          <a:lstStyle>
            <a:lvl1pPr algn="l" indent="0" marL="0">
              <a:lnSpc>
                <a:spcPct val="105000"/>
              </a:lnSpc>
              <a:buNone/>
              <a:defRPr lang="en-US" sz="40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5000"/>
              </a:lnSpc>
              <a:buNone/>
            </a:pPr>
            <a:r>
              <a:rPr lang="en-US" sz="4000" b="1" dirty="0">
                <a:solidFill>
                  <a:srgbClr val="EDF0E5"/>
                </a:solidFill>
                <a:latin typeface="Trade Gothic Next" pitchFamily="34" charset="0"/>
                <a:ea typeface="Trade Gothic Next" pitchFamily="34" charset="-122"/>
                <a:cs typeface="Trade Gothic Next" pitchFamily="34" charset="-120"/>
              </a:rPr>
              <a:t>Unit Title</a:t>
            </a:r>
            <a:endParaRPr lang="en-US" sz="4000" dirty="0"/>
          </a:p>
          <a:p>
            <a:pPr algn="l" indent="0" marL="0">
              <a:lnSpc>
                <a:spcPct val="105000"/>
              </a:lnSpc>
              <a:buNone/>
            </a:pPr>
            <a:r>
              <a:rPr lang="en-US" sz="4000" b="1" dirty="0">
                <a:solidFill>
                  <a:srgbClr val="EDF0E5"/>
                </a:solidFill>
                <a:latin typeface="Trade Gothic Next" pitchFamily="34" charset="0"/>
                <a:ea typeface="Trade Gothic Next" pitchFamily="34" charset="-122"/>
                <a:cs typeface="Trade Gothic Next" pitchFamily="34" charset="-120"/>
              </a:rPr>
              <a:t>Goes Here</a:t>
            </a:r>
            <a:endParaRPr lang="en-US" sz="4000" dirty="0"/>
          </a:p>
        </p:txBody>
      </p:sp>
      <p:sp>
        <p:nvSpPr>
          <p:cNvPr id="9" name="Text 4"/>
          <p:cNvSpPr txBox="1"/>
          <p:nvPr>
            <p:ph idx="107" type="body" hasCustomPrompt="1"/>
          </p:nvPr>
        </p:nvSpPr>
        <p:spPr>
          <a:xfrm>
            <a:off x="685800" y="3246120"/>
            <a:ext cx="4434840" cy="822960"/>
          </a:xfrm>
          <a:prstGeom prst="rect">
            <a:avLst/>
          </a:prstGeom>
          <a:noFill/>
          <a:ln/>
        </p:spPr>
        <p:txBody>
          <a:bodyPr wrap="square" rtlCol="0"/>
          <a:lstStyle>
            <a:lvl1pPr indent="0" marL="0">
              <a:buNone/>
              <a:defRPr lang="en-US" sz="17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BDB6AA"/>
                </a:solidFill>
                <a:latin typeface="Trade Gothic Next" pitchFamily="34" charset="0"/>
                <a:ea typeface="Trade Gothic Next" pitchFamily="34" charset="-122"/>
                <a:cs typeface="Trade Gothic Next" pitchFamily="34" charset="-120"/>
              </a:rPr>
              <a:t>One sentence on what this unit is actually about.</a:t>
            </a:r>
            <a:endParaRPr lang="en-US" sz="1700" dirty="0"/>
          </a:p>
        </p:txBody>
      </p:sp>
      <p:sp>
        <p:nvSpPr>
          <p:cNvPr id="10" name="Shape 4"/>
          <p:cNvSpPr/>
          <p:nvPr/>
        </p:nvSpPr>
        <p:spPr>
          <a:xfrm>
            <a:off x="685800" y="5074920"/>
            <a:ext cx="1417320" cy="329184"/>
          </a:xfrm>
          <a:prstGeom prst="rect">
            <a:avLst>
              <a:gd name="adj" fmla="val 50000"/>
            </a:avLst>
          </a:prstGeom>
          <a:solidFill>
            <a:srgbClr val="A3E635"/>
          </a:solidFill>
          <a:ln/>
        </p:spPr>
      </p:sp>
      <p:sp>
        <p:nvSpPr>
          <p:cNvPr id="11" name="Text 5"/>
          <p:cNvSpPr txBox="1"/>
          <p:nvPr/>
        </p:nvSpPr>
        <p:spPr>
          <a:xfrm>
            <a:off x="685800" y="5102352"/>
            <a:ext cx="1417320" cy="274320"/>
          </a:xfrm>
          <a:prstGeom prst="rect">
            <a:avLst/>
          </a:prstGeom>
          <a:noFill/>
          <a:ln/>
        </p:spPr>
        <p:txBody>
          <a:bodyPr wrap="square" lIns="0" tIns="0" rIns="0" bIns="0" rtlCol="0" anchor="ctr"/>
          <a:lstStyle/>
          <a:p>
            <a:pPr algn="ctr" indent="0" marL="0">
              <a:buNone/>
            </a:pPr>
            <a:r>
              <a:rPr lang="en-US" sz="1000" b="1" spc="120" kern="0" dirty="0">
                <a:solidFill>
                  <a:srgbClr val="14161B"/>
                </a:solidFill>
                <a:latin typeface="Trade Gothic Next" pitchFamily="34" charset="0"/>
                <a:ea typeface="Trade Gothic Next" pitchFamily="34" charset="-122"/>
                <a:cs typeface="Trade Gothic Next" pitchFamily="34" charset="-120"/>
              </a:rPr>
              <a:t>MR. SHULL</a:t>
            </a:r>
            <a:endParaRPr lang="en-US" sz="1000" dirty="0"/>
          </a:p>
        </p:txBody>
      </p:sp>
      <p:sp>
        <p:nvSpPr>
          <p:cNvPr id="12" name="Text 6"/>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3" name="Text 7"/>
          <p:cNvSpPr txBox="1"/>
          <p:nvPr>
            <p:ph idx="11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02_SECTION_TITL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3977640" cy="6858000"/>
          </a:xfrm>
          <a:prstGeom prst="rect">
            <a:avLst/>
          </a:prstGeom>
          <a:solidFill>
            <a:srgbClr val="A3E635"/>
          </a:solidFill>
          <a:ln/>
        </p:spPr>
      </p:sp>
      <p:sp>
        <p:nvSpPr>
          <p:cNvPr id="4" name="Shape 2"/>
          <p:cNvSpPr/>
          <p:nvPr/>
        </p:nvSpPr>
        <p:spPr>
          <a:xfrm>
            <a:off x="4480560" y="777240"/>
            <a:ext cx="7086600" cy="3986784"/>
          </a:xfrm>
          <a:prstGeom prst="rect">
            <a:avLst/>
          </a:prstGeom>
          <a:solidFill>
            <a:srgbClr val="2E3338"/>
          </a:solidFill>
          <a:ln w="12700">
            <a:solidFill>
              <a:srgbClr val="BDB6AA"/>
            </a:solidFill>
            <a:prstDash val="dash"/>
          </a:ln>
        </p:spPr>
      </p:sp>
      <p:sp>
        <p:nvSpPr>
          <p:cNvPr id="5" name="Text 3"/>
          <p:cNvSpPr txBox="1"/>
          <p:nvPr>
            <p:ph idx="103" hasCustomPrompt="1"/>
          </p:nvPr>
        </p:nvSpPr>
        <p:spPr>
          <a:xfrm>
            <a:off x="4480560" y="777240"/>
            <a:ext cx="7086600" cy="3986784"/>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SECTION IMAGE  •  16:9</a:t>
            </a:r>
            <a:endParaRPr lang="en-US" sz="1200" dirty="0"/>
          </a:p>
        </p:txBody>
      </p:sp>
      <p:sp>
        <p:nvSpPr>
          <p:cNvPr id="6" name="Text 3"/>
          <p:cNvSpPr txBox="1"/>
          <p:nvPr>
            <p:ph idx="104" type="body" hasCustomPrompt="1"/>
          </p:nvPr>
        </p:nvSpPr>
        <p:spPr>
          <a:xfrm>
            <a:off x="777240" y="502920"/>
            <a:ext cx="2011680" cy="868680"/>
          </a:xfrm>
          <a:prstGeom prst="rect">
            <a:avLst/>
          </a:prstGeom>
          <a:noFill/>
          <a:ln/>
        </p:spPr>
        <p:txBody>
          <a:bodyPr wrap="square" rtlCol="0"/>
          <a:lstStyle>
            <a:lvl1pPr algn="l" indent="0" marL="0">
              <a:buNone/>
              <a:defRPr lang="en-US" sz="44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4400" b="1" dirty="0">
                <a:solidFill>
                  <a:srgbClr val="14161B"/>
                </a:solidFill>
                <a:latin typeface="Trade Gothic Next" pitchFamily="34" charset="0"/>
                <a:ea typeface="Trade Gothic Next" pitchFamily="34" charset="-122"/>
                <a:cs typeface="Trade Gothic Next" pitchFamily="34" charset="-120"/>
              </a:rPr>
              <a:t>01</a:t>
            </a:r>
            <a:endParaRPr lang="en-US" sz="4400" dirty="0"/>
          </a:p>
        </p:txBody>
      </p:sp>
      <p:sp>
        <p:nvSpPr>
          <p:cNvPr id="7" name="Text 3"/>
          <p:cNvSpPr txBox="1"/>
          <p:nvPr/>
        </p:nvSpPr>
        <p:spPr>
          <a:xfrm>
            <a:off x="777240" y="1481328"/>
            <a:ext cx="2743200" cy="219456"/>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SECTION TITLE</a:t>
            </a:r>
            <a:endParaRPr lang="en-US" sz="1100" dirty="0"/>
          </a:p>
        </p:txBody>
      </p:sp>
      <p:sp>
        <p:nvSpPr>
          <p:cNvPr id="8" name="Text 4"/>
          <p:cNvSpPr txBox="1"/>
          <p:nvPr>
            <p:ph idx="106" type="title" hasCustomPrompt="1"/>
          </p:nvPr>
        </p:nvSpPr>
        <p:spPr>
          <a:xfrm>
            <a:off x="777240" y="1847088"/>
            <a:ext cx="2834640" cy="1691640"/>
          </a:xfrm>
          <a:prstGeom prst="rect">
            <a:avLst/>
          </a:prstGeom>
          <a:noFill/>
          <a:ln/>
        </p:spPr>
        <p:txBody>
          <a:bodyPr wrap="square" rtlCol="0"/>
          <a:lstStyle>
            <a:lvl1pPr algn="l" indent="0" marL="0">
              <a:lnSpc>
                <a:spcPct val="106000"/>
              </a:lnSpc>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1.1</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Section Name</a:t>
            </a:r>
            <a:endParaRPr lang="en-US" sz="2800" dirty="0"/>
          </a:p>
        </p:txBody>
      </p:sp>
      <p:sp>
        <p:nvSpPr>
          <p:cNvPr id="9" name="Text 4"/>
          <p:cNvSpPr txBox="1"/>
          <p:nvPr>
            <p:ph idx="107" type="body" hasCustomPrompt="1"/>
          </p:nvPr>
        </p:nvSpPr>
        <p:spPr>
          <a:xfrm>
            <a:off x="777240" y="3749040"/>
            <a:ext cx="2834640" cy="109728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students should be able to do by the end.</a:t>
            </a:r>
            <a:endParaRPr lang="en-US" sz="1600" dirty="0"/>
          </a:p>
        </p:txBody>
      </p:sp>
      <p:sp>
        <p:nvSpPr>
          <p:cNvPr id="10" name="Text 4"/>
          <p:cNvSpPr txBox="1"/>
          <p:nvPr/>
        </p:nvSpPr>
        <p:spPr>
          <a:xfrm>
            <a:off x="777240" y="6382512"/>
            <a:ext cx="2743200" cy="237744"/>
          </a:xfrm>
          <a:prstGeom prst="rect">
            <a:avLst/>
          </a:prstGeom>
          <a:noFill/>
          <a:ln/>
        </p:spPr>
        <p:txBody>
          <a:bodyPr wrap="square" lIns="0" tIns="0" rIns="0" bIns="0" rtlCol="0" anchor="ctr"/>
          <a:lstStyle/>
          <a:p>
            <a:pPr indent="0" marL="0">
              <a:buNone/>
            </a:pPr>
            <a:r>
              <a:rPr lang="en-US" sz="1000" b="1" spc="140" kern="0" dirty="0">
                <a:solidFill>
                  <a:srgbClr val="14161B"/>
                </a:solidFill>
                <a:latin typeface="Trade Gothic Next" pitchFamily="34" charset="0"/>
                <a:ea typeface="Trade Gothic Next" pitchFamily="34" charset="-122"/>
                <a:cs typeface="Trade Gothic Next" pitchFamily="34" charset="-120"/>
              </a:rPr>
              <a:t>SHULL SCIENCE</a:t>
            </a:r>
            <a:endParaRPr lang="en-US" sz="1000" dirty="0"/>
          </a:p>
        </p:txBody>
      </p:sp>
      <p:sp>
        <p:nvSpPr>
          <p:cNvPr id="11" name="Text 5"/>
          <p:cNvSpPr txBox="1"/>
          <p:nvPr>
            <p:ph idx="109"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03_GROUPED_CONCEP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77440"/>
            <a:ext cx="4663440" cy="2624328"/>
          </a:xfrm>
          <a:prstGeom prst="rect">
            <a:avLst/>
          </a:prstGeom>
          <a:solidFill>
            <a:srgbClr val="EDF0E5"/>
          </a:solidFill>
          <a:ln w="12700">
            <a:solidFill>
              <a:srgbClr val="C8CDC2"/>
            </a:solidFill>
            <a:prstDash val="dash"/>
          </a:ln>
        </p:spPr>
      </p:sp>
      <p:sp>
        <p:nvSpPr>
          <p:cNvPr id="8" name="Text 3"/>
          <p:cNvSpPr txBox="1"/>
          <p:nvPr>
            <p:ph idx="106" hasCustomPrompt="1"/>
          </p:nvPr>
        </p:nvSpPr>
        <p:spPr>
          <a:xfrm>
            <a:off x="685800" y="2377440"/>
            <a:ext cx="4663440" cy="262432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CONCEPT IMAGE  •  16:9</a:t>
            </a:r>
            <a:endParaRPr lang="en-US" sz="1200" dirty="0"/>
          </a:p>
        </p:txBody>
      </p:sp>
      <p:sp>
        <p:nvSpPr>
          <p:cNvPr id="9" name="Shape 3"/>
          <p:cNvSpPr/>
          <p:nvPr/>
        </p:nvSpPr>
        <p:spPr>
          <a:xfrm>
            <a:off x="5532120" y="2377440"/>
            <a:ext cx="3154680" cy="2624328"/>
          </a:xfrm>
          <a:prstGeom prst="rect">
            <a:avLst/>
          </a:prstGeom>
          <a:solidFill>
            <a:srgbClr val="EDF0E5"/>
          </a:solidFill>
          <a:ln w="12700">
            <a:solidFill>
              <a:srgbClr val="C8CDC2"/>
            </a:solidFill>
            <a:prstDash val="solid"/>
          </a:ln>
        </p:spPr>
      </p:sp>
      <p:sp>
        <p:nvSpPr>
          <p:cNvPr id="10" name="Text 4"/>
          <p:cNvSpPr txBox="1"/>
          <p:nvPr>
            <p:ph idx="108" type="body" hasCustomPrompt="1"/>
          </p:nvPr>
        </p:nvSpPr>
        <p:spPr>
          <a:xfrm>
            <a:off x="5733288" y="2542032"/>
            <a:ext cx="275234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GROUP ONE</a:t>
            </a:r>
            <a:endParaRPr lang="en-US" sz="1200" dirty="0"/>
          </a:p>
        </p:txBody>
      </p:sp>
      <p:sp>
        <p:nvSpPr>
          <p:cNvPr id="11" name="Text 4"/>
          <p:cNvSpPr txBox="1"/>
          <p:nvPr>
            <p:ph idx="109" type="body" hasCustomPrompt="1"/>
          </p:nvPr>
        </p:nvSpPr>
        <p:spPr>
          <a:xfrm>
            <a:off x="5733288" y="2834640"/>
            <a:ext cx="2752344" cy="196596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first idea, in one or two lines.</a:t>
            </a:r>
            <a:endParaRPr lang="en-US" sz="1600" dirty="0"/>
          </a:p>
        </p:txBody>
      </p:sp>
      <p:sp>
        <p:nvSpPr>
          <p:cNvPr id="12" name="Shape 4"/>
          <p:cNvSpPr/>
          <p:nvPr/>
        </p:nvSpPr>
        <p:spPr>
          <a:xfrm>
            <a:off x="8915400" y="2377440"/>
            <a:ext cx="3154680" cy="2624328"/>
          </a:xfrm>
          <a:prstGeom prst="rect">
            <a:avLst/>
          </a:prstGeom>
          <a:solidFill>
            <a:srgbClr val="2E3338"/>
          </a:solidFill>
          <a:ln w="12700">
            <a:solidFill>
              <a:srgbClr val="2E3338"/>
            </a:solidFill>
            <a:prstDash val="solid"/>
          </a:ln>
        </p:spPr>
      </p:sp>
      <p:sp>
        <p:nvSpPr>
          <p:cNvPr id="13" name="Text 5"/>
          <p:cNvSpPr txBox="1"/>
          <p:nvPr>
            <p:ph idx="111" type="body" hasCustomPrompt="1"/>
          </p:nvPr>
        </p:nvSpPr>
        <p:spPr>
          <a:xfrm>
            <a:off x="9116568" y="2542032"/>
            <a:ext cx="2752344" cy="219456"/>
          </a:xfrm>
          <a:prstGeom prst="rect">
            <a:avLst/>
          </a:prstGeom>
          <a:noFill/>
          <a:ln/>
        </p:spPr>
        <p:txBody>
          <a:bodyPr wrap="square" rtlCol="0"/>
          <a:lstStyle>
            <a:lvl1pPr indent="0" marL="0">
              <a:buNone/>
              <a:defRPr lang="en-US" sz="1200" b="1" spc="120" kern="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GROUP TWO</a:t>
            </a:r>
            <a:endParaRPr lang="en-US" sz="1200" dirty="0"/>
          </a:p>
        </p:txBody>
      </p:sp>
      <p:sp>
        <p:nvSpPr>
          <p:cNvPr id="14" name="Text 5"/>
          <p:cNvSpPr txBox="1"/>
          <p:nvPr>
            <p:ph idx="112" type="body" hasCustomPrompt="1"/>
          </p:nvPr>
        </p:nvSpPr>
        <p:spPr>
          <a:xfrm>
            <a:off x="9116568" y="2834640"/>
            <a:ext cx="2752344" cy="196596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The contrasting idea.</a:t>
            </a:r>
            <a:endParaRPr lang="en-US" sz="1600" dirty="0"/>
          </a:p>
        </p:txBody>
      </p:sp>
      <p:sp>
        <p:nvSpPr>
          <p:cNvPr id="15" name="Shape 5"/>
          <p:cNvSpPr/>
          <p:nvPr/>
        </p:nvSpPr>
        <p:spPr>
          <a:xfrm>
            <a:off x="685800" y="5321808"/>
            <a:ext cx="10820095" cy="566928"/>
          </a:xfrm>
          <a:prstGeom prst="rect">
            <a:avLst/>
          </a:prstGeom>
          <a:solidFill>
            <a:srgbClr val="14161B"/>
          </a:solidFill>
          <a:ln/>
        </p:spPr>
      </p:sp>
      <p:sp>
        <p:nvSpPr>
          <p:cNvPr id="16" name="Text 6"/>
          <p:cNvSpPr txBox="1"/>
          <p:nvPr/>
        </p:nvSpPr>
        <p:spPr>
          <a:xfrm>
            <a:off x="886968" y="537667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17" name="Text 7"/>
          <p:cNvSpPr txBox="1"/>
          <p:nvPr>
            <p:ph idx="115" type="body" hasCustomPrompt="1"/>
          </p:nvPr>
        </p:nvSpPr>
        <p:spPr>
          <a:xfrm>
            <a:off x="2240280" y="539496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18" name="Text 7"/>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19" name="Text 8"/>
          <p:cNvSpPr txBox="1"/>
          <p:nvPr>
            <p:ph idx="117"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04_DIVIDER">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2926080" y="0"/>
            <a:ext cx="9262872" cy="6858000"/>
          </a:xfrm>
          <a:prstGeom prst="rect">
            <a:avLst/>
          </a:prstGeom>
          <a:solidFill>
            <a:srgbClr val="2E3338"/>
          </a:solidFill>
          <a:ln w="12700">
            <a:solidFill>
              <a:srgbClr val="BDB6AA"/>
            </a:solidFill>
            <a:prstDash val="dash"/>
          </a:ln>
        </p:spPr>
      </p:sp>
      <p:sp>
        <p:nvSpPr>
          <p:cNvPr id="4" name="Text 2"/>
          <p:cNvSpPr txBox="1"/>
          <p:nvPr>
            <p:ph idx="102" hasCustomPrompt="1"/>
          </p:nvPr>
        </p:nvSpPr>
        <p:spPr>
          <a:xfrm>
            <a:off x="2926080" y="0"/>
            <a:ext cx="9262872" cy="685800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FULL-BLEED CONCEPT IMAGE  •  one image, no decoration</a:t>
            </a:r>
            <a:endParaRPr lang="en-US" sz="1200" dirty="0"/>
          </a:p>
        </p:txBody>
      </p:sp>
      <p:sp>
        <p:nvSpPr>
          <p:cNvPr id="5" name="Shape 2"/>
          <p:cNvSpPr/>
          <p:nvPr/>
        </p:nvSpPr>
        <p:spPr>
          <a:xfrm>
            <a:off x="0" y="0"/>
            <a:ext cx="3931920" cy="6858000"/>
          </a:xfrm>
          <a:prstGeom prst="rect">
            <a:avLst/>
          </a:prstGeom>
          <a:solidFill>
            <a:srgbClr val="14161B"/>
          </a:solidFill>
          <a:ln/>
        </p:spPr>
      </p:sp>
      <p:sp>
        <p:nvSpPr>
          <p:cNvPr id="6" name="Shape 3"/>
          <p:cNvSpPr/>
          <p:nvPr/>
        </p:nvSpPr>
        <p:spPr>
          <a:xfrm>
            <a:off x="0" y="0"/>
            <a:ext cx="164592" cy="6858000"/>
          </a:xfrm>
          <a:prstGeom prst="rect">
            <a:avLst/>
          </a:prstGeom>
          <a:solidFill>
            <a:srgbClr val="A3E635"/>
          </a:solidFill>
          <a:ln/>
        </p:spPr>
      </p:sp>
      <p:sp>
        <p:nvSpPr>
          <p:cNvPr id="7" name="Shape 4"/>
          <p:cNvSpPr/>
          <p:nvPr/>
        </p:nvSpPr>
        <p:spPr>
          <a:xfrm>
            <a:off x="566928" y="1481328"/>
            <a:ext cx="3703320" cy="3675888"/>
          </a:xfrm>
          <a:prstGeom prst="rect">
            <a:avLst/>
          </a:prstGeom>
          <a:solidFill>
            <a:srgbClr val="14161B"/>
          </a:solidFill>
          <a:ln w="15875">
            <a:solidFill>
              <a:srgbClr val="A3E635"/>
            </a:solidFill>
            <a:prstDash val="solid"/>
          </a:ln>
        </p:spPr>
      </p:sp>
      <p:sp>
        <p:nvSpPr>
          <p:cNvPr id="8" name="Text 5"/>
          <p:cNvSpPr txBox="1"/>
          <p:nvPr>
            <p:ph idx="106" type="body" hasCustomPrompt="1"/>
          </p:nvPr>
        </p:nvSpPr>
        <p:spPr>
          <a:xfrm>
            <a:off x="841248" y="1755648"/>
            <a:ext cx="3154680" cy="457200"/>
          </a:xfrm>
          <a:prstGeom prst="rect">
            <a:avLst/>
          </a:prstGeom>
          <a:noFill/>
          <a:ln/>
        </p:spPr>
        <p:txBody>
          <a:bodyPr wrap="square" rtlCol="0"/>
          <a:lstStyle>
            <a:lvl1pPr indent="0" marL="0">
              <a:buNone/>
              <a:defRPr lang="en-US" sz="1100" b="1" spc="150" kern="0" dirty="0">
                <a:solidFill>
                  <a:srgbClr val="A3E635"/>
                </a:solidFill>
                <a:latin typeface="Trade Gothic Next" pitchFamily="34" charset="0"/>
                <a:ea typeface="Trade Gothic Next" pitchFamily="34" charset="-122"/>
                <a:cs typeface="Trade Gothic Next" pitchFamily="34" charset="-120"/>
              </a:defRPr>
            </a:lvl1pPr>
          </a:lstStyle>
          <a:p>
            <a:pPr indent="0" marL="0">
              <a:buNone/>
            </a:pPr>
            <a:r>
              <a:rPr lang="en-US" sz="1100" b="1" spc="150" kern="0" dirty="0">
                <a:solidFill>
                  <a:srgbClr val="A3E635"/>
                </a:solidFill>
                <a:latin typeface="Trade Gothic Next" pitchFamily="34" charset="0"/>
                <a:ea typeface="Trade Gothic Next" pitchFamily="34" charset="-122"/>
                <a:cs typeface="Trade Gothic Next" pitchFamily="34" charset="-120"/>
              </a:rPr>
              <a:t>1.2  •  SECTION NAME</a:t>
            </a:r>
            <a:endParaRPr lang="en-US" sz="1100" dirty="0"/>
          </a:p>
        </p:txBody>
      </p:sp>
      <p:sp>
        <p:nvSpPr>
          <p:cNvPr id="9" name="Text 5"/>
          <p:cNvSpPr txBox="1"/>
          <p:nvPr>
            <p:ph idx="107" type="title" hasCustomPrompt="1"/>
          </p:nvPr>
        </p:nvSpPr>
        <p:spPr>
          <a:xfrm>
            <a:off x="841248" y="2304288"/>
            <a:ext cx="3154680" cy="1417320"/>
          </a:xfrm>
          <a:prstGeom prst="rect">
            <a:avLst/>
          </a:prstGeom>
          <a:noFill/>
          <a:ln/>
        </p:spPr>
        <p:txBody>
          <a:bodyPr wrap="square" rtlCol="0"/>
          <a:lstStyle>
            <a:lvl1pPr algn="l" indent="0" marL="0">
              <a:lnSpc>
                <a:spcPct val="108000"/>
              </a:lnSpc>
              <a:buNone/>
              <a:defRPr lang="en-US" sz="26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The Big Idea</a:t>
            </a:r>
            <a:endParaRPr lang="en-US" sz="2600" dirty="0"/>
          </a:p>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Of This Section</a:t>
            </a:r>
            <a:endParaRPr lang="en-US" sz="2600" dirty="0"/>
          </a:p>
        </p:txBody>
      </p:sp>
      <p:sp>
        <p:nvSpPr>
          <p:cNvPr id="10" name="Text 5"/>
          <p:cNvSpPr txBox="1"/>
          <p:nvPr>
            <p:ph idx="108" type="body" hasCustomPrompt="1"/>
          </p:nvPr>
        </p:nvSpPr>
        <p:spPr>
          <a:xfrm>
            <a:off x="841248" y="3858768"/>
            <a:ext cx="3154680" cy="109728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Students see the story before the first bullet.</a:t>
            </a:r>
            <a:endParaRPr lang="en-US" sz="1600" dirty="0"/>
          </a:p>
        </p:txBody>
      </p:sp>
      <p:sp>
        <p:nvSpPr>
          <p:cNvPr id="11" name="Text 5"/>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2" name="Text 6"/>
          <p:cNvSpPr txBox="1"/>
          <p:nvPr>
            <p:ph idx="110"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05_PROCESS_TIMELIN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10820095" cy="2011680"/>
          </a:xfrm>
          <a:prstGeom prst="rect">
            <a:avLst/>
          </a:prstGeom>
          <a:solidFill>
            <a:srgbClr val="14161B"/>
          </a:solidFill>
          <a:ln/>
        </p:spPr>
      </p:sp>
      <p:sp>
        <p:nvSpPr>
          <p:cNvPr id="8" name="Shape 3"/>
          <p:cNvSpPr/>
          <p:nvPr/>
        </p:nvSpPr>
        <p:spPr>
          <a:xfrm>
            <a:off x="3246120" y="2487168"/>
            <a:ext cx="5669280" cy="1828800"/>
          </a:xfrm>
          <a:prstGeom prst="rect">
            <a:avLst/>
          </a:prstGeom>
          <a:solidFill>
            <a:srgbClr val="2E3338"/>
          </a:solidFill>
          <a:ln w="12700">
            <a:solidFill>
              <a:srgbClr val="BDB6AA"/>
            </a:solidFill>
            <a:prstDash val="dash"/>
          </a:ln>
        </p:spPr>
      </p:sp>
      <p:sp>
        <p:nvSpPr>
          <p:cNvPr id="9" name="Text 4"/>
          <p:cNvSpPr txBox="1"/>
          <p:nvPr>
            <p:ph idx="107" hasCustomPrompt="1"/>
          </p:nvPr>
        </p:nvSpPr>
        <p:spPr>
          <a:xfrm>
            <a:off x="3246120" y="2487168"/>
            <a:ext cx="5669280" cy="182880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PROCESS BAND  •  3:1  •  generate 16:9 and centre-crop</a:t>
            </a:r>
            <a:endParaRPr lang="en-US" sz="1200" dirty="0"/>
          </a:p>
        </p:txBody>
      </p:sp>
      <p:sp>
        <p:nvSpPr>
          <p:cNvPr id="10" name="Shape 4"/>
          <p:cNvSpPr/>
          <p:nvPr/>
        </p:nvSpPr>
        <p:spPr>
          <a:xfrm>
            <a:off x="685800" y="4617720"/>
            <a:ext cx="2615184" cy="1188720"/>
          </a:xfrm>
          <a:prstGeom prst="rect">
            <a:avLst/>
          </a:prstGeom>
          <a:solidFill>
            <a:srgbClr val="EDF0E5"/>
          </a:solidFill>
          <a:ln w="12700">
            <a:solidFill>
              <a:srgbClr val="C8CDC2"/>
            </a:solidFill>
            <a:prstDash val="solid"/>
          </a:ln>
        </p:spPr>
      </p:sp>
      <p:sp>
        <p:nvSpPr>
          <p:cNvPr id="11" name="Text 5"/>
          <p:cNvSpPr txBox="1"/>
          <p:nvPr/>
        </p:nvSpPr>
        <p:spPr>
          <a:xfrm>
            <a:off x="832104"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1</a:t>
            </a:r>
            <a:endParaRPr lang="en-US" sz="1300" dirty="0"/>
          </a:p>
        </p:txBody>
      </p:sp>
      <p:sp>
        <p:nvSpPr>
          <p:cNvPr id="12" name="Text 6"/>
          <p:cNvSpPr txBox="1"/>
          <p:nvPr>
            <p:ph idx="110" type="body" hasCustomPrompt="1"/>
          </p:nvPr>
        </p:nvSpPr>
        <p:spPr>
          <a:xfrm>
            <a:off x="1234440"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1</a:t>
            </a:r>
            <a:endParaRPr lang="en-US" sz="1200" dirty="0"/>
          </a:p>
        </p:txBody>
      </p:sp>
      <p:sp>
        <p:nvSpPr>
          <p:cNvPr id="13" name="Text 6"/>
          <p:cNvSpPr txBox="1"/>
          <p:nvPr>
            <p:ph idx="111" type="body" hasCustomPrompt="1"/>
          </p:nvPr>
        </p:nvSpPr>
        <p:spPr>
          <a:xfrm>
            <a:off x="832104"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14" name="Shape 6"/>
          <p:cNvSpPr/>
          <p:nvPr/>
        </p:nvSpPr>
        <p:spPr>
          <a:xfrm>
            <a:off x="3447288" y="4617720"/>
            <a:ext cx="2615184" cy="1188720"/>
          </a:xfrm>
          <a:prstGeom prst="rect">
            <a:avLst/>
          </a:prstGeom>
          <a:solidFill>
            <a:srgbClr val="EDF0E5"/>
          </a:solidFill>
          <a:ln w="12700">
            <a:solidFill>
              <a:srgbClr val="C8CDC2"/>
            </a:solidFill>
            <a:prstDash val="solid"/>
          </a:ln>
        </p:spPr>
      </p:sp>
      <p:sp>
        <p:nvSpPr>
          <p:cNvPr id="15" name="Text 7"/>
          <p:cNvSpPr txBox="1"/>
          <p:nvPr/>
        </p:nvSpPr>
        <p:spPr>
          <a:xfrm>
            <a:off x="3593592"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2</a:t>
            </a:r>
            <a:endParaRPr lang="en-US" sz="1300" dirty="0"/>
          </a:p>
        </p:txBody>
      </p:sp>
      <p:sp>
        <p:nvSpPr>
          <p:cNvPr id="16" name="Text 8"/>
          <p:cNvSpPr txBox="1"/>
          <p:nvPr>
            <p:ph idx="114" type="body" hasCustomPrompt="1"/>
          </p:nvPr>
        </p:nvSpPr>
        <p:spPr>
          <a:xfrm>
            <a:off x="3995928"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2</a:t>
            </a:r>
            <a:endParaRPr lang="en-US" sz="1200" dirty="0"/>
          </a:p>
        </p:txBody>
      </p:sp>
      <p:sp>
        <p:nvSpPr>
          <p:cNvPr id="17" name="Text 8"/>
          <p:cNvSpPr txBox="1"/>
          <p:nvPr>
            <p:ph idx="115" type="body" hasCustomPrompt="1"/>
          </p:nvPr>
        </p:nvSpPr>
        <p:spPr>
          <a:xfrm>
            <a:off x="3593592"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18" name="Shape 8"/>
          <p:cNvSpPr/>
          <p:nvPr/>
        </p:nvSpPr>
        <p:spPr>
          <a:xfrm>
            <a:off x="6208776" y="4617720"/>
            <a:ext cx="2615184" cy="1188720"/>
          </a:xfrm>
          <a:prstGeom prst="rect">
            <a:avLst/>
          </a:prstGeom>
          <a:solidFill>
            <a:srgbClr val="EDF0E5"/>
          </a:solidFill>
          <a:ln w="12700">
            <a:solidFill>
              <a:srgbClr val="C8CDC2"/>
            </a:solidFill>
            <a:prstDash val="solid"/>
          </a:ln>
        </p:spPr>
      </p:sp>
      <p:sp>
        <p:nvSpPr>
          <p:cNvPr id="19" name="Text 9"/>
          <p:cNvSpPr txBox="1"/>
          <p:nvPr/>
        </p:nvSpPr>
        <p:spPr>
          <a:xfrm>
            <a:off x="6355080"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3</a:t>
            </a:r>
            <a:endParaRPr lang="en-US" sz="1300" dirty="0"/>
          </a:p>
        </p:txBody>
      </p:sp>
      <p:sp>
        <p:nvSpPr>
          <p:cNvPr id="20" name="Text 10"/>
          <p:cNvSpPr txBox="1"/>
          <p:nvPr>
            <p:ph idx="118" type="body" hasCustomPrompt="1"/>
          </p:nvPr>
        </p:nvSpPr>
        <p:spPr>
          <a:xfrm>
            <a:off x="6757416"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3</a:t>
            </a:r>
            <a:endParaRPr lang="en-US" sz="1200" dirty="0"/>
          </a:p>
        </p:txBody>
      </p:sp>
      <p:sp>
        <p:nvSpPr>
          <p:cNvPr id="21" name="Text 10"/>
          <p:cNvSpPr txBox="1"/>
          <p:nvPr>
            <p:ph idx="119" type="body" hasCustomPrompt="1"/>
          </p:nvPr>
        </p:nvSpPr>
        <p:spPr>
          <a:xfrm>
            <a:off x="6355080"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22" name="Shape 10"/>
          <p:cNvSpPr/>
          <p:nvPr/>
        </p:nvSpPr>
        <p:spPr>
          <a:xfrm>
            <a:off x="8970264" y="4617720"/>
            <a:ext cx="2615184" cy="1188720"/>
          </a:xfrm>
          <a:prstGeom prst="rect">
            <a:avLst/>
          </a:prstGeom>
          <a:solidFill>
            <a:srgbClr val="EDF0E5"/>
          </a:solidFill>
          <a:ln w="12700">
            <a:solidFill>
              <a:srgbClr val="C8CDC2"/>
            </a:solidFill>
            <a:prstDash val="solid"/>
          </a:ln>
        </p:spPr>
      </p:sp>
      <p:sp>
        <p:nvSpPr>
          <p:cNvPr id="23" name="Text 11"/>
          <p:cNvSpPr txBox="1"/>
          <p:nvPr/>
        </p:nvSpPr>
        <p:spPr>
          <a:xfrm>
            <a:off x="9116568"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4</a:t>
            </a:r>
            <a:endParaRPr lang="en-US" sz="1300" dirty="0"/>
          </a:p>
        </p:txBody>
      </p:sp>
      <p:sp>
        <p:nvSpPr>
          <p:cNvPr id="24" name="Text 12"/>
          <p:cNvSpPr txBox="1"/>
          <p:nvPr>
            <p:ph idx="122" type="body" hasCustomPrompt="1"/>
          </p:nvPr>
        </p:nvSpPr>
        <p:spPr>
          <a:xfrm>
            <a:off x="9518904"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4</a:t>
            </a:r>
            <a:endParaRPr lang="en-US" sz="1200" dirty="0"/>
          </a:p>
        </p:txBody>
      </p:sp>
      <p:sp>
        <p:nvSpPr>
          <p:cNvPr id="25" name="Text 12"/>
          <p:cNvSpPr txBox="1"/>
          <p:nvPr>
            <p:ph idx="123" type="body" hasCustomPrompt="1"/>
          </p:nvPr>
        </p:nvSpPr>
        <p:spPr>
          <a:xfrm>
            <a:off x="9116568"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26" name="Text 12"/>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7" name="Text 13"/>
          <p:cNvSpPr txBox="1"/>
          <p:nvPr>
            <p:ph idx="125"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06_CONCEPT_IMAG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164592" cy="6858000"/>
          </a:xfrm>
          <a:prstGeom prst="rect">
            <a:avLst/>
          </a:prstGeom>
          <a:solidFill>
            <a:srgbClr val="A3E635"/>
          </a:solidFill>
          <a:ln/>
        </p:spPr>
      </p:sp>
      <p:sp>
        <p:nvSpPr>
          <p:cNvPr id="4" name="Shape 2"/>
          <p:cNvSpPr/>
          <p:nvPr/>
        </p:nvSpPr>
        <p:spPr>
          <a:xfrm>
            <a:off x="6172200" y="868680"/>
            <a:ext cx="5349240" cy="4160520"/>
          </a:xfrm>
          <a:prstGeom prst="rect">
            <a:avLst/>
          </a:prstGeom>
          <a:solidFill>
            <a:srgbClr val="A3E635"/>
          </a:solidFill>
          <a:ln/>
        </p:spPr>
      </p:sp>
      <p:sp>
        <p:nvSpPr>
          <p:cNvPr id="5" name="Shape 3"/>
          <p:cNvSpPr/>
          <p:nvPr/>
        </p:nvSpPr>
        <p:spPr>
          <a:xfrm>
            <a:off x="6355080" y="1298448"/>
            <a:ext cx="4983480" cy="2798064"/>
          </a:xfrm>
          <a:prstGeom prst="rect">
            <a:avLst/>
          </a:prstGeom>
          <a:solidFill>
            <a:srgbClr val="EDF0E5"/>
          </a:solidFill>
          <a:ln w="12700">
            <a:solidFill>
              <a:srgbClr val="C8CDC2"/>
            </a:solidFill>
            <a:prstDash val="dash"/>
          </a:ln>
        </p:spPr>
      </p:sp>
      <p:sp>
        <p:nvSpPr>
          <p:cNvPr id="6" name="Text 4"/>
          <p:cNvSpPr txBox="1"/>
          <p:nvPr>
            <p:ph idx="104" hasCustomPrompt="1"/>
          </p:nvPr>
        </p:nvSpPr>
        <p:spPr>
          <a:xfrm>
            <a:off x="6355080" y="1298448"/>
            <a:ext cx="4983480" cy="2798064"/>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CONCEPT IMAGE  •  16:9</a:t>
            </a:r>
            <a:endParaRPr lang="en-US" sz="1200" dirty="0"/>
          </a:p>
        </p:txBody>
      </p:sp>
      <p:sp>
        <p:nvSpPr>
          <p:cNvPr id="7" name="Text 4"/>
          <p:cNvSpPr txBox="1"/>
          <p:nvPr>
            <p:ph idx="105"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8" name="Shape 4"/>
          <p:cNvSpPr/>
          <p:nvPr/>
        </p:nvSpPr>
        <p:spPr>
          <a:xfrm>
            <a:off x="685800" y="676656"/>
            <a:ext cx="1371600" cy="0"/>
          </a:xfrm>
          <a:prstGeom prst="line">
            <a:avLst/>
          </a:prstGeom>
          <a:noFill/>
          <a:ln w="22225">
            <a:solidFill>
              <a:srgbClr val="A3E635"/>
            </a:solidFill>
            <a:prstDash val="solid"/>
          </a:ln>
        </p:spPr>
      </p:sp>
      <p:sp>
        <p:nvSpPr>
          <p:cNvPr id="9" name="Text 5"/>
          <p:cNvSpPr txBox="1"/>
          <p:nvPr>
            <p:ph idx="107" type="title" hasCustomPrompt="1"/>
          </p:nvPr>
        </p:nvSpPr>
        <p:spPr>
          <a:xfrm>
            <a:off x="685800" y="1188720"/>
            <a:ext cx="4892040" cy="868680"/>
          </a:xfrm>
          <a:prstGeom prst="rect">
            <a:avLst/>
          </a:prstGeom>
          <a:noFill/>
          <a:ln/>
        </p:spPr>
        <p:txBody>
          <a:bodyPr wrap="square" rtlCol="0"/>
          <a:lstStyle>
            <a:lvl1pPr algn="l" indent="0" marL="0">
              <a:buNone/>
              <a:defRPr lang="en-US" sz="2800" b="1" dirty="0">
                <a:solidFill>
                  <a:srgbClr val="EDF0E5"/>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EDF0E5"/>
                </a:solidFill>
                <a:latin typeface="Trade Gothic Next" pitchFamily="34" charset="0"/>
                <a:ea typeface="Trade Gothic Next" pitchFamily="34" charset="-122"/>
                <a:cs typeface="Trade Gothic Next" pitchFamily="34" charset="-120"/>
              </a:rPr>
              <a:t>Concept Headline</a:t>
            </a:r>
            <a:endParaRPr lang="en-US" sz="2800" dirty="0"/>
          </a:p>
        </p:txBody>
      </p:sp>
      <p:sp>
        <p:nvSpPr>
          <p:cNvPr id="10" name="Text 5"/>
          <p:cNvSpPr txBox="1"/>
          <p:nvPr>
            <p:ph idx="108" type="body" hasCustomPrompt="1"/>
          </p:nvPr>
        </p:nvSpPr>
        <p:spPr>
          <a:xfrm>
            <a:off x="685800" y="2148840"/>
            <a:ext cx="4892040" cy="100584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Keep it to what the image cannot say on its own.</a:t>
            </a:r>
            <a:endParaRPr lang="en-US" sz="1600" dirty="0"/>
          </a:p>
        </p:txBody>
      </p:sp>
      <p:sp>
        <p:nvSpPr>
          <p:cNvPr id="11" name="Shape 5"/>
          <p:cNvSpPr/>
          <p:nvPr/>
        </p:nvSpPr>
        <p:spPr>
          <a:xfrm>
            <a:off x="685800" y="3520440"/>
            <a:ext cx="4892040" cy="1143000"/>
          </a:xfrm>
          <a:prstGeom prst="rect">
            <a:avLst/>
          </a:prstGeom>
          <a:solidFill>
            <a:srgbClr val="2E3338"/>
          </a:solidFill>
          <a:ln/>
        </p:spPr>
      </p:sp>
      <p:sp>
        <p:nvSpPr>
          <p:cNvPr id="12" name="Text 6"/>
          <p:cNvSpPr txBox="1"/>
          <p:nvPr/>
        </p:nvSpPr>
        <p:spPr>
          <a:xfrm>
            <a:off x="886968" y="3657600"/>
            <a:ext cx="2743200" cy="219456"/>
          </a:xfrm>
          <a:prstGeom prst="rect">
            <a:avLst/>
          </a:prstGeom>
          <a:noFill/>
          <a:ln/>
        </p:spPr>
        <p:txBody>
          <a:bodyPr wrap="square" lIns="0" tIns="0" rIns="0" bIns="0" rtlCol="0" anchor="ctr"/>
          <a:lstStyle/>
          <a:p>
            <a:pPr indent="0" marL="0">
              <a:buNone/>
            </a:pPr>
            <a:r>
              <a:rPr lang="en-US" sz="900" b="1" spc="140" kern="0" dirty="0">
                <a:solidFill>
                  <a:srgbClr val="BDB6AA"/>
                </a:solidFill>
                <a:latin typeface="Trade Gothic Next" pitchFamily="34" charset="0"/>
                <a:ea typeface="Trade Gothic Next" pitchFamily="34" charset="-122"/>
                <a:cs typeface="Trade Gothic Next" pitchFamily="34" charset="-120"/>
              </a:rPr>
              <a:t>KEY QUESTION</a:t>
            </a:r>
            <a:endParaRPr lang="en-US" sz="900" dirty="0"/>
          </a:p>
        </p:txBody>
      </p:sp>
      <p:sp>
        <p:nvSpPr>
          <p:cNvPr id="13" name="Text 7"/>
          <p:cNvSpPr txBox="1"/>
          <p:nvPr>
            <p:ph idx="111" type="body" hasCustomPrompt="1"/>
          </p:nvPr>
        </p:nvSpPr>
        <p:spPr>
          <a:xfrm>
            <a:off x="886968" y="3950208"/>
            <a:ext cx="4489704" cy="566928"/>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question this slide is asking.</a:t>
            </a:r>
            <a:endParaRPr lang="en-US" sz="1600" dirty="0"/>
          </a:p>
        </p:txBody>
      </p:sp>
      <p:sp>
        <p:nvSpPr>
          <p:cNvPr id="14" name="Text 7"/>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5" name="Text 8"/>
          <p:cNvSpPr txBox="1"/>
          <p:nvPr>
            <p:ph idx="113"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07_COMPARISON_CARDS">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7360920"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7360920"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8412480" y="960120"/>
            <a:ext cx="3090672" cy="1737360"/>
          </a:xfrm>
          <a:prstGeom prst="rect">
            <a:avLst/>
          </a:prstGeom>
          <a:solidFill>
            <a:srgbClr val="A3E635"/>
          </a:solidFill>
          <a:ln/>
        </p:spPr>
      </p:sp>
      <p:sp>
        <p:nvSpPr>
          <p:cNvPr id="8" name="Shape 3"/>
          <p:cNvSpPr/>
          <p:nvPr/>
        </p:nvSpPr>
        <p:spPr>
          <a:xfrm>
            <a:off x="8641080" y="1088136"/>
            <a:ext cx="2633472" cy="1481328"/>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641080" y="1088136"/>
            <a:ext cx="2633472" cy="148132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SUPPORTING IMAGE</a:t>
            </a:r>
            <a:endParaRPr lang="en-US" sz="1200" dirty="0"/>
          </a:p>
        </p:txBody>
      </p:sp>
      <p:sp>
        <p:nvSpPr>
          <p:cNvPr id="10" name="Shape 4"/>
          <p:cNvSpPr/>
          <p:nvPr/>
        </p:nvSpPr>
        <p:spPr>
          <a:xfrm>
            <a:off x="685800" y="2788920"/>
            <a:ext cx="3401568" cy="2331720"/>
          </a:xfrm>
          <a:prstGeom prst="rect">
            <a:avLst/>
          </a:prstGeom>
          <a:solidFill>
            <a:srgbClr val="EDF0E5"/>
          </a:solidFill>
          <a:ln w="12700">
            <a:solidFill>
              <a:srgbClr val="C8CDC2"/>
            </a:solidFill>
            <a:prstDash val="solid"/>
          </a:ln>
        </p:spPr>
      </p:sp>
      <p:sp>
        <p:nvSpPr>
          <p:cNvPr id="11" name="Text 5"/>
          <p:cNvSpPr txBox="1"/>
          <p:nvPr>
            <p:ph idx="109" type="body" hasCustomPrompt="1"/>
          </p:nvPr>
        </p:nvSpPr>
        <p:spPr>
          <a:xfrm>
            <a:off x="88696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ONE</a:t>
            </a:r>
            <a:endParaRPr lang="en-US" sz="1200" dirty="0"/>
          </a:p>
        </p:txBody>
      </p:sp>
      <p:sp>
        <p:nvSpPr>
          <p:cNvPr id="12" name="Text 5"/>
          <p:cNvSpPr txBox="1"/>
          <p:nvPr>
            <p:ph idx="110" type="body" hasCustomPrompt="1"/>
          </p:nvPr>
        </p:nvSpPr>
        <p:spPr>
          <a:xfrm>
            <a:off x="88696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Three parallel items.</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job each.</a:t>
            </a:r>
            <a:endParaRPr lang="en-US" sz="1600" dirty="0"/>
          </a:p>
        </p:txBody>
      </p:sp>
      <p:sp>
        <p:nvSpPr>
          <p:cNvPr id="13" name="Shape 5"/>
          <p:cNvSpPr/>
          <p:nvPr/>
        </p:nvSpPr>
        <p:spPr>
          <a:xfrm>
            <a:off x="4297680" y="2788920"/>
            <a:ext cx="3401568" cy="2331720"/>
          </a:xfrm>
          <a:prstGeom prst="rect">
            <a:avLst/>
          </a:prstGeom>
          <a:solidFill>
            <a:srgbClr val="EDF0E5"/>
          </a:solidFill>
          <a:ln w="12700">
            <a:solidFill>
              <a:srgbClr val="C8CDC2"/>
            </a:solidFill>
            <a:prstDash val="solid"/>
          </a:ln>
        </p:spPr>
      </p:sp>
      <p:sp>
        <p:nvSpPr>
          <p:cNvPr id="14" name="Text 6"/>
          <p:cNvSpPr txBox="1"/>
          <p:nvPr>
            <p:ph idx="112" type="body" hasCustomPrompt="1"/>
          </p:nvPr>
        </p:nvSpPr>
        <p:spPr>
          <a:xfrm>
            <a:off x="449884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TWO</a:t>
            </a:r>
            <a:endParaRPr lang="en-US" sz="1200" dirty="0"/>
          </a:p>
        </p:txBody>
      </p:sp>
      <p:sp>
        <p:nvSpPr>
          <p:cNvPr id="15" name="Text 6"/>
          <p:cNvSpPr txBox="1"/>
          <p:nvPr>
            <p:ph idx="113" type="body" hasCustomPrompt="1"/>
          </p:nvPr>
        </p:nvSpPr>
        <p:spPr>
          <a:xfrm>
            <a:off x="449884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Not a wall of bullets.</a:t>
            </a:r>
            <a:endParaRPr lang="en-US" sz="1600" dirty="0"/>
          </a:p>
        </p:txBody>
      </p:sp>
      <p:sp>
        <p:nvSpPr>
          <p:cNvPr id="16" name="Shape 6"/>
          <p:cNvSpPr/>
          <p:nvPr/>
        </p:nvSpPr>
        <p:spPr>
          <a:xfrm>
            <a:off x="7909560" y="2788920"/>
            <a:ext cx="3401568" cy="2331720"/>
          </a:xfrm>
          <a:prstGeom prst="rect">
            <a:avLst/>
          </a:prstGeom>
          <a:solidFill>
            <a:srgbClr val="EDF0E5"/>
          </a:solidFill>
          <a:ln w="12700">
            <a:solidFill>
              <a:srgbClr val="C8CDC2"/>
            </a:solidFill>
            <a:prstDash val="solid"/>
          </a:ln>
        </p:spPr>
      </p:sp>
      <p:sp>
        <p:nvSpPr>
          <p:cNvPr id="17" name="Text 7"/>
          <p:cNvSpPr txBox="1"/>
          <p:nvPr>
            <p:ph idx="115" type="body" hasCustomPrompt="1"/>
          </p:nvPr>
        </p:nvSpPr>
        <p:spPr>
          <a:xfrm>
            <a:off x="811072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THREE</a:t>
            </a:r>
            <a:endParaRPr lang="en-US" sz="1200" dirty="0"/>
          </a:p>
        </p:txBody>
      </p:sp>
      <p:sp>
        <p:nvSpPr>
          <p:cNvPr id="18" name="Text 7"/>
          <p:cNvSpPr txBox="1"/>
          <p:nvPr>
            <p:ph idx="116" type="body" hasCustomPrompt="1"/>
          </p:nvPr>
        </p:nvSpPr>
        <p:spPr>
          <a:xfrm>
            <a:off x="811072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third parallel item.</a:t>
            </a:r>
            <a:endParaRPr lang="en-US" sz="1600" dirty="0"/>
          </a:p>
        </p:txBody>
      </p:sp>
      <p:sp>
        <p:nvSpPr>
          <p:cNvPr id="19" name="Shape 7"/>
          <p:cNvSpPr/>
          <p:nvPr/>
        </p:nvSpPr>
        <p:spPr>
          <a:xfrm>
            <a:off x="685800" y="5413248"/>
            <a:ext cx="10820095" cy="566928"/>
          </a:xfrm>
          <a:prstGeom prst="rect">
            <a:avLst/>
          </a:prstGeom>
          <a:solidFill>
            <a:srgbClr val="14161B"/>
          </a:solidFill>
          <a:ln/>
        </p:spPr>
      </p:sp>
      <p:sp>
        <p:nvSpPr>
          <p:cNvPr id="20" name="Text 8"/>
          <p:cNvSpPr txBox="1"/>
          <p:nvPr/>
        </p:nvSpPr>
        <p:spPr>
          <a:xfrm>
            <a:off x="886968" y="546811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21" name="Text 9"/>
          <p:cNvSpPr txBox="1"/>
          <p:nvPr>
            <p:ph idx="119" type="body" hasCustomPrompt="1"/>
          </p:nvPr>
        </p:nvSpPr>
        <p:spPr>
          <a:xfrm>
            <a:off x="2240280" y="548640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22" name="Text 9"/>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3" name="Text 10"/>
          <p:cNvSpPr txBox="1"/>
          <p:nvPr>
            <p:ph idx="12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08_DIAGRAM_ANNOTATI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5074920" cy="3246120"/>
          </a:xfrm>
          <a:prstGeom prst="rect">
            <a:avLst/>
          </a:prstGeom>
          <a:solidFill>
            <a:srgbClr val="EDF0E5"/>
          </a:solidFill>
          <a:ln w="12700">
            <a:solidFill>
              <a:srgbClr val="C8CDC2"/>
            </a:solidFill>
            <a:prstDash val="solid"/>
          </a:ln>
        </p:spPr>
      </p:sp>
      <p:sp>
        <p:nvSpPr>
          <p:cNvPr id="8" name="Text 3"/>
          <p:cNvSpPr txBox="1"/>
          <p:nvPr>
            <p:ph idx="106" type="body" hasCustomPrompt="1"/>
          </p:nvPr>
        </p:nvSpPr>
        <p:spPr>
          <a:xfrm>
            <a:off x="914400" y="2651760"/>
            <a:ext cx="4617720" cy="2743200"/>
          </a:xfrm>
          <a:prstGeom prst="rect">
            <a:avLst/>
          </a:prstGeom>
          <a:noFill/>
          <a:ln/>
        </p:spPr>
        <p:txBody>
          <a:bodyPr wrap="square" rtlCol="0"/>
          <a:lstStyle>
            <a:lvl1pPr algn="ctr" indent="0" marL="0">
              <a:buNone/>
              <a:defRPr lang="en-US" sz="20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2000" dirty="0">
                <a:solidFill>
                  <a:srgbClr val="2E3338"/>
                </a:solidFill>
                <a:latin typeface="Trade Gothic Next" pitchFamily="34" charset="0"/>
                <a:ea typeface="Trade Gothic Next" pitchFamily="34" charset="-122"/>
                <a:cs typeface="Trade Gothic Next" pitchFamily="34" charset="-120"/>
              </a:rPr>
              <a:t>Hand-built diagram here.</a:t>
            </a:r>
            <a:endParaRPr lang="en-US" sz="2000" dirty="0"/>
          </a:p>
          <a:p>
            <a:pPr algn="ctr" indent="0" marL="0">
              <a:buNone/>
            </a:pPr>
            <a:r>
              <a:rPr lang="en-US" sz="2000" dirty="0">
                <a:solidFill>
                  <a:srgbClr val="2E3338"/>
                </a:solidFill>
                <a:latin typeface="Trade Gothic Next" pitchFamily="34" charset="0"/>
                <a:ea typeface="Trade Gothic Next" pitchFamily="34" charset="-122"/>
                <a:cs typeface="Trade Gothic Next" pitchFamily="34" charset="-120"/>
              </a:rPr>
              <a:t>Anything with a number or a label is built, not generated.</a:t>
            </a:r>
            <a:endParaRPr lang="en-US" sz="2000" dirty="0"/>
          </a:p>
        </p:txBody>
      </p:sp>
      <p:sp>
        <p:nvSpPr>
          <p:cNvPr id="9" name="Shape 3"/>
          <p:cNvSpPr/>
          <p:nvPr/>
        </p:nvSpPr>
        <p:spPr>
          <a:xfrm>
            <a:off x="6126480" y="2395728"/>
            <a:ext cx="5532120" cy="987552"/>
          </a:xfrm>
          <a:prstGeom prst="rect">
            <a:avLst/>
          </a:prstGeom>
          <a:solidFill>
            <a:srgbClr val="EDF0E5"/>
          </a:solidFill>
          <a:ln w="12700">
            <a:solidFill>
              <a:srgbClr val="C8CDC2"/>
            </a:solidFill>
            <a:prstDash val="solid"/>
          </a:ln>
        </p:spPr>
      </p:sp>
      <p:sp>
        <p:nvSpPr>
          <p:cNvPr id="10" name="Text 4"/>
          <p:cNvSpPr txBox="1"/>
          <p:nvPr>
            <p:ph idx="108" type="body" hasCustomPrompt="1"/>
          </p:nvPr>
        </p:nvSpPr>
        <p:spPr>
          <a:xfrm>
            <a:off x="6327648" y="2560320"/>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ONE</a:t>
            </a:r>
            <a:endParaRPr lang="en-US" sz="1200" dirty="0"/>
          </a:p>
        </p:txBody>
      </p:sp>
      <p:sp>
        <p:nvSpPr>
          <p:cNvPr id="11" name="Text 4"/>
          <p:cNvSpPr txBox="1"/>
          <p:nvPr>
            <p:ph idx="109" type="body" hasCustomPrompt="1"/>
          </p:nvPr>
        </p:nvSpPr>
        <p:spPr>
          <a:xfrm>
            <a:off x="6327648" y="2852928"/>
            <a:ext cx="5129784" cy="329184"/>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2" name="Shape 4"/>
          <p:cNvSpPr/>
          <p:nvPr/>
        </p:nvSpPr>
        <p:spPr>
          <a:xfrm>
            <a:off x="6126480" y="3529584"/>
            <a:ext cx="5532120" cy="987552"/>
          </a:xfrm>
          <a:prstGeom prst="rect">
            <a:avLst/>
          </a:prstGeom>
          <a:solidFill>
            <a:srgbClr val="EDF0E5"/>
          </a:solidFill>
          <a:ln w="12700">
            <a:solidFill>
              <a:srgbClr val="C8CDC2"/>
            </a:solidFill>
            <a:prstDash val="solid"/>
          </a:ln>
        </p:spPr>
      </p:sp>
      <p:sp>
        <p:nvSpPr>
          <p:cNvPr id="13" name="Text 5"/>
          <p:cNvSpPr txBox="1"/>
          <p:nvPr>
            <p:ph idx="111" type="body" hasCustomPrompt="1"/>
          </p:nvPr>
        </p:nvSpPr>
        <p:spPr>
          <a:xfrm>
            <a:off x="6327648" y="3694176"/>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TWO</a:t>
            </a:r>
            <a:endParaRPr lang="en-US" sz="1200" dirty="0"/>
          </a:p>
        </p:txBody>
      </p:sp>
      <p:sp>
        <p:nvSpPr>
          <p:cNvPr id="14" name="Text 5"/>
          <p:cNvSpPr txBox="1"/>
          <p:nvPr>
            <p:ph idx="112" type="body" hasCustomPrompt="1"/>
          </p:nvPr>
        </p:nvSpPr>
        <p:spPr>
          <a:xfrm>
            <a:off x="6327648" y="3986784"/>
            <a:ext cx="5129784" cy="329184"/>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5" name="Shape 5"/>
          <p:cNvSpPr/>
          <p:nvPr/>
        </p:nvSpPr>
        <p:spPr>
          <a:xfrm>
            <a:off x="6126480" y="4663440"/>
            <a:ext cx="5532120" cy="978408"/>
          </a:xfrm>
          <a:prstGeom prst="rect">
            <a:avLst/>
          </a:prstGeom>
          <a:solidFill>
            <a:srgbClr val="EDF0E5"/>
          </a:solidFill>
          <a:ln w="12700">
            <a:solidFill>
              <a:srgbClr val="C8CDC2"/>
            </a:solidFill>
            <a:prstDash val="solid"/>
          </a:ln>
        </p:spPr>
      </p:sp>
      <p:sp>
        <p:nvSpPr>
          <p:cNvPr id="16" name="Text 6"/>
          <p:cNvSpPr txBox="1"/>
          <p:nvPr>
            <p:ph idx="114" type="body" hasCustomPrompt="1"/>
          </p:nvPr>
        </p:nvSpPr>
        <p:spPr>
          <a:xfrm>
            <a:off x="6327648" y="4828032"/>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THREE</a:t>
            </a:r>
            <a:endParaRPr lang="en-US" sz="1200" dirty="0"/>
          </a:p>
        </p:txBody>
      </p:sp>
      <p:sp>
        <p:nvSpPr>
          <p:cNvPr id="17" name="Text 6"/>
          <p:cNvSpPr txBox="1"/>
          <p:nvPr>
            <p:ph idx="115" type="body" hasCustomPrompt="1"/>
          </p:nvPr>
        </p:nvSpPr>
        <p:spPr>
          <a:xfrm>
            <a:off x="6327648" y="5120640"/>
            <a:ext cx="5129784" cy="32004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8" name="Text 6"/>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19" name="Text 7"/>
          <p:cNvSpPr txBox="1"/>
          <p:nvPr>
            <p:ph idx="117"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09_EXAMPLE_PROBLEM">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7863840"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7863840"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8915400" y="960120"/>
            <a:ext cx="2587752" cy="1325880"/>
          </a:xfrm>
          <a:prstGeom prst="rect">
            <a:avLst/>
          </a:prstGeom>
          <a:solidFill>
            <a:srgbClr val="EDF0E5"/>
          </a:solidFill>
          <a:ln w="25400">
            <a:solidFill>
              <a:srgbClr val="A3E635"/>
            </a:solidFill>
            <a:prstDash val="solid"/>
          </a:ln>
        </p:spPr>
      </p:sp>
      <p:sp>
        <p:nvSpPr>
          <p:cNvPr id="8" name="Shape 3"/>
          <p:cNvSpPr/>
          <p:nvPr/>
        </p:nvSpPr>
        <p:spPr>
          <a:xfrm>
            <a:off x="9262872" y="1088136"/>
            <a:ext cx="1901952" cy="1069848"/>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9262872" y="1088136"/>
            <a:ext cx="1901952" cy="106984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SUPPORTING IMAGE</a:t>
            </a:r>
            <a:endParaRPr lang="en-US" sz="1200" dirty="0"/>
          </a:p>
        </p:txBody>
      </p:sp>
      <p:sp>
        <p:nvSpPr>
          <p:cNvPr id="10" name="Shape 4"/>
          <p:cNvSpPr/>
          <p:nvPr/>
        </p:nvSpPr>
        <p:spPr>
          <a:xfrm>
            <a:off x="685800" y="2395728"/>
            <a:ext cx="5394960" cy="1051560"/>
          </a:xfrm>
          <a:prstGeom prst="rect">
            <a:avLst/>
          </a:prstGeom>
          <a:solidFill>
            <a:srgbClr val="2E3338"/>
          </a:solidFill>
          <a:ln/>
        </p:spPr>
      </p:sp>
      <p:sp>
        <p:nvSpPr>
          <p:cNvPr id="11" name="Text 5"/>
          <p:cNvSpPr txBox="1"/>
          <p:nvPr/>
        </p:nvSpPr>
        <p:spPr>
          <a:xfrm>
            <a:off x="886968" y="2523744"/>
            <a:ext cx="1828800" cy="219456"/>
          </a:xfrm>
          <a:prstGeom prst="rect">
            <a:avLst/>
          </a:prstGeom>
          <a:noFill/>
          <a:ln/>
        </p:spPr>
        <p:txBody>
          <a:bodyPr wrap="square" lIns="0" tIns="0" rIns="0" bIns="0" rtlCol="0" anchor="ctr"/>
          <a:lstStyle/>
          <a:p>
            <a:pPr indent="0" marL="0">
              <a:buNone/>
            </a:pPr>
            <a:r>
              <a:rPr lang="en-US" sz="900" b="1" spc="140" kern="0" dirty="0">
                <a:solidFill>
                  <a:srgbClr val="A3E635"/>
                </a:solidFill>
                <a:latin typeface="Trade Gothic Next" pitchFamily="34" charset="0"/>
                <a:ea typeface="Trade Gothic Next" pitchFamily="34" charset="-122"/>
                <a:cs typeface="Trade Gothic Next" pitchFamily="34" charset="-120"/>
              </a:rPr>
              <a:t>PROBLEM</a:t>
            </a:r>
            <a:endParaRPr lang="en-US" sz="900" dirty="0"/>
          </a:p>
        </p:txBody>
      </p:sp>
      <p:sp>
        <p:nvSpPr>
          <p:cNvPr id="12" name="Text 6"/>
          <p:cNvSpPr txBox="1"/>
          <p:nvPr>
            <p:ph idx="110" type="body" hasCustomPrompt="1"/>
          </p:nvPr>
        </p:nvSpPr>
        <p:spPr>
          <a:xfrm>
            <a:off x="886968" y="2798064"/>
            <a:ext cx="4992624" cy="54864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State the problem in one sentence.</a:t>
            </a:r>
            <a:endParaRPr lang="en-US" sz="1600" dirty="0"/>
          </a:p>
        </p:txBody>
      </p:sp>
      <p:sp>
        <p:nvSpPr>
          <p:cNvPr id="13" name="Shape 6"/>
          <p:cNvSpPr/>
          <p:nvPr/>
        </p:nvSpPr>
        <p:spPr>
          <a:xfrm>
            <a:off x="685800" y="3611880"/>
            <a:ext cx="2606040" cy="1737360"/>
          </a:xfrm>
          <a:prstGeom prst="rect">
            <a:avLst/>
          </a:prstGeom>
          <a:solidFill>
            <a:srgbClr val="EDF0E5"/>
          </a:solidFill>
          <a:ln w="12700">
            <a:solidFill>
              <a:srgbClr val="C8CDC2"/>
            </a:solidFill>
            <a:prstDash val="solid"/>
          </a:ln>
        </p:spPr>
      </p:sp>
      <p:sp>
        <p:nvSpPr>
          <p:cNvPr id="14" name="Text 7"/>
          <p:cNvSpPr txBox="1"/>
          <p:nvPr>
            <p:ph idx="112" type="body" hasCustomPrompt="1"/>
          </p:nvPr>
        </p:nvSpPr>
        <p:spPr>
          <a:xfrm>
            <a:off x="886968" y="3776472"/>
            <a:ext cx="220370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15" name="Text 7"/>
          <p:cNvSpPr txBox="1"/>
          <p:nvPr>
            <p:ph idx="113" type="body" hasCustomPrompt="1"/>
          </p:nvPr>
        </p:nvSpPr>
        <p:spPr>
          <a:xfrm>
            <a:off x="886968" y="4069080"/>
            <a:ext cx="2203704" cy="107899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the problem hands you.</a:t>
            </a:r>
            <a:endParaRPr lang="en-US" sz="1600" dirty="0"/>
          </a:p>
        </p:txBody>
      </p:sp>
      <p:sp>
        <p:nvSpPr>
          <p:cNvPr id="16" name="Shape 7"/>
          <p:cNvSpPr/>
          <p:nvPr/>
        </p:nvSpPr>
        <p:spPr>
          <a:xfrm>
            <a:off x="3474720" y="3611880"/>
            <a:ext cx="2606040" cy="1737360"/>
          </a:xfrm>
          <a:prstGeom prst="rect">
            <a:avLst/>
          </a:prstGeom>
          <a:solidFill>
            <a:srgbClr val="EDF0E5"/>
          </a:solidFill>
          <a:ln w="12700">
            <a:solidFill>
              <a:srgbClr val="C8CDC2"/>
            </a:solidFill>
            <a:prstDash val="solid"/>
          </a:ln>
        </p:spPr>
      </p:sp>
      <p:sp>
        <p:nvSpPr>
          <p:cNvPr id="17" name="Text 8"/>
          <p:cNvSpPr txBox="1"/>
          <p:nvPr>
            <p:ph idx="115" type="body" hasCustomPrompt="1"/>
          </p:nvPr>
        </p:nvSpPr>
        <p:spPr>
          <a:xfrm>
            <a:off x="3675888" y="3776472"/>
            <a:ext cx="220370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18" name="Text 8"/>
          <p:cNvSpPr txBox="1"/>
          <p:nvPr>
            <p:ph idx="116" type="body" hasCustomPrompt="1"/>
          </p:nvPr>
        </p:nvSpPr>
        <p:spPr>
          <a:xfrm>
            <a:off x="3675888" y="4069080"/>
            <a:ext cx="2203704" cy="107899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you are solving for.</a:t>
            </a:r>
            <a:endParaRPr lang="en-US" sz="1600" dirty="0"/>
          </a:p>
        </p:txBody>
      </p:sp>
      <p:sp>
        <p:nvSpPr>
          <p:cNvPr id="19" name="Shape 8"/>
          <p:cNvSpPr/>
          <p:nvPr/>
        </p:nvSpPr>
        <p:spPr>
          <a:xfrm>
            <a:off x="6263640" y="2395728"/>
            <a:ext cx="5239512" cy="2953512"/>
          </a:xfrm>
          <a:prstGeom prst="rect">
            <a:avLst/>
          </a:prstGeom>
          <a:solidFill>
            <a:srgbClr val="EDF0E5"/>
          </a:solidFill>
          <a:ln w="12700">
            <a:solidFill>
              <a:srgbClr val="C8CDC2"/>
            </a:solidFill>
            <a:prstDash val="solid"/>
          </a:ln>
        </p:spPr>
      </p:sp>
      <p:sp>
        <p:nvSpPr>
          <p:cNvPr id="20" name="Text 9"/>
          <p:cNvSpPr txBox="1"/>
          <p:nvPr/>
        </p:nvSpPr>
        <p:spPr>
          <a:xfrm>
            <a:off x="6464808" y="2560320"/>
            <a:ext cx="2286000" cy="219456"/>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WORK AREA</a:t>
            </a:r>
            <a:endParaRPr lang="en-US" sz="900" dirty="0"/>
          </a:p>
        </p:txBody>
      </p:sp>
      <p:sp>
        <p:nvSpPr>
          <p:cNvPr id="21" name="Text 10"/>
          <p:cNvSpPr txBox="1"/>
          <p:nvPr>
            <p:ph idx="119" type="body" hasCustomPrompt="1"/>
          </p:nvPr>
        </p:nvSpPr>
        <p:spPr>
          <a:xfrm>
            <a:off x="6464808" y="2880360"/>
            <a:ext cx="4837176" cy="2286000"/>
          </a:xfrm>
          <a:prstGeom prst="rect">
            <a:avLst/>
          </a:prstGeom>
          <a:noFill/>
          <a:ln/>
        </p:spPr>
        <p:txBody>
          <a:bodyPr wrap="square" rtlCol="0"/>
          <a:lstStyle>
            <a:lvl1pPr indent="0" marL="0">
              <a:buNone/>
              <a:defRPr lang="en-US" sz="19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Leave this blank in the projected copy. It is filled live on the board.</a:t>
            </a:r>
            <a:endParaRPr lang="en-US" sz="1900" dirty="0"/>
          </a:p>
        </p:txBody>
      </p:sp>
      <p:sp>
        <p:nvSpPr>
          <p:cNvPr id="22" name="Shape 10"/>
          <p:cNvSpPr/>
          <p:nvPr/>
        </p:nvSpPr>
        <p:spPr>
          <a:xfrm>
            <a:off x="685800" y="5532120"/>
            <a:ext cx="10820095" cy="566928"/>
          </a:xfrm>
          <a:prstGeom prst="rect">
            <a:avLst/>
          </a:prstGeom>
          <a:solidFill>
            <a:srgbClr val="14161B"/>
          </a:solidFill>
          <a:ln/>
        </p:spPr>
      </p:sp>
      <p:sp>
        <p:nvSpPr>
          <p:cNvPr id="23" name="Text 11"/>
          <p:cNvSpPr txBox="1"/>
          <p:nvPr/>
        </p:nvSpPr>
        <p:spPr>
          <a:xfrm>
            <a:off x="886968" y="5586984"/>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24" name="Text 12"/>
          <p:cNvSpPr txBox="1"/>
          <p:nvPr>
            <p:ph idx="122" type="body" hasCustomPrompt="1"/>
          </p:nvPr>
        </p:nvSpPr>
        <p:spPr>
          <a:xfrm>
            <a:off x="2240280" y="5605272"/>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25" name="Text 12"/>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6" name="Text 13"/>
          <p:cNvSpPr txBox="1"/>
          <p:nvPr>
            <p:ph idx="124"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10_WORKED_SOLUTI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4160520" cy="2560320"/>
          </a:xfrm>
          <a:prstGeom prst="rect">
            <a:avLst/>
          </a:prstGeom>
          <a:solidFill>
            <a:srgbClr val="A3E635"/>
          </a:solidFill>
          <a:ln/>
        </p:spPr>
      </p:sp>
      <p:sp>
        <p:nvSpPr>
          <p:cNvPr id="8" name="Shape 3"/>
          <p:cNvSpPr/>
          <p:nvPr/>
        </p:nvSpPr>
        <p:spPr>
          <a:xfrm>
            <a:off x="832104" y="2542032"/>
            <a:ext cx="3867912" cy="2267712"/>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32104" y="2542032"/>
            <a:ext cx="3867912" cy="2267712"/>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DATA IMAGE</a:t>
            </a:r>
            <a:endParaRPr lang="en-US" sz="1200" dirty="0"/>
          </a:p>
        </p:txBody>
      </p:sp>
      <p:sp>
        <p:nvSpPr>
          <p:cNvPr id="10" name="Shape 4"/>
          <p:cNvSpPr/>
          <p:nvPr/>
        </p:nvSpPr>
        <p:spPr>
          <a:xfrm>
            <a:off x="5074920" y="2395728"/>
            <a:ext cx="3154680" cy="2560320"/>
          </a:xfrm>
          <a:prstGeom prst="rect">
            <a:avLst/>
          </a:prstGeom>
          <a:solidFill>
            <a:srgbClr val="EDF0E5"/>
          </a:solidFill>
          <a:ln w="12700">
            <a:solidFill>
              <a:srgbClr val="C8CDC2"/>
            </a:solidFill>
            <a:prstDash val="solid"/>
          </a:ln>
        </p:spPr>
      </p:sp>
      <p:sp>
        <p:nvSpPr>
          <p:cNvPr id="11" name="Text 5"/>
          <p:cNvSpPr txBox="1"/>
          <p:nvPr>
            <p:ph idx="109" type="body" hasCustomPrompt="1"/>
          </p:nvPr>
        </p:nvSpPr>
        <p:spPr>
          <a:xfrm>
            <a:off x="5276088" y="2560320"/>
            <a:ext cx="275234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FORMULA</a:t>
            </a:r>
            <a:endParaRPr lang="en-US" sz="1200" dirty="0"/>
          </a:p>
        </p:txBody>
      </p:sp>
      <p:sp>
        <p:nvSpPr>
          <p:cNvPr id="12" name="Text 5"/>
          <p:cNvSpPr txBox="1"/>
          <p:nvPr>
            <p:ph idx="110" type="body" hasCustomPrompt="1"/>
          </p:nvPr>
        </p:nvSpPr>
        <p:spPr>
          <a:xfrm>
            <a:off x="5276088" y="2852928"/>
            <a:ext cx="2752344" cy="19019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relationship, before any numbers.</a:t>
            </a:r>
            <a:endParaRPr lang="en-US" sz="1600" dirty="0"/>
          </a:p>
        </p:txBody>
      </p:sp>
      <p:sp>
        <p:nvSpPr>
          <p:cNvPr id="13" name="Shape 5"/>
          <p:cNvSpPr/>
          <p:nvPr/>
        </p:nvSpPr>
        <p:spPr>
          <a:xfrm>
            <a:off x="8412480" y="2395728"/>
            <a:ext cx="3090672" cy="2560320"/>
          </a:xfrm>
          <a:prstGeom prst="rect">
            <a:avLst/>
          </a:prstGeom>
          <a:solidFill>
            <a:srgbClr val="EDF0E5"/>
          </a:solidFill>
          <a:ln w="12700">
            <a:solidFill>
              <a:srgbClr val="C8CDC2"/>
            </a:solidFill>
            <a:prstDash val="solid"/>
          </a:ln>
        </p:spPr>
      </p:sp>
      <p:sp>
        <p:nvSpPr>
          <p:cNvPr id="14" name="Text 6"/>
          <p:cNvSpPr txBox="1"/>
          <p:nvPr/>
        </p:nvSpPr>
        <p:spPr>
          <a:xfrm>
            <a:off x="8613648" y="2560320"/>
            <a:ext cx="1828800" cy="219456"/>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WORK</a:t>
            </a:r>
            <a:endParaRPr lang="en-US" sz="900" dirty="0"/>
          </a:p>
        </p:txBody>
      </p:sp>
      <p:sp>
        <p:nvSpPr>
          <p:cNvPr id="15" name="Text 7"/>
          <p:cNvSpPr txBox="1"/>
          <p:nvPr>
            <p:ph idx="113" type="body" hasCustomPrompt="1"/>
          </p:nvPr>
        </p:nvSpPr>
        <p:spPr>
          <a:xfrm>
            <a:off x="8613648" y="2871216"/>
            <a:ext cx="2688336" cy="1920240"/>
          </a:xfrm>
          <a:prstGeom prst="rect">
            <a:avLst/>
          </a:prstGeom>
          <a:noFill/>
          <a:ln/>
        </p:spPr>
        <p:txBody>
          <a:bodyPr wrap="square" rtlCol="0"/>
          <a:lstStyle>
            <a:lvl1pPr indent="0" marL="0">
              <a:buNone/>
              <a:defRPr lang="en-US" sz="19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The completed work,</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step by step.</a:t>
            </a:r>
            <a:endParaRPr lang="en-US" sz="1900" dirty="0"/>
          </a:p>
        </p:txBody>
      </p:sp>
      <p:sp>
        <p:nvSpPr>
          <p:cNvPr id="16" name="Shape 7"/>
          <p:cNvSpPr/>
          <p:nvPr/>
        </p:nvSpPr>
        <p:spPr>
          <a:xfrm>
            <a:off x="685800" y="5138928"/>
            <a:ext cx="10820095" cy="566928"/>
          </a:xfrm>
          <a:prstGeom prst="rect">
            <a:avLst/>
          </a:prstGeom>
          <a:solidFill>
            <a:srgbClr val="14161B"/>
          </a:solidFill>
          <a:ln/>
        </p:spPr>
      </p:sp>
      <p:sp>
        <p:nvSpPr>
          <p:cNvPr id="17" name="Text 8"/>
          <p:cNvSpPr txBox="1"/>
          <p:nvPr/>
        </p:nvSpPr>
        <p:spPr>
          <a:xfrm>
            <a:off x="886968" y="519379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18" name="Text 9"/>
          <p:cNvSpPr txBox="1"/>
          <p:nvPr>
            <p:ph idx="116" type="body" hasCustomPrompt="1"/>
          </p:nvPr>
        </p:nvSpPr>
        <p:spPr>
          <a:xfrm>
            <a:off x="2240280" y="521208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19" name="Text 9"/>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0" name="Text 10"/>
          <p:cNvSpPr txBox="1"/>
          <p:nvPr>
            <p:ph idx="118"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11_GIVENS_EQUATION_ANSW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4663440" cy="2624328"/>
          </a:xfrm>
          <a:prstGeom prst="rect">
            <a:avLst/>
          </a:prstGeom>
          <a:solidFill>
            <a:srgbClr val="A3E635"/>
          </a:solidFill>
          <a:ln/>
        </p:spPr>
      </p:sp>
      <p:sp>
        <p:nvSpPr>
          <p:cNvPr id="8" name="Shape 3"/>
          <p:cNvSpPr/>
          <p:nvPr/>
        </p:nvSpPr>
        <p:spPr>
          <a:xfrm>
            <a:off x="832104" y="2542032"/>
            <a:ext cx="4370832" cy="2331720"/>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32104" y="2542032"/>
            <a:ext cx="4370832" cy="2331720"/>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SETUP IMAGE</a:t>
            </a:r>
            <a:endParaRPr lang="en-US" sz="1200" dirty="0"/>
          </a:p>
        </p:txBody>
      </p:sp>
      <p:sp>
        <p:nvSpPr>
          <p:cNvPr id="10" name="Shape 4"/>
          <p:cNvSpPr/>
          <p:nvPr/>
        </p:nvSpPr>
        <p:spPr>
          <a:xfrm>
            <a:off x="5577840" y="2395728"/>
            <a:ext cx="5925312" cy="960120"/>
          </a:xfrm>
          <a:prstGeom prst="rect">
            <a:avLst/>
          </a:prstGeom>
          <a:solidFill>
            <a:srgbClr val="2E3338"/>
          </a:solidFill>
          <a:ln/>
        </p:spPr>
      </p:sp>
      <p:sp>
        <p:nvSpPr>
          <p:cNvPr id="11" name="Text 5"/>
          <p:cNvSpPr txBox="1"/>
          <p:nvPr/>
        </p:nvSpPr>
        <p:spPr>
          <a:xfrm>
            <a:off x="5779008" y="2505456"/>
            <a:ext cx="1828800" cy="201168"/>
          </a:xfrm>
          <a:prstGeom prst="rect">
            <a:avLst/>
          </a:prstGeom>
          <a:noFill/>
          <a:ln/>
        </p:spPr>
        <p:txBody>
          <a:bodyPr wrap="square" lIns="0" tIns="0" rIns="0" bIns="0" rtlCol="0" anchor="ctr"/>
          <a:lstStyle/>
          <a:p>
            <a:pPr indent="0" marL="0">
              <a:buNone/>
            </a:pPr>
            <a:r>
              <a:rPr lang="en-US" sz="900" b="1" spc="140" kern="0" dirty="0">
                <a:solidFill>
                  <a:srgbClr val="A3E635"/>
                </a:solidFill>
                <a:latin typeface="Trade Gothic Next" pitchFamily="34" charset="0"/>
                <a:ea typeface="Trade Gothic Next" pitchFamily="34" charset="-122"/>
                <a:cs typeface="Trade Gothic Next" pitchFamily="34" charset="-120"/>
              </a:rPr>
              <a:t>PROBLEM</a:t>
            </a:r>
            <a:endParaRPr lang="en-US" sz="900" dirty="0"/>
          </a:p>
        </p:txBody>
      </p:sp>
      <p:sp>
        <p:nvSpPr>
          <p:cNvPr id="12" name="Text 6"/>
          <p:cNvSpPr txBox="1"/>
          <p:nvPr>
            <p:ph idx="110" type="body" hasCustomPrompt="1"/>
          </p:nvPr>
        </p:nvSpPr>
        <p:spPr>
          <a:xfrm>
            <a:off x="5779008" y="2743200"/>
            <a:ext cx="5522976" cy="50292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State the problem in one sentence.</a:t>
            </a:r>
            <a:endParaRPr lang="en-US" sz="1600" dirty="0"/>
          </a:p>
        </p:txBody>
      </p:sp>
      <p:sp>
        <p:nvSpPr>
          <p:cNvPr id="13" name="Shape 6"/>
          <p:cNvSpPr/>
          <p:nvPr/>
        </p:nvSpPr>
        <p:spPr>
          <a:xfrm>
            <a:off x="5577840" y="3520440"/>
            <a:ext cx="2871216" cy="1499616"/>
          </a:xfrm>
          <a:prstGeom prst="rect">
            <a:avLst/>
          </a:prstGeom>
          <a:solidFill>
            <a:srgbClr val="EDF0E5"/>
          </a:solidFill>
          <a:ln w="12700">
            <a:solidFill>
              <a:srgbClr val="C8CDC2"/>
            </a:solidFill>
            <a:prstDash val="solid"/>
          </a:ln>
        </p:spPr>
      </p:sp>
      <p:sp>
        <p:nvSpPr>
          <p:cNvPr id="14" name="Text 7"/>
          <p:cNvSpPr txBox="1"/>
          <p:nvPr>
            <p:ph idx="112" type="body" hasCustomPrompt="1"/>
          </p:nvPr>
        </p:nvSpPr>
        <p:spPr>
          <a:xfrm>
            <a:off x="5779008" y="3685032"/>
            <a:ext cx="2468880"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15" name="Text 7"/>
          <p:cNvSpPr txBox="1"/>
          <p:nvPr>
            <p:ph idx="113" type="body" hasCustomPrompt="1"/>
          </p:nvPr>
        </p:nvSpPr>
        <p:spPr>
          <a:xfrm>
            <a:off x="5779008" y="3977640"/>
            <a:ext cx="2468880" cy="84124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Values the problem supplies.</a:t>
            </a:r>
            <a:endParaRPr lang="en-US" sz="1600" dirty="0"/>
          </a:p>
        </p:txBody>
      </p:sp>
      <p:sp>
        <p:nvSpPr>
          <p:cNvPr id="16" name="Shape 7"/>
          <p:cNvSpPr/>
          <p:nvPr/>
        </p:nvSpPr>
        <p:spPr>
          <a:xfrm>
            <a:off x="8631936" y="3520440"/>
            <a:ext cx="2871216" cy="1499616"/>
          </a:xfrm>
          <a:prstGeom prst="rect">
            <a:avLst/>
          </a:prstGeom>
          <a:solidFill>
            <a:srgbClr val="EDF0E5"/>
          </a:solidFill>
          <a:ln w="12700">
            <a:solidFill>
              <a:srgbClr val="C8CDC2"/>
            </a:solidFill>
            <a:prstDash val="solid"/>
          </a:ln>
        </p:spPr>
      </p:sp>
      <p:sp>
        <p:nvSpPr>
          <p:cNvPr id="17" name="Text 8"/>
          <p:cNvSpPr txBox="1"/>
          <p:nvPr>
            <p:ph idx="115" type="body" hasCustomPrompt="1"/>
          </p:nvPr>
        </p:nvSpPr>
        <p:spPr>
          <a:xfrm>
            <a:off x="8833104" y="3685032"/>
            <a:ext cx="2468880"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EQUATION</a:t>
            </a:r>
            <a:endParaRPr lang="en-US" sz="1200" dirty="0"/>
          </a:p>
        </p:txBody>
      </p:sp>
      <p:sp>
        <p:nvSpPr>
          <p:cNvPr id="18" name="Text 8"/>
          <p:cNvSpPr txBox="1"/>
          <p:nvPr>
            <p:ph idx="116" type="body" hasCustomPrompt="1"/>
          </p:nvPr>
        </p:nvSpPr>
        <p:spPr>
          <a:xfrm>
            <a:off x="8833104" y="3977640"/>
            <a:ext cx="2468880" cy="84124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relationship you will use.</a:t>
            </a:r>
            <a:endParaRPr lang="en-US" sz="1600" dirty="0"/>
          </a:p>
        </p:txBody>
      </p:sp>
      <p:sp>
        <p:nvSpPr>
          <p:cNvPr id="19" name="Shape 8"/>
          <p:cNvSpPr/>
          <p:nvPr/>
        </p:nvSpPr>
        <p:spPr>
          <a:xfrm>
            <a:off x="5577840" y="5193792"/>
            <a:ext cx="5925312" cy="777240"/>
          </a:xfrm>
          <a:prstGeom prst="rect">
            <a:avLst/>
          </a:prstGeom>
          <a:solidFill>
            <a:srgbClr val="EDF0E5"/>
          </a:solidFill>
          <a:ln w="19050">
            <a:solidFill>
              <a:srgbClr val="A3E635"/>
            </a:solidFill>
            <a:prstDash val="solid"/>
          </a:ln>
        </p:spPr>
      </p:sp>
      <p:sp>
        <p:nvSpPr>
          <p:cNvPr id="20" name="Text 9"/>
          <p:cNvSpPr txBox="1"/>
          <p:nvPr/>
        </p:nvSpPr>
        <p:spPr>
          <a:xfrm>
            <a:off x="5779008" y="5285232"/>
            <a:ext cx="1828800" cy="201168"/>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ANSWER</a:t>
            </a:r>
            <a:endParaRPr lang="en-US" sz="900" dirty="0"/>
          </a:p>
        </p:txBody>
      </p:sp>
      <p:sp>
        <p:nvSpPr>
          <p:cNvPr id="21" name="Text 10"/>
          <p:cNvSpPr txBox="1"/>
          <p:nvPr>
            <p:ph idx="119" type="body" hasCustomPrompt="1"/>
          </p:nvPr>
        </p:nvSpPr>
        <p:spPr>
          <a:xfrm>
            <a:off x="5779008" y="5504688"/>
            <a:ext cx="5522976" cy="384048"/>
          </a:xfrm>
          <a:prstGeom prst="rect">
            <a:avLst/>
          </a:prstGeom>
          <a:noFill/>
          <a:ln/>
        </p:spPr>
        <p:txBody>
          <a:bodyPr wrap="square" rtlCol="0"/>
          <a:lstStyle>
            <a:lvl1pPr indent="0" marL="0">
              <a:buNone/>
              <a:defRPr lang="en-US" sz="20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2000" b="1" dirty="0">
                <a:solidFill>
                  <a:srgbClr val="14161B"/>
                </a:solidFill>
                <a:latin typeface="Trade Gothic Next" pitchFamily="34" charset="0"/>
                <a:ea typeface="Trade Gothic Next" pitchFamily="34" charset="-122"/>
                <a:cs typeface="Trade Gothic Next" pitchFamily="34" charset="-120"/>
              </a:rPr>
              <a:t>with units</a:t>
            </a:r>
            <a:endParaRPr lang="en-US" sz="2000" dirty="0"/>
          </a:p>
        </p:txBody>
      </p:sp>
      <p:sp>
        <p:nvSpPr>
          <p:cNvPr id="22" name="Text 10"/>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3" name="Text 11"/>
          <p:cNvSpPr txBox="1"/>
          <p:nvPr>
            <p:ph idx="12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12_DECK_INDEX">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164592" cy="6858000"/>
          </a:xfrm>
          <a:prstGeom prst="rect">
            <a:avLst/>
          </a:prstGeom>
          <a:solidFill>
            <a:srgbClr val="A3E635"/>
          </a:solidFill>
          <a:ln/>
        </p:spPr>
      </p:sp>
      <p:sp>
        <p:nvSpPr>
          <p:cNvPr id="4" name="Text 2"/>
          <p:cNvSpPr txBox="1"/>
          <p:nvPr>
            <p:ph idx="102"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5" name="Shape 2"/>
          <p:cNvSpPr/>
          <p:nvPr/>
        </p:nvSpPr>
        <p:spPr>
          <a:xfrm>
            <a:off x="685800" y="676656"/>
            <a:ext cx="1371600" cy="0"/>
          </a:xfrm>
          <a:prstGeom prst="line">
            <a:avLst/>
          </a:prstGeom>
          <a:noFill/>
          <a:ln w="22225">
            <a:solidFill>
              <a:srgbClr val="A3E635"/>
            </a:solidFill>
            <a:prstDash val="solid"/>
          </a:ln>
        </p:spPr>
      </p:sp>
      <p:sp>
        <p:nvSpPr>
          <p:cNvPr id="6" name="Text 3"/>
          <p:cNvSpPr txBox="1"/>
          <p:nvPr>
            <p:ph idx="104" type="title" hasCustomPrompt="1"/>
          </p:nvPr>
        </p:nvSpPr>
        <p:spPr>
          <a:xfrm>
            <a:off x="685800" y="1097280"/>
            <a:ext cx="3200400" cy="1280160"/>
          </a:xfrm>
          <a:prstGeom prst="rect">
            <a:avLst/>
          </a:prstGeom>
          <a:noFill/>
          <a:ln/>
        </p:spPr>
        <p:txBody>
          <a:bodyPr wrap="square" rtlCol="0"/>
          <a:lstStyle>
            <a:lvl1pPr algn="l" indent="0" marL="0">
              <a:lnSpc>
                <a:spcPct val="106000"/>
              </a:lnSpc>
              <a:buNone/>
              <a:defRPr lang="en-US" sz="30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6000"/>
              </a:lnSpc>
              <a:buNone/>
            </a:pPr>
            <a:r>
              <a:rPr lang="en-US" sz="3000" b="1" dirty="0">
                <a:solidFill>
                  <a:srgbClr val="EDF0E5"/>
                </a:solidFill>
                <a:latin typeface="Trade Gothic Next" pitchFamily="34" charset="0"/>
                <a:ea typeface="Trade Gothic Next" pitchFamily="34" charset="-122"/>
                <a:cs typeface="Trade Gothic Next" pitchFamily="34" charset="-120"/>
              </a:rPr>
              <a:t>Template Slide</a:t>
            </a:r>
            <a:endParaRPr lang="en-US" sz="3000" dirty="0"/>
          </a:p>
          <a:p>
            <a:pPr algn="l" indent="0" marL="0">
              <a:lnSpc>
                <a:spcPct val="106000"/>
              </a:lnSpc>
              <a:buNone/>
            </a:pPr>
            <a:r>
              <a:rPr lang="en-US" sz="3000" b="1" dirty="0">
                <a:solidFill>
                  <a:srgbClr val="EDF0E5"/>
                </a:solidFill>
                <a:latin typeface="Trade Gothic Next" pitchFamily="34" charset="0"/>
                <a:ea typeface="Trade Gothic Next" pitchFamily="34" charset="-122"/>
                <a:cs typeface="Trade Gothic Next" pitchFamily="34" charset="-120"/>
              </a:rPr>
              <a:t>Family</a:t>
            </a:r>
            <a:endParaRPr lang="en-US" sz="3000" dirty="0"/>
          </a:p>
        </p:txBody>
      </p:sp>
      <p:sp>
        <p:nvSpPr>
          <p:cNvPr id="7" name="Text 3"/>
          <p:cNvSpPr txBox="1"/>
          <p:nvPr>
            <p:ph idx="105" type="body" hasCustomPrompt="1"/>
          </p:nvPr>
        </p:nvSpPr>
        <p:spPr>
          <a:xfrm>
            <a:off x="685800" y="2514600"/>
            <a:ext cx="3200400" cy="146304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Twelve layouts shared by Chemistry, Physics, and Geology.</a:t>
            </a:r>
            <a:endParaRPr lang="en-US" sz="1600" dirty="0"/>
          </a:p>
          <a:p>
            <a:pPr indent="0" marL="0">
              <a:buNone/>
            </a:pPr>
            <a:endParaRPr lang="en-US" sz="1600" dirty="0"/>
          </a:p>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New slide → Layout → pick one. Never build from scratch.</a:t>
            </a:r>
            <a:endParaRPr lang="en-US" sz="1600" dirty="0"/>
          </a:p>
        </p:txBody>
      </p:sp>
      <p:sp>
        <p:nvSpPr>
          <p:cNvPr id="8" name="Shape 3"/>
          <p:cNvSpPr/>
          <p:nvPr/>
        </p:nvSpPr>
        <p:spPr>
          <a:xfrm>
            <a:off x="4434840" y="1097280"/>
            <a:ext cx="2148840" cy="932688"/>
          </a:xfrm>
          <a:prstGeom prst="rect">
            <a:avLst/>
          </a:prstGeom>
          <a:solidFill>
            <a:srgbClr val="2E3338"/>
          </a:solidFill>
          <a:ln/>
        </p:spPr>
      </p:sp>
      <p:sp>
        <p:nvSpPr>
          <p:cNvPr id="9" name="Text 4"/>
          <p:cNvSpPr txBox="1"/>
          <p:nvPr/>
        </p:nvSpPr>
        <p:spPr>
          <a:xfrm>
            <a:off x="459943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01</a:t>
            </a:r>
            <a:endParaRPr lang="en-US" sz="1100" dirty="0"/>
          </a:p>
        </p:txBody>
      </p:sp>
      <p:sp>
        <p:nvSpPr>
          <p:cNvPr id="10" name="Text 5"/>
          <p:cNvSpPr txBox="1"/>
          <p:nvPr/>
        </p:nvSpPr>
        <p:spPr>
          <a:xfrm>
            <a:off x="503834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Unit Title</a:t>
            </a:r>
            <a:endParaRPr lang="en-US" sz="1200" dirty="0"/>
          </a:p>
        </p:txBody>
      </p:sp>
      <p:sp>
        <p:nvSpPr>
          <p:cNvPr id="11" name="Text 6"/>
          <p:cNvSpPr txBox="1"/>
          <p:nvPr/>
        </p:nvSpPr>
        <p:spPr>
          <a:xfrm>
            <a:off x="459943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opens a unit</a:t>
            </a:r>
            <a:endParaRPr lang="en-US" sz="1100" dirty="0"/>
          </a:p>
        </p:txBody>
      </p:sp>
      <p:sp>
        <p:nvSpPr>
          <p:cNvPr id="12" name="Shape 7"/>
          <p:cNvSpPr/>
          <p:nvPr/>
        </p:nvSpPr>
        <p:spPr>
          <a:xfrm>
            <a:off x="6766560" y="1097280"/>
            <a:ext cx="2148840" cy="932688"/>
          </a:xfrm>
          <a:prstGeom prst="rect">
            <a:avLst/>
          </a:prstGeom>
          <a:solidFill>
            <a:srgbClr val="2E3338"/>
          </a:solidFill>
          <a:ln/>
        </p:spPr>
      </p:sp>
      <p:sp>
        <p:nvSpPr>
          <p:cNvPr id="13" name="Text 8"/>
          <p:cNvSpPr txBox="1"/>
          <p:nvPr/>
        </p:nvSpPr>
        <p:spPr>
          <a:xfrm>
            <a:off x="693115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02</a:t>
            </a:r>
            <a:endParaRPr lang="en-US" sz="1100" dirty="0"/>
          </a:p>
        </p:txBody>
      </p:sp>
      <p:sp>
        <p:nvSpPr>
          <p:cNvPr id="14" name="Text 9"/>
          <p:cNvSpPr txBox="1"/>
          <p:nvPr/>
        </p:nvSpPr>
        <p:spPr>
          <a:xfrm>
            <a:off x="737006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Section Title</a:t>
            </a:r>
            <a:endParaRPr lang="en-US" sz="1200" dirty="0"/>
          </a:p>
        </p:txBody>
      </p:sp>
      <p:sp>
        <p:nvSpPr>
          <p:cNvPr id="15" name="Text 10"/>
          <p:cNvSpPr txBox="1"/>
          <p:nvPr/>
        </p:nvSpPr>
        <p:spPr>
          <a:xfrm>
            <a:off x="693115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opens a section</a:t>
            </a:r>
            <a:endParaRPr lang="en-US" sz="1100" dirty="0"/>
          </a:p>
        </p:txBody>
      </p:sp>
      <p:sp>
        <p:nvSpPr>
          <p:cNvPr id="16" name="Shape 11"/>
          <p:cNvSpPr/>
          <p:nvPr/>
        </p:nvSpPr>
        <p:spPr>
          <a:xfrm>
            <a:off x="9098280" y="1097280"/>
            <a:ext cx="2148840" cy="932688"/>
          </a:xfrm>
          <a:prstGeom prst="rect">
            <a:avLst/>
          </a:prstGeom>
          <a:solidFill>
            <a:srgbClr val="2E3338"/>
          </a:solidFill>
          <a:ln/>
        </p:spPr>
      </p:sp>
      <p:sp>
        <p:nvSpPr>
          <p:cNvPr id="17" name="Text 12"/>
          <p:cNvSpPr txBox="1"/>
          <p:nvPr/>
        </p:nvSpPr>
        <p:spPr>
          <a:xfrm>
            <a:off x="926287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03</a:t>
            </a:r>
            <a:endParaRPr lang="en-US" sz="1100" dirty="0"/>
          </a:p>
        </p:txBody>
      </p:sp>
      <p:sp>
        <p:nvSpPr>
          <p:cNvPr id="18" name="Text 13"/>
          <p:cNvSpPr txBox="1"/>
          <p:nvPr/>
        </p:nvSpPr>
        <p:spPr>
          <a:xfrm>
            <a:off x="970178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Grouped</a:t>
            </a:r>
            <a:endParaRPr lang="en-US" sz="1200" dirty="0"/>
          </a:p>
        </p:txBody>
      </p:sp>
      <p:sp>
        <p:nvSpPr>
          <p:cNvPr id="19" name="Text 14"/>
          <p:cNvSpPr txBox="1"/>
          <p:nvPr/>
        </p:nvSpPr>
        <p:spPr>
          <a:xfrm>
            <a:off x="926287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two contrasting ideas</a:t>
            </a:r>
            <a:endParaRPr lang="en-US" sz="1100" dirty="0"/>
          </a:p>
        </p:txBody>
      </p:sp>
      <p:sp>
        <p:nvSpPr>
          <p:cNvPr id="20" name="Shape 15"/>
          <p:cNvSpPr/>
          <p:nvPr/>
        </p:nvSpPr>
        <p:spPr>
          <a:xfrm>
            <a:off x="4434840" y="2212848"/>
            <a:ext cx="2148840" cy="932688"/>
          </a:xfrm>
          <a:prstGeom prst="rect">
            <a:avLst/>
          </a:prstGeom>
          <a:solidFill>
            <a:srgbClr val="2E3338"/>
          </a:solidFill>
          <a:ln/>
        </p:spPr>
      </p:sp>
      <p:sp>
        <p:nvSpPr>
          <p:cNvPr id="21" name="Text 16"/>
          <p:cNvSpPr txBox="1"/>
          <p:nvPr/>
        </p:nvSpPr>
        <p:spPr>
          <a:xfrm>
            <a:off x="459943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04</a:t>
            </a:r>
            <a:endParaRPr lang="en-US" sz="1100" dirty="0"/>
          </a:p>
        </p:txBody>
      </p:sp>
      <p:sp>
        <p:nvSpPr>
          <p:cNvPr id="22" name="Text 17"/>
          <p:cNvSpPr txBox="1"/>
          <p:nvPr/>
        </p:nvSpPr>
        <p:spPr>
          <a:xfrm>
            <a:off x="503834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Divider</a:t>
            </a:r>
            <a:endParaRPr lang="en-US" sz="1200" dirty="0"/>
          </a:p>
        </p:txBody>
      </p:sp>
      <p:sp>
        <p:nvSpPr>
          <p:cNvPr id="23" name="Text 18"/>
          <p:cNvSpPr txBox="1"/>
          <p:nvPr/>
        </p:nvSpPr>
        <p:spPr>
          <a:xfrm>
            <a:off x="459943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visual reset</a:t>
            </a:r>
            <a:endParaRPr lang="en-US" sz="1100" dirty="0"/>
          </a:p>
        </p:txBody>
      </p:sp>
      <p:sp>
        <p:nvSpPr>
          <p:cNvPr id="24" name="Shape 19"/>
          <p:cNvSpPr/>
          <p:nvPr/>
        </p:nvSpPr>
        <p:spPr>
          <a:xfrm>
            <a:off x="6766560" y="2212848"/>
            <a:ext cx="2148840" cy="932688"/>
          </a:xfrm>
          <a:prstGeom prst="rect">
            <a:avLst/>
          </a:prstGeom>
          <a:solidFill>
            <a:srgbClr val="2E3338"/>
          </a:solidFill>
          <a:ln/>
        </p:spPr>
      </p:sp>
      <p:sp>
        <p:nvSpPr>
          <p:cNvPr id="25" name="Text 20"/>
          <p:cNvSpPr txBox="1"/>
          <p:nvPr/>
        </p:nvSpPr>
        <p:spPr>
          <a:xfrm>
            <a:off x="693115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05</a:t>
            </a:r>
            <a:endParaRPr lang="en-US" sz="1100" dirty="0"/>
          </a:p>
        </p:txBody>
      </p:sp>
      <p:sp>
        <p:nvSpPr>
          <p:cNvPr id="26" name="Text 21"/>
          <p:cNvSpPr txBox="1"/>
          <p:nvPr/>
        </p:nvSpPr>
        <p:spPr>
          <a:xfrm>
            <a:off x="737006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Process</a:t>
            </a:r>
            <a:endParaRPr lang="en-US" sz="1200" dirty="0"/>
          </a:p>
        </p:txBody>
      </p:sp>
      <p:sp>
        <p:nvSpPr>
          <p:cNvPr id="27" name="Text 22"/>
          <p:cNvSpPr txBox="1"/>
          <p:nvPr/>
        </p:nvSpPr>
        <p:spPr>
          <a:xfrm>
            <a:off x="693115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four numbered steps</a:t>
            </a:r>
            <a:endParaRPr lang="en-US" sz="1100" dirty="0"/>
          </a:p>
        </p:txBody>
      </p:sp>
      <p:sp>
        <p:nvSpPr>
          <p:cNvPr id="28" name="Shape 23"/>
          <p:cNvSpPr/>
          <p:nvPr/>
        </p:nvSpPr>
        <p:spPr>
          <a:xfrm>
            <a:off x="9098280" y="2212848"/>
            <a:ext cx="2148840" cy="932688"/>
          </a:xfrm>
          <a:prstGeom prst="rect">
            <a:avLst/>
          </a:prstGeom>
          <a:solidFill>
            <a:srgbClr val="2E3338"/>
          </a:solidFill>
          <a:ln/>
        </p:spPr>
      </p:sp>
      <p:sp>
        <p:nvSpPr>
          <p:cNvPr id="29" name="Text 24"/>
          <p:cNvSpPr txBox="1"/>
          <p:nvPr/>
        </p:nvSpPr>
        <p:spPr>
          <a:xfrm>
            <a:off x="926287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06</a:t>
            </a:r>
            <a:endParaRPr lang="en-US" sz="1100" dirty="0"/>
          </a:p>
        </p:txBody>
      </p:sp>
      <p:sp>
        <p:nvSpPr>
          <p:cNvPr id="30" name="Text 25"/>
          <p:cNvSpPr txBox="1"/>
          <p:nvPr/>
        </p:nvSpPr>
        <p:spPr>
          <a:xfrm>
            <a:off x="970178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Concept Image</a:t>
            </a:r>
            <a:endParaRPr lang="en-US" sz="1200" dirty="0"/>
          </a:p>
        </p:txBody>
      </p:sp>
      <p:sp>
        <p:nvSpPr>
          <p:cNvPr id="31" name="Text 26"/>
          <p:cNvSpPr txBox="1"/>
          <p:nvPr/>
        </p:nvSpPr>
        <p:spPr>
          <a:xfrm>
            <a:off x="926287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panel + key question</a:t>
            </a:r>
            <a:endParaRPr lang="en-US" sz="1100" dirty="0"/>
          </a:p>
        </p:txBody>
      </p:sp>
      <p:sp>
        <p:nvSpPr>
          <p:cNvPr id="32" name="Shape 27"/>
          <p:cNvSpPr/>
          <p:nvPr/>
        </p:nvSpPr>
        <p:spPr>
          <a:xfrm>
            <a:off x="4434840" y="3328416"/>
            <a:ext cx="2148840" cy="932688"/>
          </a:xfrm>
          <a:prstGeom prst="rect">
            <a:avLst/>
          </a:prstGeom>
          <a:solidFill>
            <a:srgbClr val="2E3338"/>
          </a:solidFill>
          <a:ln/>
        </p:spPr>
      </p:sp>
      <p:sp>
        <p:nvSpPr>
          <p:cNvPr id="33" name="Text 28"/>
          <p:cNvSpPr txBox="1"/>
          <p:nvPr/>
        </p:nvSpPr>
        <p:spPr>
          <a:xfrm>
            <a:off x="459943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07</a:t>
            </a:r>
            <a:endParaRPr lang="en-US" sz="1100" dirty="0"/>
          </a:p>
        </p:txBody>
      </p:sp>
      <p:sp>
        <p:nvSpPr>
          <p:cNvPr id="34" name="Text 29"/>
          <p:cNvSpPr txBox="1"/>
          <p:nvPr/>
        </p:nvSpPr>
        <p:spPr>
          <a:xfrm>
            <a:off x="503834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Comparison</a:t>
            </a:r>
            <a:endParaRPr lang="en-US" sz="1200" dirty="0"/>
          </a:p>
        </p:txBody>
      </p:sp>
      <p:sp>
        <p:nvSpPr>
          <p:cNvPr id="35" name="Text 30"/>
          <p:cNvSpPr txBox="1"/>
          <p:nvPr/>
        </p:nvSpPr>
        <p:spPr>
          <a:xfrm>
            <a:off x="459943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three parallel items</a:t>
            </a:r>
            <a:endParaRPr lang="en-US" sz="1100" dirty="0"/>
          </a:p>
        </p:txBody>
      </p:sp>
      <p:sp>
        <p:nvSpPr>
          <p:cNvPr id="36" name="Shape 31"/>
          <p:cNvSpPr/>
          <p:nvPr/>
        </p:nvSpPr>
        <p:spPr>
          <a:xfrm>
            <a:off x="6766560" y="3328416"/>
            <a:ext cx="2148840" cy="932688"/>
          </a:xfrm>
          <a:prstGeom prst="rect">
            <a:avLst/>
          </a:prstGeom>
          <a:solidFill>
            <a:srgbClr val="2E3338"/>
          </a:solidFill>
          <a:ln/>
        </p:spPr>
      </p:sp>
      <p:sp>
        <p:nvSpPr>
          <p:cNvPr id="37" name="Text 32"/>
          <p:cNvSpPr txBox="1"/>
          <p:nvPr/>
        </p:nvSpPr>
        <p:spPr>
          <a:xfrm>
            <a:off x="693115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08</a:t>
            </a:r>
            <a:endParaRPr lang="en-US" sz="1100" dirty="0"/>
          </a:p>
        </p:txBody>
      </p:sp>
      <p:sp>
        <p:nvSpPr>
          <p:cNvPr id="38" name="Text 33"/>
          <p:cNvSpPr txBox="1"/>
          <p:nvPr/>
        </p:nvSpPr>
        <p:spPr>
          <a:xfrm>
            <a:off x="737006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Diagram</a:t>
            </a:r>
            <a:endParaRPr lang="en-US" sz="1200" dirty="0"/>
          </a:p>
        </p:txBody>
      </p:sp>
      <p:sp>
        <p:nvSpPr>
          <p:cNvPr id="39" name="Text 34"/>
          <p:cNvSpPr txBox="1"/>
          <p:nvPr/>
        </p:nvSpPr>
        <p:spPr>
          <a:xfrm>
            <a:off x="693115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figure + annotation</a:t>
            </a:r>
            <a:endParaRPr lang="en-US" sz="1100" dirty="0"/>
          </a:p>
        </p:txBody>
      </p:sp>
      <p:sp>
        <p:nvSpPr>
          <p:cNvPr id="40" name="Shape 35"/>
          <p:cNvSpPr/>
          <p:nvPr/>
        </p:nvSpPr>
        <p:spPr>
          <a:xfrm>
            <a:off x="9098280" y="3328416"/>
            <a:ext cx="2148840" cy="932688"/>
          </a:xfrm>
          <a:prstGeom prst="rect">
            <a:avLst/>
          </a:prstGeom>
          <a:solidFill>
            <a:srgbClr val="2E3338"/>
          </a:solidFill>
          <a:ln/>
        </p:spPr>
      </p:sp>
      <p:sp>
        <p:nvSpPr>
          <p:cNvPr id="41" name="Text 36"/>
          <p:cNvSpPr txBox="1"/>
          <p:nvPr/>
        </p:nvSpPr>
        <p:spPr>
          <a:xfrm>
            <a:off x="926287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09</a:t>
            </a:r>
            <a:endParaRPr lang="en-US" sz="1100" dirty="0"/>
          </a:p>
        </p:txBody>
      </p:sp>
      <p:sp>
        <p:nvSpPr>
          <p:cNvPr id="42" name="Text 37"/>
          <p:cNvSpPr txBox="1"/>
          <p:nvPr/>
        </p:nvSpPr>
        <p:spPr>
          <a:xfrm>
            <a:off x="970178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Example</a:t>
            </a:r>
            <a:endParaRPr lang="en-US" sz="1200" dirty="0"/>
          </a:p>
        </p:txBody>
      </p:sp>
      <p:sp>
        <p:nvSpPr>
          <p:cNvPr id="43" name="Text 38"/>
          <p:cNvSpPr txBox="1"/>
          <p:nvPr/>
        </p:nvSpPr>
        <p:spPr>
          <a:xfrm>
            <a:off x="926287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empty work area</a:t>
            </a:r>
            <a:endParaRPr lang="en-US" sz="1100" dirty="0"/>
          </a:p>
        </p:txBody>
      </p:sp>
      <p:sp>
        <p:nvSpPr>
          <p:cNvPr id="44" name="Shape 39"/>
          <p:cNvSpPr/>
          <p:nvPr/>
        </p:nvSpPr>
        <p:spPr>
          <a:xfrm>
            <a:off x="4434840" y="4443984"/>
            <a:ext cx="2148840" cy="932688"/>
          </a:xfrm>
          <a:prstGeom prst="rect">
            <a:avLst/>
          </a:prstGeom>
          <a:solidFill>
            <a:srgbClr val="2E3338"/>
          </a:solidFill>
          <a:ln/>
        </p:spPr>
      </p:sp>
      <p:sp>
        <p:nvSpPr>
          <p:cNvPr id="45" name="Text 40"/>
          <p:cNvSpPr txBox="1"/>
          <p:nvPr/>
        </p:nvSpPr>
        <p:spPr>
          <a:xfrm>
            <a:off x="459943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10</a:t>
            </a:r>
            <a:endParaRPr lang="en-US" sz="1100" dirty="0"/>
          </a:p>
        </p:txBody>
      </p:sp>
      <p:sp>
        <p:nvSpPr>
          <p:cNvPr id="46" name="Text 41"/>
          <p:cNvSpPr txBox="1"/>
          <p:nvPr/>
        </p:nvSpPr>
        <p:spPr>
          <a:xfrm>
            <a:off x="503834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Solution</a:t>
            </a:r>
            <a:endParaRPr lang="en-US" sz="1200" dirty="0"/>
          </a:p>
        </p:txBody>
      </p:sp>
      <p:sp>
        <p:nvSpPr>
          <p:cNvPr id="47" name="Text 42"/>
          <p:cNvSpPr txBox="1"/>
          <p:nvPr/>
        </p:nvSpPr>
        <p:spPr>
          <a:xfrm>
            <a:off x="459943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pairs with 09</a:t>
            </a:r>
            <a:endParaRPr lang="en-US" sz="1100" dirty="0"/>
          </a:p>
        </p:txBody>
      </p:sp>
      <p:sp>
        <p:nvSpPr>
          <p:cNvPr id="48" name="Shape 43"/>
          <p:cNvSpPr/>
          <p:nvPr/>
        </p:nvSpPr>
        <p:spPr>
          <a:xfrm>
            <a:off x="6766560" y="4443984"/>
            <a:ext cx="2148840" cy="932688"/>
          </a:xfrm>
          <a:prstGeom prst="rect">
            <a:avLst/>
          </a:prstGeom>
          <a:solidFill>
            <a:srgbClr val="2E3338"/>
          </a:solidFill>
          <a:ln/>
        </p:spPr>
      </p:sp>
      <p:sp>
        <p:nvSpPr>
          <p:cNvPr id="49" name="Text 44"/>
          <p:cNvSpPr txBox="1"/>
          <p:nvPr/>
        </p:nvSpPr>
        <p:spPr>
          <a:xfrm>
            <a:off x="693115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11</a:t>
            </a:r>
            <a:endParaRPr lang="en-US" sz="1100" dirty="0"/>
          </a:p>
        </p:txBody>
      </p:sp>
      <p:sp>
        <p:nvSpPr>
          <p:cNvPr id="50" name="Text 45"/>
          <p:cNvSpPr txBox="1"/>
          <p:nvPr/>
        </p:nvSpPr>
        <p:spPr>
          <a:xfrm>
            <a:off x="737006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Given/Eq/Ans</a:t>
            </a:r>
            <a:endParaRPr lang="en-US" sz="1200" dirty="0"/>
          </a:p>
        </p:txBody>
      </p:sp>
      <p:sp>
        <p:nvSpPr>
          <p:cNvPr id="51" name="Text 46"/>
          <p:cNvSpPr txBox="1"/>
          <p:nvPr/>
        </p:nvSpPr>
        <p:spPr>
          <a:xfrm>
            <a:off x="693115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any course</a:t>
            </a:r>
            <a:endParaRPr lang="en-US" sz="1100" dirty="0"/>
          </a:p>
        </p:txBody>
      </p:sp>
      <p:sp>
        <p:nvSpPr>
          <p:cNvPr id="52" name="Shape 47"/>
          <p:cNvSpPr/>
          <p:nvPr/>
        </p:nvSpPr>
        <p:spPr>
          <a:xfrm>
            <a:off x="9098280" y="4443984"/>
            <a:ext cx="2148840" cy="932688"/>
          </a:xfrm>
          <a:prstGeom prst="rect">
            <a:avLst/>
          </a:prstGeom>
          <a:solidFill>
            <a:srgbClr val="2E3338"/>
          </a:solidFill>
          <a:ln/>
        </p:spPr>
      </p:sp>
      <p:sp>
        <p:nvSpPr>
          <p:cNvPr id="53" name="Text 48"/>
          <p:cNvSpPr txBox="1"/>
          <p:nvPr/>
        </p:nvSpPr>
        <p:spPr>
          <a:xfrm>
            <a:off x="926287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12</a:t>
            </a:r>
            <a:endParaRPr lang="en-US" sz="1100" dirty="0"/>
          </a:p>
        </p:txBody>
      </p:sp>
      <p:sp>
        <p:nvSpPr>
          <p:cNvPr id="54" name="Text 49"/>
          <p:cNvSpPr txBox="1"/>
          <p:nvPr/>
        </p:nvSpPr>
        <p:spPr>
          <a:xfrm>
            <a:off x="970178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Deck Index</a:t>
            </a:r>
            <a:endParaRPr lang="en-US" sz="1200" dirty="0"/>
          </a:p>
        </p:txBody>
      </p:sp>
      <p:sp>
        <p:nvSpPr>
          <p:cNvPr id="55" name="Text 50"/>
          <p:cNvSpPr txBox="1"/>
          <p:nvPr/>
        </p:nvSpPr>
        <p:spPr>
          <a:xfrm>
            <a:off x="926287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delete before class</a:t>
            </a:r>
            <a:endParaRPr lang="en-US" sz="1100" dirty="0"/>
          </a:p>
        </p:txBody>
      </p:sp>
      <p:sp>
        <p:nvSpPr>
          <p:cNvPr id="56" name="Text 51"/>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57" name="Text 52"/>
          <p:cNvSpPr txBox="1"/>
          <p:nvPr>
            <p:ph idx="155"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9.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9.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9.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9.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9.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9.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9.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3"/>
          <p:cNvSpPr txBox="1"/>
          <p:nvPr>
            <p:ph idx="104" type="body" hasCustomPrompt="1"/>
          </p:nvPr>
        </p:nvSpPr>
        <p:spPr>
          <a:xfrm>
            <a:off x="777240" y="502920"/>
            <a:ext cx="2011680" cy="868680"/>
          </a:xfrm>
          <a:prstGeom prst="rect">
            <a:avLst/>
          </a:prstGeom>
          <a:noFill/>
          <a:ln/>
        </p:spPr>
        <p:txBody>
          <a:bodyPr wrap="square" lIns="0" tIns="0" rIns="0" bIns="0" rtlCol="0"/>
          <a:lstStyle/>
          <a:p>
            <a:pPr algn="l" indent="0" marL="0">
              <a:buNone/>
            </a:pPr>
            <a:r>
              <a:rPr lang="en-US" sz="4400" b="1" dirty="0">
                <a:solidFill>
                  <a:srgbClr val="14161B"/>
                </a:solidFill>
                <a:latin typeface="Trade Gothic Next" pitchFamily="34" charset="0"/>
                <a:ea typeface="Trade Gothic Next" pitchFamily="34" charset="-122"/>
                <a:cs typeface="Trade Gothic Next" pitchFamily="34" charset="-120"/>
              </a:rPr>
              <a:t>05</a:t>
            </a:r>
            <a:endParaRPr lang="en-US" sz="4400" dirty="0"/>
          </a:p>
        </p:txBody>
      </p:sp>
      <p:sp>
        <p:nvSpPr>
          <p:cNvPr id="3" name="Text 4"/>
          <p:cNvSpPr txBox="1"/>
          <p:nvPr>
            <p:ph idx="106" type="title" hasCustomPrompt="1"/>
          </p:nvPr>
        </p:nvSpPr>
        <p:spPr>
          <a:xfrm>
            <a:off x="777240" y="1847088"/>
            <a:ext cx="2834640" cy="1691640"/>
          </a:xfrm>
          <a:prstGeom prst="rect">
            <a:avLst/>
          </a:prstGeom>
          <a:noFill/>
          <a:ln/>
        </p:spPr>
        <p:txBody>
          <a:bodyPr wrap="square" lIns="0" tIns="0" rIns="0" bIns="0" rtlCol="0"/>
          <a:lstStyle/>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2.5</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Atomic &amp;</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Electron</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Spectra</a:t>
            </a:r>
            <a:endParaRPr lang="en-US" sz="2800" dirty="0"/>
          </a:p>
        </p:txBody>
      </p:sp>
      <p:sp>
        <p:nvSpPr>
          <p:cNvPr id="4" name="Text 4"/>
          <p:cNvSpPr txBox="1"/>
          <p:nvPr>
            <p:ph idx="107" type="body" hasCustomPrompt="1"/>
          </p:nvPr>
        </p:nvSpPr>
        <p:spPr>
          <a:xfrm>
            <a:off x="777240" y="3749040"/>
            <a:ext cx="2834640" cy="109728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Explain how atoms make colored light, and use it to identify elements.</a:t>
            </a:r>
            <a:endParaRPr lang="en-US" sz="1600" dirty="0"/>
          </a:p>
        </p:txBody>
      </p:sp>
      <p:sp>
        <p:nvSpPr>
          <p:cNvPr id="5" name="Text 5"/>
          <p:cNvSpPr txBox="1"/>
          <p:nvPr>
            <p:ph idx="109"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S02.5</a:t>
            </a:r>
            <a:endParaRPr lang="en-US" sz="1000" dirty="0"/>
          </a:p>
        </p:txBody>
      </p:sp>
      <p:sp>
        <p:nvSpPr>
          <p:cNvPr id="7" name="Text 3"/>
          <p:cNvSpPr txBox="1"/>
          <p:nvPr>
            <p:ph idx="103" hasCustomPrompt="1"/>
          </p:nvPr>
        </p:nvSpPr>
        <p:spPr>
          <a:xfrm>
            <a:off x="4480560" y="777240"/>
            <a:ext cx="7086600" cy="3986784"/>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5"/>
          <p:cNvSpPr txBox="1"/>
          <p:nvPr>
            <p:ph idx="107" type="title" hasCustomPrompt="1"/>
          </p:nvPr>
        </p:nvSpPr>
        <p:spPr>
          <a:xfrm>
            <a:off x="685800" y="1188720"/>
            <a:ext cx="4892040" cy="868680"/>
          </a:xfrm>
          <a:prstGeom prst="rect">
            <a:avLst/>
          </a:prstGeom>
          <a:noFill/>
          <a:ln/>
        </p:spPr>
        <p:txBody>
          <a:bodyPr wrap="square" lIns="0" tIns="0" rIns="0" bIns="0" rtlCol="0"/>
          <a:lstStyle/>
          <a:p>
            <a:pPr algn="l" indent="0" marL="0">
              <a:buNone/>
            </a:pPr>
            <a:r>
              <a:rPr lang="en-US" sz="2800" b="1" dirty="0">
                <a:solidFill>
                  <a:srgbClr val="EDF0E5"/>
                </a:solidFill>
                <a:latin typeface="Trade Gothic Next" pitchFamily="34" charset="0"/>
                <a:ea typeface="Trade Gothic Next" pitchFamily="34" charset="-122"/>
                <a:cs typeface="Trade Gothic Next" pitchFamily="34" charset="-120"/>
              </a:rPr>
              <a:t>Where Does Color</a:t>
            </a:r>
            <a:endParaRPr lang="en-US" sz="2800" dirty="0"/>
          </a:p>
          <a:p>
            <a:pPr algn="l" indent="0" marL="0">
              <a:buNone/>
            </a:pPr>
            <a:r>
              <a:rPr lang="en-US" sz="2800" b="1" dirty="0">
                <a:solidFill>
                  <a:srgbClr val="EDF0E5"/>
                </a:solidFill>
                <a:latin typeface="Trade Gothic Next" pitchFamily="34" charset="0"/>
                <a:ea typeface="Trade Gothic Next" pitchFamily="34" charset="-122"/>
                <a:cs typeface="Trade Gothic Next" pitchFamily="34" charset="-120"/>
              </a:rPr>
              <a:t>Come From?</a:t>
            </a:r>
            <a:endParaRPr lang="en-US" sz="2800" dirty="0"/>
          </a:p>
        </p:txBody>
      </p:sp>
      <p:sp>
        <p:nvSpPr>
          <p:cNvPr id="3" name="Text 5"/>
          <p:cNvSpPr txBox="1"/>
          <p:nvPr>
            <p:ph idx="108" type="body" hasCustomPrompt="1"/>
          </p:nvPr>
        </p:nvSpPr>
        <p:spPr>
          <a:xfrm>
            <a:off x="685800" y="2148840"/>
            <a:ext cx="4892040" cy="1005840"/>
          </a:xfrm>
          <a:prstGeom prst="rect">
            <a:avLst/>
          </a:prstGeom>
          <a:noFill/>
          <a:ln/>
        </p:spPr>
        <p:txBody>
          <a:bodyPr wrap="square" lIns="0" tIns="0" rIns="0" bIns="0" rtlCol="0"/>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Fireworks, neon signs, a flame on a lab burner. Different colors, one question.</a:t>
            </a:r>
            <a:endParaRPr lang="en-US" sz="1600" dirty="0"/>
          </a:p>
        </p:txBody>
      </p:sp>
      <p:sp>
        <p:nvSpPr>
          <p:cNvPr id="4" name="Text 7"/>
          <p:cNvSpPr txBox="1"/>
          <p:nvPr>
            <p:ph idx="111" type="body" hasCustomPrompt="1"/>
          </p:nvPr>
        </p:nvSpPr>
        <p:spPr>
          <a:xfrm>
            <a:off x="886968" y="3950208"/>
            <a:ext cx="4489704" cy="566928"/>
          </a:xfrm>
          <a:prstGeom prst="rect">
            <a:avLst/>
          </a:prstGeom>
          <a:noFill/>
          <a:ln/>
        </p:spPr>
        <p:txBody>
          <a:bodyPr wrap="square" lIns="0" tIns="0" rIns="0" bIns="0" rtlCol="0"/>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What inside an atom decides the color of the light it gives off?</a:t>
            </a:r>
            <a:endParaRPr lang="en-US" sz="1600" dirty="0"/>
          </a:p>
        </p:txBody>
      </p:sp>
      <p:sp>
        <p:nvSpPr>
          <p:cNvPr id="5" name="Text 4"/>
          <p:cNvSpPr txBox="1"/>
          <p:nvPr>
            <p:ph idx="105"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6" name="Text 8"/>
          <p:cNvSpPr txBox="1"/>
          <p:nvPr>
            <p:ph idx="113"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S02.5</a:t>
            </a:r>
            <a:endParaRPr lang="en-US" sz="1000" dirty="0"/>
          </a:p>
        </p:txBody>
      </p:sp>
      <p:sp>
        <p:nvSpPr>
          <p:cNvPr id="8" name="Text 4"/>
          <p:cNvSpPr txBox="1"/>
          <p:nvPr>
            <p:ph idx="104" hasCustomPrompt="1"/>
          </p:nvPr>
        </p:nvSpPr>
        <p:spPr>
          <a:xfrm>
            <a:off x="6355080" y="1298448"/>
            <a:ext cx="4983480" cy="2798064"/>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Three Words to Start</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Write these first. The rest of the section uses them.</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PHOTON</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single packet of light energy.</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WAVELENGTH</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distance between two wave crests, measured in nm.</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SPECTRUM</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Light spread out by wavelength.</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 photon is one packet of light. Its energy is set by its wavelength.</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home/user/WorkWork/templates/slide/assets/chem_u02_s2.5_visible_spectrum.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The Visible Spectrum</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Visible light runs from about 400 nm to 700 nm (4.00 × 10</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−7</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m to 7.00 × 10</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−7</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m).</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UNITS</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nm is one billionth of a meter: 1 × 10</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−9</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m.</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VIOLET END</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Shortest wavelength, most energy.</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RED END</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Longest wavelength, least energy.</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Wavelength Sets the Energy</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Shorter wavelength means higher frequency (more waves per second) and more energy per photon.</a:t>
            </a:r>
            <a:endParaRPr lang="en-US" sz="1700" dirty="0"/>
          </a:p>
        </p:txBody>
      </p:sp>
      <p:sp>
        <p:nvSpPr>
          <p:cNvPr id="4" name="Text 4"/>
          <p:cNvSpPr txBox="1"/>
          <p:nvPr>
            <p:ph idx="108" type="body" hasCustomPrompt="1"/>
          </p:nvPr>
        </p:nvSpPr>
        <p:spPr>
          <a:xfrm>
            <a:off x="5733288" y="2542032"/>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LONG WAVELENGTH</a:t>
            </a:r>
            <a:endParaRPr lang="en-US" sz="1200" dirty="0"/>
          </a:p>
        </p:txBody>
      </p:sp>
      <p:sp>
        <p:nvSpPr>
          <p:cNvPr id="5" name="Text 4"/>
          <p:cNvSpPr txBox="1"/>
          <p:nvPr>
            <p:ph idx="109" type="body" hasCustomPrompt="1"/>
          </p:nvPr>
        </p:nvSpPr>
        <p:spPr>
          <a:xfrm>
            <a:off x="5733288" y="2834640"/>
            <a:ext cx="2752344" cy="196596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Red light.</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Low frequency.</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Low energy per photon.</a:t>
            </a:r>
            <a:endParaRPr lang="en-US" sz="1600" dirty="0"/>
          </a:p>
        </p:txBody>
      </p:sp>
      <p:sp>
        <p:nvSpPr>
          <p:cNvPr id="6" name="Text 5"/>
          <p:cNvSpPr txBox="1"/>
          <p:nvPr>
            <p:ph idx="111" type="body" hasCustomPrompt="1"/>
          </p:nvPr>
        </p:nvSpPr>
        <p:spPr>
          <a:xfrm>
            <a:off x="9116568" y="2542032"/>
            <a:ext cx="2752344" cy="219456"/>
          </a:xfrm>
          <a:prstGeom prst="rect">
            <a:avLst/>
          </a:prstGeom>
          <a:noFill/>
          <a:ln/>
        </p:spPr>
        <p:txBody>
          <a:bodyPr wrap="square" lIns="0" tIns="0" rIns="0" bIns="0" rtlCol="0"/>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SHORT WAVELENGTH</a:t>
            </a:r>
            <a:endParaRPr lang="en-US" sz="1200" dirty="0"/>
          </a:p>
        </p:txBody>
      </p:sp>
      <p:sp>
        <p:nvSpPr>
          <p:cNvPr id="7" name="Text 5"/>
          <p:cNvSpPr txBox="1"/>
          <p:nvPr>
            <p:ph idx="112" type="body" hasCustomPrompt="1"/>
          </p:nvPr>
        </p:nvSpPr>
        <p:spPr>
          <a:xfrm>
            <a:off x="9116568" y="2834640"/>
            <a:ext cx="2752344" cy="196596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Violet light.</a:t>
            </a:r>
            <a:endParaRPr lang="en-US" sz="1600" dirty="0"/>
          </a:p>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High frequency.</a:t>
            </a:r>
            <a:endParaRPr lang="en-US" sz="1600" dirty="0"/>
          </a:p>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High energy per photon.</a:t>
            </a:r>
            <a:endParaRPr lang="en-US" sz="1600" dirty="0"/>
          </a:p>
        </p:txBody>
      </p:sp>
      <p:sp>
        <p:nvSpPr>
          <p:cNvPr id="8" name="Text 7"/>
          <p:cNvSpPr txBox="1"/>
          <p:nvPr>
            <p:ph idx="115" type="body" hasCustomPrompt="1"/>
          </p:nvPr>
        </p:nvSpPr>
        <p:spPr>
          <a:xfrm>
            <a:off x="2240280" y="539496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Shorter wavelength means more energy. A violet photon beats a red one.</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8"/>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2" name="Text 3"/>
          <p:cNvSpPr txBox="1"/>
          <p:nvPr>
            <p:ph idx="106" hasCustomPrompt="1"/>
          </p:nvPr>
        </p:nvSpPr>
        <p:spPr>
          <a:xfrm>
            <a:off x="685800" y="2377440"/>
            <a:ext cx="4663440" cy="2624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Hot Solid or Hot Gas</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What is glowing decides what the spectrum looks like.</a:t>
            </a:r>
            <a:endParaRPr lang="en-US" sz="1700" dirty="0"/>
          </a:p>
        </p:txBody>
      </p:sp>
      <p:sp>
        <p:nvSpPr>
          <p:cNvPr id="4" name="Text 4"/>
          <p:cNvSpPr txBox="1"/>
          <p:nvPr>
            <p:ph idx="108" type="body" hasCustomPrompt="1"/>
          </p:nvPr>
        </p:nvSpPr>
        <p:spPr>
          <a:xfrm>
            <a:off x="5733288" y="2542032"/>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HOT SOLID</a:t>
            </a:r>
            <a:endParaRPr lang="en-US" sz="1200" dirty="0"/>
          </a:p>
        </p:txBody>
      </p:sp>
      <p:sp>
        <p:nvSpPr>
          <p:cNvPr id="5" name="Text 4"/>
          <p:cNvSpPr txBox="1"/>
          <p:nvPr>
            <p:ph idx="109" type="body" hasCustomPrompt="1"/>
          </p:nvPr>
        </p:nvSpPr>
        <p:spPr>
          <a:xfrm>
            <a:off x="5733288" y="2834640"/>
            <a:ext cx="2752344" cy="196596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glowing filament.</a:t>
            </a:r>
            <a:endParaRPr lang="en-US" sz="1600" dirty="0"/>
          </a:p>
          <a:p>
            <a:pPr indent="0" marL="0">
              <a:buNone/>
            </a:pP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Gives every color, no gaps.</a:t>
            </a:r>
            <a:endParaRPr lang="en-US" sz="1600" dirty="0"/>
          </a:p>
        </p:txBody>
      </p:sp>
      <p:sp>
        <p:nvSpPr>
          <p:cNvPr id="6" name="Text 5"/>
          <p:cNvSpPr txBox="1"/>
          <p:nvPr>
            <p:ph idx="111" type="body" hasCustomPrompt="1"/>
          </p:nvPr>
        </p:nvSpPr>
        <p:spPr>
          <a:xfrm>
            <a:off x="9116568" y="2542032"/>
            <a:ext cx="2752344" cy="219456"/>
          </a:xfrm>
          <a:prstGeom prst="rect">
            <a:avLst/>
          </a:prstGeom>
          <a:noFill/>
          <a:ln/>
        </p:spPr>
        <p:txBody>
          <a:bodyPr wrap="square" lIns="0" tIns="0" rIns="0" bIns="0" rtlCol="0"/>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HOT GAS</a:t>
            </a:r>
            <a:endParaRPr lang="en-US" sz="1200" dirty="0"/>
          </a:p>
        </p:txBody>
      </p:sp>
      <p:sp>
        <p:nvSpPr>
          <p:cNvPr id="7" name="Text 5"/>
          <p:cNvSpPr txBox="1"/>
          <p:nvPr>
            <p:ph idx="112" type="body" hasCustomPrompt="1"/>
          </p:nvPr>
        </p:nvSpPr>
        <p:spPr>
          <a:xfrm>
            <a:off x="9116568" y="2834640"/>
            <a:ext cx="2752344" cy="196596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Excited atoms in a tube.</a:t>
            </a:r>
            <a:endParaRPr lang="en-US" sz="1600" dirty="0"/>
          </a:p>
          <a:p>
            <a:pPr indent="0" marL="0">
              <a:buNone/>
            </a:pPr>
            <a:endParaRPr lang="en-US" sz="1600" dirty="0"/>
          </a:p>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Give a few separate lines.</a:t>
            </a:r>
            <a:endParaRPr lang="en-US" sz="1600" dirty="0"/>
          </a:p>
        </p:txBody>
      </p:sp>
      <p:sp>
        <p:nvSpPr>
          <p:cNvPr id="8" name="Text 7"/>
          <p:cNvSpPr txBox="1"/>
          <p:nvPr>
            <p:ph idx="115" type="body" hasCustomPrompt="1"/>
          </p:nvPr>
        </p:nvSpPr>
        <p:spPr>
          <a:xfrm>
            <a:off x="2240280" y="539496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 hot solid gives a continuous spectrum. A hot gas gives a line spectrum.</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8"/>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2" name="Text 3"/>
          <p:cNvSpPr txBox="1"/>
          <p:nvPr>
            <p:ph idx="106" hasCustomPrompt="1"/>
          </p:nvPr>
        </p:nvSpPr>
        <p:spPr>
          <a:xfrm>
            <a:off x="685800" y="2377440"/>
            <a:ext cx="4663440" cy="2624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home/user/WorkWork/templates/slide/assets/chem_u02_s2.5_spectra_types.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Three Kinds of Spectra</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Same range of colors, three different patterns.</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CONTINUOUS</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Every color, no gaps. Made by a hot solid.</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EMISSION</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Bright lines on black. Made by a hot gas.</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ABSORPTION</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Dark lines at the same places as emission lines.</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home/user/WorkWork/templates/slide/assets/chem_u02_s2.5_hydrogen_emission_lines.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Hydrogen's Visible Emission Spectrum</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Four lines, from the energy levels.</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FOUR LINES</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656, 486, 434, and 410 nm. Red to violet.</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WHERE THEY END</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Every one is a drop that ends at n = 2.</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MORE LINES</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More are in ultraviolet (UV) and infrared (IR).</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home/user/WorkWork/templates/slide/assets/chem_u02_s2.5_energy_transitions.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Which Drop Makes Which Line</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Each line is one electron dropping to n = 2.</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EXCITED STATE</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Heat or electricity lifts an electron up a level.</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EMISSION</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drop releases one photon of light. That is the energy released.</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BIGGER DROP</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More energy, shorter wavelength, bluer light.</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home/user/WorkWork/templates/slide/assets/chem_u02_s2.5_balmer_table.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Four Drops to n = 2</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A pre-built table in nm and meters. Match each drop to its color.</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SMALLEST DROP</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3 to 2: the longest wavelength, red.</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BIGGEST DROP</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6 to 2: the shortest wavelength, violet.</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PATTERN</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Bigger drop, shorter wavelength, bluer light.</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Match the Drop to the Line</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Use the table. Give a reason, not just an answer.</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(a) Which drop made the red line? Why is it the smallest? (b) Which made the violet line?</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table of four drops</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Red line: 656 nm</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Violet line: 410 nm</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A drop and a reason</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 A drop</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Bigger drop means shorter wavelength and bluer light.</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Match the Drop, Worked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Read the color, then compare the size of the drop.</a:t>
            </a:r>
            <a:endParaRPr lang="en-US" sz="1700" dirty="0"/>
          </a:p>
        </p:txBody>
      </p:sp>
      <p:sp>
        <p:nvSpPr>
          <p:cNvPr id="4"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SETUP</a:t>
            </a:r>
            <a:endParaRPr lang="en-US" sz="1200" dirty="0"/>
          </a:p>
        </p:txBody>
      </p:sp>
      <p:sp>
        <p:nvSpPr>
          <p:cNvPr id="5"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Bigger drop:</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more energy,</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shorter wavelength,</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bluer light.</a:t>
            </a:r>
            <a:endParaRPr lang="en-US" sz="1600" dirty="0"/>
          </a:p>
        </p:txBody>
      </p:sp>
      <p:sp>
        <p:nvSpPr>
          <p:cNvPr id="6"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(a) Red: 3 to 2</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The smallest drop.</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(b) Violet: 6 to 2</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The biggest drop.</a:t>
            </a:r>
            <a:endParaRPr lang="en-US" sz="1900" dirty="0"/>
          </a:p>
        </p:txBody>
      </p:sp>
      <p:sp>
        <p:nvSpPr>
          <p:cNvPr id="7"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Red is the smallest drop, 3 to 2. Violet is the biggest, 6 to 2.</a:t>
            </a:r>
            <a:endParaRPr lang="en-US" sz="1600" dirty="0"/>
          </a:p>
        </p:txBody>
      </p:sp>
      <p:sp>
        <p:nvSpPr>
          <p:cNvPr id="8"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9"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1"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Every Element Has Its Own Lines</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Only certain energy drops exist, so only certain lines appear.</a:t>
            </a:r>
            <a:endParaRPr lang="en-US" sz="1700" dirty="0"/>
          </a:p>
        </p:txBody>
      </p:sp>
      <p:sp>
        <p:nvSpPr>
          <p:cNvPr id="4" name="Text 4"/>
          <p:cNvSpPr txBox="1"/>
          <p:nvPr>
            <p:ph idx="108" type="body" hasCustomPrompt="1"/>
          </p:nvPr>
        </p:nvSpPr>
        <p:spPr>
          <a:xfrm>
            <a:off x="5733288" y="2542032"/>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UNIQUE LEVELS</a:t>
            </a:r>
            <a:endParaRPr lang="en-US" sz="1200" dirty="0"/>
          </a:p>
        </p:txBody>
      </p:sp>
      <p:sp>
        <p:nvSpPr>
          <p:cNvPr id="5" name="Text 4"/>
          <p:cNvSpPr txBox="1"/>
          <p:nvPr>
            <p:ph idx="109" type="body" hasCustomPrompt="1"/>
          </p:nvPr>
        </p:nvSpPr>
        <p:spPr>
          <a:xfrm>
            <a:off x="5733288" y="2834640"/>
            <a:ext cx="2752344" cy="196596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Each element has its own energy levels.</a:t>
            </a:r>
            <a:endParaRPr lang="en-US" sz="1600" dirty="0"/>
          </a:p>
          <a:p>
            <a:pPr indent="0" marL="0">
              <a:buNone/>
            </a:pP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So its drops, and its lines, are its own.</a:t>
            </a:r>
            <a:endParaRPr lang="en-US" sz="1600" dirty="0"/>
          </a:p>
        </p:txBody>
      </p:sp>
      <p:sp>
        <p:nvSpPr>
          <p:cNvPr id="6" name="Text 5"/>
          <p:cNvSpPr txBox="1"/>
          <p:nvPr>
            <p:ph idx="111" type="body" hasCustomPrompt="1"/>
          </p:nvPr>
        </p:nvSpPr>
        <p:spPr>
          <a:xfrm>
            <a:off x="9116568" y="2542032"/>
            <a:ext cx="2752344" cy="219456"/>
          </a:xfrm>
          <a:prstGeom prst="rect">
            <a:avLst/>
          </a:prstGeom>
          <a:noFill/>
          <a:ln/>
        </p:spPr>
        <p:txBody>
          <a:bodyPr wrap="square" lIns="0" tIns="0" rIns="0" bIns="0" rtlCol="0"/>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A FINGERPRINT</a:t>
            </a:r>
            <a:endParaRPr lang="en-US" sz="1200" dirty="0"/>
          </a:p>
        </p:txBody>
      </p:sp>
      <p:sp>
        <p:nvSpPr>
          <p:cNvPr id="7" name="Text 5"/>
          <p:cNvSpPr txBox="1"/>
          <p:nvPr>
            <p:ph idx="112" type="body" hasCustomPrompt="1"/>
          </p:nvPr>
        </p:nvSpPr>
        <p:spPr>
          <a:xfrm>
            <a:off x="9116568" y="2834640"/>
            <a:ext cx="2752344" cy="196596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Line positions identify an element.</a:t>
            </a:r>
            <a:endParaRPr lang="en-US" sz="1600" dirty="0"/>
          </a:p>
          <a:p>
            <a:pPr indent="0" marL="0">
              <a:buNone/>
            </a:pPr>
            <a:endParaRPr lang="en-US" sz="1600" dirty="0"/>
          </a:p>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Helium was first found in sunlight, 1868.</a:t>
            </a:r>
            <a:endParaRPr lang="en-US" sz="1600" dirty="0"/>
          </a:p>
        </p:txBody>
      </p:sp>
      <p:sp>
        <p:nvSpPr>
          <p:cNvPr id="8" name="Text 7"/>
          <p:cNvSpPr txBox="1"/>
          <p:nvPr>
            <p:ph idx="115" type="body" hasCustomPrompt="1"/>
          </p:nvPr>
        </p:nvSpPr>
        <p:spPr>
          <a:xfrm>
            <a:off x="2240280" y="539496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Each element has a unique line spectrum because its energy levels are unique.</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8"/>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2" name="Text 3"/>
          <p:cNvSpPr txBox="1"/>
          <p:nvPr>
            <p:ph idx="106" hasCustomPrompt="1"/>
          </p:nvPr>
        </p:nvSpPr>
        <p:spPr>
          <a:xfrm>
            <a:off x="685800" y="2377440"/>
            <a:ext cx="4663440" cy="2624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5"/>
          <p:cNvSpPr txBox="1"/>
          <p:nvPr>
            <p:ph idx="106" type="body" hasCustomPrompt="1"/>
          </p:nvPr>
        </p:nvSpPr>
        <p:spPr>
          <a:xfrm>
            <a:off x="841248" y="1755648"/>
            <a:ext cx="3154680" cy="457200"/>
          </a:xfrm>
          <a:prstGeom prst="rect">
            <a:avLst/>
          </a:prstGeom>
          <a:noFill/>
          <a:ln/>
        </p:spPr>
        <p:txBody>
          <a:bodyPr wrap="square" lIns="0" tIns="0" rIns="0" bIns="0" rtlCol="0"/>
          <a:lstStyle/>
          <a:p>
            <a:pPr indent="0" marL="0">
              <a:buNone/>
            </a:pPr>
            <a:r>
              <a:rPr lang="en-US" sz="1100" b="1" spc="150" kern="0" dirty="0">
                <a:solidFill>
                  <a:srgbClr val="A3E635"/>
                </a:solidFill>
                <a:latin typeface="Trade Gothic Next" pitchFamily="34" charset="0"/>
                <a:ea typeface="Trade Gothic Next" pitchFamily="34" charset="-122"/>
                <a:cs typeface="Trade Gothic Next" pitchFamily="34" charset="-120"/>
              </a:rPr>
              <a:t>FLAME TESTS</a:t>
            </a:r>
            <a:endParaRPr lang="en-US" sz="1100" dirty="0"/>
          </a:p>
        </p:txBody>
      </p:sp>
      <p:sp>
        <p:nvSpPr>
          <p:cNvPr id="3" name="Text 5"/>
          <p:cNvSpPr txBox="1"/>
          <p:nvPr>
            <p:ph idx="107" type="title" hasCustomPrompt="1"/>
          </p:nvPr>
        </p:nvSpPr>
        <p:spPr>
          <a:xfrm>
            <a:off x="841248" y="2304288"/>
            <a:ext cx="3154680" cy="1417320"/>
          </a:xfrm>
          <a:prstGeom prst="rect">
            <a:avLst/>
          </a:prstGeom>
          <a:noFill/>
          <a:ln/>
        </p:spPr>
        <p:txBody>
          <a:bodyPr wrap="square" lIns="0" tIns="0" rIns="0" bIns="0" rtlCol="0"/>
          <a:lstStyle/>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Same Idea,</a:t>
            </a:r>
            <a:endParaRPr lang="en-US" sz="2600" dirty="0"/>
          </a:p>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In a Flame</a:t>
            </a:r>
            <a:endParaRPr lang="en-US" sz="2600" dirty="0"/>
          </a:p>
        </p:txBody>
      </p:sp>
      <p:sp>
        <p:nvSpPr>
          <p:cNvPr id="4" name="Text 5"/>
          <p:cNvSpPr txBox="1"/>
          <p:nvPr>
            <p:ph idx="108" type="body" hasCustomPrompt="1"/>
          </p:nvPr>
        </p:nvSpPr>
        <p:spPr>
          <a:xfrm>
            <a:off x="841248" y="3858768"/>
            <a:ext cx="3154680" cy="1097280"/>
          </a:xfrm>
          <a:prstGeom prst="rect">
            <a:avLst/>
          </a:prstGeom>
          <a:noFill/>
          <a:ln/>
        </p:spPr>
        <p:txBody>
          <a:bodyPr wrap="square" lIns="0" tIns="0" rIns="0" bIns="0" rtlCol="0"/>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Metal ions in a flame emit light too. The color helps you identify the metal.</a:t>
            </a:r>
            <a:endParaRPr lang="en-US" sz="1600" dirty="0"/>
          </a:p>
        </p:txBody>
      </p:sp>
      <p:sp>
        <p:nvSpPr>
          <p:cNvPr id="5" name="Text 6"/>
          <p:cNvSpPr txBox="1"/>
          <p:nvPr>
            <p:ph idx="110"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S02.5</a:t>
            </a:r>
            <a:endParaRPr lang="en-US" sz="1000" dirty="0"/>
          </a:p>
        </p:txBody>
      </p:sp>
      <p:sp>
        <p:nvSpPr>
          <p:cNvPr id="7" name="Text 2"/>
          <p:cNvSpPr txBox="1"/>
          <p:nvPr>
            <p:ph idx="102" hasCustomPrompt="1"/>
          </p:nvPr>
        </p:nvSpPr>
        <p:spPr>
          <a:xfrm>
            <a:off x="2926080" y="0"/>
            <a:ext cx="9262872" cy="6858000"/>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How a Flame Test Makes Color</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The color is not the metal burning. It is electrons dropping levels.</a:t>
            </a:r>
            <a:endParaRPr lang="en-US" sz="1700" dirty="0"/>
          </a:p>
        </p:txBody>
      </p:sp>
      <p:sp>
        <p:nvSpPr>
          <p:cNvPr id="4" name="Text 4"/>
          <p:cNvSpPr txBox="1"/>
          <p:nvPr>
            <p:ph idx="108" type="body" hasCustomPrompt="1"/>
          </p:nvPr>
        </p:nvSpPr>
        <p:spPr>
          <a:xfrm>
            <a:off x="5733288" y="2542032"/>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IN THE FLAME</a:t>
            </a:r>
            <a:endParaRPr lang="en-US" sz="1200" dirty="0"/>
          </a:p>
        </p:txBody>
      </p:sp>
      <p:sp>
        <p:nvSpPr>
          <p:cNvPr id="5" name="Text 4"/>
          <p:cNvSpPr txBox="1"/>
          <p:nvPr>
            <p:ph idx="109" type="body" hasCustomPrompt="1"/>
          </p:nvPr>
        </p:nvSpPr>
        <p:spPr>
          <a:xfrm>
            <a:off x="5733288" y="2834640"/>
            <a:ext cx="2752344" cy="196596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Heat lifts electrons in the metal ion to higher levels.</a:t>
            </a:r>
            <a:endParaRPr lang="en-US" sz="1600" dirty="0"/>
          </a:p>
        </p:txBody>
      </p:sp>
      <p:sp>
        <p:nvSpPr>
          <p:cNvPr id="6" name="Text 5"/>
          <p:cNvSpPr txBox="1"/>
          <p:nvPr>
            <p:ph idx="111" type="body" hasCustomPrompt="1"/>
          </p:nvPr>
        </p:nvSpPr>
        <p:spPr>
          <a:xfrm>
            <a:off x="9116568" y="2542032"/>
            <a:ext cx="2752344" cy="219456"/>
          </a:xfrm>
          <a:prstGeom prst="rect">
            <a:avLst/>
          </a:prstGeom>
          <a:noFill/>
          <a:ln/>
        </p:spPr>
        <p:txBody>
          <a:bodyPr wrap="square" lIns="0" tIns="0" rIns="0" bIns="0" rtlCol="0"/>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AS THEY DROP</a:t>
            </a:r>
            <a:endParaRPr lang="en-US" sz="1200" dirty="0"/>
          </a:p>
        </p:txBody>
      </p:sp>
      <p:sp>
        <p:nvSpPr>
          <p:cNvPr id="7" name="Text 5"/>
          <p:cNvSpPr txBox="1"/>
          <p:nvPr>
            <p:ph idx="112" type="body" hasCustomPrompt="1"/>
          </p:nvPr>
        </p:nvSpPr>
        <p:spPr>
          <a:xfrm>
            <a:off x="9116568" y="2834640"/>
            <a:ext cx="2752344" cy="196596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They release photons of visible light. The color helps identify the metal.</a:t>
            </a:r>
            <a:endParaRPr lang="en-US" sz="1600" dirty="0"/>
          </a:p>
        </p:txBody>
      </p:sp>
      <p:sp>
        <p:nvSpPr>
          <p:cNvPr id="8" name="Text 7"/>
          <p:cNvSpPr txBox="1"/>
          <p:nvPr>
            <p:ph idx="115" type="body" hasCustomPrompt="1"/>
          </p:nvPr>
        </p:nvSpPr>
        <p:spPr>
          <a:xfrm>
            <a:off x="2240280" y="539496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color of the emitted light helps identify the metal ion.</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8"/>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2" name="Text 3"/>
          <p:cNvSpPr txBox="1"/>
          <p:nvPr>
            <p:ph idx="106" hasCustomPrompt="1"/>
          </p:nvPr>
        </p:nvSpPr>
        <p:spPr>
          <a:xfrm>
            <a:off x="685800" y="2377440"/>
            <a:ext cx="4663440" cy="2624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home/user/WorkWork/templates/slide/assets/chem_u02_s2.5_flame_colors_1.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Flame Test Colors, Part 1</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Compare the color you see to the table.</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READ THE TABLE</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Each metal ion has a typical flame color.</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A COMMON CONTAMINANT</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little Na</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can turn a flame yellow.</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NOT ONE WAVELENGTH</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flame color is a mix, not one exact line.</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home/user/WorkWork/templates/slide/assets/chem_u02_s2.5_flame_colors_2.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Flame Test Colors, Part 2</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Some of these colors look a lot alike.</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LOOK-ALIKES</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Sr</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red and Ca</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orange-red are easy to confuse.</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NO COLOR</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Many elements give no flame color we can see.</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ONE TEST IS NOT ENOUGH</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It narrows the options. It does not prove the ion.</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Identify the Metals</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Use the flame color tables. Copy the reasoning.</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One salt burns lilac with a trace of yellow. Another burns orange-red. Which metals?</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Salt A: lilac, with some yellow</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Salt B: orange-red</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metal ion behind each color</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Write the metal ion for each color, not just the color.</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Two Unknowns, Identified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Sodium is a common contaminant.</a:t>
            </a:r>
            <a:endParaRPr lang="en-US" sz="1700" dirty="0"/>
          </a:p>
        </p:txBody>
      </p:sp>
      <p:sp>
        <p:nvSpPr>
          <p:cNvPr id="4"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SETUP</a:t>
            </a:r>
            <a:endParaRPr lang="en-US" sz="1200" dirty="0"/>
          </a:p>
        </p:txBody>
      </p:sp>
      <p:sp>
        <p:nvSpPr>
          <p:cNvPr id="5"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Match each color</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to the table.</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Na</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gives yellow.</a:t>
            </a:r>
            <a:endParaRPr lang="en-US" sz="1600" dirty="0"/>
          </a:p>
        </p:txBody>
      </p:sp>
      <p:sp>
        <p:nvSpPr>
          <p:cNvPr id="6"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Salt A: K</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(lilac)</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Yellow trace: Na</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Salt B: Ca</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(orange-red)</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Sr</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looks similar</a:t>
            </a:r>
            <a:endParaRPr lang="en-US" sz="1900" dirty="0"/>
          </a:p>
        </p:txBody>
      </p:sp>
      <p:sp>
        <p:nvSpPr>
          <p:cNvPr id="7"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Flame colors can look alike, so a flame test alone does not prove the ion.</a:t>
            </a:r>
            <a:endParaRPr lang="en-US" sz="1600" dirty="0"/>
          </a:p>
        </p:txBody>
      </p:sp>
      <p:sp>
        <p:nvSpPr>
          <p:cNvPr id="8"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9"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1"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Check Yourself</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Answer in your notes, in full sentences.</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ENERGY</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Which has more energy, a red photon or a blue photon? Why?</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WHY DIFFERENT</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Why does each element have its own line spectrum?</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FLAME TEST</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flame is lilac. Which ion is it likely to be? Explain the color with electrons.</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Use the words photon and energy level.</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SHULL Science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SHULL Science — Slide Template (CHEMISTRY)</dc:title>
  <dc:subject>PptxGenJS Presentation</dc:subject>
  <dc:creator>Matthew Shull</dc:creator>
  <cp:lastModifiedBy>Matthew Shull</cp:lastModifiedBy>
  <cp:revision>1</cp:revision>
  <dcterms:created xsi:type="dcterms:W3CDTF">2026-10-04T22:08:26Z</dcterms:created>
  <dcterms:modified xsi:type="dcterms:W3CDTF">2026-10-04T22:08:26Z</dcterms:modified>
</cp:coreProperties>
</file>