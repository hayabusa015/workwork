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UNIT_TITLE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5532120" y="1554480"/>
            <a:ext cx="6656832" cy="3749040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4" name="Text 2"/>
          <p:cNvSpPr txBox="1"/>
          <p:nvPr>
            <p:ph idx="102" hasCustomPrompt="1"/>
          </p:nvPr>
        </p:nvSpPr>
        <p:spPr>
          <a:xfrm>
            <a:off x="5532120" y="1554480"/>
            <a:ext cx="6656832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HERO IMAGE  •  16:9  •  1920×1080 min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6" name="Text 3"/>
          <p:cNvSpPr txBox="1"/>
          <p:nvPr>
            <p:ph idx="104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8" name="Text 4"/>
          <p:cNvSpPr txBox="1"/>
          <p:nvPr>
            <p:ph idx="106" type="title" hasCustomPrompt="1"/>
          </p:nvPr>
        </p:nvSpPr>
        <p:spPr>
          <a:xfrm>
            <a:off x="685800" y="1188720"/>
            <a:ext cx="46177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Title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Goes Here</a:t>
            </a:r>
            <a:endParaRPr lang="en-US" sz="4000" dirty="0"/>
          </a:p>
        </p:txBody>
      </p:sp>
      <p:sp>
        <p:nvSpPr>
          <p:cNvPr id="9" name="Text 4"/>
          <p:cNvSpPr txBox="1"/>
          <p:nvPr>
            <p:ph idx="107" type="body" hasCustomPrompt="1"/>
          </p:nvPr>
        </p:nvSpPr>
        <p:spPr>
          <a:xfrm>
            <a:off x="685800" y="3246120"/>
            <a:ext cx="4434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sentence on what this unit is actually about.</a:t>
            </a:r>
            <a:endParaRPr lang="en-US" sz="1700" dirty="0"/>
          </a:p>
        </p:txBody>
      </p:sp>
      <p:sp>
        <p:nvSpPr>
          <p:cNvPr id="10" name="Shape 4"/>
          <p:cNvSpPr/>
          <p:nvPr/>
        </p:nvSpPr>
        <p:spPr>
          <a:xfrm>
            <a:off x="685800" y="5074920"/>
            <a:ext cx="1417320" cy="329184"/>
          </a:xfrm>
          <a:prstGeom prst="rect">
            <a:avLst>
              <a:gd name="adj" fmla="val 50000"/>
            </a:avLst>
          </a:prstGeom>
          <a:solidFill>
            <a:srgbClr val="A3E635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685800" y="5102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MR. SHULL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3" name="Text 7"/>
          <p:cNvSpPr txBox="1"/>
          <p:nvPr>
            <p:ph idx="11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_SECTION_TITLE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4" name="Shape 2"/>
          <p:cNvSpPr/>
          <p:nvPr/>
        </p:nvSpPr>
        <p:spPr>
          <a:xfrm>
            <a:off x="4480560" y="777240"/>
            <a:ext cx="7086600" cy="3986784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5" name="Text 3"/>
          <p:cNvSpPr txBox="1"/>
          <p:nvPr>
            <p:ph idx="103" hasCustomPrompt="1"/>
          </p:nvPr>
        </p:nvSpPr>
        <p:spPr>
          <a:xfrm>
            <a:off x="4480560" y="777240"/>
            <a:ext cx="7086600" cy="39867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IMAGE  •  16:9</a:t>
            </a:r>
            <a:endParaRPr lang="en-US" sz="1200" dirty="0"/>
          </a:p>
        </p:txBody>
      </p:sp>
      <p:sp>
        <p:nvSpPr>
          <p:cNvPr id="6" name="Text 3"/>
          <p:cNvSpPr txBox="1"/>
          <p:nvPr>
            <p:ph idx="104" type="body" hasCustomPrompt="1"/>
          </p:nvPr>
        </p:nvSpPr>
        <p:spPr>
          <a:xfrm>
            <a:off x="777240" y="502920"/>
            <a:ext cx="20116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14813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TITLE</a:t>
            </a:r>
            <a:endParaRPr lang="en-US" sz="1100" dirty="0"/>
          </a:p>
        </p:txBody>
      </p:sp>
      <p:sp>
        <p:nvSpPr>
          <p:cNvPr id="8" name="Text 4"/>
          <p:cNvSpPr txBox="1"/>
          <p:nvPr>
            <p:ph idx="106" type="title" hasCustomPrompt="1"/>
          </p:nvPr>
        </p:nvSpPr>
        <p:spPr>
          <a:xfrm>
            <a:off x="777240" y="1847088"/>
            <a:ext cx="28346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6000"/>
              </a:lnSpc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1.1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Name</a:t>
            </a:r>
            <a:endParaRPr lang="en-US" sz="2800" dirty="0"/>
          </a:p>
        </p:txBody>
      </p:sp>
      <p:sp>
        <p:nvSpPr>
          <p:cNvPr id="9" name="Text 4"/>
          <p:cNvSpPr txBox="1"/>
          <p:nvPr>
            <p:ph idx="107" type="body" hasCustomPrompt="1"/>
          </p:nvPr>
        </p:nvSpPr>
        <p:spPr>
          <a:xfrm>
            <a:off x="777240" y="3749040"/>
            <a:ext cx="2834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students should be able to do by the end.</a:t>
            </a:r>
            <a:endParaRPr lang="en-US" sz="1600" dirty="0"/>
          </a:p>
        </p:txBody>
      </p:sp>
      <p:sp>
        <p:nvSpPr>
          <p:cNvPr id="10" name="Text 4"/>
          <p:cNvSpPr txBox="1"/>
          <p:nvPr/>
        </p:nvSpPr>
        <p:spPr>
          <a:xfrm>
            <a:off x="777240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1" name="Text 5"/>
          <p:cNvSpPr txBox="1"/>
          <p:nvPr>
            <p:ph idx="109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_GROUPED_CONCEP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77440"/>
            <a:ext cx="4663440" cy="262432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8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IMAGE  •  16:9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532120" y="2377440"/>
            <a:ext cx="3154680" cy="262432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0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 ONE</a:t>
            </a:r>
            <a:endParaRPr lang="en-US" sz="1200" dirty="0"/>
          </a:p>
        </p:txBody>
      </p:sp>
      <p:sp>
        <p:nvSpPr>
          <p:cNvPr id="11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first idea, in one or two lines.</a:t>
            </a:r>
            <a:endParaRPr lang="en-US" sz="1600" dirty="0"/>
          </a:p>
        </p:txBody>
      </p:sp>
      <p:sp>
        <p:nvSpPr>
          <p:cNvPr id="12" name="Shape 4"/>
          <p:cNvSpPr/>
          <p:nvPr/>
        </p:nvSpPr>
        <p:spPr>
          <a:xfrm>
            <a:off x="8915400" y="2377440"/>
            <a:ext cx="3154680" cy="2624328"/>
          </a:xfrm>
          <a:prstGeom prst="rect">
            <a:avLst/>
          </a:prstGeom>
          <a:solidFill>
            <a:srgbClr val="2E3338"/>
          </a:solidFill>
          <a:ln w="12700">
            <a:solidFill>
              <a:srgbClr val="2E3338"/>
            </a:solidFill>
            <a:prstDash val="solid"/>
          </a:ln>
        </p:spPr>
      </p:sp>
      <p:sp>
        <p:nvSpPr>
          <p:cNvPr id="13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 TWO</a:t>
            </a:r>
            <a:endParaRPr lang="en-US" sz="1200" dirty="0"/>
          </a:p>
        </p:txBody>
      </p:sp>
      <p:sp>
        <p:nvSpPr>
          <p:cNvPr id="14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contrasting idea.</a:t>
            </a:r>
            <a:endParaRPr lang="en-US" sz="1600" dirty="0"/>
          </a:p>
        </p:txBody>
      </p:sp>
      <p:sp>
        <p:nvSpPr>
          <p:cNvPr id="15" name="Shape 5"/>
          <p:cNvSpPr/>
          <p:nvPr/>
        </p:nvSpPr>
        <p:spPr>
          <a:xfrm>
            <a:off x="685800" y="5321808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16" name="Text 6"/>
          <p:cNvSpPr txBox="1"/>
          <p:nvPr/>
        </p:nvSpPr>
        <p:spPr>
          <a:xfrm>
            <a:off x="886968" y="5376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17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18" name="Text 7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9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_DIVIDER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9262872" cy="6858000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4" name="Text 2"/>
          <p:cNvSpPr txBox="1"/>
          <p:nvPr>
            <p:ph idx="102" hasCustomPrompt="1"/>
          </p:nvPr>
        </p:nvSpPr>
        <p:spPr>
          <a:xfrm>
            <a:off x="2926080" y="0"/>
            <a:ext cx="9262872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FULL-BLEED CONCEPT IMAGE  •  one image, no decoration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3703320" cy="3675888"/>
          </a:xfrm>
          <a:prstGeom prst="rect">
            <a:avLst/>
          </a:prstGeom>
          <a:solidFill>
            <a:srgbClr val="14161B"/>
          </a:solidFill>
          <a:ln w="15875">
            <a:solidFill>
              <a:srgbClr val="A3E635"/>
            </a:solidFill>
            <a:prstDash val="solid"/>
          </a:ln>
        </p:spPr>
      </p:sp>
      <p:sp>
        <p:nvSpPr>
          <p:cNvPr id="8" name="Text 5"/>
          <p:cNvSpPr txBox="1"/>
          <p:nvPr>
            <p:ph idx="106" type="body" hasCustomPrompt="1"/>
          </p:nvPr>
        </p:nvSpPr>
        <p:spPr>
          <a:xfrm>
            <a:off x="841248" y="1755648"/>
            <a:ext cx="3154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1.2  •  SECTION NAME</a:t>
            </a:r>
            <a:endParaRPr lang="en-US" sz="1100" dirty="0"/>
          </a:p>
        </p:txBody>
      </p:sp>
      <p:sp>
        <p:nvSpPr>
          <p:cNvPr id="9" name="Text 5"/>
          <p:cNvSpPr txBox="1"/>
          <p:nvPr>
            <p:ph idx="107" type="title" hasCustomPrompt="1"/>
          </p:nvPr>
        </p:nvSpPr>
        <p:spPr>
          <a:xfrm>
            <a:off x="841248" y="2304288"/>
            <a:ext cx="315468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8000"/>
              </a:lnSpc>
              <a:buNone/>
              <a:def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Big Idea</a:t>
            </a:r>
            <a:endParaRPr lang="en-US" sz="2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Of This Section</a:t>
            </a:r>
            <a:endParaRPr lang="en-US" sz="2600" dirty="0"/>
          </a:p>
        </p:txBody>
      </p:sp>
      <p:sp>
        <p:nvSpPr>
          <p:cNvPr id="10" name="Text 5"/>
          <p:cNvSpPr txBox="1"/>
          <p:nvPr>
            <p:ph idx="108" type="body" hasCustomPrompt="1"/>
          </p:nvPr>
        </p:nvSpPr>
        <p:spPr>
          <a:xfrm>
            <a:off x="841248" y="3858768"/>
            <a:ext cx="3154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Students see the story before the first bullet.</a:t>
            </a:r>
            <a:endParaRPr lang="en-US" sz="1600" dirty="0"/>
          </a:p>
        </p:txBody>
      </p:sp>
      <p:sp>
        <p:nvSpPr>
          <p:cNvPr id="11" name="Text 5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_PROCESS_TIM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10820095" cy="201168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8" name="Shape 3"/>
          <p:cNvSpPr/>
          <p:nvPr/>
        </p:nvSpPr>
        <p:spPr>
          <a:xfrm>
            <a:off x="3246120" y="2487168"/>
            <a:ext cx="5669280" cy="1828800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3246120" y="2487168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PROCESS BAND  •  3:1  •  generate 16:9 and centre-crop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685800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832104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123444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1</a:t>
            </a:r>
            <a:endParaRPr lang="en-US" sz="1200" dirty="0"/>
          </a:p>
        </p:txBody>
      </p:sp>
      <p:sp>
        <p:nvSpPr>
          <p:cNvPr id="13" name="Text 6"/>
          <p:cNvSpPr txBox="1"/>
          <p:nvPr>
            <p:ph idx="111" type="body" hasCustomPrompt="1"/>
          </p:nvPr>
        </p:nvSpPr>
        <p:spPr>
          <a:xfrm>
            <a:off x="832104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14" name="Shape 6"/>
          <p:cNvSpPr/>
          <p:nvPr/>
        </p:nvSpPr>
        <p:spPr>
          <a:xfrm>
            <a:off x="3447288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3593592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8"/>
          <p:cNvSpPr txBox="1"/>
          <p:nvPr>
            <p:ph idx="114" type="body" hasCustomPrompt="1"/>
          </p:nvPr>
        </p:nvSpPr>
        <p:spPr>
          <a:xfrm>
            <a:off x="3995928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2</a:t>
            </a:r>
            <a:endParaRPr lang="en-US" sz="1200" dirty="0"/>
          </a:p>
        </p:txBody>
      </p:sp>
      <p:sp>
        <p:nvSpPr>
          <p:cNvPr id="17" name="Text 8"/>
          <p:cNvSpPr txBox="1"/>
          <p:nvPr>
            <p:ph idx="115" type="body" hasCustomPrompt="1"/>
          </p:nvPr>
        </p:nvSpPr>
        <p:spPr>
          <a:xfrm>
            <a:off x="3593592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18" name="Shape 8"/>
          <p:cNvSpPr/>
          <p:nvPr/>
        </p:nvSpPr>
        <p:spPr>
          <a:xfrm>
            <a:off x="6208776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9" name="Text 9"/>
          <p:cNvSpPr txBox="1"/>
          <p:nvPr/>
        </p:nvSpPr>
        <p:spPr>
          <a:xfrm>
            <a:off x="6355080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0"/>
          <p:cNvSpPr txBox="1"/>
          <p:nvPr>
            <p:ph idx="118" type="body" hasCustomPrompt="1"/>
          </p:nvPr>
        </p:nvSpPr>
        <p:spPr>
          <a:xfrm>
            <a:off x="6757416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3</a:t>
            </a:r>
            <a:endParaRPr lang="en-US" sz="1200" dirty="0"/>
          </a:p>
        </p:txBody>
      </p:sp>
      <p:sp>
        <p:nvSpPr>
          <p:cNvPr id="21" name="Text 10"/>
          <p:cNvSpPr txBox="1"/>
          <p:nvPr>
            <p:ph idx="119" type="body" hasCustomPrompt="1"/>
          </p:nvPr>
        </p:nvSpPr>
        <p:spPr>
          <a:xfrm>
            <a:off x="6355080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22" name="Shape 10"/>
          <p:cNvSpPr/>
          <p:nvPr/>
        </p:nvSpPr>
        <p:spPr>
          <a:xfrm>
            <a:off x="8970264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23" name="Text 11"/>
          <p:cNvSpPr txBox="1"/>
          <p:nvPr/>
        </p:nvSpPr>
        <p:spPr>
          <a:xfrm>
            <a:off x="9116568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12"/>
          <p:cNvSpPr txBox="1"/>
          <p:nvPr>
            <p:ph idx="122" type="body" hasCustomPrompt="1"/>
          </p:nvPr>
        </p:nvSpPr>
        <p:spPr>
          <a:xfrm>
            <a:off x="9518904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4</a:t>
            </a:r>
            <a:endParaRPr lang="en-US" sz="1200" dirty="0"/>
          </a:p>
        </p:txBody>
      </p:sp>
      <p:sp>
        <p:nvSpPr>
          <p:cNvPr id="25" name="Text 12"/>
          <p:cNvSpPr txBox="1"/>
          <p:nvPr>
            <p:ph idx="123" type="body" hasCustomPrompt="1"/>
          </p:nvPr>
        </p:nvSpPr>
        <p:spPr>
          <a:xfrm>
            <a:off x="9116568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26" name="Text 12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7" name="Text 13"/>
          <p:cNvSpPr txBox="1"/>
          <p:nvPr>
            <p:ph idx="125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_CONCEPT_IMAGE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4" name="Shape 2"/>
          <p:cNvSpPr/>
          <p:nvPr/>
        </p:nvSpPr>
        <p:spPr>
          <a:xfrm>
            <a:off x="6172200" y="868680"/>
            <a:ext cx="5349240" cy="416052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5" name="Shape 3"/>
          <p:cNvSpPr/>
          <p:nvPr/>
        </p:nvSpPr>
        <p:spPr>
          <a:xfrm>
            <a:off x="6355080" y="1298448"/>
            <a:ext cx="4983480" cy="2798064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6" name="Text 4"/>
          <p:cNvSpPr txBox="1"/>
          <p:nvPr>
            <p:ph idx="104" hasCustomPrompt="1"/>
          </p:nvPr>
        </p:nvSpPr>
        <p:spPr>
          <a:xfrm>
            <a:off x="6355080" y="1298448"/>
            <a:ext cx="4983480" cy="2798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IMAGE  •  16:9</a:t>
            </a:r>
            <a:endParaRPr lang="en-US" sz="1200" dirty="0"/>
          </a:p>
        </p:txBody>
      </p:sp>
      <p:sp>
        <p:nvSpPr>
          <p:cNvPr id="7" name="Text 4"/>
          <p:cNvSpPr txBox="1"/>
          <p:nvPr>
            <p:ph idx="105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9" name="Text 5"/>
          <p:cNvSpPr txBox="1"/>
          <p:nvPr>
            <p:ph idx="107" type="title" hasCustomPrompt="1"/>
          </p:nvPr>
        </p:nvSpPr>
        <p:spPr>
          <a:xfrm>
            <a:off x="685800" y="1188720"/>
            <a:ext cx="4892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Headline</a:t>
            </a:r>
            <a:endParaRPr lang="en-US" sz="2800" dirty="0"/>
          </a:p>
        </p:txBody>
      </p:sp>
      <p:sp>
        <p:nvSpPr>
          <p:cNvPr id="10" name="Text 5"/>
          <p:cNvSpPr txBox="1"/>
          <p:nvPr>
            <p:ph idx="108" type="body" hasCustomPrompt="1"/>
          </p:nvPr>
        </p:nvSpPr>
        <p:spPr>
          <a:xfrm>
            <a:off x="685800" y="2148840"/>
            <a:ext cx="4892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Keep it to what the image cannot say on its own.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685800" y="3520440"/>
            <a:ext cx="4892040" cy="1143000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86968" y="3657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KEY QUESTION</a:t>
            </a:r>
            <a:endParaRPr lang="en-US" sz="900" dirty="0"/>
          </a:p>
        </p:txBody>
      </p:sp>
      <p:sp>
        <p:nvSpPr>
          <p:cNvPr id="13" name="Text 7"/>
          <p:cNvSpPr txBox="1"/>
          <p:nvPr>
            <p:ph idx="111" type="body" hasCustomPrompt="1"/>
          </p:nvPr>
        </p:nvSpPr>
        <p:spPr>
          <a:xfrm>
            <a:off x="886968" y="3950208"/>
            <a:ext cx="4489704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question this slide is asking.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5" name="Text 8"/>
          <p:cNvSpPr txBox="1"/>
          <p:nvPr>
            <p:ph idx="113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_COMPARISON_CARD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8412480" y="960120"/>
            <a:ext cx="3090672" cy="173736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8" name="Shape 3"/>
          <p:cNvSpPr/>
          <p:nvPr/>
        </p:nvSpPr>
        <p:spPr>
          <a:xfrm>
            <a:off x="8641080" y="1088136"/>
            <a:ext cx="2633472" cy="148132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SUPPORTING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685800" y="2788920"/>
            <a:ext cx="3401568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1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ITEM ONE</a:t>
            </a:r>
            <a:endParaRPr lang="en-US" sz="1200" dirty="0"/>
          </a:p>
        </p:txBody>
      </p:sp>
      <p:sp>
        <p:nvSpPr>
          <p:cNvPr id="12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parallel items.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job each.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4297680" y="2788920"/>
            <a:ext cx="3401568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ITEM TWO</a:t>
            </a:r>
            <a:endParaRPr lang="en-US" sz="1200" dirty="0"/>
          </a:p>
        </p:txBody>
      </p:sp>
      <p:sp>
        <p:nvSpPr>
          <p:cNvPr id="15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Not a wall of bullets.</a:t>
            </a:r>
            <a:endParaRPr lang="en-US" sz="1600" dirty="0"/>
          </a:p>
        </p:txBody>
      </p:sp>
      <p:sp>
        <p:nvSpPr>
          <p:cNvPr id="16" name="Shape 6"/>
          <p:cNvSpPr/>
          <p:nvPr/>
        </p:nvSpPr>
        <p:spPr>
          <a:xfrm>
            <a:off x="7909560" y="2788920"/>
            <a:ext cx="3401568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7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ITEM THREE</a:t>
            </a:r>
            <a:endParaRPr lang="en-US" sz="1200" dirty="0"/>
          </a:p>
        </p:txBody>
      </p:sp>
      <p:sp>
        <p:nvSpPr>
          <p:cNvPr id="18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third parallel item.</a:t>
            </a:r>
            <a:endParaRPr lang="en-US" sz="1600" dirty="0"/>
          </a:p>
        </p:txBody>
      </p:sp>
      <p:sp>
        <p:nvSpPr>
          <p:cNvPr id="19" name="Shape 7"/>
          <p:cNvSpPr/>
          <p:nvPr/>
        </p:nvSpPr>
        <p:spPr>
          <a:xfrm>
            <a:off x="685800" y="5413248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20" name="Text 8"/>
          <p:cNvSpPr txBox="1"/>
          <p:nvPr/>
        </p:nvSpPr>
        <p:spPr>
          <a:xfrm>
            <a:off x="886968" y="54681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21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22" name="Text 9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3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_DIAGRAM_ANNOT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5074920" cy="32461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8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Hand-built diagram here.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Anything with a number or a label is built, not generated.</a:t>
            </a:r>
            <a:endParaRPr lang="en-US" sz="2000" dirty="0"/>
          </a:p>
        </p:txBody>
      </p:sp>
      <p:sp>
        <p:nvSpPr>
          <p:cNvPr id="9" name="Shape 3"/>
          <p:cNvSpPr/>
          <p:nvPr/>
        </p:nvSpPr>
        <p:spPr>
          <a:xfrm>
            <a:off x="6126480" y="2395728"/>
            <a:ext cx="5532120" cy="98755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0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LABEL ONE</a:t>
            </a:r>
            <a:endParaRPr lang="en-US" sz="1200" dirty="0"/>
          </a:p>
        </p:txBody>
      </p:sp>
      <p:sp>
        <p:nvSpPr>
          <p:cNvPr id="11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part of the diagram means.</a:t>
            </a:r>
            <a:endParaRPr lang="en-US" sz="1600" dirty="0"/>
          </a:p>
        </p:txBody>
      </p:sp>
      <p:sp>
        <p:nvSpPr>
          <p:cNvPr id="12" name="Shape 4"/>
          <p:cNvSpPr/>
          <p:nvPr/>
        </p:nvSpPr>
        <p:spPr>
          <a:xfrm>
            <a:off x="6126480" y="3529584"/>
            <a:ext cx="5532120" cy="98755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3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LABEL TWO</a:t>
            </a:r>
            <a:endParaRPr lang="en-US" sz="1200" dirty="0"/>
          </a:p>
        </p:txBody>
      </p:sp>
      <p:sp>
        <p:nvSpPr>
          <p:cNvPr id="14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part of the diagram means.</a:t>
            </a:r>
            <a:endParaRPr lang="en-US" sz="1600" dirty="0"/>
          </a:p>
        </p:txBody>
      </p:sp>
      <p:sp>
        <p:nvSpPr>
          <p:cNvPr id="15" name="Shape 5"/>
          <p:cNvSpPr/>
          <p:nvPr/>
        </p:nvSpPr>
        <p:spPr>
          <a:xfrm>
            <a:off x="6126480" y="4663440"/>
            <a:ext cx="5532120" cy="97840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6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LABEL THREE</a:t>
            </a:r>
            <a:endParaRPr lang="en-US" sz="1200" dirty="0"/>
          </a:p>
        </p:txBody>
      </p:sp>
      <p:sp>
        <p:nvSpPr>
          <p:cNvPr id="17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part of the diagram means.</a:t>
            </a:r>
            <a:endParaRPr lang="en-US" sz="1600" dirty="0"/>
          </a:p>
        </p:txBody>
      </p:sp>
      <p:sp>
        <p:nvSpPr>
          <p:cNvPr id="18" name="Text 6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9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_EXAMPLE_PROBLE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8915400" y="960120"/>
            <a:ext cx="2587752" cy="1325880"/>
          </a:xfrm>
          <a:prstGeom prst="rect">
            <a:avLst/>
          </a:prstGeom>
          <a:solidFill>
            <a:srgbClr val="EDF0E5"/>
          </a:solidFill>
          <a:ln w="25400">
            <a:solidFill>
              <a:srgbClr val="A3E635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262872" y="1088136"/>
            <a:ext cx="1901952" cy="106984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SUPPORTING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685800" y="2395728"/>
            <a:ext cx="5394960" cy="1051560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886968" y="2523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State the problem in one sentence.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685800" y="3611880"/>
            <a:ext cx="2606040" cy="173736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15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the problem hands you.</a:t>
            </a:r>
            <a:endParaRPr lang="en-US" sz="1600" dirty="0"/>
          </a:p>
        </p:txBody>
      </p:sp>
      <p:sp>
        <p:nvSpPr>
          <p:cNvPr id="16" name="Shape 7"/>
          <p:cNvSpPr/>
          <p:nvPr/>
        </p:nvSpPr>
        <p:spPr>
          <a:xfrm>
            <a:off x="3474720" y="3611880"/>
            <a:ext cx="2606040" cy="173736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1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you are solving for.</a:t>
            </a:r>
            <a:endParaRPr lang="en-US" sz="1600" dirty="0"/>
          </a:p>
        </p:txBody>
      </p:sp>
      <p:sp>
        <p:nvSpPr>
          <p:cNvPr id="19" name="Shape 8"/>
          <p:cNvSpPr/>
          <p:nvPr/>
        </p:nvSpPr>
        <p:spPr>
          <a:xfrm>
            <a:off x="6263640" y="2395728"/>
            <a:ext cx="5239512" cy="295351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20" name="Text 9"/>
          <p:cNvSpPr txBox="1"/>
          <p:nvPr/>
        </p:nvSpPr>
        <p:spPr>
          <a:xfrm>
            <a:off x="6464808" y="2560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WORK AREA</a:t>
            </a:r>
            <a:endParaRPr lang="en-US" sz="900" dirty="0"/>
          </a:p>
        </p:txBody>
      </p:sp>
      <p:sp>
        <p:nvSpPr>
          <p:cNvPr id="21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Leave this blank in the projected copy. It is filled live on the board.</a:t>
            </a:r>
            <a:endParaRPr lang="en-US" sz="1900" dirty="0"/>
          </a:p>
        </p:txBody>
      </p:sp>
      <p:sp>
        <p:nvSpPr>
          <p:cNvPr id="22" name="Shape 10"/>
          <p:cNvSpPr/>
          <p:nvPr/>
        </p:nvSpPr>
        <p:spPr>
          <a:xfrm>
            <a:off x="685800" y="5532120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23" name="Text 11"/>
          <p:cNvSpPr txBox="1"/>
          <p:nvPr/>
        </p:nvSpPr>
        <p:spPr>
          <a:xfrm>
            <a:off x="886968" y="5586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24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25" name="Text 12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6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WORKED_SOLU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4160520" cy="256032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8" name="Shape 3"/>
          <p:cNvSpPr/>
          <p:nvPr/>
        </p:nvSpPr>
        <p:spPr>
          <a:xfrm>
            <a:off x="832104" y="2542032"/>
            <a:ext cx="3867912" cy="226771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DATA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5074920" y="2395728"/>
            <a:ext cx="3154680" cy="25603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1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FORMULA</a:t>
            </a:r>
            <a:endParaRPr lang="en-US" sz="1200" dirty="0"/>
          </a:p>
        </p:txBody>
      </p:sp>
      <p:sp>
        <p:nvSpPr>
          <p:cNvPr id="12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relationship, before any numbers.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8412480" y="2395728"/>
            <a:ext cx="3090672" cy="25603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6"/>
          <p:cNvSpPr txBox="1"/>
          <p:nvPr/>
        </p:nvSpPr>
        <p:spPr>
          <a:xfrm>
            <a:off x="8613648" y="2560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WORK</a:t>
            </a:r>
            <a:endParaRPr lang="en-US" sz="900" dirty="0"/>
          </a:p>
        </p:txBody>
      </p:sp>
      <p:sp>
        <p:nvSpPr>
          <p:cNvPr id="15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completed work,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by step.</a:t>
            </a:r>
            <a:endParaRPr lang="en-US" sz="1900" dirty="0"/>
          </a:p>
        </p:txBody>
      </p:sp>
      <p:sp>
        <p:nvSpPr>
          <p:cNvPr id="16" name="Shape 7"/>
          <p:cNvSpPr/>
          <p:nvPr/>
        </p:nvSpPr>
        <p:spPr>
          <a:xfrm>
            <a:off x="685800" y="5138928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17" name="Text 8"/>
          <p:cNvSpPr txBox="1"/>
          <p:nvPr/>
        </p:nvSpPr>
        <p:spPr>
          <a:xfrm>
            <a:off x="886968" y="5193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18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19" name="Text 9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0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GIVENS_EQUATION_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4663440" cy="2624328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8" name="Shape 3"/>
          <p:cNvSpPr/>
          <p:nvPr/>
        </p:nvSpPr>
        <p:spPr>
          <a:xfrm>
            <a:off x="832104" y="2542032"/>
            <a:ext cx="4370832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832104" y="2542032"/>
            <a:ext cx="4370832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5577840" y="2395728"/>
            <a:ext cx="5925312" cy="960120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5779008" y="2505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5779008" y="2743200"/>
            <a:ext cx="5522976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State the problem in one sentence.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5577840" y="3520440"/>
            <a:ext cx="2871216" cy="1499616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7"/>
          <p:cNvSpPr txBox="1"/>
          <p:nvPr>
            <p:ph idx="112" type="body" hasCustomPrompt="1"/>
          </p:nvPr>
        </p:nvSpPr>
        <p:spPr>
          <a:xfrm>
            <a:off x="5779008" y="3685032"/>
            <a:ext cx="246888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15" name="Text 7"/>
          <p:cNvSpPr txBox="1"/>
          <p:nvPr>
            <p:ph idx="113" type="body" hasCustomPrompt="1"/>
          </p:nvPr>
        </p:nvSpPr>
        <p:spPr>
          <a:xfrm>
            <a:off x="5779008" y="3977640"/>
            <a:ext cx="246888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Values the problem supplies.</a:t>
            </a:r>
            <a:endParaRPr lang="en-US" sz="1600" dirty="0"/>
          </a:p>
        </p:txBody>
      </p:sp>
      <p:sp>
        <p:nvSpPr>
          <p:cNvPr id="16" name="Shape 7"/>
          <p:cNvSpPr/>
          <p:nvPr/>
        </p:nvSpPr>
        <p:spPr>
          <a:xfrm>
            <a:off x="8631936" y="3520440"/>
            <a:ext cx="2871216" cy="1499616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7" name="Text 8"/>
          <p:cNvSpPr txBox="1"/>
          <p:nvPr>
            <p:ph idx="115" type="body" hasCustomPrompt="1"/>
          </p:nvPr>
        </p:nvSpPr>
        <p:spPr>
          <a:xfrm>
            <a:off x="8833104" y="3685032"/>
            <a:ext cx="246888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EQUATION</a:t>
            </a:r>
            <a:endParaRPr lang="en-US" sz="1200" dirty="0"/>
          </a:p>
        </p:txBody>
      </p:sp>
      <p:sp>
        <p:nvSpPr>
          <p:cNvPr id="18" name="Text 8"/>
          <p:cNvSpPr txBox="1"/>
          <p:nvPr>
            <p:ph idx="116" type="body" hasCustomPrompt="1"/>
          </p:nvPr>
        </p:nvSpPr>
        <p:spPr>
          <a:xfrm>
            <a:off x="8833104" y="3977640"/>
            <a:ext cx="246888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relationship you will use.</a:t>
            </a:r>
            <a:endParaRPr lang="en-US" sz="1600" dirty="0"/>
          </a:p>
        </p:txBody>
      </p:sp>
      <p:sp>
        <p:nvSpPr>
          <p:cNvPr id="19" name="Shape 8"/>
          <p:cNvSpPr/>
          <p:nvPr/>
        </p:nvSpPr>
        <p:spPr>
          <a:xfrm>
            <a:off x="5577840" y="5193792"/>
            <a:ext cx="5925312" cy="777240"/>
          </a:xfrm>
          <a:prstGeom prst="rect">
            <a:avLst/>
          </a:prstGeom>
          <a:solidFill>
            <a:srgbClr val="EDF0E5"/>
          </a:solidFill>
          <a:ln w="19050">
            <a:solidFill>
              <a:srgbClr val="A3E635"/>
            </a:solidFill>
            <a:prstDash val="solid"/>
          </a:ln>
        </p:spPr>
      </p:sp>
      <p:sp>
        <p:nvSpPr>
          <p:cNvPr id="20" name="Text 9"/>
          <p:cNvSpPr txBox="1"/>
          <p:nvPr/>
        </p:nvSpPr>
        <p:spPr>
          <a:xfrm>
            <a:off x="5779008" y="5285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ANSWER</a:t>
            </a:r>
            <a:endParaRPr lang="en-US" sz="900" dirty="0"/>
          </a:p>
        </p:txBody>
      </p:sp>
      <p:sp>
        <p:nvSpPr>
          <p:cNvPr id="21" name="Text 10"/>
          <p:cNvSpPr txBox="1"/>
          <p:nvPr>
            <p:ph idx="119" type="body" hasCustomPrompt="1"/>
          </p:nvPr>
        </p:nvSpPr>
        <p:spPr>
          <a:xfrm>
            <a:off x="5779008" y="5504688"/>
            <a:ext cx="5522976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20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with units</a:t>
            </a:r>
            <a:endParaRPr lang="en-US" sz="2000" dirty="0"/>
          </a:p>
        </p:txBody>
      </p:sp>
      <p:sp>
        <p:nvSpPr>
          <p:cNvPr id="22" name="Text 10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3" name="Text 11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DECK_INDEX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4" name="Text 2"/>
          <p:cNvSpPr txBox="1"/>
          <p:nvPr>
            <p:ph idx="102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6" name="Text 3"/>
          <p:cNvSpPr txBox="1"/>
          <p:nvPr>
            <p:ph idx="104" type="title" hasCustomPrompt="1"/>
          </p:nvPr>
        </p:nvSpPr>
        <p:spPr>
          <a:xfrm>
            <a:off x="685800" y="1097280"/>
            <a:ext cx="3200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6000"/>
              </a:lnSpc>
              <a:buNone/>
              <a:defRPr lang="en-US" sz="3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Template Slide</a:t>
            </a:r>
            <a:endParaRPr lang="en-US" sz="3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Family</a:t>
            </a:r>
            <a:endParaRPr lang="en-US" sz="3000" dirty="0"/>
          </a:p>
        </p:txBody>
      </p:sp>
      <p:sp>
        <p:nvSpPr>
          <p:cNvPr id="7" name="Text 3"/>
          <p:cNvSpPr txBox="1"/>
          <p:nvPr>
            <p:ph idx="105" type="body" hasCustomPrompt="1"/>
          </p:nvPr>
        </p:nvSpPr>
        <p:spPr>
          <a:xfrm>
            <a:off x="685800" y="2514600"/>
            <a:ext cx="3200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Twelve layouts shared by Chemistry, Physics, and Geology.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New slide → Layout → pick one. Never build from scratch.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4434840" y="1097280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4599432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5038344" y="12252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Title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4599432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opens a unit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766560" y="1097280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931152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7370064" y="12252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Title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931152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opens a section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098280" y="1097280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262872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9701784" y="12252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Grouped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262872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two contrasting ideas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434840" y="2212848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599432" y="2340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5038344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Divider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599432" y="26883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visual reset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766560" y="2212848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931152" y="2340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7370064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Process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931152" y="26883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four numbered steps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098280" y="2212848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9262872" y="2340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9701784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Image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9262872" y="26883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panel + key question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434840" y="3328416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4599432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07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5038344" y="3456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4599432" y="38039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parallel items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766560" y="3328416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6931152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08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7370064" y="3456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Diagram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6931152" y="38039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figure + annotation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9098280" y="3328416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9262872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09</a:t>
            </a:r>
            <a:endParaRPr lang="en-US" sz="1100" dirty="0"/>
          </a:p>
        </p:txBody>
      </p:sp>
      <p:sp>
        <p:nvSpPr>
          <p:cNvPr id="42" name="Text 37"/>
          <p:cNvSpPr txBox="1"/>
          <p:nvPr/>
        </p:nvSpPr>
        <p:spPr>
          <a:xfrm>
            <a:off x="9701784" y="3456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9262872" y="38039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empty work area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4434840" y="4443984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4599432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5038344" y="4572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4599432" y="49194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pairs with 09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6766560" y="4443984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6931152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11</a:t>
            </a:r>
            <a:endParaRPr lang="en-US" sz="1100" dirty="0"/>
          </a:p>
        </p:txBody>
      </p:sp>
      <p:sp>
        <p:nvSpPr>
          <p:cNvPr id="50" name="Text 45"/>
          <p:cNvSpPr txBox="1"/>
          <p:nvPr/>
        </p:nvSpPr>
        <p:spPr>
          <a:xfrm>
            <a:off x="7370064" y="4572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Given/Eq/Ans</a:t>
            </a:r>
            <a:endParaRPr lang="en-US" sz="1200" dirty="0"/>
          </a:p>
        </p:txBody>
      </p:sp>
      <p:sp>
        <p:nvSpPr>
          <p:cNvPr id="51" name="Text 46"/>
          <p:cNvSpPr txBox="1"/>
          <p:nvPr/>
        </p:nvSpPr>
        <p:spPr>
          <a:xfrm>
            <a:off x="6931152" y="49194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any course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9098280" y="4443984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9262872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12</a:t>
            </a:r>
            <a:endParaRPr lang="en-US" sz="1100" dirty="0"/>
          </a:p>
        </p:txBody>
      </p:sp>
      <p:sp>
        <p:nvSpPr>
          <p:cNvPr id="54" name="Text 49"/>
          <p:cNvSpPr txBox="1"/>
          <p:nvPr/>
        </p:nvSpPr>
        <p:spPr>
          <a:xfrm>
            <a:off x="9701784" y="4572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Deck Index</a:t>
            </a:r>
            <a:endParaRPr lang="en-US" sz="1200" dirty="0"/>
          </a:p>
        </p:txBody>
      </p:sp>
      <p:sp>
        <p:nvSpPr>
          <p:cNvPr id="55" name="Text 50"/>
          <p:cNvSpPr txBox="1"/>
          <p:nvPr/>
        </p:nvSpPr>
        <p:spPr>
          <a:xfrm>
            <a:off x="9262872" y="49194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delete before class</a:t>
            </a:r>
            <a:endParaRPr lang="en-US" sz="1100" dirty="0"/>
          </a:p>
        </p:txBody>
      </p:sp>
      <p:sp>
        <p:nvSpPr>
          <p:cNvPr id="56" name="Text 51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57" name="Text 52"/>
          <p:cNvSpPr txBox="1"/>
          <p:nvPr>
            <p:ph idx="155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4" type="body" hasCustomPrompt="1"/>
          </p:nvPr>
        </p:nvSpPr>
        <p:spPr>
          <a:xfrm>
            <a:off x="777240" y="502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4"/>
          <p:cNvSpPr txBox="1"/>
          <p:nvPr>
            <p:ph idx="106" type="title" hasCustomPrompt="1"/>
          </p:nvPr>
        </p:nvSpPr>
        <p:spPr>
          <a:xfrm>
            <a:off x="777240" y="1847088"/>
            <a:ext cx="2834640" cy="1691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2.1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Bohr Model</a:t>
            </a:r>
            <a:endParaRPr lang="en-US" sz="2800" dirty="0"/>
          </a:p>
        </p:txBody>
      </p:sp>
      <p:sp>
        <p:nvSpPr>
          <p:cNvPr id="4" name="Text 4"/>
          <p:cNvSpPr txBox="1"/>
          <p:nvPr>
            <p:ph idx="107" type="body" hasCustomPrompt="1"/>
          </p:nvPr>
        </p:nvSpPr>
        <p:spPr>
          <a:xfrm>
            <a:off x="777240" y="3749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Find hydrogen's energy levels, and explain emission and absorption as an electron changing level.</a:t>
            </a:r>
            <a:endParaRPr lang="en-US" sz="1600" dirty="0"/>
          </a:p>
        </p:txBody>
      </p:sp>
      <p:sp>
        <p:nvSpPr>
          <p:cNvPr id="5" name="Text 5"/>
          <p:cNvSpPr txBox="1"/>
          <p:nvPr>
            <p:ph idx="109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6" name="Text 3"/>
          <p:cNvSpPr txBox="1"/>
          <p:nvPr>
            <p:ph idx="103" hasCustomPrompt="1"/>
          </p:nvPr>
        </p:nvSpPr>
        <p:spPr>
          <a:xfrm>
            <a:off x="4480560" y="777240"/>
            <a:ext cx="708660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 txBox="1"/>
          <p:nvPr>
            <p:ph idx="107" type="title" hasCustomPrompt="1"/>
          </p:nvPr>
        </p:nvSpPr>
        <p:spPr>
          <a:xfrm>
            <a:off x="685800" y="11887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Why Only a Few Colors?</a:t>
            </a:r>
            <a:endParaRPr lang="en-US" sz="2800" dirty="0"/>
          </a:p>
        </p:txBody>
      </p:sp>
      <p:sp>
        <p:nvSpPr>
          <p:cNvPr id="3" name="Text 5"/>
          <p:cNvSpPr txBox="1"/>
          <p:nvPr>
            <p:ph idx="108" type="body" hasCustomPrompt="1"/>
          </p:nvPr>
        </p:nvSpPr>
        <p:spPr>
          <a:xfrm>
            <a:off x="685800" y="21488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Heat hydrogen gas and it glows. A prism spreads that glow into a few thin lines of color, not a rainbow.</a:t>
            </a:r>
            <a:endParaRPr lang="en-US" sz="1600" dirty="0"/>
          </a:p>
        </p:txBody>
      </p:sp>
      <p:sp>
        <p:nvSpPr>
          <p:cNvPr id="4" name="Text 7"/>
          <p:cNvSpPr txBox="1"/>
          <p:nvPr>
            <p:ph idx="111" type="body" hasCustomPrompt="1"/>
          </p:nvPr>
        </p:nvSpPr>
        <p:spPr>
          <a:xfrm>
            <a:off x="886968" y="3950208"/>
            <a:ext cx="4489704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Why does hydrogen give only a few colors of light?</a:t>
            </a:r>
            <a:endParaRPr lang="en-US" sz="1600" dirty="0"/>
          </a:p>
        </p:txBody>
      </p:sp>
      <p:sp>
        <p:nvSpPr>
          <p:cNvPr id="5" name="Text 4"/>
          <p:cNvSpPr txBox="1"/>
          <p:nvPr>
            <p:ph idx="105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6" name="Text 8"/>
          <p:cNvSpPr txBox="1"/>
          <p:nvPr>
            <p:ph idx="113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7" name="Text 4"/>
          <p:cNvSpPr txBox="1"/>
          <p:nvPr>
            <p:ph idx="104" hasCustomPrompt="1"/>
          </p:nvPr>
        </p:nvSpPr>
        <p:spPr>
          <a:xfrm>
            <a:off x="6355080" y="1298448"/>
            <a:ext cx="498348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Words You Need First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Write the first one down. The other two come back on later slides.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ENERGY LEVEL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allowed energy for the electron.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Labeled n = 1, 2, 3, and up.</a:t>
            </a:r>
            <a:endParaRPr lang="en-US" sz="1600" dirty="0"/>
          </a:p>
        </p:txBody>
      </p:sp>
      <p:sp>
        <p:nvSpPr>
          <p:cNvPr id="6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QUANTIZED</a:t>
            </a:r>
            <a:endParaRPr lang="en-US" sz="1200" dirty="0"/>
          </a:p>
        </p:txBody>
      </p:sp>
      <p:sp>
        <p:nvSpPr>
          <p:cNvPr id="7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Only certain values are allowed.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Nothing in between.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PHOTON</a:t>
            </a:r>
            <a:endParaRPr lang="en-US" sz="1200" dirty="0"/>
          </a:p>
        </p:txBody>
      </p:sp>
      <p:sp>
        <p:nvSpPr>
          <p:cNvPr id="9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packet of light.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Its energy sets its color.</a:t>
            </a:r>
            <a:endParaRPr lang="en-US" sz="1600" dirty="0"/>
          </a:p>
        </p:txBody>
      </p:sp>
      <p:sp>
        <p:nvSpPr>
          <p:cNvPr id="10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Energy level: one allowed energy for the electron, labeled n.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3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Why Bohr Needed a New Model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Rutherford put the electrons outside a dense nucleus. That left a problem.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WAS KNOWN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Thomson: electrons inside positive material.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Rutherford, 1911: a dense nucleus, electrons outside it.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charge moving in a circle should give off energy and spiral into the nucleus.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Atoms do not collapse.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Bohr proposed a new model of the hydrogen atom in 1913.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1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Bohr's Three Ideas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He kept the nucleus and put rules on the electron.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FIXED ORBITS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electron moves in a circular orbit.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Each orbit has one fixed energy.</a:t>
            </a:r>
            <a:endParaRPr lang="en-US" sz="1600" dirty="0"/>
          </a:p>
        </p:txBody>
      </p:sp>
      <p:sp>
        <p:nvSpPr>
          <p:cNvPr id="6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 RADIATION</a:t>
            </a:r>
            <a:endParaRPr lang="en-US" sz="1200" dirty="0"/>
          </a:p>
        </p:txBody>
      </p:sp>
      <p:sp>
        <p:nvSpPr>
          <p:cNvPr id="7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In an allowed orbit, the electron does not give off energy.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PHOTON JUMPS</a:t>
            </a:r>
            <a:endParaRPr lang="en-US" sz="1200" dirty="0"/>
          </a:p>
        </p:txBody>
      </p:sp>
      <p:sp>
        <p:nvSpPr>
          <p:cNvPr id="9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 changes orbit only by absorbing or emitting a photon.</a:t>
            </a:r>
            <a:endParaRPr lang="en-US" sz="1600" dirty="0"/>
          </a:p>
        </p:txBody>
      </p:sp>
      <p:sp>
        <p:nvSpPr>
          <p:cNvPr id="10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photon's energy equals the energy difference between the two orbits.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3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1_bohr_hydro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Bohr's Hydrogen Atom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proton, one electron, orbits at fixed distances.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NUCLEUS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proton, drawn as the dot in the center.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ORBITS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= 1, 2, 3 and up. Farther out is higher energy.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ELECTRON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electron, in one orbit at a time. Here: n = 1.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3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Quantized Means Steps, Not a Ramp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You can stand on a stair. You cannot stand between two stairs.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STAIRS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Only certain heights.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 electron's energy works like this.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RAMP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Any height at all.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 do not behave this way.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Quantized: only certain energy values are allowed. Nothing in between.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1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1_energy_eq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Energy of Each Level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Put in n and you get that level's energy, in joules.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Whole numbers only: 1, 2, 3 ... Never 1.5.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NEGATIVE SIGN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electron is bound to the nucleus. E = 0 is a free electron.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HYDROGEN ONLY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This formula fails for atoms with 2 or more electrons.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3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1_energy_lev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Hydrogen's Energy Levels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Drawn to scale. Watch what happens to the spacing.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LOWEST ENERGY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More negative means lower. n = 1 is the lowest.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SPACING SHRINKS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levels crowd together as n gets larger.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ZERO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= ∞ is E = 0. The electron has left the atom.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3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Example: Energy at n = 3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We do this one together. Write the setup, not just the number.</a:t>
            </a:r>
            <a:endParaRPr lang="en-US" sz="1700" dirty="0"/>
          </a:p>
        </p:txBody>
      </p:sp>
      <p:sp>
        <p:nvSpPr>
          <p:cNvPr id="4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is the energy of the hydrogen electron when n = 3?</a:t>
            </a:r>
            <a:endParaRPr lang="en-US" sz="1600" dirty="0"/>
          </a:p>
        </p:txBody>
      </p:sp>
      <p:sp>
        <p:nvSpPr>
          <p:cNvPr id="5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Hydrogen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= 3</a:t>
            </a:r>
            <a:endParaRPr lang="en-US" sz="1600" dirty="0"/>
          </a:p>
        </p:txBody>
      </p:sp>
      <p:sp>
        <p:nvSpPr>
          <p:cNvPr id="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E₃, in joules</a:t>
            </a:r>
            <a:endParaRPr lang="en-US" sz="1600" dirty="0"/>
          </a:p>
        </p:txBody>
      </p:sp>
      <p:sp>
        <p:nvSpPr>
          <p:cNvPr id="9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900" dirty="0"/>
          </a:p>
        </p:txBody>
      </p:sp>
      <p:sp>
        <p:nvSpPr>
          <p:cNvPr id="10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Eₙ = −2.18 × 10^−18 J ÷ n²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3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1_level_n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542817"/>
            <a:ext cx="3867912" cy="2266141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= 3, Worked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Square n first, then divide.</a:t>
            </a:r>
            <a:endParaRPr lang="en-US" sz="1700" dirty="0"/>
          </a:p>
        </p:txBody>
      </p:sp>
      <p:sp>
        <p:nvSpPr>
          <p:cNvPr id="5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FORMULA</a:t>
            </a:r>
            <a:endParaRPr lang="en-US" sz="1200" dirty="0"/>
          </a:p>
        </p:txBody>
      </p:sp>
      <p:sp>
        <p:nvSpPr>
          <p:cNvPr id="6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Eₙ = −2.18 × 10^−18 J ÷ n²</a:t>
            </a:r>
            <a:endParaRPr lang="en-US" sz="1600" dirty="0"/>
          </a:p>
        </p:txBody>
      </p:sp>
      <p:sp>
        <p:nvSpPr>
          <p:cNvPr id="7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3² = 9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−2.18 × 10^−18 ÷ 9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= −2.42 × 10^−19 J</a:t>
            </a:r>
            <a:endParaRPr lang="en-US" sz="1900" dirty="0"/>
          </a:p>
        </p:txBody>
      </p:sp>
      <p:sp>
        <p:nvSpPr>
          <p:cNvPr id="8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Less negative means higher energy. E₃ is above E₂.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1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Ground State and Excited States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Hydrogen's electron has one lowest level and many higher ones.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GROUND STATE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= 1.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lowest energy level.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Where the electron normally sits.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EXCITED STATE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Any level above n = 1.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Short-lived. The electron falls back down.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Ground state: n = 1. Excited state: any higher n.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1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1_absor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Absorption: The Electron Goes Up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atom takes in energy from a photon.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 EXACT MATCH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Photon energy must equal E final minus E initial.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WRONG ENERGY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photon passes through. Nothing happens.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electron moves up. The atom gains energy.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3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1_emi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Emission: The Electron Drops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atom gives energy out as a photon.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DROP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electron falls from a higher level to a lower one.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PHOTON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Its energy is the absolute value of ΔE.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BIGGER DROP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bigger drop gives a higher-energy photon.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3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Example: Drop from n = 3 to n = 2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Find the energy change, then say where the energy went.</a:t>
            </a:r>
            <a:endParaRPr lang="en-US" sz="1700" dirty="0"/>
          </a:p>
        </p:txBody>
      </p:sp>
      <p:sp>
        <p:nvSpPr>
          <p:cNvPr id="4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hydrogen electron drops from n = 3 to n = 2. Find ΔE. Is energy absorbed or released?</a:t>
            </a:r>
            <a:endParaRPr lang="en-US" sz="1600" dirty="0"/>
          </a:p>
        </p:txBody>
      </p:sp>
      <p:sp>
        <p:nvSpPr>
          <p:cNvPr id="5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= 3 to n =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E₃ = −2.42 × 10^−19 J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E₂ = −5.45 × 10^−19 J</a:t>
            </a:r>
            <a:endParaRPr lang="en-US" sz="1600" dirty="0"/>
          </a:p>
        </p:txBody>
      </p:sp>
      <p:sp>
        <p:nvSpPr>
          <p:cNvPr id="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ΔE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Absorbed or released?</a:t>
            </a:r>
            <a:endParaRPr lang="en-US" sz="1600" dirty="0"/>
          </a:p>
        </p:txBody>
      </p:sp>
      <p:sp>
        <p:nvSpPr>
          <p:cNvPr id="9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900" dirty="0"/>
          </a:p>
        </p:txBody>
      </p:sp>
      <p:sp>
        <p:nvSpPr>
          <p:cNvPr id="10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ΔE = final energy minus initial energy. A negative ΔE means energy leaves the atom.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3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1_transition_3_to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542817"/>
            <a:ext cx="3867912" cy="2266141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= 3 to n = 2, Worked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Final minus initial. Keep the negative signs.</a:t>
            </a:r>
            <a:endParaRPr lang="en-US" sz="1700" dirty="0"/>
          </a:p>
        </p:txBody>
      </p:sp>
      <p:sp>
        <p:nvSpPr>
          <p:cNvPr id="5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</a:t>
            </a:r>
            <a:endParaRPr lang="en-US" sz="1200" dirty="0"/>
          </a:p>
        </p:txBody>
      </p:sp>
      <p:sp>
        <p:nvSpPr>
          <p:cNvPr id="6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ΔE = E₂ − E₃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Final level: n =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Initial level: n = 3</a:t>
            </a:r>
            <a:endParaRPr lang="en-US" sz="1600" dirty="0"/>
          </a:p>
        </p:txBody>
      </p:sp>
      <p:sp>
        <p:nvSpPr>
          <p:cNvPr id="7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−5.45 × 10^−19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− (−2.42 × 10^−19)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= −3.03 × 10^−19 J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Released.</a:t>
            </a:r>
            <a:endParaRPr lang="en-US" sz="1900" dirty="0"/>
          </a:p>
        </p:txBody>
      </p:sp>
      <p:sp>
        <p:nvSpPr>
          <p:cNvPr id="8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Energy released: a photon of 3.03 × 10^−19 J leaves the atom.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1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Example: Removing the Electron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Ionization means n goes all the way to infinity.</a:t>
            </a:r>
            <a:endParaRPr lang="en-US" sz="1700" dirty="0"/>
          </a:p>
        </p:txBody>
      </p:sp>
      <p:sp>
        <p:nvSpPr>
          <p:cNvPr id="4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How much energy removes the electron from a hydrogen atom in its ground state?</a:t>
            </a:r>
            <a:endParaRPr lang="en-US" sz="1600" dirty="0"/>
          </a:p>
        </p:txBody>
      </p:sp>
      <p:sp>
        <p:nvSpPr>
          <p:cNvPr id="5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Hydrogen, ground state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= 1 to n = ∞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 at n = ∞ is 0</a:t>
            </a:r>
            <a:endParaRPr lang="en-US" sz="1600" dirty="0"/>
          </a:p>
        </p:txBody>
      </p:sp>
      <p:sp>
        <p:nvSpPr>
          <p:cNvPr id="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ΔE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Absorbed or released?</a:t>
            </a:r>
            <a:endParaRPr lang="en-US" sz="1600" dirty="0"/>
          </a:p>
        </p:txBody>
      </p:sp>
      <p:sp>
        <p:nvSpPr>
          <p:cNvPr id="9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900" dirty="0"/>
          </a:p>
        </p:txBody>
      </p:sp>
      <p:sp>
        <p:nvSpPr>
          <p:cNvPr id="10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Ionization: the electron goes from its level to n = ∞, where E = 0.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3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1_ion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542817"/>
            <a:ext cx="3867912" cy="2266141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Ionization, Worked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Final minus initial again. The sign tells you the direction.</a:t>
            </a:r>
            <a:endParaRPr lang="en-US" sz="1700" dirty="0"/>
          </a:p>
        </p:txBody>
      </p:sp>
      <p:sp>
        <p:nvSpPr>
          <p:cNvPr id="5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</a:t>
            </a:r>
            <a:endParaRPr lang="en-US" sz="1200" dirty="0"/>
          </a:p>
        </p:txBody>
      </p:sp>
      <p:sp>
        <p:nvSpPr>
          <p:cNvPr id="6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ΔE = final − initial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Final (n = ∞):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Initial (n = 1): E₁</a:t>
            </a:r>
            <a:endParaRPr lang="en-US" sz="1600" dirty="0"/>
          </a:p>
        </p:txBody>
      </p:sp>
      <p:sp>
        <p:nvSpPr>
          <p:cNvPr id="7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E₁ = −2.18 × 10^−18 J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ΔE = 0 − E₁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= +2.18 × 10^−18 J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Absorbed.</a:t>
            </a:r>
            <a:endParaRPr lang="en-US" sz="1900" dirty="0"/>
          </a:p>
        </p:txBody>
      </p:sp>
      <p:sp>
        <p:nvSpPr>
          <p:cNvPr id="8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positive ΔE means energy absorbed. Ionizing hydrogen takes 2.18 × 10^−18 J.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1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Where the Bohr Model Stops Working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 was a real step forward. It is no longer the accepted model.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HYDROGEN ONLY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Correct energies for hydrogen. Wrong for He, Li, and every atom with 2 or more electrons.</a:t>
            </a:r>
            <a:endParaRPr lang="en-US" sz="1600" dirty="0"/>
          </a:p>
        </p:txBody>
      </p:sp>
      <p:sp>
        <p:nvSpPr>
          <p:cNvPr id="6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PICTURE</a:t>
            </a:r>
            <a:endParaRPr lang="en-US" sz="1200" dirty="0"/>
          </a:p>
        </p:txBody>
      </p:sp>
      <p:sp>
        <p:nvSpPr>
          <p:cNvPr id="7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 are not particles on circular tracks. The electron-cloud model replaces the orbits.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SURVIVES</a:t>
            </a:r>
            <a:endParaRPr lang="en-US" sz="1200" dirty="0"/>
          </a:p>
        </p:txBody>
      </p:sp>
      <p:sp>
        <p:nvSpPr>
          <p:cNvPr id="9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Quantized energy levels.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level change means a photon in or out.</a:t>
            </a:r>
            <a:endParaRPr lang="en-US" sz="1600" dirty="0"/>
          </a:p>
        </p:txBody>
      </p:sp>
      <p:sp>
        <p:nvSpPr>
          <p:cNvPr id="10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Keep this: energy is quantized, and a change of level means a photon in or out.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3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Quick Check: Items 1 to 3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Work these on your own paper, then we compare.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 1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Explain why hydrogen emits light at only certain colors. Use the word quantized.</a:t>
            </a:r>
            <a:endParaRPr lang="en-US" sz="1600" dirty="0"/>
          </a:p>
        </p:txBody>
      </p:sp>
      <p:sp>
        <p:nvSpPr>
          <p:cNvPr id="6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 2</a:t>
            </a:r>
            <a:endParaRPr lang="en-US" sz="1200" dirty="0"/>
          </a:p>
        </p:txBody>
      </p:sp>
      <p:sp>
        <p:nvSpPr>
          <p:cNvPr id="7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Calculate the energy of the hydrogen electron at n = 2.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 3</a:t>
            </a:r>
            <a:endParaRPr lang="en-US" sz="1200" dirty="0"/>
          </a:p>
        </p:txBody>
      </p:sp>
      <p:sp>
        <p:nvSpPr>
          <p:cNvPr id="9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hydrogen electron drops from n = 4 to n = 2. Is energy absorbed or released? How much?</a:t>
            </a:r>
            <a:endParaRPr lang="en-US" sz="1600" dirty="0"/>
          </a:p>
        </p:txBody>
      </p:sp>
      <p:sp>
        <p:nvSpPr>
          <p:cNvPr id="10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For every calculation, write the equation first, then the numbers, then the units.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3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Quick Check: Items 4 and 5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Same as before. Your own paper first.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 4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Which drop releases more energy, n = 3 to n = 2 or n = 2 to n = 1? Find both ΔE values.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 5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 one reason the Bohr model is no longer the accepted model of the atom.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 4: put a number on both drops before you compare them.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11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 txBox="1"/>
          <p:nvPr>
            <p:ph idx="106" type="body" hasCustomPrompt="1"/>
          </p:nvPr>
        </p:nvSpPr>
        <p:spPr>
          <a:xfrm>
            <a:off x="841248" y="17556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3" name="Text 5"/>
          <p:cNvSpPr txBox="1"/>
          <p:nvPr>
            <p:ph idx="107" type="title" hasCustomPrompt="1"/>
          </p:nvPr>
        </p:nvSpPr>
        <p:spPr>
          <a:xfrm>
            <a:off x="841248" y="2304288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Where This Goes</a:t>
            </a:r>
            <a:endParaRPr lang="en-US" sz="2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Next</a:t>
            </a:r>
            <a:endParaRPr lang="en-US" sz="2600" dirty="0"/>
          </a:p>
        </p:txBody>
      </p:sp>
      <p:sp>
        <p:nvSpPr>
          <p:cNvPr id="4" name="Text 5"/>
          <p:cNvSpPr txBox="1"/>
          <p:nvPr>
            <p:ph idx="108" type="body" hasCustomPrompt="1"/>
          </p:nvPr>
        </p:nvSpPr>
        <p:spPr>
          <a:xfrm>
            <a:off x="841248" y="385876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Bohr's model works for hydrogen and nothing bigger. Next: what replaced it, and what an orbital is.</a:t>
            </a:r>
            <a:endParaRPr lang="en-US" sz="1600" dirty="0"/>
          </a:p>
        </p:txBody>
      </p:sp>
      <p:sp>
        <p:nvSpPr>
          <p:cNvPr id="5" name="Text 6"/>
          <p:cNvSpPr txBox="1"/>
          <p:nvPr>
            <p:ph idx="110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S02.1</a:t>
            </a:r>
            <a:endParaRPr lang="en-US" sz="1000" dirty="0"/>
          </a:p>
        </p:txBody>
      </p:sp>
      <p:sp>
        <p:nvSpPr>
          <p:cNvPr id="6" name="Text 2"/>
          <p:cNvSpPr txBox="1"/>
          <p:nvPr>
            <p:ph idx="102" hasCustomPrompt="1"/>
          </p:nvPr>
        </p:nvSpPr>
        <p:spPr>
          <a:xfrm>
            <a:off x="2926080" y="0"/>
            <a:ext cx="9262872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SHULL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SHULL Science — Slide Template (CHEMISTRY)</dc:title>
  <dc:subject>PptxGenJS Presentation</dc:subject>
  <dc:creator>Matthew Shull</dc:creator>
  <cp:lastModifiedBy>Matthew Shull</cp:lastModifiedBy>
  <cp:revision>1</cp:revision>
  <dcterms:created xsi:type="dcterms:W3CDTF">2026-10-04T12:46:43Z</dcterms:created>
  <dcterms:modified xsi:type="dcterms:W3CDTF">2026-10-04T12:46:43Z</dcterms:modified>
</cp:coreProperties>
</file>