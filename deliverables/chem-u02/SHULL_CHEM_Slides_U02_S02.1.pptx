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Targets: describe Bohr's hydrogen model; explain that energy levels are quantized (stairs, not a ramp); tell ground state from excited state; explain absorption (electron up) and emission (electron down, photon out); compare drops by size without calculating; describe ionization as the electron leaving; state the model's limits. Hook is the next slide. Calculations removed on Matt's instruction (brief flag F1, scientific notation vs the sequencing rule, no longer applies). Numbers deliberately omitted per Matt; see S2.5 for wavelengths in nm. Image prompt (empty slot): a hydrogen gas discharge tube glowing pink-magenta on a dark bench, lit only by its own 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 the question and leave it open; it is answered across slides 5 to 12 and checked on slide 20. Do not name quantization yet. Image prompt (empty slot): a glowing hydrogen discharge tube photographed close, with a prism-split smear of four thin colored lines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first so later slides can use it. Students write only the energy-level line. Image prompt (empty slot): a glass prism on a lab bench splitting a narrow white beam.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Thomson, then Rutherford 1911, then the problem: a classical orbiting charge should radiate and spiral in. Bohr, 1913. Image prompt (empty slot): a chalkboard with a hand-drawn nucleus and one looping electron path, chalk dust on the 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fixed orbits, no radiation in an orbit, photon jumps. The photon energy equals the difference between the two levels. Image prompt (empty slot): a hand-drawn set of concentric circles in a pocket notebook, pencil beside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 one proton, one electron, here at n = 1. Orbits drawn at 1 : 4 : 9 spacing. This is the model's picture, not reality; slide 19 returns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Stairs versus ramp. Stress that no energy exists between levels. Image prompt (empty slot): a wooden staircase beside a smooth ramp of the same height, side-lit.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numbers: n is a whole number; there is no level between n = 1 and n = 2. Higher n is higher energy, drawn higher on the page. Spacing is to scale in shape: the gaps shrink as n rises. No equation and no energy values on purpose (Matt's instruction). Hydrogen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Gaps between levels shrink as n rises: the biggest gap is n = 1 to n = 2. No energy values printed on purpose (Matt's instruction). Misconception: that the levels are evenly spaced. Higher on the page means more energy. n = ∞ marks the electron leaving the atom.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state is n = 1. Excited states are any higher n and are short-lived. Image prompt (empty slot): two hydrogen discharge tubes side by side, one dark and one glowing.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Absorption: the electron rises only if the photon energy matches the gap between the two levels exactly. Wrong-energy photons pass through. Misconception: that any photon will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Emission: the electron drops and a photon leaves carrying the energy the atom loses. A bigger drop is a higher-energy photon. Misconception: emission means the electron goes up. It drops. Colors and wavelengths are S2.5, not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together, after slides 10 and 11 (ground state, absorption). Answer: not the ground state, because the ground state is n = 1 and n = 3 is higher, so the electron is excited. To reach n = 5 it must absorb energy, a photon that matches the gap from n = 3 to n = 5 exactly. A photon that is too small or too large passes through. Students write the reasoning in the work area. Image prompt (empty slot): a pencil resting beside a lab notebook open to a hand-drawn ladder of energy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against the earlier slides: ground state is n = 1; absorption moves the electron up and needs an exact energy match. The figure is not to scale (at true scale n = 3, 4 and 5 are too close to draw an arrow). No numbers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together. Leave the energy-levels slide (slide 9) up or flip back to it: the ranking uses the vertical gaps on that diagram, no formula. Answer: B (3 to 2) least, then A (4 to 2), then C (2 to 1) most. The highest-energy light comes from C. Save the colour idea for the solution slide: more energy means a shorter wavelength, which is bluer, and C is really ultraviolet, beyond violet; B is red and A is blue-green. S2.5 gives the wavelengths in nm. Image prompt (empty slot): a camera-flash bulb mid-discharge in a dark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arrows: C is longest, then A, then B. The figure is to scale in spacing, so arrow length is the ranking. Bluer means shorter wavelength and higher energy, stated qualitatively; no wavelengths here (S2.5). Highest-energy light is C, and C is ultraviolet in fact: say so if a student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together. Answer: the electron climbs to the top of the diagram, n = ∞, which means it is no longer in the atom. Hydrogen is left with its proton and no electron: a positive ion (an atom with more protons than electrons). Qualitative only; no energy value. Extension: in an atom with more electrons the outermost electron is the one that leaves first (S2.4 and U3 develop this). Image prompt (empty slot): a spark gap between two electrodes in a dark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 ion: the atom lost an electron, so it has more protons than electrons. Hydrogen with its one electron gone is just a proton. Energy goes in, so this is absorption, like slide 11, but the electron does not stop at a level. Outermost-electron-first is an extension for atoms with more electrons; do not push it for hydrogen.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Limits: correct for hydrogen only, not for atoms with 2 or more electrons. Electrons are not particles on tracks; the electron-cloud model (S2.2) replaces the orbits. Keep: quantized levels, photon in or out. Image prompt (empty slot): a worn textbook diagram of concentric orbits with a pencil strike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answers. 1: Electron energy is quantized, so only certain gaps between levels exist and only certain photon energies, hence certain colors. 2: Emitted. The electron drops, a photon leaves, and the atom loses energy. 3: Nothing: the photon passes through. No level lies between n = 1 and n = 2, so the electron can only absorb a photon that matches the gap exactly. Image prompt (empty slot): a student's notebook page with an answer crossed out and rewritten.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answers. 4: n = 2 to n = 1 releases more, because the gap between n = 1 and n = 2 is much bigger than the gap between n = 2 and n = 3 (the levels crowd together as n rises). 5: any one of: works only for hydrogen; cannot handle atoms with 2 or more electrons; electrons are not particles in circular orbits. Image prompt (empty slot): a stack of graded quiz papers with a red pen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to S2.2 and the electron-cloud model. Do not say Bohr explains multi-electron spectra, intensities, or bonding. Image prompt (empty slot): a long laboratory bench receding into shadow, one lamp lit at the far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01_UNIT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5532120" y="1554480"/>
            <a:ext cx="6656832" cy="374904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5532120" y="1554480"/>
            <a:ext cx="6656832" cy="374904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UNIT HERO IMAGE  •  16:9  •  1920×1080 min</a:t>
            </a:r>
            <a:endParaRPr lang="en-US" sz="1200" dirty="0"/>
          </a:p>
        </p:txBody>
      </p:sp>
      <p:sp>
        <p:nvSpPr>
          <p:cNvPr id="5" name="Shape 2"/>
          <p:cNvSpPr/>
          <p:nvPr/>
        </p:nvSpPr>
        <p:spPr>
          <a:xfrm>
            <a:off x="0" y="0"/>
            <a:ext cx="164592" cy="6858000"/>
          </a:xfrm>
          <a:prstGeom prst="rect">
            <a:avLst/>
          </a:prstGeom>
          <a:solidFill>
            <a:srgbClr val="A3E635"/>
          </a:solidFill>
          <a:ln/>
        </p:spPr>
      </p:sp>
      <p:sp>
        <p:nvSpPr>
          <p:cNvPr id="6" name="Text 3"/>
          <p:cNvSpPr txBox="1"/>
          <p:nvPr>
            <p:ph idx="104"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7" name="Shape 3"/>
          <p:cNvSpPr/>
          <p:nvPr/>
        </p:nvSpPr>
        <p:spPr>
          <a:xfrm>
            <a:off x="685800" y="676656"/>
            <a:ext cx="1371600" cy="0"/>
          </a:xfrm>
          <a:prstGeom prst="line">
            <a:avLst/>
          </a:prstGeom>
          <a:noFill/>
          <a:ln w="22225">
            <a:solidFill>
              <a:srgbClr val="A3E635"/>
            </a:solidFill>
            <a:prstDash val="solid"/>
          </a:ln>
        </p:spPr>
      </p:sp>
      <p:sp>
        <p:nvSpPr>
          <p:cNvPr id="8" name="Text 4"/>
          <p:cNvSpPr txBox="1"/>
          <p:nvPr>
            <p:ph idx="106" type="title" hasCustomPrompt="1"/>
          </p:nvPr>
        </p:nvSpPr>
        <p:spPr>
          <a:xfrm>
            <a:off x="685800" y="1188720"/>
            <a:ext cx="4617720" cy="1920240"/>
          </a:xfrm>
          <a:prstGeom prst="rect">
            <a:avLst/>
          </a:prstGeom>
          <a:noFill/>
          <a:ln/>
        </p:spPr>
        <p:txBody>
          <a:bodyPr wrap="square" rtlCol="0"/>
          <a:lstStyle>
            <a:lvl1pPr algn="l" indent="0" marL="0">
              <a:lnSpc>
                <a:spcPct val="105000"/>
              </a:lnSpc>
              <a:buNone/>
              <a:defRPr lang="en-US" sz="4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Unit Title</a:t>
            </a:r>
            <a:endParaRPr lang="en-US" sz="4000" dirty="0"/>
          </a:p>
          <a:p>
            <a:pPr algn="l" indent="0" marL="0">
              <a:lnSpc>
                <a:spcPct val="105000"/>
              </a:lnSpc>
              <a:buNone/>
            </a:pPr>
            <a:r>
              <a:rPr lang="en-US" sz="4000" b="1" dirty="0">
                <a:solidFill>
                  <a:srgbClr val="EDF0E5"/>
                </a:solidFill>
                <a:latin typeface="Trade Gothic Next" pitchFamily="34" charset="0"/>
                <a:ea typeface="Trade Gothic Next" pitchFamily="34" charset="-122"/>
                <a:cs typeface="Trade Gothic Next" pitchFamily="34" charset="-120"/>
              </a:rPr>
              <a:t>Goes Here</a:t>
            </a:r>
            <a:endParaRPr lang="en-US" sz="4000" dirty="0"/>
          </a:p>
        </p:txBody>
      </p:sp>
      <p:sp>
        <p:nvSpPr>
          <p:cNvPr id="9" name="Text 4"/>
          <p:cNvSpPr txBox="1"/>
          <p:nvPr>
            <p:ph idx="107" type="body" hasCustomPrompt="1"/>
          </p:nvPr>
        </p:nvSpPr>
        <p:spPr>
          <a:xfrm>
            <a:off x="685800" y="3246120"/>
            <a:ext cx="4434840" cy="822960"/>
          </a:xfrm>
          <a:prstGeom prst="rect">
            <a:avLst/>
          </a:prstGeom>
          <a:noFill/>
          <a:ln/>
        </p:spPr>
        <p:txBody>
          <a:bodyPr wrap="square" rtlCol="0"/>
          <a:lstStyle>
            <a:lvl1pPr indent="0" marL="0">
              <a:buNone/>
              <a:defRPr lang="en-US" sz="17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BDB6AA"/>
                </a:solidFill>
                <a:latin typeface="Trade Gothic Next" pitchFamily="34" charset="0"/>
                <a:ea typeface="Trade Gothic Next" pitchFamily="34" charset="-122"/>
                <a:cs typeface="Trade Gothic Next" pitchFamily="34" charset="-120"/>
              </a:rPr>
              <a:t>One sentence on what this unit is actually about.</a:t>
            </a:r>
            <a:endParaRPr lang="en-US" sz="1700" dirty="0"/>
          </a:p>
        </p:txBody>
      </p:sp>
      <p:sp>
        <p:nvSpPr>
          <p:cNvPr id="10" name="Shape 4"/>
          <p:cNvSpPr/>
          <p:nvPr/>
        </p:nvSpPr>
        <p:spPr>
          <a:xfrm>
            <a:off x="685800" y="5074920"/>
            <a:ext cx="1417320" cy="329184"/>
          </a:xfrm>
          <a:prstGeom prst="rect">
            <a:avLst>
              <a:gd name="adj" fmla="val 50000"/>
            </a:avLst>
          </a:prstGeom>
          <a:solidFill>
            <a:srgbClr val="A3E635"/>
          </a:solidFill>
          <a:ln/>
        </p:spPr>
      </p:sp>
      <p:sp>
        <p:nvSpPr>
          <p:cNvPr id="11" name="Text 5"/>
          <p:cNvSpPr txBox="1"/>
          <p:nvPr/>
        </p:nvSpPr>
        <p:spPr>
          <a:xfrm>
            <a:off x="685800" y="5102352"/>
            <a:ext cx="1417320" cy="274320"/>
          </a:xfrm>
          <a:prstGeom prst="rect">
            <a:avLst/>
          </a:prstGeom>
          <a:noFill/>
          <a:ln/>
        </p:spPr>
        <p:txBody>
          <a:bodyPr wrap="square" lIns="0" tIns="0" rIns="0" bIns="0" rtlCol="0" anchor="ctr"/>
          <a:lstStyle/>
          <a:p>
            <a:pPr algn="ctr" indent="0" marL="0">
              <a:buNone/>
            </a:pPr>
            <a:r>
              <a:rPr lang="en-US" sz="1000" b="1" spc="120" kern="0" dirty="0">
                <a:solidFill>
                  <a:srgbClr val="14161B"/>
                </a:solidFill>
                <a:latin typeface="Trade Gothic Next" pitchFamily="34" charset="0"/>
                <a:ea typeface="Trade Gothic Next" pitchFamily="34" charset="-122"/>
                <a:cs typeface="Trade Gothic Next" pitchFamily="34" charset="-120"/>
              </a:rPr>
              <a:t>MR. SHULL</a:t>
            </a:r>
            <a:endParaRPr lang="en-US" sz="1000" dirty="0"/>
          </a:p>
        </p:txBody>
      </p:sp>
      <p:sp>
        <p:nvSpPr>
          <p:cNvPr id="12"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3" name="Text 7"/>
          <p:cNvSpPr txBox="1"/>
          <p:nvPr>
            <p:ph idx="11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02_SECTION_TITL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3977640" cy="6858000"/>
          </a:xfrm>
          <a:prstGeom prst="rect">
            <a:avLst/>
          </a:prstGeom>
          <a:solidFill>
            <a:srgbClr val="A3E635"/>
          </a:solidFill>
          <a:ln/>
        </p:spPr>
      </p:sp>
      <p:sp>
        <p:nvSpPr>
          <p:cNvPr id="4" name="Shape 2"/>
          <p:cNvSpPr/>
          <p:nvPr/>
        </p:nvSpPr>
        <p:spPr>
          <a:xfrm>
            <a:off x="4480560" y="777240"/>
            <a:ext cx="7086600" cy="3986784"/>
          </a:xfrm>
          <a:prstGeom prst="rect">
            <a:avLst/>
          </a:prstGeom>
          <a:solidFill>
            <a:srgbClr val="2E3338"/>
          </a:solidFill>
          <a:ln w="12700">
            <a:solidFill>
              <a:srgbClr val="BDB6AA"/>
            </a:solidFill>
            <a:prstDash val="dash"/>
          </a:ln>
        </p:spPr>
      </p:sp>
      <p:sp>
        <p:nvSpPr>
          <p:cNvPr id="5" name="Text 3"/>
          <p:cNvSpPr txBox="1"/>
          <p:nvPr>
            <p:ph idx="103" hasCustomPrompt="1"/>
          </p:nvPr>
        </p:nvSpPr>
        <p:spPr>
          <a:xfrm>
            <a:off x="4480560" y="777240"/>
            <a:ext cx="7086600" cy="3986784"/>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SECTION IMAGE  •  16:9</a:t>
            </a:r>
            <a:endParaRPr lang="en-US" sz="1200" dirty="0"/>
          </a:p>
        </p:txBody>
      </p:sp>
      <p:sp>
        <p:nvSpPr>
          <p:cNvPr id="6" name="Text 3"/>
          <p:cNvSpPr txBox="1"/>
          <p:nvPr>
            <p:ph idx="104" type="body" hasCustomPrompt="1"/>
          </p:nvPr>
        </p:nvSpPr>
        <p:spPr>
          <a:xfrm>
            <a:off x="777240" y="502920"/>
            <a:ext cx="2011680" cy="868680"/>
          </a:xfrm>
          <a:prstGeom prst="rect">
            <a:avLst/>
          </a:prstGeom>
          <a:noFill/>
          <a:ln/>
        </p:spPr>
        <p:txBody>
          <a:bodyPr wrap="square" rtlCol="0"/>
          <a:lstStyle>
            <a:lvl1pPr algn="l" indent="0" marL="0">
              <a:buNone/>
              <a:defRPr lang="en-US" sz="44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01</a:t>
            </a:r>
            <a:endParaRPr lang="en-US" sz="4400" dirty="0"/>
          </a:p>
        </p:txBody>
      </p:sp>
      <p:sp>
        <p:nvSpPr>
          <p:cNvPr id="7" name="Text 3"/>
          <p:cNvSpPr txBox="1"/>
          <p:nvPr/>
        </p:nvSpPr>
        <p:spPr>
          <a:xfrm>
            <a:off x="777240" y="1481328"/>
            <a:ext cx="2743200" cy="219456"/>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SECTION TITLE</a:t>
            </a:r>
            <a:endParaRPr lang="en-US" sz="1100" dirty="0"/>
          </a:p>
        </p:txBody>
      </p:sp>
      <p:sp>
        <p:nvSpPr>
          <p:cNvPr id="8" name="Text 4"/>
          <p:cNvSpPr txBox="1"/>
          <p:nvPr>
            <p:ph idx="106" type="title" hasCustomPrompt="1"/>
          </p:nvPr>
        </p:nvSpPr>
        <p:spPr>
          <a:xfrm>
            <a:off x="777240" y="1847088"/>
            <a:ext cx="2834640" cy="1691640"/>
          </a:xfrm>
          <a:prstGeom prst="rect">
            <a:avLst/>
          </a:prstGeom>
          <a:noFill/>
          <a:ln/>
        </p:spPr>
        <p:txBody>
          <a:bodyPr wrap="square" rtlCol="0"/>
          <a:lstStyle>
            <a:lvl1pPr algn="l" indent="0" marL="0">
              <a:lnSpc>
                <a:spcPct val="106000"/>
              </a:lnSpc>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1.1</a:t>
            </a:r>
            <a:endParaRPr lang="en-US" sz="2800" dirty="0"/>
          </a:p>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Section Name</a:t>
            </a:r>
            <a:endParaRPr lang="en-US" sz="2800" dirty="0"/>
          </a:p>
        </p:txBody>
      </p:sp>
      <p:sp>
        <p:nvSpPr>
          <p:cNvPr id="9" name="Text 4"/>
          <p:cNvSpPr txBox="1"/>
          <p:nvPr>
            <p:ph idx="107" type="body" hasCustomPrompt="1"/>
          </p:nvPr>
        </p:nvSpPr>
        <p:spPr>
          <a:xfrm>
            <a:off x="777240" y="3749040"/>
            <a:ext cx="2834640" cy="109728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students should be able to do by the end.</a:t>
            </a:r>
            <a:endParaRPr lang="en-US" sz="1600" dirty="0"/>
          </a:p>
        </p:txBody>
      </p:sp>
      <p:sp>
        <p:nvSpPr>
          <p:cNvPr id="10" name="Text 4"/>
          <p:cNvSpPr txBox="1"/>
          <p:nvPr/>
        </p:nvSpPr>
        <p:spPr>
          <a:xfrm>
            <a:off x="777240" y="6382512"/>
            <a:ext cx="2743200" cy="237744"/>
          </a:xfrm>
          <a:prstGeom prst="rect">
            <a:avLst/>
          </a:prstGeom>
          <a:noFill/>
          <a:ln/>
        </p:spPr>
        <p:txBody>
          <a:bodyPr wrap="square" lIns="0" tIns="0" rIns="0" bIns="0" rtlCol="0" anchor="ctr"/>
          <a:lstStyle/>
          <a:p>
            <a:pPr indent="0" marL="0">
              <a:buNone/>
            </a:pPr>
            <a:r>
              <a:rPr lang="en-US" sz="1000" b="1" spc="140" kern="0" dirty="0">
                <a:solidFill>
                  <a:srgbClr val="14161B"/>
                </a:solidFill>
                <a:latin typeface="Trade Gothic Next" pitchFamily="34" charset="0"/>
                <a:ea typeface="Trade Gothic Next" pitchFamily="34" charset="-122"/>
                <a:cs typeface="Trade Gothic Next" pitchFamily="34" charset="-120"/>
              </a:rPr>
              <a:t>SHULL SCIENCE</a:t>
            </a:r>
            <a:endParaRPr lang="en-US" sz="1000" dirty="0"/>
          </a:p>
        </p:txBody>
      </p:sp>
      <p:sp>
        <p:nvSpPr>
          <p:cNvPr id="11" name="Text 5"/>
          <p:cNvSpPr txBox="1"/>
          <p:nvPr>
            <p:ph idx="109"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03_GROUPED_CONCEP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77440"/>
            <a:ext cx="4663440" cy="2624328"/>
          </a:xfrm>
          <a:prstGeom prst="rect">
            <a:avLst/>
          </a:prstGeom>
          <a:solidFill>
            <a:srgbClr val="EDF0E5"/>
          </a:solidFill>
          <a:ln w="12700">
            <a:solidFill>
              <a:srgbClr val="C8CDC2"/>
            </a:solidFill>
            <a:prstDash val="dash"/>
          </a:ln>
        </p:spPr>
      </p:sp>
      <p:sp>
        <p:nvSpPr>
          <p:cNvPr id="8" name="Text 3"/>
          <p:cNvSpPr txBox="1"/>
          <p:nvPr>
            <p:ph idx="106" hasCustomPrompt="1"/>
          </p:nvPr>
        </p:nvSpPr>
        <p:spPr>
          <a:xfrm>
            <a:off x="685800" y="2377440"/>
            <a:ext cx="4663440" cy="2624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9" name="Shape 3"/>
          <p:cNvSpPr/>
          <p:nvPr/>
        </p:nvSpPr>
        <p:spPr>
          <a:xfrm>
            <a:off x="5532120" y="2377440"/>
            <a:ext cx="3154680" cy="2624328"/>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5733288" y="2542032"/>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GROUP ONE</a:t>
            </a:r>
            <a:endParaRPr lang="en-US" sz="1200" dirty="0"/>
          </a:p>
        </p:txBody>
      </p:sp>
      <p:sp>
        <p:nvSpPr>
          <p:cNvPr id="11" name="Text 4"/>
          <p:cNvSpPr txBox="1"/>
          <p:nvPr>
            <p:ph idx="109" type="body" hasCustomPrompt="1"/>
          </p:nvPr>
        </p:nvSpPr>
        <p:spPr>
          <a:xfrm>
            <a:off x="5733288" y="2834640"/>
            <a:ext cx="2752344" cy="196596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first idea, in one or two lines.</a:t>
            </a:r>
            <a:endParaRPr lang="en-US" sz="1600" dirty="0"/>
          </a:p>
        </p:txBody>
      </p:sp>
      <p:sp>
        <p:nvSpPr>
          <p:cNvPr id="12" name="Shape 4"/>
          <p:cNvSpPr/>
          <p:nvPr/>
        </p:nvSpPr>
        <p:spPr>
          <a:xfrm>
            <a:off x="8915400" y="2377440"/>
            <a:ext cx="3154680" cy="2624328"/>
          </a:xfrm>
          <a:prstGeom prst="rect">
            <a:avLst/>
          </a:prstGeom>
          <a:solidFill>
            <a:srgbClr val="2E3338"/>
          </a:solidFill>
          <a:ln w="12700">
            <a:solidFill>
              <a:srgbClr val="2E3338"/>
            </a:solidFill>
            <a:prstDash val="solid"/>
          </a:ln>
        </p:spPr>
      </p:sp>
      <p:sp>
        <p:nvSpPr>
          <p:cNvPr id="13" name="Text 5"/>
          <p:cNvSpPr txBox="1"/>
          <p:nvPr>
            <p:ph idx="111" type="body" hasCustomPrompt="1"/>
          </p:nvPr>
        </p:nvSpPr>
        <p:spPr>
          <a:xfrm>
            <a:off x="9116568" y="2542032"/>
            <a:ext cx="2752344" cy="219456"/>
          </a:xfrm>
          <a:prstGeom prst="rect">
            <a:avLst/>
          </a:prstGeom>
          <a:noFill/>
          <a:ln/>
        </p:spPr>
        <p:txBody>
          <a:bodyPr wrap="square" rtlCol="0"/>
          <a:lstStyle>
            <a:lvl1pPr indent="0" marL="0">
              <a:buNone/>
              <a:defRPr lang="en-US" sz="1200" b="1" spc="120" kern="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GROUP TWO</a:t>
            </a:r>
            <a:endParaRPr lang="en-US" sz="1200" dirty="0"/>
          </a:p>
        </p:txBody>
      </p:sp>
      <p:sp>
        <p:nvSpPr>
          <p:cNvPr id="14" name="Text 5"/>
          <p:cNvSpPr txBox="1"/>
          <p:nvPr>
            <p:ph idx="112" type="body" hasCustomPrompt="1"/>
          </p:nvPr>
        </p:nvSpPr>
        <p:spPr>
          <a:xfrm>
            <a:off x="9116568" y="2834640"/>
            <a:ext cx="2752344" cy="196596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The contrasting idea.</a:t>
            </a:r>
            <a:endParaRPr lang="en-US" sz="1600" dirty="0"/>
          </a:p>
        </p:txBody>
      </p:sp>
      <p:sp>
        <p:nvSpPr>
          <p:cNvPr id="15" name="Shape 5"/>
          <p:cNvSpPr/>
          <p:nvPr/>
        </p:nvSpPr>
        <p:spPr>
          <a:xfrm>
            <a:off x="685800" y="5321808"/>
            <a:ext cx="10820095" cy="566928"/>
          </a:xfrm>
          <a:prstGeom prst="rect">
            <a:avLst/>
          </a:prstGeom>
          <a:solidFill>
            <a:srgbClr val="14161B"/>
          </a:solidFill>
          <a:ln/>
        </p:spPr>
      </p:sp>
      <p:sp>
        <p:nvSpPr>
          <p:cNvPr id="16" name="Text 6"/>
          <p:cNvSpPr txBox="1"/>
          <p:nvPr/>
        </p:nvSpPr>
        <p:spPr>
          <a:xfrm>
            <a:off x="886968" y="537667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7" name="Text 7"/>
          <p:cNvSpPr txBox="1"/>
          <p:nvPr>
            <p:ph idx="115" type="body" hasCustomPrompt="1"/>
          </p:nvPr>
        </p:nvSpPr>
        <p:spPr>
          <a:xfrm>
            <a:off x="2240280" y="539496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8"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8"/>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04_DIVIDER">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2926080" y="0"/>
            <a:ext cx="9262872" cy="6858000"/>
          </a:xfrm>
          <a:prstGeom prst="rect">
            <a:avLst/>
          </a:prstGeom>
          <a:solidFill>
            <a:srgbClr val="2E3338"/>
          </a:solidFill>
          <a:ln w="12700">
            <a:solidFill>
              <a:srgbClr val="BDB6AA"/>
            </a:solidFill>
            <a:prstDash val="dash"/>
          </a:ln>
        </p:spPr>
      </p:sp>
      <p:sp>
        <p:nvSpPr>
          <p:cNvPr id="4" name="Text 2"/>
          <p:cNvSpPr txBox="1"/>
          <p:nvPr>
            <p:ph idx="102" hasCustomPrompt="1"/>
          </p:nvPr>
        </p:nvSpPr>
        <p:spPr>
          <a:xfrm>
            <a:off x="2926080" y="0"/>
            <a:ext cx="9262872" cy="68580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FULL-BLEED CONCEPT IMAGE  •  one image, no decoration</a:t>
            </a:r>
            <a:endParaRPr lang="en-US" sz="1200" dirty="0"/>
          </a:p>
        </p:txBody>
      </p:sp>
      <p:sp>
        <p:nvSpPr>
          <p:cNvPr id="5" name="Shape 2"/>
          <p:cNvSpPr/>
          <p:nvPr/>
        </p:nvSpPr>
        <p:spPr>
          <a:xfrm>
            <a:off x="0" y="0"/>
            <a:ext cx="3931920" cy="6858000"/>
          </a:xfrm>
          <a:prstGeom prst="rect">
            <a:avLst/>
          </a:prstGeom>
          <a:solidFill>
            <a:srgbClr val="14161B"/>
          </a:solidFill>
          <a:ln/>
        </p:spPr>
      </p:sp>
      <p:sp>
        <p:nvSpPr>
          <p:cNvPr id="6" name="Shape 3"/>
          <p:cNvSpPr/>
          <p:nvPr/>
        </p:nvSpPr>
        <p:spPr>
          <a:xfrm>
            <a:off x="0" y="0"/>
            <a:ext cx="164592" cy="6858000"/>
          </a:xfrm>
          <a:prstGeom prst="rect">
            <a:avLst/>
          </a:prstGeom>
          <a:solidFill>
            <a:srgbClr val="A3E635"/>
          </a:solidFill>
          <a:ln/>
        </p:spPr>
      </p:sp>
      <p:sp>
        <p:nvSpPr>
          <p:cNvPr id="7" name="Shape 4"/>
          <p:cNvSpPr/>
          <p:nvPr/>
        </p:nvSpPr>
        <p:spPr>
          <a:xfrm>
            <a:off x="566928" y="1481328"/>
            <a:ext cx="3703320" cy="3675888"/>
          </a:xfrm>
          <a:prstGeom prst="rect">
            <a:avLst/>
          </a:prstGeom>
          <a:solidFill>
            <a:srgbClr val="14161B"/>
          </a:solidFill>
          <a:ln w="15875">
            <a:solidFill>
              <a:srgbClr val="A3E635"/>
            </a:solidFill>
            <a:prstDash val="solid"/>
          </a:ln>
        </p:spPr>
      </p:sp>
      <p:sp>
        <p:nvSpPr>
          <p:cNvPr id="8" name="Text 5"/>
          <p:cNvSpPr txBox="1"/>
          <p:nvPr>
            <p:ph idx="106" type="body" hasCustomPrompt="1"/>
          </p:nvPr>
        </p:nvSpPr>
        <p:spPr>
          <a:xfrm>
            <a:off x="841248" y="1755648"/>
            <a:ext cx="3154680" cy="457200"/>
          </a:xfrm>
          <a:prstGeom prst="rect">
            <a:avLst/>
          </a:prstGeom>
          <a:noFill/>
          <a:ln/>
        </p:spPr>
        <p:txBody>
          <a:bodyPr wrap="square" rtlCol="0"/>
          <a:lstStyle>
            <a:lvl1pPr indent="0" marL="0">
              <a:buNone/>
              <a:defRPr lang="en-US" sz="1100" b="1" spc="150" kern="0" dirty="0">
                <a:solidFill>
                  <a:srgbClr val="A3E635"/>
                </a:solidFill>
                <a:latin typeface="Trade Gothic Next" pitchFamily="34" charset="0"/>
                <a:ea typeface="Trade Gothic Next" pitchFamily="34" charset="-122"/>
                <a:cs typeface="Trade Gothic Next" pitchFamily="34" charset="-120"/>
              </a:defRPr>
            </a:lvl1pPr>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1.2  •  SECTION NAME</a:t>
            </a:r>
            <a:endParaRPr lang="en-US" sz="1100" dirty="0"/>
          </a:p>
        </p:txBody>
      </p:sp>
      <p:sp>
        <p:nvSpPr>
          <p:cNvPr id="9" name="Text 5"/>
          <p:cNvSpPr txBox="1"/>
          <p:nvPr>
            <p:ph idx="107" type="title" hasCustomPrompt="1"/>
          </p:nvPr>
        </p:nvSpPr>
        <p:spPr>
          <a:xfrm>
            <a:off x="841248" y="2304288"/>
            <a:ext cx="3154680" cy="1417320"/>
          </a:xfrm>
          <a:prstGeom prst="rect">
            <a:avLst/>
          </a:prstGeom>
          <a:noFill/>
          <a:ln/>
        </p:spPr>
        <p:txBody>
          <a:bodyPr wrap="square" rtlCol="0"/>
          <a:lstStyle>
            <a:lvl1pPr algn="l" indent="0" marL="0">
              <a:lnSpc>
                <a:spcPct val="108000"/>
              </a:lnSpc>
              <a:buNone/>
              <a:defRPr lang="en-US" sz="26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The Big Idea</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Of This Section</a:t>
            </a:r>
            <a:endParaRPr lang="en-US" sz="2600" dirty="0"/>
          </a:p>
        </p:txBody>
      </p:sp>
      <p:sp>
        <p:nvSpPr>
          <p:cNvPr id="10" name="Text 5"/>
          <p:cNvSpPr txBox="1"/>
          <p:nvPr>
            <p:ph idx="108" type="body" hasCustomPrompt="1"/>
          </p:nvPr>
        </p:nvSpPr>
        <p:spPr>
          <a:xfrm>
            <a:off x="841248" y="3858768"/>
            <a:ext cx="3154680" cy="109728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Students see the story before the first bullet.</a:t>
            </a:r>
            <a:endParaRPr lang="en-US" sz="1600" dirty="0"/>
          </a:p>
        </p:txBody>
      </p:sp>
      <p:sp>
        <p:nvSpPr>
          <p:cNvPr id="11" name="Text 5"/>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2" name="Text 6"/>
          <p:cNvSpPr txBox="1"/>
          <p:nvPr>
            <p:ph idx="110"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05_PROCESS_TIMELIN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10820095" cy="2011680"/>
          </a:xfrm>
          <a:prstGeom prst="rect">
            <a:avLst/>
          </a:prstGeom>
          <a:solidFill>
            <a:srgbClr val="14161B"/>
          </a:solidFill>
          <a:ln/>
        </p:spPr>
      </p:sp>
      <p:sp>
        <p:nvSpPr>
          <p:cNvPr id="8" name="Shape 3"/>
          <p:cNvSpPr/>
          <p:nvPr/>
        </p:nvSpPr>
        <p:spPr>
          <a:xfrm>
            <a:off x="3246120" y="2487168"/>
            <a:ext cx="5669280" cy="1828800"/>
          </a:xfrm>
          <a:prstGeom prst="rect">
            <a:avLst/>
          </a:prstGeom>
          <a:solidFill>
            <a:srgbClr val="2E3338"/>
          </a:solidFill>
          <a:ln w="12700">
            <a:solidFill>
              <a:srgbClr val="BDB6AA"/>
            </a:solidFill>
            <a:prstDash val="dash"/>
          </a:ln>
        </p:spPr>
      </p:sp>
      <p:sp>
        <p:nvSpPr>
          <p:cNvPr id="9" name="Text 4"/>
          <p:cNvSpPr txBox="1"/>
          <p:nvPr>
            <p:ph idx="107" hasCustomPrompt="1"/>
          </p:nvPr>
        </p:nvSpPr>
        <p:spPr>
          <a:xfrm>
            <a:off x="3246120" y="2487168"/>
            <a:ext cx="5669280" cy="1828800"/>
          </a:xfrm>
          <a:prstGeom prst="rect">
            <a:avLst/>
          </a:prstGeom>
          <a:noFill/>
          <a:ln/>
        </p:spPr>
        <p:txBody>
          <a:bodyPr wrap="square" rtlCol="0"/>
          <a:lstStyle>
            <a:lvl1pPr algn="ctr" indent="0" marL="0">
              <a:buNone/>
              <a:defRPr lang="en-US" sz="1200" dirty="0">
                <a:solidFill>
                  <a:srgbClr val="BDB6AA"/>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BDB6AA"/>
                </a:solidFill>
                <a:latin typeface="Trade Gothic Next" pitchFamily="34" charset="0"/>
                <a:ea typeface="Trade Gothic Next" pitchFamily="34" charset="-122"/>
                <a:cs typeface="Trade Gothic Next" pitchFamily="34" charset="-120"/>
              </a:rPr>
              <a:t>PROCESS BAND  •  3:1  •  generate 16:9 and centre-crop</a:t>
            </a:r>
            <a:endParaRPr lang="en-US" sz="1200" dirty="0"/>
          </a:p>
        </p:txBody>
      </p:sp>
      <p:sp>
        <p:nvSpPr>
          <p:cNvPr id="10" name="Shape 4"/>
          <p:cNvSpPr/>
          <p:nvPr/>
        </p:nvSpPr>
        <p:spPr>
          <a:xfrm>
            <a:off x="685800" y="4617720"/>
            <a:ext cx="2615184" cy="1188720"/>
          </a:xfrm>
          <a:prstGeom prst="rect">
            <a:avLst/>
          </a:prstGeom>
          <a:solidFill>
            <a:srgbClr val="EDF0E5"/>
          </a:solidFill>
          <a:ln w="12700">
            <a:solidFill>
              <a:srgbClr val="C8CDC2"/>
            </a:solidFill>
            <a:prstDash val="solid"/>
          </a:ln>
        </p:spPr>
      </p:sp>
      <p:sp>
        <p:nvSpPr>
          <p:cNvPr id="11" name="Text 5"/>
          <p:cNvSpPr txBox="1"/>
          <p:nvPr/>
        </p:nvSpPr>
        <p:spPr>
          <a:xfrm>
            <a:off x="832104"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1</a:t>
            </a:r>
            <a:endParaRPr lang="en-US" sz="1300" dirty="0"/>
          </a:p>
        </p:txBody>
      </p:sp>
      <p:sp>
        <p:nvSpPr>
          <p:cNvPr id="12" name="Text 6"/>
          <p:cNvSpPr txBox="1"/>
          <p:nvPr>
            <p:ph idx="110" type="body" hasCustomPrompt="1"/>
          </p:nvPr>
        </p:nvSpPr>
        <p:spPr>
          <a:xfrm>
            <a:off x="1234440"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1</a:t>
            </a:r>
            <a:endParaRPr lang="en-US" sz="1200" dirty="0"/>
          </a:p>
        </p:txBody>
      </p:sp>
      <p:sp>
        <p:nvSpPr>
          <p:cNvPr id="13" name="Text 6"/>
          <p:cNvSpPr txBox="1"/>
          <p:nvPr>
            <p:ph idx="111" type="body" hasCustomPrompt="1"/>
          </p:nvPr>
        </p:nvSpPr>
        <p:spPr>
          <a:xfrm>
            <a:off x="832104"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4" name="Shape 6"/>
          <p:cNvSpPr/>
          <p:nvPr/>
        </p:nvSpPr>
        <p:spPr>
          <a:xfrm>
            <a:off x="3447288" y="4617720"/>
            <a:ext cx="2615184" cy="1188720"/>
          </a:xfrm>
          <a:prstGeom prst="rect">
            <a:avLst/>
          </a:prstGeom>
          <a:solidFill>
            <a:srgbClr val="EDF0E5"/>
          </a:solidFill>
          <a:ln w="12700">
            <a:solidFill>
              <a:srgbClr val="C8CDC2"/>
            </a:solidFill>
            <a:prstDash val="solid"/>
          </a:ln>
        </p:spPr>
      </p:sp>
      <p:sp>
        <p:nvSpPr>
          <p:cNvPr id="15" name="Text 7"/>
          <p:cNvSpPr txBox="1"/>
          <p:nvPr/>
        </p:nvSpPr>
        <p:spPr>
          <a:xfrm>
            <a:off x="3593592"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2</a:t>
            </a:r>
            <a:endParaRPr lang="en-US" sz="1300" dirty="0"/>
          </a:p>
        </p:txBody>
      </p:sp>
      <p:sp>
        <p:nvSpPr>
          <p:cNvPr id="16" name="Text 8"/>
          <p:cNvSpPr txBox="1"/>
          <p:nvPr>
            <p:ph idx="114" type="body" hasCustomPrompt="1"/>
          </p:nvPr>
        </p:nvSpPr>
        <p:spPr>
          <a:xfrm>
            <a:off x="3995928"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2</a:t>
            </a:r>
            <a:endParaRPr lang="en-US" sz="1200" dirty="0"/>
          </a:p>
        </p:txBody>
      </p:sp>
      <p:sp>
        <p:nvSpPr>
          <p:cNvPr id="17" name="Text 8"/>
          <p:cNvSpPr txBox="1"/>
          <p:nvPr>
            <p:ph idx="115" type="body" hasCustomPrompt="1"/>
          </p:nvPr>
        </p:nvSpPr>
        <p:spPr>
          <a:xfrm>
            <a:off x="3593592"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18" name="Shape 8"/>
          <p:cNvSpPr/>
          <p:nvPr/>
        </p:nvSpPr>
        <p:spPr>
          <a:xfrm>
            <a:off x="6208776" y="4617720"/>
            <a:ext cx="2615184" cy="1188720"/>
          </a:xfrm>
          <a:prstGeom prst="rect">
            <a:avLst/>
          </a:prstGeom>
          <a:solidFill>
            <a:srgbClr val="EDF0E5"/>
          </a:solidFill>
          <a:ln w="12700">
            <a:solidFill>
              <a:srgbClr val="C8CDC2"/>
            </a:solidFill>
            <a:prstDash val="solid"/>
          </a:ln>
        </p:spPr>
      </p:sp>
      <p:sp>
        <p:nvSpPr>
          <p:cNvPr id="19" name="Text 9"/>
          <p:cNvSpPr txBox="1"/>
          <p:nvPr/>
        </p:nvSpPr>
        <p:spPr>
          <a:xfrm>
            <a:off x="6355080"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3</a:t>
            </a:r>
            <a:endParaRPr lang="en-US" sz="1300" dirty="0"/>
          </a:p>
        </p:txBody>
      </p:sp>
      <p:sp>
        <p:nvSpPr>
          <p:cNvPr id="20" name="Text 10"/>
          <p:cNvSpPr txBox="1"/>
          <p:nvPr>
            <p:ph idx="118" type="body" hasCustomPrompt="1"/>
          </p:nvPr>
        </p:nvSpPr>
        <p:spPr>
          <a:xfrm>
            <a:off x="6757416"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3</a:t>
            </a:r>
            <a:endParaRPr lang="en-US" sz="1200" dirty="0"/>
          </a:p>
        </p:txBody>
      </p:sp>
      <p:sp>
        <p:nvSpPr>
          <p:cNvPr id="21" name="Text 10"/>
          <p:cNvSpPr txBox="1"/>
          <p:nvPr>
            <p:ph idx="119" type="body" hasCustomPrompt="1"/>
          </p:nvPr>
        </p:nvSpPr>
        <p:spPr>
          <a:xfrm>
            <a:off x="6355080"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2" name="Shape 10"/>
          <p:cNvSpPr/>
          <p:nvPr/>
        </p:nvSpPr>
        <p:spPr>
          <a:xfrm>
            <a:off x="8970264" y="4617720"/>
            <a:ext cx="2615184" cy="1188720"/>
          </a:xfrm>
          <a:prstGeom prst="rect">
            <a:avLst/>
          </a:prstGeom>
          <a:solidFill>
            <a:srgbClr val="EDF0E5"/>
          </a:solidFill>
          <a:ln w="12700">
            <a:solidFill>
              <a:srgbClr val="C8CDC2"/>
            </a:solidFill>
            <a:prstDash val="solid"/>
          </a:ln>
        </p:spPr>
      </p:sp>
      <p:sp>
        <p:nvSpPr>
          <p:cNvPr id="23" name="Text 11"/>
          <p:cNvSpPr txBox="1"/>
          <p:nvPr/>
        </p:nvSpPr>
        <p:spPr>
          <a:xfrm>
            <a:off x="9116568" y="4736592"/>
            <a:ext cx="365760" cy="347472"/>
          </a:xfrm>
          <a:prstGeom prst="rect">
            <a:avLst/>
          </a:prstGeom>
          <a:noFill/>
          <a:ln/>
        </p:spPr>
        <p:txBody>
          <a:bodyPr wrap="square" lIns="0" tIns="0" rIns="0" bIns="0" rtlCol="0" anchor="ctr"/>
          <a:lstStyle/>
          <a:p>
            <a:pPr algn="l" indent="0" marL="0">
              <a:buNone/>
            </a:pPr>
            <a:r>
              <a:rPr lang="en-US" sz="1300" b="1" dirty="0">
                <a:solidFill>
                  <a:srgbClr val="14161B"/>
                </a:solidFill>
                <a:latin typeface="Trade Gothic Next" pitchFamily="34" charset="0"/>
                <a:ea typeface="Trade Gothic Next" pitchFamily="34" charset="-122"/>
                <a:cs typeface="Trade Gothic Next" pitchFamily="34" charset="-120"/>
              </a:rPr>
              <a:t>4</a:t>
            </a:r>
            <a:endParaRPr lang="en-US" sz="1300" dirty="0"/>
          </a:p>
        </p:txBody>
      </p:sp>
      <p:sp>
        <p:nvSpPr>
          <p:cNvPr id="24" name="Text 12"/>
          <p:cNvSpPr txBox="1"/>
          <p:nvPr>
            <p:ph idx="122" type="body" hasCustomPrompt="1"/>
          </p:nvPr>
        </p:nvSpPr>
        <p:spPr>
          <a:xfrm>
            <a:off x="9518904" y="4754880"/>
            <a:ext cx="1920240" cy="274320"/>
          </a:xfrm>
          <a:prstGeom prst="rect">
            <a:avLst/>
          </a:prstGeom>
          <a:noFill/>
          <a:ln/>
        </p:spPr>
        <p:txBody>
          <a:bodyPr wrap="square" rtlCol="0"/>
          <a:lstStyle>
            <a:lvl1pPr indent="0" marL="0">
              <a:buNone/>
              <a:defRPr lang="en-US" sz="12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200" b="1" dirty="0">
                <a:solidFill>
                  <a:srgbClr val="14161B"/>
                </a:solidFill>
                <a:latin typeface="Trade Gothic Next" pitchFamily="34" charset="0"/>
                <a:ea typeface="Trade Gothic Next" pitchFamily="34" charset="-122"/>
                <a:cs typeface="Trade Gothic Next" pitchFamily="34" charset="-120"/>
              </a:rPr>
              <a:t>Step 4</a:t>
            </a:r>
            <a:endParaRPr lang="en-US" sz="1200" dirty="0"/>
          </a:p>
        </p:txBody>
      </p:sp>
      <p:sp>
        <p:nvSpPr>
          <p:cNvPr id="25" name="Text 12"/>
          <p:cNvSpPr txBox="1"/>
          <p:nvPr>
            <p:ph idx="123" type="body" hasCustomPrompt="1"/>
          </p:nvPr>
        </p:nvSpPr>
        <p:spPr>
          <a:xfrm>
            <a:off x="9116568" y="5120640"/>
            <a:ext cx="2322576" cy="56692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changed, and why.</a:t>
            </a:r>
            <a:endParaRPr lang="en-US" sz="1600" dirty="0"/>
          </a:p>
        </p:txBody>
      </p:sp>
      <p:sp>
        <p:nvSpPr>
          <p:cNvPr id="26"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7" name="Text 13"/>
          <p:cNvSpPr txBox="1"/>
          <p:nvPr>
            <p:ph idx="12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06_CONCEPT_IMAGE">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Shape 2"/>
          <p:cNvSpPr/>
          <p:nvPr/>
        </p:nvSpPr>
        <p:spPr>
          <a:xfrm>
            <a:off x="6172200" y="868680"/>
            <a:ext cx="5349240" cy="4160520"/>
          </a:xfrm>
          <a:prstGeom prst="rect">
            <a:avLst/>
          </a:prstGeom>
          <a:solidFill>
            <a:srgbClr val="A3E635"/>
          </a:solidFill>
          <a:ln/>
        </p:spPr>
      </p:sp>
      <p:sp>
        <p:nvSpPr>
          <p:cNvPr id="5" name="Shape 3"/>
          <p:cNvSpPr/>
          <p:nvPr/>
        </p:nvSpPr>
        <p:spPr>
          <a:xfrm>
            <a:off x="6355080" y="1298448"/>
            <a:ext cx="4983480" cy="2798064"/>
          </a:xfrm>
          <a:prstGeom prst="rect">
            <a:avLst/>
          </a:prstGeom>
          <a:solidFill>
            <a:srgbClr val="EDF0E5"/>
          </a:solidFill>
          <a:ln w="12700">
            <a:solidFill>
              <a:srgbClr val="C8CDC2"/>
            </a:solidFill>
            <a:prstDash val="dash"/>
          </a:ln>
        </p:spPr>
      </p:sp>
      <p:sp>
        <p:nvSpPr>
          <p:cNvPr id="6" name="Text 4"/>
          <p:cNvSpPr txBox="1"/>
          <p:nvPr>
            <p:ph idx="104" hasCustomPrompt="1"/>
          </p:nvPr>
        </p:nvSpPr>
        <p:spPr>
          <a:xfrm>
            <a:off x="6355080" y="1298448"/>
            <a:ext cx="4983480" cy="2798064"/>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CONCEPT IMAGE  •  16:9</a:t>
            </a:r>
            <a:endParaRPr lang="en-US" sz="1200" dirty="0"/>
          </a:p>
        </p:txBody>
      </p:sp>
      <p:sp>
        <p:nvSpPr>
          <p:cNvPr id="7" name="Text 4"/>
          <p:cNvSpPr txBox="1"/>
          <p:nvPr>
            <p:ph idx="105"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8" name="Shape 4"/>
          <p:cNvSpPr/>
          <p:nvPr/>
        </p:nvSpPr>
        <p:spPr>
          <a:xfrm>
            <a:off x="685800" y="676656"/>
            <a:ext cx="1371600" cy="0"/>
          </a:xfrm>
          <a:prstGeom prst="line">
            <a:avLst/>
          </a:prstGeom>
          <a:noFill/>
          <a:ln w="22225">
            <a:solidFill>
              <a:srgbClr val="A3E635"/>
            </a:solidFill>
            <a:prstDash val="solid"/>
          </a:ln>
        </p:spPr>
      </p:sp>
      <p:sp>
        <p:nvSpPr>
          <p:cNvPr id="9" name="Text 5"/>
          <p:cNvSpPr txBox="1"/>
          <p:nvPr>
            <p:ph idx="107" type="title" hasCustomPrompt="1"/>
          </p:nvPr>
        </p:nvSpPr>
        <p:spPr>
          <a:xfrm>
            <a:off x="685800" y="1188720"/>
            <a:ext cx="4892040" cy="868680"/>
          </a:xfrm>
          <a:prstGeom prst="rect">
            <a:avLst/>
          </a:prstGeom>
          <a:noFill/>
          <a:ln/>
        </p:spPr>
        <p:txBody>
          <a:bodyPr wrap="square" rtlCol="0"/>
          <a:lstStyle>
            <a:lvl1pPr algn="l" indent="0" marL="0">
              <a:buNone/>
              <a:defRPr lang="en-US" sz="2800" b="1" dirty="0">
                <a:solidFill>
                  <a:srgbClr val="EDF0E5"/>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Concept Headline</a:t>
            </a:r>
            <a:endParaRPr lang="en-US" sz="2800" dirty="0"/>
          </a:p>
        </p:txBody>
      </p:sp>
      <p:sp>
        <p:nvSpPr>
          <p:cNvPr id="10" name="Text 5"/>
          <p:cNvSpPr txBox="1"/>
          <p:nvPr>
            <p:ph idx="108" type="body" hasCustomPrompt="1"/>
          </p:nvPr>
        </p:nvSpPr>
        <p:spPr>
          <a:xfrm>
            <a:off x="685800" y="2148840"/>
            <a:ext cx="4892040" cy="10058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Keep it to what the image cannot say on its own.</a:t>
            </a:r>
            <a:endParaRPr lang="en-US" sz="1600" dirty="0"/>
          </a:p>
        </p:txBody>
      </p:sp>
      <p:sp>
        <p:nvSpPr>
          <p:cNvPr id="11" name="Shape 5"/>
          <p:cNvSpPr/>
          <p:nvPr/>
        </p:nvSpPr>
        <p:spPr>
          <a:xfrm>
            <a:off x="685800" y="3520440"/>
            <a:ext cx="4892040" cy="1143000"/>
          </a:xfrm>
          <a:prstGeom prst="rect">
            <a:avLst/>
          </a:prstGeom>
          <a:solidFill>
            <a:srgbClr val="2E3338"/>
          </a:solidFill>
          <a:ln/>
        </p:spPr>
      </p:sp>
      <p:sp>
        <p:nvSpPr>
          <p:cNvPr id="12" name="Text 6"/>
          <p:cNvSpPr txBox="1"/>
          <p:nvPr/>
        </p:nvSpPr>
        <p:spPr>
          <a:xfrm>
            <a:off x="886968" y="3657600"/>
            <a:ext cx="2743200" cy="219456"/>
          </a:xfrm>
          <a:prstGeom prst="rect">
            <a:avLst/>
          </a:prstGeom>
          <a:noFill/>
          <a:ln/>
        </p:spPr>
        <p:txBody>
          <a:bodyPr wrap="square" lIns="0" tIns="0" rIns="0" bIns="0" rtlCol="0" anchor="ctr"/>
          <a:lstStyle/>
          <a:p>
            <a:pPr indent="0" marL="0">
              <a:buNone/>
            </a:pPr>
            <a:r>
              <a:rPr lang="en-US" sz="900" b="1" spc="140" kern="0" dirty="0">
                <a:solidFill>
                  <a:srgbClr val="BDB6AA"/>
                </a:solidFill>
                <a:latin typeface="Trade Gothic Next" pitchFamily="34" charset="0"/>
                <a:ea typeface="Trade Gothic Next" pitchFamily="34" charset="-122"/>
                <a:cs typeface="Trade Gothic Next" pitchFamily="34" charset="-120"/>
              </a:rPr>
              <a:t>KEY QUESTION</a:t>
            </a:r>
            <a:endParaRPr lang="en-US" sz="900" dirty="0"/>
          </a:p>
        </p:txBody>
      </p:sp>
      <p:sp>
        <p:nvSpPr>
          <p:cNvPr id="13" name="Text 7"/>
          <p:cNvSpPr txBox="1"/>
          <p:nvPr>
            <p:ph idx="111" type="body" hasCustomPrompt="1"/>
          </p:nvPr>
        </p:nvSpPr>
        <p:spPr>
          <a:xfrm>
            <a:off x="886968" y="3950208"/>
            <a:ext cx="4489704" cy="566928"/>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question this slide is asking.</a:t>
            </a:r>
            <a:endParaRPr lang="en-US" sz="1600" dirty="0"/>
          </a:p>
        </p:txBody>
      </p:sp>
      <p:sp>
        <p:nvSpPr>
          <p:cNvPr id="14" name="Text 7"/>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15" name="Text 8"/>
          <p:cNvSpPr txBox="1"/>
          <p:nvPr>
            <p:ph idx="113"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07_COMPARISON_CARDS">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36092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36092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412480" y="960120"/>
            <a:ext cx="3090672" cy="1737360"/>
          </a:xfrm>
          <a:prstGeom prst="rect">
            <a:avLst/>
          </a:prstGeom>
          <a:solidFill>
            <a:srgbClr val="A3E635"/>
          </a:solidFill>
          <a:ln/>
        </p:spPr>
      </p:sp>
      <p:sp>
        <p:nvSpPr>
          <p:cNvPr id="8" name="Shape 3"/>
          <p:cNvSpPr/>
          <p:nvPr/>
        </p:nvSpPr>
        <p:spPr>
          <a:xfrm>
            <a:off x="8641080" y="1088136"/>
            <a:ext cx="2633472" cy="148132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641080" y="1088136"/>
            <a:ext cx="2633472" cy="148132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788920"/>
            <a:ext cx="3401568" cy="23317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88696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ONE</a:t>
            </a:r>
            <a:endParaRPr lang="en-US" sz="1200" dirty="0"/>
          </a:p>
        </p:txBody>
      </p:sp>
      <p:sp>
        <p:nvSpPr>
          <p:cNvPr id="12" name="Text 5"/>
          <p:cNvSpPr txBox="1"/>
          <p:nvPr>
            <p:ph idx="110" type="body" hasCustomPrompt="1"/>
          </p:nvPr>
        </p:nvSpPr>
        <p:spPr>
          <a:xfrm>
            <a:off x="88696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Three parallel items.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job each.</a:t>
            </a:r>
            <a:endParaRPr lang="en-US" sz="1600" dirty="0"/>
          </a:p>
        </p:txBody>
      </p:sp>
      <p:sp>
        <p:nvSpPr>
          <p:cNvPr id="13" name="Shape 5"/>
          <p:cNvSpPr/>
          <p:nvPr/>
        </p:nvSpPr>
        <p:spPr>
          <a:xfrm>
            <a:off x="4297680" y="2788920"/>
            <a:ext cx="3401568" cy="2331720"/>
          </a:xfrm>
          <a:prstGeom prst="rect">
            <a:avLst/>
          </a:prstGeom>
          <a:solidFill>
            <a:srgbClr val="EDF0E5"/>
          </a:solidFill>
          <a:ln w="12700">
            <a:solidFill>
              <a:srgbClr val="C8CDC2"/>
            </a:solidFill>
            <a:prstDash val="solid"/>
          </a:ln>
        </p:spPr>
      </p:sp>
      <p:sp>
        <p:nvSpPr>
          <p:cNvPr id="14" name="Text 6"/>
          <p:cNvSpPr txBox="1"/>
          <p:nvPr>
            <p:ph idx="112" type="body" hasCustomPrompt="1"/>
          </p:nvPr>
        </p:nvSpPr>
        <p:spPr>
          <a:xfrm>
            <a:off x="449884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TWO</a:t>
            </a:r>
            <a:endParaRPr lang="en-US" sz="1200" dirty="0"/>
          </a:p>
        </p:txBody>
      </p:sp>
      <p:sp>
        <p:nvSpPr>
          <p:cNvPr id="15" name="Text 6"/>
          <p:cNvSpPr txBox="1"/>
          <p:nvPr>
            <p:ph idx="113" type="body" hasCustomPrompt="1"/>
          </p:nvPr>
        </p:nvSpPr>
        <p:spPr>
          <a:xfrm>
            <a:off x="449884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 a wall of bullets.</a:t>
            </a:r>
            <a:endParaRPr lang="en-US" sz="1600" dirty="0"/>
          </a:p>
        </p:txBody>
      </p:sp>
      <p:sp>
        <p:nvSpPr>
          <p:cNvPr id="16" name="Shape 6"/>
          <p:cNvSpPr/>
          <p:nvPr/>
        </p:nvSpPr>
        <p:spPr>
          <a:xfrm>
            <a:off x="7909560" y="2788920"/>
            <a:ext cx="3401568" cy="2331720"/>
          </a:xfrm>
          <a:prstGeom prst="rect">
            <a:avLst/>
          </a:prstGeom>
          <a:solidFill>
            <a:srgbClr val="EDF0E5"/>
          </a:solidFill>
          <a:ln w="12700">
            <a:solidFill>
              <a:srgbClr val="C8CDC2"/>
            </a:solidFill>
            <a:prstDash val="solid"/>
          </a:ln>
        </p:spPr>
      </p:sp>
      <p:sp>
        <p:nvSpPr>
          <p:cNvPr id="17" name="Text 7"/>
          <p:cNvSpPr txBox="1"/>
          <p:nvPr>
            <p:ph idx="115" type="body" hasCustomPrompt="1"/>
          </p:nvPr>
        </p:nvSpPr>
        <p:spPr>
          <a:xfrm>
            <a:off x="8110728" y="2953512"/>
            <a:ext cx="2999232"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ITEM THREE</a:t>
            </a:r>
            <a:endParaRPr lang="en-US" sz="1200" dirty="0"/>
          </a:p>
        </p:txBody>
      </p:sp>
      <p:sp>
        <p:nvSpPr>
          <p:cNvPr id="18" name="Text 7"/>
          <p:cNvSpPr txBox="1"/>
          <p:nvPr>
            <p:ph idx="116" type="body" hasCustomPrompt="1"/>
          </p:nvPr>
        </p:nvSpPr>
        <p:spPr>
          <a:xfrm>
            <a:off x="8110728" y="3246120"/>
            <a:ext cx="2999232" cy="16733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third parallel item.</a:t>
            </a:r>
            <a:endParaRPr lang="en-US" sz="1600" dirty="0"/>
          </a:p>
        </p:txBody>
      </p:sp>
      <p:sp>
        <p:nvSpPr>
          <p:cNvPr id="19" name="Shape 7"/>
          <p:cNvSpPr/>
          <p:nvPr/>
        </p:nvSpPr>
        <p:spPr>
          <a:xfrm>
            <a:off x="685800" y="5413248"/>
            <a:ext cx="10820095" cy="566928"/>
          </a:xfrm>
          <a:prstGeom prst="rect">
            <a:avLst/>
          </a:prstGeom>
          <a:solidFill>
            <a:srgbClr val="14161B"/>
          </a:solidFill>
          <a:ln/>
        </p:spPr>
      </p:sp>
      <p:sp>
        <p:nvSpPr>
          <p:cNvPr id="20" name="Text 8"/>
          <p:cNvSpPr txBox="1"/>
          <p:nvPr/>
        </p:nvSpPr>
        <p:spPr>
          <a:xfrm>
            <a:off x="886968" y="546811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1" name="Text 9"/>
          <p:cNvSpPr txBox="1"/>
          <p:nvPr>
            <p:ph idx="119" type="body" hasCustomPrompt="1"/>
          </p:nvPr>
        </p:nvSpPr>
        <p:spPr>
          <a:xfrm>
            <a:off x="2240280" y="548640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2"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0"/>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08_DIAGRAM_ANNOTA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5074920" cy="3246120"/>
          </a:xfrm>
          <a:prstGeom prst="rect">
            <a:avLst/>
          </a:prstGeom>
          <a:solidFill>
            <a:srgbClr val="EDF0E5"/>
          </a:solidFill>
          <a:ln w="12700">
            <a:solidFill>
              <a:srgbClr val="C8CDC2"/>
            </a:solidFill>
            <a:prstDash val="solid"/>
          </a:ln>
        </p:spPr>
      </p:sp>
      <p:sp>
        <p:nvSpPr>
          <p:cNvPr id="8" name="Text 3"/>
          <p:cNvSpPr txBox="1"/>
          <p:nvPr>
            <p:ph idx="106" type="body" hasCustomPrompt="1"/>
          </p:nvPr>
        </p:nvSpPr>
        <p:spPr>
          <a:xfrm>
            <a:off x="914400" y="2651760"/>
            <a:ext cx="4617720" cy="2743200"/>
          </a:xfrm>
          <a:prstGeom prst="rect">
            <a:avLst/>
          </a:prstGeom>
          <a:noFill/>
          <a:ln/>
        </p:spPr>
        <p:txBody>
          <a:bodyPr wrap="square" rtlCol="0"/>
          <a:lstStyle>
            <a:lvl1pPr algn="ctr" indent="0" marL="0">
              <a:buNone/>
              <a:defRPr lang="en-US" sz="20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Hand-built diagram here.</a:t>
            </a:r>
            <a:endParaRPr lang="en-US" sz="2000" dirty="0"/>
          </a:p>
          <a:p>
            <a:pPr algn="ctr" indent="0" marL="0">
              <a:buNone/>
            </a:pPr>
            <a:r>
              <a:rPr lang="en-US" sz="2000" dirty="0">
                <a:solidFill>
                  <a:srgbClr val="2E3338"/>
                </a:solidFill>
                <a:latin typeface="Trade Gothic Next" pitchFamily="34" charset="0"/>
                <a:ea typeface="Trade Gothic Next" pitchFamily="34" charset="-122"/>
                <a:cs typeface="Trade Gothic Next" pitchFamily="34" charset="-120"/>
              </a:rPr>
              <a:t>Anything with a number or a label is built, not generated.</a:t>
            </a:r>
            <a:endParaRPr lang="en-US" sz="2000" dirty="0"/>
          </a:p>
        </p:txBody>
      </p:sp>
      <p:sp>
        <p:nvSpPr>
          <p:cNvPr id="9" name="Shape 3"/>
          <p:cNvSpPr/>
          <p:nvPr/>
        </p:nvSpPr>
        <p:spPr>
          <a:xfrm>
            <a:off x="6126480" y="2395728"/>
            <a:ext cx="5532120" cy="987552"/>
          </a:xfrm>
          <a:prstGeom prst="rect">
            <a:avLst/>
          </a:prstGeom>
          <a:solidFill>
            <a:srgbClr val="EDF0E5"/>
          </a:solidFill>
          <a:ln w="12700">
            <a:solidFill>
              <a:srgbClr val="C8CDC2"/>
            </a:solidFill>
            <a:prstDash val="solid"/>
          </a:ln>
        </p:spPr>
      </p:sp>
      <p:sp>
        <p:nvSpPr>
          <p:cNvPr id="10" name="Text 4"/>
          <p:cNvSpPr txBox="1"/>
          <p:nvPr>
            <p:ph idx="108" type="body" hasCustomPrompt="1"/>
          </p:nvPr>
        </p:nvSpPr>
        <p:spPr>
          <a:xfrm>
            <a:off x="6327648" y="2560320"/>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ONE</a:t>
            </a:r>
            <a:endParaRPr lang="en-US" sz="1200" dirty="0"/>
          </a:p>
        </p:txBody>
      </p:sp>
      <p:sp>
        <p:nvSpPr>
          <p:cNvPr id="11" name="Text 4"/>
          <p:cNvSpPr txBox="1"/>
          <p:nvPr>
            <p:ph idx="109" type="body" hasCustomPrompt="1"/>
          </p:nvPr>
        </p:nvSpPr>
        <p:spPr>
          <a:xfrm>
            <a:off x="6327648" y="2852928"/>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2" name="Shape 4"/>
          <p:cNvSpPr/>
          <p:nvPr/>
        </p:nvSpPr>
        <p:spPr>
          <a:xfrm>
            <a:off x="6126480" y="3529584"/>
            <a:ext cx="5532120" cy="987552"/>
          </a:xfrm>
          <a:prstGeom prst="rect">
            <a:avLst/>
          </a:prstGeom>
          <a:solidFill>
            <a:srgbClr val="EDF0E5"/>
          </a:solidFill>
          <a:ln w="12700">
            <a:solidFill>
              <a:srgbClr val="C8CDC2"/>
            </a:solidFill>
            <a:prstDash val="solid"/>
          </a:ln>
        </p:spPr>
      </p:sp>
      <p:sp>
        <p:nvSpPr>
          <p:cNvPr id="13" name="Text 5"/>
          <p:cNvSpPr txBox="1"/>
          <p:nvPr>
            <p:ph idx="111" type="body" hasCustomPrompt="1"/>
          </p:nvPr>
        </p:nvSpPr>
        <p:spPr>
          <a:xfrm>
            <a:off x="6327648" y="3694176"/>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TWO</a:t>
            </a:r>
            <a:endParaRPr lang="en-US" sz="1200" dirty="0"/>
          </a:p>
        </p:txBody>
      </p:sp>
      <p:sp>
        <p:nvSpPr>
          <p:cNvPr id="14" name="Text 5"/>
          <p:cNvSpPr txBox="1"/>
          <p:nvPr>
            <p:ph idx="112" type="body" hasCustomPrompt="1"/>
          </p:nvPr>
        </p:nvSpPr>
        <p:spPr>
          <a:xfrm>
            <a:off x="6327648" y="3986784"/>
            <a:ext cx="5129784" cy="329184"/>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5" name="Shape 5"/>
          <p:cNvSpPr/>
          <p:nvPr/>
        </p:nvSpPr>
        <p:spPr>
          <a:xfrm>
            <a:off x="6126480" y="4663440"/>
            <a:ext cx="5532120" cy="978408"/>
          </a:xfrm>
          <a:prstGeom prst="rect">
            <a:avLst/>
          </a:prstGeom>
          <a:solidFill>
            <a:srgbClr val="EDF0E5"/>
          </a:solidFill>
          <a:ln w="12700">
            <a:solidFill>
              <a:srgbClr val="C8CDC2"/>
            </a:solidFill>
            <a:prstDash val="solid"/>
          </a:ln>
        </p:spPr>
      </p:sp>
      <p:sp>
        <p:nvSpPr>
          <p:cNvPr id="16" name="Text 6"/>
          <p:cNvSpPr txBox="1"/>
          <p:nvPr>
            <p:ph idx="114" type="body" hasCustomPrompt="1"/>
          </p:nvPr>
        </p:nvSpPr>
        <p:spPr>
          <a:xfrm>
            <a:off x="6327648" y="4828032"/>
            <a:ext cx="512978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LABEL THREE</a:t>
            </a:r>
            <a:endParaRPr lang="en-US" sz="1200" dirty="0"/>
          </a:p>
        </p:txBody>
      </p:sp>
      <p:sp>
        <p:nvSpPr>
          <p:cNvPr id="17" name="Text 6"/>
          <p:cNvSpPr txBox="1"/>
          <p:nvPr>
            <p:ph idx="115" type="body" hasCustomPrompt="1"/>
          </p:nvPr>
        </p:nvSpPr>
        <p:spPr>
          <a:xfrm>
            <a:off x="6327648" y="5120640"/>
            <a:ext cx="5129784" cy="320040"/>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this part of the diagram means.</a:t>
            </a:r>
            <a:endParaRPr lang="en-US" sz="1600" dirty="0"/>
          </a:p>
        </p:txBody>
      </p:sp>
      <p:sp>
        <p:nvSpPr>
          <p:cNvPr id="18" name="Text 6"/>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19" name="Text 7"/>
          <p:cNvSpPr txBox="1"/>
          <p:nvPr>
            <p:ph idx="117"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09_EXAMPLE_PROBLEM">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7863840"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7863840"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8915400" y="960120"/>
            <a:ext cx="2587752" cy="1325880"/>
          </a:xfrm>
          <a:prstGeom prst="rect">
            <a:avLst/>
          </a:prstGeom>
          <a:solidFill>
            <a:srgbClr val="EDF0E5"/>
          </a:solidFill>
          <a:ln w="25400">
            <a:solidFill>
              <a:srgbClr val="A3E635"/>
            </a:solidFill>
            <a:prstDash val="solid"/>
          </a:ln>
        </p:spPr>
      </p:sp>
      <p:sp>
        <p:nvSpPr>
          <p:cNvPr id="8" name="Shape 3"/>
          <p:cNvSpPr/>
          <p:nvPr/>
        </p:nvSpPr>
        <p:spPr>
          <a:xfrm>
            <a:off x="9262872" y="1088136"/>
            <a:ext cx="1901952" cy="1069848"/>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9262872" y="1088136"/>
            <a:ext cx="1901952" cy="1069848"/>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SUPPORTING IMAGE</a:t>
            </a:r>
            <a:endParaRPr lang="en-US" sz="1200" dirty="0"/>
          </a:p>
        </p:txBody>
      </p:sp>
      <p:sp>
        <p:nvSpPr>
          <p:cNvPr id="10" name="Shape 4"/>
          <p:cNvSpPr/>
          <p:nvPr/>
        </p:nvSpPr>
        <p:spPr>
          <a:xfrm>
            <a:off x="685800" y="2395728"/>
            <a:ext cx="5394960" cy="1051560"/>
          </a:xfrm>
          <a:prstGeom prst="rect">
            <a:avLst/>
          </a:prstGeom>
          <a:solidFill>
            <a:srgbClr val="2E3338"/>
          </a:solidFill>
          <a:ln/>
        </p:spPr>
      </p:sp>
      <p:sp>
        <p:nvSpPr>
          <p:cNvPr id="11" name="Text 5"/>
          <p:cNvSpPr txBox="1"/>
          <p:nvPr/>
        </p:nvSpPr>
        <p:spPr>
          <a:xfrm>
            <a:off x="886968" y="2523744"/>
            <a:ext cx="1828800" cy="219456"/>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886968" y="2798064"/>
            <a:ext cx="4992624" cy="54864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685800" y="3611880"/>
            <a:ext cx="2606040" cy="1737360"/>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88696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88696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problem hands you.</a:t>
            </a:r>
            <a:endParaRPr lang="en-US" sz="1600" dirty="0"/>
          </a:p>
        </p:txBody>
      </p:sp>
      <p:sp>
        <p:nvSpPr>
          <p:cNvPr id="16" name="Shape 7"/>
          <p:cNvSpPr/>
          <p:nvPr/>
        </p:nvSpPr>
        <p:spPr>
          <a:xfrm>
            <a:off x="3474720" y="3611880"/>
            <a:ext cx="2606040" cy="1737360"/>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3675888" y="3776472"/>
            <a:ext cx="220370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18" name="Text 8"/>
          <p:cNvSpPr txBox="1"/>
          <p:nvPr>
            <p:ph idx="116" type="body" hasCustomPrompt="1"/>
          </p:nvPr>
        </p:nvSpPr>
        <p:spPr>
          <a:xfrm>
            <a:off x="3675888" y="4069080"/>
            <a:ext cx="2203704" cy="107899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you are solving for.</a:t>
            </a:r>
            <a:endParaRPr lang="en-US" sz="1600" dirty="0"/>
          </a:p>
        </p:txBody>
      </p:sp>
      <p:sp>
        <p:nvSpPr>
          <p:cNvPr id="19" name="Shape 8"/>
          <p:cNvSpPr/>
          <p:nvPr/>
        </p:nvSpPr>
        <p:spPr>
          <a:xfrm>
            <a:off x="6263640" y="2395728"/>
            <a:ext cx="5239512" cy="2953512"/>
          </a:xfrm>
          <a:prstGeom prst="rect">
            <a:avLst/>
          </a:prstGeom>
          <a:solidFill>
            <a:srgbClr val="EDF0E5"/>
          </a:solidFill>
          <a:ln w="12700">
            <a:solidFill>
              <a:srgbClr val="C8CDC2"/>
            </a:solidFill>
            <a:prstDash val="solid"/>
          </a:ln>
        </p:spPr>
      </p:sp>
      <p:sp>
        <p:nvSpPr>
          <p:cNvPr id="20" name="Text 9"/>
          <p:cNvSpPr txBox="1"/>
          <p:nvPr/>
        </p:nvSpPr>
        <p:spPr>
          <a:xfrm>
            <a:off x="6464808" y="2560320"/>
            <a:ext cx="22860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 AREA</a:t>
            </a:r>
            <a:endParaRPr lang="en-US" sz="900" dirty="0"/>
          </a:p>
        </p:txBody>
      </p:sp>
      <p:sp>
        <p:nvSpPr>
          <p:cNvPr id="21" name="Text 10"/>
          <p:cNvSpPr txBox="1"/>
          <p:nvPr>
            <p:ph idx="119" type="body" hasCustomPrompt="1"/>
          </p:nvPr>
        </p:nvSpPr>
        <p:spPr>
          <a:xfrm>
            <a:off x="6464808" y="2880360"/>
            <a:ext cx="4837176" cy="228600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Leave this blank in the projected copy. It is filled live on the board.</a:t>
            </a:r>
            <a:endParaRPr lang="en-US" sz="1900" dirty="0"/>
          </a:p>
        </p:txBody>
      </p:sp>
      <p:sp>
        <p:nvSpPr>
          <p:cNvPr id="22" name="Shape 10"/>
          <p:cNvSpPr/>
          <p:nvPr/>
        </p:nvSpPr>
        <p:spPr>
          <a:xfrm>
            <a:off x="685800" y="5532120"/>
            <a:ext cx="10820095" cy="566928"/>
          </a:xfrm>
          <a:prstGeom prst="rect">
            <a:avLst/>
          </a:prstGeom>
          <a:solidFill>
            <a:srgbClr val="14161B"/>
          </a:solidFill>
          <a:ln/>
        </p:spPr>
      </p:sp>
      <p:sp>
        <p:nvSpPr>
          <p:cNvPr id="23" name="Text 11"/>
          <p:cNvSpPr txBox="1"/>
          <p:nvPr/>
        </p:nvSpPr>
        <p:spPr>
          <a:xfrm>
            <a:off x="886968" y="5586984"/>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24" name="Text 12"/>
          <p:cNvSpPr txBox="1"/>
          <p:nvPr>
            <p:ph idx="122" type="body" hasCustomPrompt="1"/>
          </p:nvPr>
        </p:nvSpPr>
        <p:spPr>
          <a:xfrm>
            <a:off x="2240280" y="5605272"/>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25" name="Text 12"/>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6" name="Text 13"/>
          <p:cNvSpPr txBox="1"/>
          <p:nvPr>
            <p:ph idx="124"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0_WORKED_SOLUTI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160520" cy="2560320"/>
          </a:xfrm>
          <a:prstGeom prst="rect">
            <a:avLst/>
          </a:prstGeom>
          <a:solidFill>
            <a:srgbClr val="A3E635"/>
          </a:solidFill>
          <a:ln/>
        </p:spPr>
      </p:sp>
      <p:sp>
        <p:nvSpPr>
          <p:cNvPr id="8" name="Shape 3"/>
          <p:cNvSpPr/>
          <p:nvPr/>
        </p:nvSpPr>
        <p:spPr>
          <a:xfrm>
            <a:off x="832104" y="2542032"/>
            <a:ext cx="3867912" cy="2267712"/>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3867912" cy="2267712"/>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DATA IMAGE</a:t>
            </a:r>
            <a:endParaRPr lang="en-US" sz="1200" dirty="0"/>
          </a:p>
        </p:txBody>
      </p:sp>
      <p:sp>
        <p:nvSpPr>
          <p:cNvPr id="10" name="Shape 4"/>
          <p:cNvSpPr/>
          <p:nvPr/>
        </p:nvSpPr>
        <p:spPr>
          <a:xfrm>
            <a:off x="5074920" y="2395728"/>
            <a:ext cx="3154680" cy="2560320"/>
          </a:xfrm>
          <a:prstGeom prst="rect">
            <a:avLst/>
          </a:prstGeom>
          <a:solidFill>
            <a:srgbClr val="EDF0E5"/>
          </a:solidFill>
          <a:ln w="12700">
            <a:solidFill>
              <a:srgbClr val="C8CDC2"/>
            </a:solidFill>
            <a:prstDash val="solid"/>
          </a:ln>
        </p:spPr>
      </p:sp>
      <p:sp>
        <p:nvSpPr>
          <p:cNvPr id="11" name="Text 5"/>
          <p:cNvSpPr txBox="1"/>
          <p:nvPr>
            <p:ph idx="109" type="body" hasCustomPrompt="1"/>
          </p:nvPr>
        </p:nvSpPr>
        <p:spPr>
          <a:xfrm>
            <a:off x="5276088" y="2560320"/>
            <a:ext cx="2752344"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FORMULA</a:t>
            </a:r>
            <a:endParaRPr lang="en-US" sz="1200" dirty="0"/>
          </a:p>
        </p:txBody>
      </p:sp>
      <p:sp>
        <p:nvSpPr>
          <p:cNvPr id="12" name="Text 5"/>
          <p:cNvSpPr txBox="1"/>
          <p:nvPr>
            <p:ph idx="110" type="body" hasCustomPrompt="1"/>
          </p:nvPr>
        </p:nvSpPr>
        <p:spPr>
          <a:xfrm>
            <a:off x="5276088" y="2852928"/>
            <a:ext cx="2752344" cy="1901952"/>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before any numbers.</a:t>
            </a:r>
            <a:endParaRPr lang="en-US" sz="1600" dirty="0"/>
          </a:p>
        </p:txBody>
      </p:sp>
      <p:sp>
        <p:nvSpPr>
          <p:cNvPr id="13" name="Shape 5"/>
          <p:cNvSpPr/>
          <p:nvPr/>
        </p:nvSpPr>
        <p:spPr>
          <a:xfrm>
            <a:off x="8412480" y="2395728"/>
            <a:ext cx="3090672" cy="2560320"/>
          </a:xfrm>
          <a:prstGeom prst="rect">
            <a:avLst/>
          </a:prstGeom>
          <a:solidFill>
            <a:srgbClr val="EDF0E5"/>
          </a:solidFill>
          <a:ln w="12700">
            <a:solidFill>
              <a:srgbClr val="C8CDC2"/>
            </a:solidFill>
            <a:prstDash val="solid"/>
          </a:ln>
        </p:spPr>
      </p:sp>
      <p:sp>
        <p:nvSpPr>
          <p:cNvPr id="14" name="Text 6"/>
          <p:cNvSpPr txBox="1"/>
          <p:nvPr/>
        </p:nvSpPr>
        <p:spPr>
          <a:xfrm>
            <a:off x="8613648" y="2560320"/>
            <a:ext cx="1828800" cy="219456"/>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WORK</a:t>
            </a:r>
            <a:endParaRPr lang="en-US" sz="900" dirty="0"/>
          </a:p>
        </p:txBody>
      </p:sp>
      <p:sp>
        <p:nvSpPr>
          <p:cNvPr id="15" name="Text 7"/>
          <p:cNvSpPr txBox="1"/>
          <p:nvPr>
            <p:ph idx="113" type="body" hasCustomPrompt="1"/>
          </p:nvPr>
        </p:nvSpPr>
        <p:spPr>
          <a:xfrm>
            <a:off x="8613648" y="2871216"/>
            <a:ext cx="2688336" cy="1920240"/>
          </a:xfrm>
          <a:prstGeom prst="rect">
            <a:avLst/>
          </a:prstGeom>
          <a:noFill/>
          <a:ln/>
        </p:spPr>
        <p:txBody>
          <a:bodyPr wrap="square" rtlCol="0"/>
          <a:lstStyle>
            <a:lvl1pPr indent="0" marL="0">
              <a:buNone/>
              <a:defRPr lang="en-US" sz="19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 completed work,</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step by step.</a:t>
            </a:r>
            <a:endParaRPr lang="en-US" sz="1900" dirty="0"/>
          </a:p>
        </p:txBody>
      </p:sp>
      <p:sp>
        <p:nvSpPr>
          <p:cNvPr id="16" name="Shape 7"/>
          <p:cNvSpPr/>
          <p:nvPr/>
        </p:nvSpPr>
        <p:spPr>
          <a:xfrm>
            <a:off x="685800" y="5138928"/>
            <a:ext cx="10820095" cy="566928"/>
          </a:xfrm>
          <a:prstGeom prst="rect">
            <a:avLst/>
          </a:prstGeom>
          <a:solidFill>
            <a:srgbClr val="14161B"/>
          </a:solidFill>
          <a:ln/>
        </p:spPr>
      </p:sp>
      <p:sp>
        <p:nvSpPr>
          <p:cNvPr id="17" name="Text 8"/>
          <p:cNvSpPr txBox="1"/>
          <p:nvPr/>
        </p:nvSpPr>
        <p:spPr>
          <a:xfrm>
            <a:off x="886968" y="5193792"/>
            <a:ext cx="1188720" cy="201168"/>
          </a:xfrm>
          <a:prstGeom prst="rect">
            <a:avLst/>
          </a:prstGeom>
          <a:noFill/>
          <a:ln/>
        </p:spPr>
        <p:txBody>
          <a:bodyPr wrap="square" lIns="0" tIns="0" rIns="0" bIns="0" rtlCol="0" anchor="ctr"/>
          <a:lstStyle/>
          <a:p>
            <a:pPr indent="0" marL="0">
              <a:buNone/>
            </a:pPr>
            <a:r>
              <a:rPr lang="en-US" sz="900" b="1" spc="150" kern="0" dirty="0">
                <a:solidFill>
                  <a:srgbClr val="A3E635"/>
                </a:solidFill>
                <a:latin typeface="Trade Gothic Next" pitchFamily="34" charset="0"/>
                <a:ea typeface="Trade Gothic Next" pitchFamily="34" charset="-122"/>
                <a:cs typeface="Trade Gothic Next" pitchFamily="34" charset="-120"/>
              </a:rPr>
              <a:t>MUST WRITE</a:t>
            </a:r>
            <a:endParaRPr lang="en-US" sz="900" dirty="0"/>
          </a:p>
        </p:txBody>
      </p:sp>
      <p:sp>
        <p:nvSpPr>
          <p:cNvPr id="18" name="Text 9"/>
          <p:cNvSpPr txBox="1"/>
          <p:nvPr>
            <p:ph idx="116" type="body" hasCustomPrompt="1"/>
          </p:nvPr>
        </p:nvSpPr>
        <p:spPr>
          <a:xfrm>
            <a:off x="2240280" y="5212080"/>
            <a:ext cx="8991295" cy="402336"/>
          </a:xfrm>
          <a:prstGeom prst="rect">
            <a:avLst/>
          </a:prstGeom>
          <a:noFill/>
          <a:ln/>
        </p:spPr>
        <p:txBody>
          <a:bodyPr wrap="square" rtlCol="0"/>
          <a:lstStyle>
            <a:lvl1pPr indent="0" marL="0">
              <a:buNone/>
              <a:defRPr lang="en-US" sz="1600" b="1"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one sentence students copy down.</a:t>
            </a:r>
            <a:endParaRPr lang="en-US" sz="1600" dirty="0"/>
          </a:p>
        </p:txBody>
      </p:sp>
      <p:sp>
        <p:nvSpPr>
          <p:cNvPr id="19" name="Text 9"/>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0" name="Text 10"/>
          <p:cNvSpPr txBox="1"/>
          <p:nvPr>
            <p:ph idx="118"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1_GIVENS_EQUATION_ANSW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txBox="1"/>
          <p:nvPr>
            <p:ph idx="101"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4" name="Shape 1"/>
          <p:cNvSpPr/>
          <p:nvPr/>
        </p:nvSpPr>
        <p:spPr>
          <a:xfrm>
            <a:off x="685800" y="676656"/>
            <a:ext cx="1371600" cy="0"/>
          </a:xfrm>
          <a:prstGeom prst="line">
            <a:avLst/>
          </a:prstGeom>
          <a:noFill/>
          <a:ln w="22225">
            <a:solidFill>
              <a:srgbClr val="A3E635"/>
            </a:solidFill>
            <a:prstDash val="solid"/>
          </a:ln>
        </p:spPr>
      </p:sp>
      <p:sp>
        <p:nvSpPr>
          <p:cNvPr id="5" name="Text 2"/>
          <p:cNvSpPr txBox="1"/>
          <p:nvPr>
            <p:ph idx="103" type="title" hasCustomPrompt="1"/>
          </p:nvPr>
        </p:nvSpPr>
        <p:spPr>
          <a:xfrm>
            <a:off x="685800" y="932688"/>
            <a:ext cx="10820095" cy="868680"/>
          </a:xfrm>
          <a:prstGeom prst="rect">
            <a:avLst/>
          </a:prstGeom>
          <a:noFill/>
          <a:ln/>
        </p:spPr>
        <p:txBody>
          <a:bodyPr wrap="square" rtlCol="0"/>
          <a:lstStyle>
            <a:lvl1pPr algn="l" indent="0" marL="0">
              <a:buNone/>
              <a:defRPr lang="en-US" sz="2800" b="1" dirty="0">
                <a:solidFill>
                  <a:srgbClr val="14161B"/>
                </a:solidFill>
                <a:latin typeface="Trade Gothic Next" pitchFamily="34" charset="0"/>
                <a:ea typeface="Trade Gothic Next" pitchFamily="34" charset="-122"/>
                <a:cs typeface="Trade Gothic Next" pitchFamily="34" charset="-120"/>
              </a:defRPr>
            </a:lvl1pPr>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Slide Headline Goes Here</a:t>
            </a:r>
            <a:endParaRPr lang="en-US" sz="2800" dirty="0"/>
          </a:p>
        </p:txBody>
      </p:sp>
      <p:sp>
        <p:nvSpPr>
          <p:cNvPr id="6" name="Text 2"/>
          <p:cNvSpPr txBox="1"/>
          <p:nvPr>
            <p:ph idx="104" type="body" hasCustomPrompt="1"/>
          </p:nvPr>
        </p:nvSpPr>
        <p:spPr>
          <a:xfrm>
            <a:off x="685800" y="1847088"/>
            <a:ext cx="10820095" cy="384048"/>
          </a:xfrm>
          <a:prstGeom prst="rect">
            <a:avLst/>
          </a:prstGeom>
          <a:noFill/>
          <a:ln/>
        </p:spPr>
        <p:txBody>
          <a:bodyPr wrap="square" rtlCol="0"/>
          <a:lstStyle>
            <a:lvl1pPr indent="0" marL="0">
              <a:buNone/>
              <a:defRPr lang="en-US" sz="170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line that frames what students should look for.</a:t>
            </a:r>
            <a:endParaRPr lang="en-US" sz="1700" dirty="0"/>
          </a:p>
        </p:txBody>
      </p:sp>
      <p:sp>
        <p:nvSpPr>
          <p:cNvPr id="7" name="Shape 2"/>
          <p:cNvSpPr/>
          <p:nvPr/>
        </p:nvSpPr>
        <p:spPr>
          <a:xfrm>
            <a:off x="685800" y="2395728"/>
            <a:ext cx="4663440" cy="2624328"/>
          </a:xfrm>
          <a:prstGeom prst="rect">
            <a:avLst/>
          </a:prstGeom>
          <a:solidFill>
            <a:srgbClr val="A3E635"/>
          </a:solidFill>
          <a:ln/>
        </p:spPr>
      </p:sp>
      <p:sp>
        <p:nvSpPr>
          <p:cNvPr id="8" name="Shape 3"/>
          <p:cNvSpPr/>
          <p:nvPr/>
        </p:nvSpPr>
        <p:spPr>
          <a:xfrm>
            <a:off x="832104" y="2542032"/>
            <a:ext cx="4370832" cy="2331720"/>
          </a:xfrm>
          <a:prstGeom prst="rect">
            <a:avLst/>
          </a:prstGeom>
          <a:solidFill>
            <a:srgbClr val="EDF0E5"/>
          </a:solidFill>
          <a:ln w="12700">
            <a:solidFill>
              <a:srgbClr val="C8CDC2"/>
            </a:solidFill>
            <a:prstDash val="dash"/>
          </a:ln>
        </p:spPr>
      </p:sp>
      <p:sp>
        <p:nvSpPr>
          <p:cNvPr id="9" name="Text 4"/>
          <p:cNvSpPr txBox="1"/>
          <p:nvPr>
            <p:ph idx="107" hasCustomPrompt="1"/>
          </p:nvPr>
        </p:nvSpPr>
        <p:spPr>
          <a:xfrm>
            <a:off x="832104" y="2542032"/>
            <a:ext cx="4370832" cy="2331720"/>
          </a:xfrm>
          <a:prstGeom prst="rect">
            <a:avLst/>
          </a:prstGeom>
          <a:noFill/>
          <a:ln/>
        </p:spPr>
        <p:txBody>
          <a:bodyPr wrap="square" rtlCol="0"/>
          <a:lstStyle>
            <a:lvl1pPr algn="ctr" indent="0" marL="0">
              <a:buNone/>
              <a:defRPr lang="en-US" sz="1200" dirty="0">
                <a:solidFill>
                  <a:srgbClr val="2E3338"/>
                </a:solidFill>
                <a:latin typeface="Trade Gothic Next" pitchFamily="34" charset="0"/>
                <a:ea typeface="Trade Gothic Next" pitchFamily="34" charset="-122"/>
                <a:cs typeface="Trade Gothic Next" pitchFamily="34" charset="-120"/>
              </a:defRPr>
            </a:lvl1pPr>
          </a:lstStyle>
          <a:p>
            <a:pPr algn="ctr" indent="0" marL="0">
              <a:buNone/>
            </a:pPr>
            <a:r>
              <a:rPr lang="en-US" sz="1200" dirty="0">
                <a:solidFill>
                  <a:srgbClr val="2E3338"/>
                </a:solidFill>
                <a:latin typeface="Trade Gothic Next" pitchFamily="34" charset="0"/>
                <a:ea typeface="Trade Gothic Next" pitchFamily="34" charset="-122"/>
                <a:cs typeface="Trade Gothic Next" pitchFamily="34" charset="-120"/>
              </a:rPr>
              <a:t>SETUP IMAGE</a:t>
            </a:r>
            <a:endParaRPr lang="en-US" sz="1200" dirty="0"/>
          </a:p>
        </p:txBody>
      </p:sp>
      <p:sp>
        <p:nvSpPr>
          <p:cNvPr id="10" name="Shape 4"/>
          <p:cNvSpPr/>
          <p:nvPr/>
        </p:nvSpPr>
        <p:spPr>
          <a:xfrm>
            <a:off x="5577840" y="2395728"/>
            <a:ext cx="5925312" cy="960120"/>
          </a:xfrm>
          <a:prstGeom prst="rect">
            <a:avLst/>
          </a:prstGeom>
          <a:solidFill>
            <a:srgbClr val="2E3338"/>
          </a:solidFill>
          <a:ln/>
        </p:spPr>
      </p:sp>
      <p:sp>
        <p:nvSpPr>
          <p:cNvPr id="11" name="Text 5"/>
          <p:cNvSpPr txBox="1"/>
          <p:nvPr/>
        </p:nvSpPr>
        <p:spPr>
          <a:xfrm>
            <a:off x="5779008" y="2505456"/>
            <a:ext cx="1828800" cy="201168"/>
          </a:xfrm>
          <a:prstGeom prst="rect">
            <a:avLst/>
          </a:prstGeom>
          <a:noFill/>
          <a:ln/>
        </p:spPr>
        <p:txBody>
          <a:bodyPr wrap="square" lIns="0" tIns="0" rIns="0" bIns="0" rtlCol="0" anchor="ctr"/>
          <a:lstStyle/>
          <a:p>
            <a:pPr indent="0" marL="0">
              <a:buNone/>
            </a:pPr>
            <a:r>
              <a:rPr lang="en-US" sz="900" b="1" spc="140" kern="0" dirty="0">
                <a:solidFill>
                  <a:srgbClr val="A3E635"/>
                </a:solidFill>
                <a:latin typeface="Trade Gothic Next" pitchFamily="34" charset="0"/>
                <a:ea typeface="Trade Gothic Next" pitchFamily="34" charset="-122"/>
                <a:cs typeface="Trade Gothic Next" pitchFamily="34" charset="-120"/>
              </a:rPr>
              <a:t>PROBLEM</a:t>
            </a:r>
            <a:endParaRPr lang="en-US" sz="900" dirty="0"/>
          </a:p>
        </p:txBody>
      </p:sp>
      <p:sp>
        <p:nvSpPr>
          <p:cNvPr id="12" name="Text 6"/>
          <p:cNvSpPr txBox="1"/>
          <p:nvPr>
            <p:ph idx="110" type="body" hasCustomPrompt="1"/>
          </p:nvPr>
        </p:nvSpPr>
        <p:spPr>
          <a:xfrm>
            <a:off x="5779008" y="2743200"/>
            <a:ext cx="5522976" cy="502920"/>
          </a:xfrm>
          <a:prstGeom prst="rect">
            <a:avLst/>
          </a:prstGeom>
          <a:noFill/>
          <a:ln/>
        </p:spPr>
        <p:txBody>
          <a:bodyPr wrap="square" rtlCol="0"/>
          <a:lstStyle>
            <a:lvl1pPr indent="0" marL="0">
              <a:buNone/>
              <a:defRPr lang="en-US" sz="160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State the problem in one sentence.</a:t>
            </a:r>
            <a:endParaRPr lang="en-US" sz="1600" dirty="0"/>
          </a:p>
        </p:txBody>
      </p:sp>
      <p:sp>
        <p:nvSpPr>
          <p:cNvPr id="13" name="Shape 6"/>
          <p:cNvSpPr/>
          <p:nvPr/>
        </p:nvSpPr>
        <p:spPr>
          <a:xfrm>
            <a:off x="5577840" y="3520440"/>
            <a:ext cx="2871216" cy="1499616"/>
          </a:xfrm>
          <a:prstGeom prst="rect">
            <a:avLst/>
          </a:prstGeom>
          <a:solidFill>
            <a:srgbClr val="EDF0E5"/>
          </a:solidFill>
          <a:ln w="12700">
            <a:solidFill>
              <a:srgbClr val="C8CDC2"/>
            </a:solidFill>
            <a:prstDash val="solid"/>
          </a:ln>
        </p:spPr>
      </p:sp>
      <p:sp>
        <p:nvSpPr>
          <p:cNvPr id="14" name="Text 7"/>
          <p:cNvSpPr txBox="1"/>
          <p:nvPr>
            <p:ph idx="112" type="body" hasCustomPrompt="1"/>
          </p:nvPr>
        </p:nvSpPr>
        <p:spPr>
          <a:xfrm>
            <a:off x="5779008"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15" name="Text 7"/>
          <p:cNvSpPr txBox="1"/>
          <p:nvPr>
            <p:ph idx="113" type="body" hasCustomPrompt="1"/>
          </p:nvPr>
        </p:nvSpPr>
        <p:spPr>
          <a:xfrm>
            <a:off x="5779008"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Values the problem supplies.</a:t>
            </a:r>
            <a:endParaRPr lang="en-US" sz="1600" dirty="0"/>
          </a:p>
        </p:txBody>
      </p:sp>
      <p:sp>
        <p:nvSpPr>
          <p:cNvPr id="16" name="Shape 7"/>
          <p:cNvSpPr/>
          <p:nvPr/>
        </p:nvSpPr>
        <p:spPr>
          <a:xfrm>
            <a:off x="8631936" y="3520440"/>
            <a:ext cx="2871216" cy="1499616"/>
          </a:xfrm>
          <a:prstGeom prst="rect">
            <a:avLst/>
          </a:prstGeom>
          <a:solidFill>
            <a:srgbClr val="EDF0E5"/>
          </a:solidFill>
          <a:ln w="12700">
            <a:solidFill>
              <a:srgbClr val="C8CDC2"/>
            </a:solidFill>
            <a:prstDash val="solid"/>
          </a:ln>
        </p:spPr>
      </p:sp>
      <p:sp>
        <p:nvSpPr>
          <p:cNvPr id="17" name="Text 8"/>
          <p:cNvSpPr txBox="1"/>
          <p:nvPr>
            <p:ph idx="115" type="body" hasCustomPrompt="1"/>
          </p:nvPr>
        </p:nvSpPr>
        <p:spPr>
          <a:xfrm>
            <a:off x="8833104" y="3685032"/>
            <a:ext cx="2468880" cy="219456"/>
          </a:xfrm>
          <a:prstGeom prst="rect">
            <a:avLst/>
          </a:prstGeom>
          <a:noFill/>
          <a:ln/>
        </p:spPr>
        <p:txBody>
          <a:bodyPr wrap="square" rtlCol="0"/>
          <a:lstStyle>
            <a:lvl1pPr indent="0" marL="0">
              <a:buNone/>
              <a:defRPr lang="en-US" sz="1200" b="1" spc="120" kern="0" dirty="0">
                <a:solidFill>
                  <a:srgbClr val="2E3338"/>
                </a:solidFill>
                <a:latin typeface="Trade Gothic Next" pitchFamily="34" charset="0"/>
                <a:ea typeface="Trade Gothic Next" pitchFamily="34" charset="-122"/>
                <a:cs typeface="Trade Gothic Next" pitchFamily="34" charset="-120"/>
              </a:defRPr>
            </a:lvl1pPr>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EQUATION</a:t>
            </a:r>
            <a:endParaRPr lang="en-US" sz="1200" dirty="0"/>
          </a:p>
        </p:txBody>
      </p:sp>
      <p:sp>
        <p:nvSpPr>
          <p:cNvPr id="18" name="Text 8"/>
          <p:cNvSpPr txBox="1"/>
          <p:nvPr>
            <p:ph idx="116" type="body" hasCustomPrompt="1"/>
          </p:nvPr>
        </p:nvSpPr>
        <p:spPr>
          <a:xfrm>
            <a:off x="8833104" y="3977640"/>
            <a:ext cx="2468880" cy="841248"/>
          </a:xfrm>
          <a:prstGeom prst="rect">
            <a:avLst/>
          </a:prstGeom>
          <a:noFill/>
          <a:ln/>
        </p:spPr>
        <p:txBody>
          <a:bodyPr wrap="square" rtlCol="0"/>
          <a:lstStyle>
            <a:lvl1pPr indent="0" marL="0">
              <a:buNone/>
              <a:defRPr lang="en-US" sz="1600"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relationship you will use.</a:t>
            </a:r>
            <a:endParaRPr lang="en-US" sz="1600" dirty="0"/>
          </a:p>
        </p:txBody>
      </p:sp>
      <p:sp>
        <p:nvSpPr>
          <p:cNvPr id="19" name="Shape 8"/>
          <p:cNvSpPr/>
          <p:nvPr/>
        </p:nvSpPr>
        <p:spPr>
          <a:xfrm>
            <a:off x="5577840" y="5193792"/>
            <a:ext cx="5925312" cy="777240"/>
          </a:xfrm>
          <a:prstGeom prst="rect">
            <a:avLst/>
          </a:prstGeom>
          <a:solidFill>
            <a:srgbClr val="EDF0E5"/>
          </a:solidFill>
          <a:ln w="19050">
            <a:solidFill>
              <a:srgbClr val="A3E635"/>
            </a:solidFill>
            <a:prstDash val="solid"/>
          </a:ln>
        </p:spPr>
      </p:sp>
      <p:sp>
        <p:nvSpPr>
          <p:cNvPr id="20" name="Text 9"/>
          <p:cNvSpPr txBox="1"/>
          <p:nvPr/>
        </p:nvSpPr>
        <p:spPr>
          <a:xfrm>
            <a:off x="5779008" y="5285232"/>
            <a:ext cx="1828800" cy="201168"/>
          </a:xfrm>
          <a:prstGeom prst="rect">
            <a:avLst/>
          </a:prstGeom>
          <a:noFill/>
          <a:ln/>
        </p:spPr>
        <p:txBody>
          <a:bodyPr wrap="square" lIns="0" tIns="0" rIns="0" bIns="0" rtlCol="0" anchor="ctr"/>
          <a:lstStyle/>
          <a:p>
            <a:pPr indent="0" marL="0">
              <a:buNone/>
            </a:pPr>
            <a:r>
              <a:rPr lang="en-US" sz="900" b="1" spc="140" kern="0" dirty="0">
                <a:solidFill>
                  <a:srgbClr val="2E3338"/>
                </a:solidFill>
                <a:latin typeface="Trade Gothic Next" pitchFamily="34" charset="0"/>
                <a:ea typeface="Trade Gothic Next" pitchFamily="34" charset="-122"/>
                <a:cs typeface="Trade Gothic Next" pitchFamily="34" charset="-120"/>
              </a:rPr>
              <a:t>ANSWER</a:t>
            </a:r>
            <a:endParaRPr lang="en-US" sz="900" dirty="0"/>
          </a:p>
        </p:txBody>
      </p:sp>
      <p:sp>
        <p:nvSpPr>
          <p:cNvPr id="21" name="Text 10"/>
          <p:cNvSpPr txBox="1"/>
          <p:nvPr>
            <p:ph idx="119" type="body" hasCustomPrompt="1"/>
          </p:nvPr>
        </p:nvSpPr>
        <p:spPr>
          <a:xfrm>
            <a:off x="5779008" y="5504688"/>
            <a:ext cx="5522976" cy="384048"/>
          </a:xfrm>
          <a:prstGeom prst="rect">
            <a:avLst/>
          </a:prstGeom>
          <a:noFill/>
          <a:ln/>
        </p:spPr>
        <p:txBody>
          <a:bodyPr wrap="square" rtlCol="0"/>
          <a:lstStyle>
            <a:lvl1pPr indent="0" marL="0">
              <a:buNone/>
              <a:defRPr lang="en-US" sz="2000" b="1" dirty="0">
                <a:solidFill>
                  <a:srgbClr val="14161B"/>
                </a:solidFill>
                <a:latin typeface="Trade Gothic Next" pitchFamily="34" charset="0"/>
                <a:ea typeface="Trade Gothic Next" pitchFamily="34" charset="-122"/>
                <a:cs typeface="Trade Gothic Next" pitchFamily="34" charset="-120"/>
              </a:defRPr>
            </a:lvl1pPr>
          </a:lstStyle>
          <a:p>
            <a:pPr indent="0" marL="0">
              <a:buNone/>
            </a:pPr>
            <a:r>
              <a:rPr lang="en-US" sz="2000" b="1" dirty="0">
                <a:solidFill>
                  <a:srgbClr val="14161B"/>
                </a:solidFill>
                <a:latin typeface="Trade Gothic Next" pitchFamily="34" charset="0"/>
                <a:ea typeface="Trade Gothic Next" pitchFamily="34" charset="-122"/>
                <a:cs typeface="Trade Gothic Next" pitchFamily="34" charset="-120"/>
              </a:rPr>
              <a:t>with units</a:t>
            </a:r>
            <a:endParaRPr lang="en-US" sz="2000" dirty="0"/>
          </a:p>
        </p:txBody>
      </p:sp>
      <p:sp>
        <p:nvSpPr>
          <p:cNvPr id="22" name="Text 10"/>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SHULL SCIENCE</a:t>
            </a:r>
            <a:endParaRPr lang="en-US" sz="1000" dirty="0"/>
          </a:p>
        </p:txBody>
      </p:sp>
      <p:sp>
        <p:nvSpPr>
          <p:cNvPr id="23" name="Text 11"/>
          <p:cNvSpPr txBox="1"/>
          <p:nvPr>
            <p:ph idx="121"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2E3338"/>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2_DECK_INDEX">
    <p:bg>
      <p:bgPr>
        <a:solidFill>
          <a:srgbClr val="14161B"/>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4161B"/>
          </a:solidFill>
          <a:ln/>
        </p:spPr>
      </p:sp>
      <p:sp>
        <p:nvSpPr>
          <p:cNvPr id="3" name="Shape 1"/>
          <p:cNvSpPr/>
          <p:nvPr/>
        </p:nvSpPr>
        <p:spPr>
          <a:xfrm>
            <a:off x="0" y="0"/>
            <a:ext cx="164592" cy="6858000"/>
          </a:xfrm>
          <a:prstGeom prst="rect">
            <a:avLst/>
          </a:prstGeom>
          <a:solidFill>
            <a:srgbClr val="A3E635"/>
          </a:solidFill>
          <a:ln/>
        </p:spPr>
      </p:sp>
      <p:sp>
        <p:nvSpPr>
          <p:cNvPr id="4" name="Text 2"/>
          <p:cNvSpPr txBox="1"/>
          <p:nvPr>
            <p:ph idx="102" type="body" hasCustomPrompt="1"/>
          </p:nvPr>
        </p:nvSpPr>
        <p:spPr>
          <a:xfrm>
            <a:off x="685800" y="384048"/>
            <a:ext cx="6400800" cy="237744"/>
          </a:xfrm>
          <a:prstGeom prst="rect">
            <a:avLst/>
          </a:prstGeom>
          <a:noFill/>
          <a:ln/>
        </p:spPr>
        <p:txBody>
          <a:bodyPr wrap="square" rtlCol="0"/>
          <a:lstStyle>
            <a:lvl1pPr indent="0" marL="0">
              <a:buNone/>
              <a:defRPr lang="en-US" sz="1100" b="1" spc="160" kern="0" dirty="0">
                <a:solidFill>
                  <a:srgbClr val="EDF0E5"/>
                </a:solidFill>
                <a:latin typeface="Trade Gothic Next" pitchFamily="34" charset="0"/>
                <a:ea typeface="Trade Gothic Next" pitchFamily="34" charset="-122"/>
                <a:cs typeface="Trade Gothic Next" pitchFamily="34" charset="-120"/>
              </a:defRPr>
            </a:lvl1pP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00  •  CHEMISTRY</a:t>
            </a:r>
            <a:endParaRPr lang="en-US" sz="1100" dirty="0"/>
          </a:p>
        </p:txBody>
      </p:sp>
      <p:sp>
        <p:nvSpPr>
          <p:cNvPr id="5" name="Shape 2"/>
          <p:cNvSpPr/>
          <p:nvPr/>
        </p:nvSpPr>
        <p:spPr>
          <a:xfrm>
            <a:off x="685800" y="676656"/>
            <a:ext cx="1371600" cy="0"/>
          </a:xfrm>
          <a:prstGeom prst="line">
            <a:avLst/>
          </a:prstGeom>
          <a:noFill/>
          <a:ln w="22225">
            <a:solidFill>
              <a:srgbClr val="A3E635"/>
            </a:solidFill>
            <a:prstDash val="solid"/>
          </a:ln>
        </p:spPr>
      </p:sp>
      <p:sp>
        <p:nvSpPr>
          <p:cNvPr id="6" name="Text 3"/>
          <p:cNvSpPr txBox="1"/>
          <p:nvPr>
            <p:ph idx="104" type="title" hasCustomPrompt="1"/>
          </p:nvPr>
        </p:nvSpPr>
        <p:spPr>
          <a:xfrm>
            <a:off x="685800" y="1097280"/>
            <a:ext cx="3200400" cy="1280160"/>
          </a:xfrm>
          <a:prstGeom prst="rect">
            <a:avLst/>
          </a:prstGeom>
          <a:noFill/>
          <a:ln/>
        </p:spPr>
        <p:txBody>
          <a:bodyPr wrap="square" rtlCol="0"/>
          <a:lstStyle>
            <a:lvl1pPr algn="l" indent="0" marL="0">
              <a:lnSpc>
                <a:spcPct val="106000"/>
              </a:lnSpc>
              <a:buNone/>
              <a:defRPr lang="en-US" sz="3000" b="1" dirty="0">
                <a:solidFill>
                  <a:srgbClr val="EDF0E5"/>
                </a:solidFill>
                <a:latin typeface="Trade Gothic Next" pitchFamily="34" charset="0"/>
                <a:ea typeface="Trade Gothic Next" pitchFamily="34" charset="-122"/>
                <a:cs typeface="Trade Gothic Next" pitchFamily="34" charset="-120"/>
              </a:defRPr>
            </a:lvl1pPr>
          </a:lstStyle>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Template Slide</a:t>
            </a:r>
            <a:endParaRPr lang="en-US" sz="3000" dirty="0"/>
          </a:p>
          <a:p>
            <a:pPr algn="l" indent="0" marL="0">
              <a:lnSpc>
                <a:spcPct val="106000"/>
              </a:lnSpc>
              <a:buNone/>
            </a:pPr>
            <a:r>
              <a:rPr lang="en-US" sz="3000" b="1" dirty="0">
                <a:solidFill>
                  <a:srgbClr val="EDF0E5"/>
                </a:solidFill>
                <a:latin typeface="Trade Gothic Next" pitchFamily="34" charset="0"/>
                <a:ea typeface="Trade Gothic Next" pitchFamily="34" charset="-122"/>
                <a:cs typeface="Trade Gothic Next" pitchFamily="34" charset="-120"/>
              </a:rPr>
              <a:t>Family</a:t>
            </a:r>
            <a:endParaRPr lang="en-US" sz="3000" dirty="0"/>
          </a:p>
        </p:txBody>
      </p:sp>
      <p:sp>
        <p:nvSpPr>
          <p:cNvPr id="7" name="Text 3"/>
          <p:cNvSpPr txBox="1"/>
          <p:nvPr>
            <p:ph idx="105" type="body" hasCustomPrompt="1"/>
          </p:nvPr>
        </p:nvSpPr>
        <p:spPr>
          <a:xfrm>
            <a:off x="685800" y="2514600"/>
            <a:ext cx="3200400" cy="1463040"/>
          </a:xfrm>
          <a:prstGeom prst="rect">
            <a:avLst/>
          </a:prstGeom>
          <a:noFill/>
          <a:ln/>
        </p:spPr>
        <p:txBody>
          <a:bodyPr wrap="square" rtlCol="0"/>
          <a:lstStyle>
            <a:lvl1pPr indent="0" marL="0">
              <a:buNone/>
              <a:defRPr lang="en-US" sz="1600" dirty="0">
                <a:solidFill>
                  <a:srgbClr val="BDB6AA"/>
                </a:solidFill>
                <a:latin typeface="Trade Gothic Next" pitchFamily="34" charset="0"/>
                <a:ea typeface="Trade Gothic Next" pitchFamily="34" charset="-122"/>
                <a:cs typeface="Trade Gothic Next" pitchFamily="34" charset="-120"/>
              </a:defRPr>
            </a:lvl1pPr>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Twelve layouts shared by Chemistry, Physics, and Geology.</a:t>
            </a:r>
            <a:endParaRPr lang="en-US" sz="1600" dirty="0"/>
          </a:p>
          <a:p>
            <a:pPr indent="0" marL="0">
              <a:buNone/>
            </a:pPr>
            <a:endParaRPr lang="en-US" sz="1600" dirty="0"/>
          </a:p>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New slide → Layout → pick one. Never build from scratch.</a:t>
            </a:r>
            <a:endParaRPr lang="en-US" sz="1600" dirty="0"/>
          </a:p>
        </p:txBody>
      </p:sp>
      <p:sp>
        <p:nvSpPr>
          <p:cNvPr id="8" name="Shape 3"/>
          <p:cNvSpPr/>
          <p:nvPr/>
        </p:nvSpPr>
        <p:spPr>
          <a:xfrm>
            <a:off x="4434840" y="1097280"/>
            <a:ext cx="2148840" cy="932688"/>
          </a:xfrm>
          <a:prstGeom prst="rect">
            <a:avLst/>
          </a:prstGeom>
          <a:solidFill>
            <a:srgbClr val="2E3338"/>
          </a:solidFill>
          <a:ln/>
        </p:spPr>
      </p:sp>
      <p:sp>
        <p:nvSpPr>
          <p:cNvPr id="9" name="Text 4"/>
          <p:cNvSpPr txBox="1"/>
          <p:nvPr/>
        </p:nvSpPr>
        <p:spPr>
          <a:xfrm>
            <a:off x="459943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01</a:t>
            </a:r>
            <a:endParaRPr lang="en-US" sz="1100" dirty="0"/>
          </a:p>
        </p:txBody>
      </p:sp>
      <p:sp>
        <p:nvSpPr>
          <p:cNvPr id="10" name="Text 5"/>
          <p:cNvSpPr txBox="1"/>
          <p:nvPr/>
        </p:nvSpPr>
        <p:spPr>
          <a:xfrm>
            <a:off x="503834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Unit Title</a:t>
            </a:r>
            <a:endParaRPr lang="en-US" sz="1200" dirty="0"/>
          </a:p>
        </p:txBody>
      </p:sp>
      <p:sp>
        <p:nvSpPr>
          <p:cNvPr id="11" name="Text 6"/>
          <p:cNvSpPr txBox="1"/>
          <p:nvPr/>
        </p:nvSpPr>
        <p:spPr>
          <a:xfrm>
            <a:off x="459943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unit</a:t>
            </a:r>
            <a:endParaRPr lang="en-US" sz="1100" dirty="0"/>
          </a:p>
        </p:txBody>
      </p:sp>
      <p:sp>
        <p:nvSpPr>
          <p:cNvPr id="12" name="Shape 7"/>
          <p:cNvSpPr/>
          <p:nvPr/>
        </p:nvSpPr>
        <p:spPr>
          <a:xfrm>
            <a:off x="6766560" y="1097280"/>
            <a:ext cx="2148840" cy="932688"/>
          </a:xfrm>
          <a:prstGeom prst="rect">
            <a:avLst/>
          </a:prstGeom>
          <a:solidFill>
            <a:srgbClr val="2E3338"/>
          </a:solidFill>
          <a:ln/>
        </p:spPr>
      </p:sp>
      <p:sp>
        <p:nvSpPr>
          <p:cNvPr id="13" name="Text 8"/>
          <p:cNvSpPr txBox="1"/>
          <p:nvPr/>
        </p:nvSpPr>
        <p:spPr>
          <a:xfrm>
            <a:off x="693115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02</a:t>
            </a:r>
            <a:endParaRPr lang="en-US" sz="1100" dirty="0"/>
          </a:p>
        </p:txBody>
      </p:sp>
      <p:sp>
        <p:nvSpPr>
          <p:cNvPr id="14" name="Text 9"/>
          <p:cNvSpPr txBox="1"/>
          <p:nvPr/>
        </p:nvSpPr>
        <p:spPr>
          <a:xfrm>
            <a:off x="737006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Section Title</a:t>
            </a:r>
            <a:endParaRPr lang="en-US" sz="1200" dirty="0"/>
          </a:p>
        </p:txBody>
      </p:sp>
      <p:sp>
        <p:nvSpPr>
          <p:cNvPr id="15" name="Text 10"/>
          <p:cNvSpPr txBox="1"/>
          <p:nvPr/>
        </p:nvSpPr>
        <p:spPr>
          <a:xfrm>
            <a:off x="693115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opens a section</a:t>
            </a:r>
            <a:endParaRPr lang="en-US" sz="1100" dirty="0"/>
          </a:p>
        </p:txBody>
      </p:sp>
      <p:sp>
        <p:nvSpPr>
          <p:cNvPr id="16" name="Shape 11"/>
          <p:cNvSpPr/>
          <p:nvPr/>
        </p:nvSpPr>
        <p:spPr>
          <a:xfrm>
            <a:off x="9098280" y="1097280"/>
            <a:ext cx="2148840" cy="932688"/>
          </a:xfrm>
          <a:prstGeom prst="rect">
            <a:avLst/>
          </a:prstGeom>
          <a:solidFill>
            <a:srgbClr val="2E3338"/>
          </a:solidFill>
          <a:ln/>
        </p:spPr>
      </p:sp>
      <p:sp>
        <p:nvSpPr>
          <p:cNvPr id="17" name="Text 12"/>
          <p:cNvSpPr txBox="1"/>
          <p:nvPr/>
        </p:nvSpPr>
        <p:spPr>
          <a:xfrm>
            <a:off x="9262872" y="1225296"/>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03</a:t>
            </a:r>
            <a:endParaRPr lang="en-US" sz="1100" dirty="0"/>
          </a:p>
        </p:txBody>
      </p:sp>
      <p:sp>
        <p:nvSpPr>
          <p:cNvPr id="18" name="Text 13"/>
          <p:cNvSpPr txBox="1"/>
          <p:nvPr/>
        </p:nvSpPr>
        <p:spPr>
          <a:xfrm>
            <a:off x="9701784" y="1225296"/>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Grouped</a:t>
            </a:r>
            <a:endParaRPr lang="en-US" sz="1200" dirty="0"/>
          </a:p>
        </p:txBody>
      </p:sp>
      <p:sp>
        <p:nvSpPr>
          <p:cNvPr id="19" name="Text 14"/>
          <p:cNvSpPr txBox="1"/>
          <p:nvPr/>
        </p:nvSpPr>
        <p:spPr>
          <a:xfrm>
            <a:off x="9262872" y="1572768"/>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two contrasting ideas</a:t>
            </a:r>
            <a:endParaRPr lang="en-US" sz="1100" dirty="0"/>
          </a:p>
        </p:txBody>
      </p:sp>
      <p:sp>
        <p:nvSpPr>
          <p:cNvPr id="20" name="Shape 15"/>
          <p:cNvSpPr/>
          <p:nvPr/>
        </p:nvSpPr>
        <p:spPr>
          <a:xfrm>
            <a:off x="4434840" y="2212848"/>
            <a:ext cx="2148840" cy="932688"/>
          </a:xfrm>
          <a:prstGeom prst="rect">
            <a:avLst/>
          </a:prstGeom>
          <a:solidFill>
            <a:srgbClr val="2E3338"/>
          </a:solidFill>
          <a:ln/>
        </p:spPr>
      </p:sp>
      <p:sp>
        <p:nvSpPr>
          <p:cNvPr id="21" name="Text 16"/>
          <p:cNvSpPr txBox="1"/>
          <p:nvPr/>
        </p:nvSpPr>
        <p:spPr>
          <a:xfrm>
            <a:off x="459943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04</a:t>
            </a:r>
            <a:endParaRPr lang="en-US" sz="1100" dirty="0"/>
          </a:p>
        </p:txBody>
      </p:sp>
      <p:sp>
        <p:nvSpPr>
          <p:cNvPr id="22" name="Text 17"/>
          <p:cNvSpPr txBox="1"/>
          <p:nvPr/>
        </p:nvSpPr>
        <p:spPr>
          <a:xfrm>
            <a:off x="503834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Divider</a:t>
            </a:r>
            <a:endParaRPr lang="en-US" sz="1200" dirty="0"/>
          </a:p>
        </p:txBody>
      </p:sp>
      <p:sp>
        <p:nvSpPr>
          <p:cNvPr id="23" name="Text 18"/>
          <p:cNvSpPr txBox="1"/>
          <p:nvPr/>
        </p:nvSpPr>
        <p:spPr>
          <a:xfrm>
            <a:off x="459943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visual reset</a:t>
            </a:r>
            <a:endParaRPr lang="en-US" sz="1100" dirty="0"/>
          </a:p>
        </p:txBody>
      </p:sp>
      <p:sp>
        <p:nvSpPr>
          <p:cNvPr id="24" name="Shape 19"/>
          <p:cNvSpPr/>
          <p:nvPr/>
        </p:nvSpPr>
        <p:spPr>
          <a:xfrm>
            <a:off x="6766560" y="2212848"/>
            <a:ext cx="2148840" cy="932688"/>
          </a:xfrm>
          <a:prstGeom prst="rect">
            <a:avLst/>
          </a:prstGeom>
          <a:solidFill>
            <a:srgbClr val="2E3338"/>
          </a:solidFill>
          <a:ln/>
        </p:spPr>
      </p:sp>
      <p:sp>
        <p:nvSpPr>
          <p:cNvPr id="25" name="Text 20"/>
          <p:cNvSpPr txBox="1"/>
          <p:nvPr/>
        </p:nvSpPr>
        <p:spPr>
          <a:xfrm>
            <a:off x="693115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05</a:t>
            </a:r>
            <a:endParaRPr lang="en-US" sz="1100" dirty="0"/>
          </a:p>
        </p:txBody>
      </p:sp>
      <p:sp>
        <p:nvSpPr>
          <p:cNvPr id="26" name="Text 21"/>
          <p:cNvSpPr txBox="1"/>
          <p:nvPr/>
        </p:nvSpPr>
        <p:spPr>
          <a:xfrm>
            <a:off x="737006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Process</a:t>
            </a:r>
            <a:endParaRPr lang="en-US" sz="1200" dirty="0"/>
          </a:p>
        </p:txBody>
      </p:sp>
      <p:sp>
        <p:nvSpPr>
          <p:cNvPr id="27" name="Text 22"/>
          <p:cNvSpPr txBox="1"/>
          <p:nvPr/>
        </p:nvSpPr>
        <p:spPr>
          <a:xfrm>
            <a:off x="693115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four numbered steps</a:t>
            </a:r>
            <a:endParaRPr lang="en-US" sz="1100" dirty="0"/>
          </a:p>
        </p:txBody>
      </p:sp>
      <p:sp>
        <p:nvSpPr>
          <p:cNvPr id="28" name="Shape 23"/>
          <p:cNvSpPr/>
          <p:nvPr/>
        </p:nvSpPr>
        <p:spPr>
          <a:xfrm>
            <a:off x="9098280" y="2212848"/>
            <a:ext cx="2148840" cy="932688"/>
          </a:xfrm>
          <a:prstGeom prst="rect">
            <a:avLst/>
          </a:prstGeom>
          <a:solidFill>
            <a:srgbClr val="2E3338"/>
          </a:solidFill>
          <a:ln/>
        </p:spPr>
      </p:sp>
      <p:sp>
        <p:nvSpPr>
          <p:cNvPr id="29" name="Text 24"/>
          <p:cNvSpPr txBox="1"/>
          <p:nvPr/>
        </p:nvSpPr>
        <p:spPr>
          <a:xfrm>
            <a:off x="9262872" y="2340864"/>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06</a:t>
            </a:r>
            <a:endParaRPr lang="en-US" sz="1100" dirty="0"/>
          </a:p>
        </p:txBody>
      </p:sp>
      <p:sp>
        <p:nvSpPr>
          <p:cNvPr id="30" name="Text 25"/>
          <p:cNvSpPr txBox="1"/>
          <p:nvPr/>
        </p:nvSpPr>
        <p:spPr>
          <a:xfrm>
            <a:off x="9701784" y="2340864"/>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Concept Image</a:t>
            </a:r>
            <a:endParaRPr lang="en-US" sz="1200" dirty="0"/>
          </a:p>
        </p:txBody>
      </p:sp>
      <p:sp>
        <p:nvSpPr>
          <p:cNvPr id="31" name="Text 26"/>
          <p:cNvSpPr txBox="1"/>
          <p:nvPr/>
        </p:nvSpPr>
        <p:spPr>
          <a:xfrm>
            <a:off x="9262872" y="2688336"/>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panel + key question</a:t>
            </a:r>
            <a:endParaRPr lang="en-US" sz="1100" dirty="0"/>
          </a:p>
        </p:txBody>
      </p:sp>
      <p:sp>
        <p:nvSpPr>
          <p:cNvPr id="32" name="Shape 27"/>
          <p:cNvSpPr/>
          <p:nvPr/>
        </p:nvSpPr>
        <p:spPr>
          <a:xfrm>
            <a:off x="4434840" y="3328416"/>
            <a:ext cx="2148840" cy="932688"/>
          </a:xfrm>
          <a:prstGeom prst="rect">
            <a:avLst/>
          </a:prstGeom>
          <a:solidFill>
            <a:srgbClr val="2E3338"/>
          </a:solidFill>
          <a:ln/>
        </p:spPr>
      </p:sp>
      <p:sp>
        <p:nvSpPr>
          <p:cNvPr id="33" name="Text 28"/>
          <p:cNvSpPr txBox="1"/>
          <p:nvPr/>
        </p:nvSpPr>
        <p:spPr>
          <a:xfrm>
            <a:off x="459943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07</a:t>
            </a:r>
            <a:endParaRPr lang="en-US" sz="1100" dirty="0"/>
          </a:p>
        </p:txBody>
      </p:sp>
      <p:sp>
        <p:nvSpPr>
          <p:cNvPr id="34" name="Text 29"/>
          <p:cNvSpPr txBox="1"/>
          <p:nvPr/>
        </p:nvSpPr>
        <p:spPr>
          <a:xfrm>
            <a:off x="503834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Comparison</a:t>
            </a:r>
            <a:endParaRPr lang="en-US" sz="1200" dirty="0"/>
          </a:p>
        </p:txBody>
      </p:sp>
      <p:sp>
        <p:nvSpPr>
          <p:cNvPr id="35" name="Text 30"/>
          <p:cNvSpPr txBox="1"/>
          <p:nvPr/>
        </p:nvSpPr>
        <p:spPr>
          <a:xfrm>
            <a:off x="459943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three parallel items</a:t>
            </a:r>
            <a:endParaRPr lang="en-US" sz="1100" dirty="0"/>
          </a:p>
        </p:txBody>
      </p:sp>
      <p:sp>
        <p:nvSpPr>
          <p:cNvPr id="36" name="Shape 31"/>
          <p:cNvSpPr/>
          <p:nvPr/>
        </p:nvSpPr>
        <p:spPr>
          <a:xfrm>
            <a:off x="6766560" y="3328416"/>
            <a:ext cx="2148840" cy="932688"/>
          </a:xfrm>
          <a:prstGeom prst="rect">
            <a:avLst/>
          </a:prstGeom>
          <a:solidFill>
            <a:srgbClr val="2E3338"/>
          </a:solidFill>
          <a:ln/>
        </p:spPr>
      </p:sp>
      <p:sp>
        <p:nvSpPr>
          <p:cNvPr id="37" name="Text 32"/>
          <p:cNvSpPr txBox="1"/>
          <p:nvPr/>
        </p:nvSpPr>
        <p:spPr>
          <a:xfrm>
            <a:off x="693115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08</a:t>
            </a:r>
            <a:endParaRPr lang="en-US" sz="1100" dirty="0"/>
          </a:p>
        </p:txBody>
      </p:sp>
      <p:sp>
        <p:nvSpPr>
          <p:cNvPr id="38" name="Text 33"/>
          <p:cNvSpPr txBox="1"/>
          <p:nvPr/>
        </p:nvSpPr>
        <p:spPr>
          <a:xfrm>
            <a:off x="737006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Diagram</a:t>
            </a:r>
            <a:endParaRPr lang="en-US" sz="1200" dirty="0"/>
          </a:p>
        </p:txBody>
      </p:sp>
      <p:sp>
        <p:nvSpPr>
          <p:cNvPr id="39" name="Text 34"/>
          <p:cNvSpPr txBox="1"/>
          <p:nvPr/>
        </p:nvSpPr>
        <p:spPr>
          <a:xfrm>
            <a:off x="693115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figure + annotation</a:t>
            </a:r>
            <a:endParaRPr lang="en-US" sz="1100" dirty="0"/>
          </a:p>
        </p:txBody>
      </p:sp>
      <p:sp>
        <p:nvSpPr>
          <p:cNvPr id="40" name="Shape 35"/>
          <p:cNvSpPr/>
          <p:nvPr/>
        </p:nvSpPr>
        <p:spPr>
          <a:xfrm>
            <a:off x="9098280" y="3328416"/>
            <a:ext cx="2148840" cy="932688"/>
          </a:xfrm>
          <a:prstGeom prst="rect">
            <a:avLst/>
          </a:prstGeom>
          <a:solidFill>
            <a:srgbClr val="2E3338"/>
          </a:solidFill>
          <a:ln/>
        </p:spPr>
      </p:sp>
      <p:sp>
        <p:nvSpPr>
          <p:cNvPr id="41" name="Text 36"/>
          <p:cNvSpPr txBox="1"/>
          <p:nvPr/>
        </p:nvSpPr>
        <p:spPr>
          <a:xfrm>
            <a:off x="9262872" y="3456432"/>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09</a:t>
            </a:r>
            <a:endParaRPr lang="en-US" sz="1100" dirty="0"/>
          </a:p>
        </p:txBody>
      </p:sp>
      <p:sp>
        <p:nvSpPr>
          <p:cNvPr id="42" name="Text 37"/>
          <p:cNvSpPr txBox="1"/>
          <p:nvPr/>
        </p:nvSpPr>
        <p:spPr>
          <a:xfrm>
            <a:off x="9701784" y="3456432"/>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Example</a:t>
            </a:r>
            <a:endParaRPr lang="en-US" sz="1200" dirty="0"/>
          </a:p>
        </p:txBody>
      </p:sp>
      <p:sp>
        <p:nvSpPr>
          <p:cNvPr id="43" name="Text 38"/>
          <p:cNvSpPr txBox="1"/>
          <p:nvPr/>
        </p:nvSpPr>
        <p:spPr>
          <a:xfrm>
            <a:off x="9262872" y="3803904"/>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empty work area</a:t>
            </a:r>
            <a:endParaRPr lang="en-US" sz="1100" dirty="0"/>
          </a:p>
        </p:txBody>
      </p:sp>
      <p:sp>
        <p:nvSpPr>
          <p:cNvPr id="44" name="Shape 39"/>
          <p:cNvSpPr/>
          <p:nvPr/>
        </p:nvSpPr>
        <p:spPr>
          <a:xfrm>
            <a:off x="4434840" y="4443984"/>
            <a:ext cx="2148840" cy="932688"/>
          </a:xfrm>
          <a:prstGeom prst="rect">
            <a:avLst/>
          </a:prstGeom>
          <a:solidFill>
            <a:srgbClr val="2E3338"/>
          </a:solidFill>
          <a:ln/>
        </p:spPr>
      </p:sp>
      <p:sp>
        <p:nvSpPr>
          <p:cNvPr id="45" name="Text 40"/>
          <p:cNvSpPr txBox="1"/>
          <p:nvPr/>
        </p:nvSpPr>
        <p:spPr>
          <a:xfrm>
            <a:off x="459943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10</a:t>
            </a:r>
            <a:endParaRPr lang="en-US" sz="1100" dirty="0"/>
          </a:p>
        </p:txBody>
      </p:sp>
      <p:sp>
        <p:nvSpPr>
          <p:cNvPr id="46" name="Text 41"/>
          <p:cNvSpPr txBox="1"/>
          <p:nvPr/>
        </p:nvSpPr>
        <p:spPr>
          <a:xfrm>
            <a:off x="503834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Solution</a:t>
            </a:r>
            <a:endParaRPr lang="en-US" sz="1200" dirty="0"/>
          </a:p>
        </p:txBody>
      </p:sp>
      <p:sp>
        <p:nvSpPr>
          <p:cNvPr id="47" name="Text 42"/>
          <p:cNvSpPr txBox="1"/>
          <p:nvPr/>
        </p:nvSpPr>
        <p:spPr>
          <a:xfrm>
            <a:off x="459943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pairs with 09</a:t>
            </a:r>
            <a:endParaRPr lang="en-US" sz="1100" dirty="0"/>
          </a:p>
        </p:txBody>
      </p:sp>
      <p:sp>
        <p:nvSpPr>
          <p:cNvPr id="48" name="Shape 43"/>
          <p:cNvSpPr/>
          <p:nvPr/>
        </p:nvSpPr>
        <p:spPr>
          <a:xfrm>
            <a:off x="6766560" y="4443984"/>
            <a:ext cx="2148840" cy="932688"/>
          </a:xfrm>
          <a:prstGeom prst="rect">
            <a:avLst/>
          </a:prstGeom>
          <a:solidFill>
            <a:srgbClr val="2E3338"/>
          </a:solidFill>
          <a:ln/>
        </p:spPr>
      </p:sp>
      <p:sp>
        <p:nvSpPr>
          <p:cNvPr id="49" name="Text 44"/>
          <p:cNvSpPr txBox="1"/>
          <p:nvPr/>
        </p:nvSpPr>
        <p:spPr>
          <a:xfrm>
            <a:off x="693115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11</a:t>
            </a:r>
            <a:endParaRPr lang="en-US" sz="1100" dirty="0"/>
          </a:p>
        </p:txBody>
      </p:sp>
      <p:sp>
        <p:nvSpPr>
          <p:cNvPr id="50" name="Text 45"/>
          <p:cNvSpPr txBox="1"/>
          <p:nvPr/>
        </p:nvSpPr>
        <p:spPr>
          <a:xfrm>
            <a:off x="737006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Given/Eq/Ans</a:t>
            </a:r>
            <a:endParaRPr lang="en-US" sz="1200" dirty="0"/>
          </a:p>
        </p:txBody>
      </p:sp>
      <p:sp>
        <p:nvSpPr>
          <p:cNvPr id="51" name="Text 46"/>
          <p:cNvSpPr txBox="1"/>
          <p:nvPr/>
        </p:nvSpPr>
        <p:spPr>
          <a:xfrm>
            <a:off x="693115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any course</a:t>
            </a:r>
            <a:endParaRPr lang="en-US" sz="1100" dirty="0"/>
          </a:p>
        </p:txBody>
      </p:sp>
      <p:sp>
        <p:nvSpPr>
          <p:cNvPr id="52" name="Shape 47"/>
          <p:cNvSpPr/>
          <p:nvPr/>
        </p:nvSpPr>
        <p:spPr>
          <a:xfrm>
            <a:off x="9098280" y="4443984"/>
            <a:ext cx="2148840" cy="932688"/>
          </a:xfrm>
          <a:prstGeom prst="rect">
            <a:avLst/>
          </a:prstGeom>
          <a:solidFill>
            <a:srgbClr val="2E3338"/>
          </a:solidFill>
          <a:ln/>
        </p:spPr>
      </p:sp>
      <p:sp>
        <p:nvSpPr>
          <p:cNvPr id="53" name="Text 48"/>
          <p:cNvSpPr txBox="1"/>
          <p:nvPr/>
        </p:nvSpPr>
        <p:spPr>
          <a:xfrm>
            <a:off x="9262872" y="4572000"/>
            <a:ext cx="457200" cy="219456"/>
          </a:xfrm>
          <a:prstGeom prst="rect">
            <a:avLst/>
          </a:prstGeom>
          <a:noFill/>
          <a:ln/>
        </p:spPr>
        <p:txBody>
          <a:bodyPr wrap="square" lIns="0" tIns="0" rIns="0" bIns="0" rtlCol="0" anchor="ctr"/>
          <a:lstStyle/>
          <a:p>
            <a:pPr indent="0" marL="0">
              <a:buNone/>
            </a:pPr>
            <a:r>
              <a:rPr lang="en-US" sz="1100" b="1" dirty="0">
                <a:solidFill>
                  <a:srgbClr val="BDB6AA"/>
                </a:solidFill>
                <a:latin typeface="Trade Gothic Next" pitchFamily="34" charset="0"/>
                <a:ea typeface="Trade Gothic Next" pitchFamily="34" charset="-122"/>
                <a:cs typeface="Trade Gothic Next" pitchFamily="34" charset="-120"/>
              </a:rPr>
              <a:t>12</a:t>
            </a:r>
            <a:endParaRPr lang="en-US" sz="1100" dirty="0"/>
          </a:p>
        </p:txBody>
      </p:sp>
      <p:sp>
        <p:nvSpPr>
          <p:cNvPr id="54" name="Text 49"/>
          <p:cNvSpPr txBox="1"/>
          <p:nvPr/>
        </p:nvSpPr>
        <p:spPr>
          <a:xfrm>
            <a:off x="9701784" y="4572000"/>
            <a:ext cx="1417320" cy="256032"/>
          </a:xfrm>
          <a:prstGeom prst="rect">
            <a:avLst/>
          </a:prstGeom>
          <a:noFill/>
          <a:ln/>
        </p:spPr>
        <p:txBody>
          <a:bodyPr wrap="square" lIns="0" tIns="0" rIns="0" bIns="0" rtlCol="0" anchor="ctr"/>
          <a:lstStyle/>
          <a:p>
            <a:pPr indent="0" marL="0">
              <a:buNone/>
            </a:pPr>
            <a:r>
              <a:rPr lang="en-US" sz="1200" b="1" dirty="0">
                <a:solidFill>
                  <a:srgbClr val="EDF0E5"/>
                </a:solidFill>
                <a:latin typeface="Trade Gothic Next" pitchFamily="34" charset="0"/>
                <a:ea typeface="Trade Gothic Next" pitchFamily="34" charset="-122"/>
                <a:cs typeface="Trade Gothic Next" pitchFamily="34" charset="-120"/>
              </a:rPr>
              <a:t>Deck Index</a:t>
            </a:r>
            <a:endParaRPr lang="en-US" sz="1200" dirty="0"/>
          </a:p>
        </p:txBody>
      </p:sp>
      <p:sp>
        <p:nvSpPr>
          <p:cNvPr id="55" name="Text 50"/>
          <p:cNvSpPr txBox="1"/>
          <p:nvPr/>
        </p:nvSpPr>
        <p:spPr>
          <a:xfrm>
            <a:off x="9262872" y="4919472"/>
            <a:ext cx="1847088" cy="347472"/>
          </a:xfrm>
          <a:prstGeom prst="rect">
            <a:avLst/>
          </a:prstGeom>
          <a:noFill/>
          <a:ln/>
        </p:spPr>
        <p:txBody>
          <a:bodyPr wrap="square" lIns="0" tIns="0" rIns="0" bIns="0" rtlCol="0" anchor="ctr"/>
          <a:lstStyle/>
          <a:p>
            <a:pPr indent="0" marL="0">
              <a:buNone/>
            </a:pPr>
            <a:r>
              <a:rPr lang="en-US" sz="1100" dirty="0">
                <a:solidFill>
                  <a:srgbClr val="BDB6AA"/>
                </a:solidFill>
                <a:latin typeface="Trade Gothic Next" pitchFamily="34" charset="0"/>
                <a:ea typeface="Trade Gothic Next" pitchFamily="34" charset="-122"/>
                <a:cs typeface="Trade Gothic Next" pitchFamily="34" charset="-120"/>
              </a:rPr>
              <a:t>delete before class</a:t>
            </a:r>
            <a:endParaRPr lang="en-US" sz="1100" dirty="0"/>
          </a:p>
        </p:txBody>
      </p:sp>
      <p:sp>
        <p:nvSpPr>
          <p:cNvPr id="56" name="Text 51"/>
          <p:cNvSpPr txBox="1"/>
          <p:nvPr/>
        </p:nvSpPr>
        <p:spPr>
          <a:xfrm>
            <a:off x="685800" y="6382512"/>
            <a:ext cx="3657600" cy="237744"/>
          </a:xfrm>
          <a:prstGeom prst="rect">
            <a:avLst/>
          </a:prstGeom>
          <a:noFill/>
          <a:ln/>
        </p:spPr>
        <p:txBody>
          <a:bodyPr wrap="square" lIns="0" tIns="0" rIns="0" bIns="0" rtlCol="0" anchor="ctr"/>
          <a:lstStyle/>
          <a:p>
            <a:pP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SHULL SCIENCE</a:t>
            </a:r>
            <a:endParaRPr lang="en-US" sz="1000" dirty="0"/>
          </a:p>
        </p:txBody>
      </p:sp>
      <p:sp>
        <p:nvSpPr>
          <p:cNvPr id="57" name="Text 52"/>
          <p:cNvSpPr txBox="1"/>
          <p:nvPr>
            <p:ph idx="155" type="body" hasCustomPrompt="1"/>
          </p:nvPr>
        </p:nvSpPr>
        <p:spPr>
          <a:xfrm>
            <a:off x="8762695" y="6382512"/>
            <a:ext cx="2743200" cy="237744"/>
          </a:xfrm>
          <a:prstGeom prst="rect">
            <a:avLst/>
          </a:prstGeom>
          <a:noFill/>
          <a:ln/>
        </p:spPr>
        <p:txBody>
          <a:bodyPr wrap="square" rtlCol="0"/>
          <a:lstStyle>
            <a:lvl1pPr algn="r" indent="0" marL="0">
              <a:buNone/>
              <a:defRPr lang="en-US" sz="1000" b="1" spc="140" kern="0" dirty="0">
                <a:solidFill>
                  <a:srgbClr val="BDB6AA"/>
                </a:solidFill>
                <a:latin typeface="Trade Gothic Next" pitchFamily="34" charset="0"/>
                <a:ea typeface="Trade Gothic Next" pitchFamily="34" charset="-122"/>
                <a:cs typeface="Trade Gothic Next" pitchFamily="34" charset="-120"/>
              </a:defRPr>
            </a:lvl1pP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U00 • S0.0</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9.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9.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9.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9.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9.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txBox="1"/>
          <p:nvPr>
            <p:ph idx="104" type="body" hasCustomPrompt="1"/>
          </p:nvPr>
        </p:nvSpPr>
        <p:spPr>
          <a:xfrm>
            <a:off x="777240" y="502920"/>
            <a:ext cx="2011680" cy="868680"/>
          </a:xfrm>
          <a:prstGeom prst="rect">
            <a:avLst/>
          </a:prstGeom>
          <a:noFill/>
          <a:ln/>
        </p:spPr>
        <p:txBody>
          <a:bodyPr wrap="square" lIns="0" tIns="0" rIns="0" bIns="0" rtlCol="0"/>
          <a:lstStyle/>
          <a:p>
            <a:pPr algn="l" indent="0" marL="0">
              <a:buNone/>
            </a:pPr>
            <a:r>
              <a:rPr lang="en-US" sz="4400" b="1" dirty="0">
                <a:solidFill>
                  <a:srgbClr val="14161B"/>
                </a:solidFill>
                <a:latin typeface="Trade Gothic Next" pitchFamily="34" charset="0"/>
                <a:ea typeface="Trade Gothic Next" pitchFamily="34" charset="-122"/>
                <a:cs typeface="Trade Gothic Next" pitchFamily="34" charset="-120"/>
              </a:rPr>
              <a:t>2.1</a:t>
            </a:r>
            <a:endParaRPr lang="en-US" sz="4400" dirty="0"/>
          </a:p>
        </p:txBody>
      </p:sp>
      <p:sp>
        <p:nvSpPr>
          <p:cNvPr id="3" name="Text 4"/>
          <p:cNvSpPr txBox="1"/>
          <p:nvPr>
            <p:ph idx="106" type="title" hasCustomPrompt="1"/>
          </p:nvPr>
        </p:nvSpPr>
        <p:spPr>
          <a:xfrm>
            <a:off x="777240" y="1847088"/>
            <a:ext cx="2834640" cy="1691640"/>
          </a:xfrm>
          <a:prstGeom prst="rect">
            <a:avLst/>
          </a:prstGeom>
          <a:noFill/>
          <a:ln/>
        </p:spPr>
        <p:txBody>
          <a:bodyPr wrap="square" lIns="0" tIns="0" rIns="0" bIns="0" rtlCol="0"/>
          <a:lstStyle/>
          <a:p>
            <a:pPr algn="l" indent="0" marL="0">
              <a:lnSpc>
                <a:spcPct val="106000"/>
              </a:lnSpc>
              <a:buNone/>
            </a:pPr>
            <a:r>
              <a:rPr lang="en-US" sz="2800" b="1" dirty="0">
                <a:solidFill>
                  <a:srgbClr val="14161B"/>
                </a:solidFill>
                <a:latin typeface="Trade Gothic Next" pitchFamily="34" charset="0"/>
                <a:ea typeface="Trade Gothic Next" pitchFamily="34" charset="-122"/>
                <a:cs typeface="Trade Gothic Next" pitchFamily="34" charset="-120"/>
              </a:rPr>
              <a:t>The Bohr Model</a:t>
            </a:r>
            <a:endParaRPr lang="en-US" sz="2800" dirty="0"/>
          </a:p>
        </p:txBody>
      </p:sp>
      <p:sp>
        <p:nvSpPr>
          <p:cNvPr id="4" name="Text 4"/>
          <p:cNvSpPr txBox="1"/>
          <p:nvPr>
            <p:ph idx="107" type="body" hasCustomPrompt="1"/>
          </p:nvPr>
        </p:nvSpPr>
        <p:spPr>
          <a:xfrm>
            <a:off x="777240" y="3749040"/>
            <a:ext cx="2834640" cy="109728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Describe hydrogen's energy levels, and explain emission and absorption as an electron changing level.</a:t>
            </a:r>
            <a:endParaRPr lang="en-US" sz="1600" dirty="0"/>
          </a:p>
        </p:txBody>
      </p:sp>
      <p:sp>
        <p:nvSpPr>
          <p:cNvPr id="5" name="Text 5"/>
          <p:cNvSpPr txBox="1"/>
          <p:nvPr>
            <p:ph idx="109"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S02.1</a:t>
            </a:r>
            <a:endParaRPr lang="en-US" sz="1000" dirty="0"/>
          </a:p>
        </p:txBody>
      </p:sp>
      <p:sp>
        <p:nvSpPr>
          <p:cNvPr id="7" name="Text 3"/>
          <p:cNvSpPr txBox="1"/>
          <p:nvPr>
            <p:ph idx="103" hasCustomPrompt="1"/>
          </p:nvPr>
        </p:nvSpPr>
        <p:spPr>
          <a:xfrm>
            <a:off x="4480560" y="777240"/>
            <a:ext cx="7086600" cy="398678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5"/>
          <p:cNvSpPr txBox="1"/>
          <p:nvPr>
            <p:ph idx="107" type="title" hasCustomPrompt="1"/>
          </p:nvPr>
        </p:nvSpPr>
        <p:spPr>
          <a:xfrm>
            <a:off x="685800" y="1188720"/>
            <a:ext cx="4892040" cy="868680"/>
          </a:xfrm>
          <a:prstGeom prst="rect">
            <a:avLst/>
          </a:prstGeom>
          <a:noFill/>
          <a:ln/>
        </p:spPr>
        <p:txBody>
          <a:bodyPr wrap="square" lIns="0" tIns="0" rIns="0" bIns="0" rtlCol="0"/>
          <a:lstStyle/>
          <a:p>
            <a:pPr algn="l" indent="0" marL="0">
              <a:buNone/>
            </a:pPr>
            <a:r>
              <a:rPr lang="en-US" sz="2800" b="1" dirty="0">
                <a:solidFill>
                  <a:srgbClr val="EDF0E5"/>
                </a:solidFill>
                <a:latin typeface="Trade Gothic Next" pitchFamily="34" charset="0"/>
                <a:ea typeface="Trade Gothic Next" pitchFamily="34" charset="-122"/>
                <a:cs typeface="Trade Gothic Next" pitchFamily="34" charset="-120"/>
              </a:rPr>
              <a:t>Why Only a Few Colors?</a:t>
            </a:r>
            <a:endParaRPr lang="en-US" sz="2800" dirty="0"/>
          </a:p>
        </p:txBody>
      </p:sp>
      <p:sp>
        <p:nvSpPr>
          <p:cNvPr id="3" name="Text 5"/>
          <p:cNvSpPr txBox="1"/>
          <p:nvPr>
            <p:ph idx="108" type="body" hasCustomPrompt="1"/>
          </p:nvPr>
        </p:nvSpPr>
        <p:spPr>
          <a:xfrm>
            <a:off x="685800" y="2148840"/>
            <a:ext cx="4892040" cy="100584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Heat hydrogen gas and it glows. A prism spreads that glow into a few thin lines of color, not a rainbow.</a:t>
            </a:r>
            <a:endParaRPr lang="en-US" sz="1600" dirty="0"/>
          </a:p>
        </p:txBody>
      </p:sp>
      <p:sp>
        <p:nvSpPr>
          <p:cNvPr id="4" name="Text 7"/>
          <p:cNvSpPr txBox="1"/>
          <p:nvPr>
            <p:ph idx="111" type="body" hasCustomPrompt="1"/>
          </p:nvPr>
        </p:nvSpPr>
        <p:spPr>
          <a:xfrm>
            <a:off x="886968" y="3950208"/>
            <a:ext cx="4489704" cy="566928"/>
          </a:xfrm>
          <a:prstGeom prst="rect">
            <a:avLst/>
          </a:prstGeom>
          <a:noFill/>
          <a:ln/>
        </p:spPr>
        <p:txBody>
          <a:bodyPr wrap="square" lIns="0" tIns="0" rIns="0" bIns="0" rtlCol="0"/>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Why does hydrogen give only a few colors of light?</a:t>
            </a:r>
            <a:endParaRPr lang="en-US" sz="1600" dirty="0"/>
          </a:p>
        </p:txBody>
      </p:sp>
      <p:sp>
        <p:nvSpPr>
          <p:cNvPr id="5" name="Text 4"/>
          <p:cNvSpPr txBox="1"/>
          <p:nvPr>
            <p:ph idx="105"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EDF0E5"/>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6" name="Text 8"/>
          <p:cNvSpPr txBox="1"/>
          <p:nvPr>
            <p:ph idx="113"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S02.1</a:t>
            </a:r>
            <a:endParaRPr lang="en-US" sz="1000" dirty="0"/>
          </a:p>
        </p:txBody>
      </p:sp>
      <p:sp>
        <p:nvSpPr>
          <p:cNvPr id="8" name="Text 4"/>
          <p:cNvSpPr txBox="1"/>
          <p:nvPr>
            <p:ph idx="104" hasCustomPrompt="1"/>
          </p:nvPr>
        </p:nvSpPr>
        <p:spPr>
          <a:xfrm>
            <a:off x="6355080" y="1298448"/>
            <a:ext cx="4983480" cy="2798064"/>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Three Words You Need First</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Write the first one down. The other two come back on later slides.</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ENERGY LEVEL</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allowed energy for the electron.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Labeled n = 1, 2, 3, and up.</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QUANTIZED</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certain values are allowed.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Nothing in between.</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PHOTON</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packet of light.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Its energy sets its color.</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Energy level: one allowed energy for the electron, labeled n.</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Why Bohr Needed a New Model</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Rutherford put the electrons outside a dense nucleus. That left a problem.</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WAS KNOWN</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Thomson: electrons inside positive material.</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Rutherford, 1911: a dense nucleus, electrons outside it.</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THE PROBLEM</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A charge moving in a circle should give off energy and spiral into the nucleus.</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Atoms do not collapse.</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Bohr proposed a new model of the hydrogen atom in 1913.</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Bohr's Three Ideas</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He kept the nucleus and put rules on the electron.</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FIXED ORBITS</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electron moves in a circular orbit.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Each orbit has one fixed energy.</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NO RADIATION</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In an allowed orbit, the electron does not give off energy.</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PHOTON JUMPS</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 changes orbit only by absorbing or emitting a photon.</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The photon's energy equals the energy difference between the two orbits.</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WorkWork/templates/slide/assets/chem_u02_s2.1_bohr_hydrogen.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Bohr's Hydrogen Atom</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One proton, one electron, orbits at fixed distances.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NUCLEUS</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proton, drawn as the dot in the center.</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ORBITS</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 = 1, 2, 3 and up. Farther out is higher energy.</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ELECTRON</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One electron, in one orbit at a time. Here: n = 1.</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Quantized Means Steps, Not a Ramp</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You can stand on a stair. You cannot stand between two stairs.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STAIRS</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Only certain heights.</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An electron's energy works like this.</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A RAMP</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Any height at all.</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Electrons do not behave this way.</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Quantized: only certain energy values are allowed. Nothing in between.</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home/user/WorkWork/templates/slide/assets/chem_u02_s2.1_level_number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Levels Get Whole-Number Labels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Each level gets a number, n. A higher n means more energy.</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LEVEL NUMBER, n</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Whole numbers only: 1, 2, 3 ... Never 1.5.</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HIGHER 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 = 1 is the lowest level. Each step up means more energy.</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HYDROGEN ONLY</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This picture works for hydrogen. It fails for atoms with 2 or more electrons.</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home/user/WorkWork/templates/slide/assets/chem_u02_s2.1_energy_levels.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Hydrogen's Energy Levels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Drawn to scale in spacing. Watch what happens to the gaps.</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LOWEST ENERGY</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 = 1 is the lowest level, at the bottom.</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GAPS SHRINK</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levels crowd together as n gets larger.</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TOP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 = ∞ is the top. The electron has left the atom.</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Ground State and Excited States</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Hydrogen's electron has one lowest level and many higher ones.</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GROUND STATE</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 = 1.</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lowest energy level.</a:t>
            </a:r>
            <a:endParaRPr lang="en-US" sz="1600" dirty="0"/>
          </a:p>
          <a:p>
            <a:pPr indent="0" marL="0">
              <a:buNone/>
            </a:pP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Where the electron normally sits.</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EXCITED STATE</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Any level above n = 1.</a:t>
            </a:r>
            <a:endParaRPr lang="en-US" sz="1600" dirty="0"/>
          </a:p>
          <a:p>
            <a:pPr indent="0" marL="0">
              <a:buNone/>
            </a:pPr>
            <a:endParaRPr lang="en-US" sz="1600" dirty="0"/>
          </a:p>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Short-lived. The electron falls back down.</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Ground state: n = 1. Excited state: any higher n.</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home/user/WorkWork/templates/slide/assets/chem_u02_s2.1_absorption.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Absorption: The Electron Goes Up</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atom takes in energy from a photon.</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AN EXACT MATCH</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Photon energy must match the gap between the two levels exactly.</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WRONG ENERGY</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photon passes through. Nothing happens.</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RESULT</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electron moves up. The atom gains energy.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home/user/WorkWork/templates/slide/assets/chem_u02_s2.1_emission.png">    </p:cNvPr>
          <p:cNvPicPr>
            <a:picLocks noChangeAspect="1"/>
          </p:cNvPicPr>
          <p:nvPr/>
        </p:nvPicPr>
        <p:blipFill>
          <a:blip r:embed="rId1"/>
          <a:stretch>
            <a:fillRect/>
          </a:stretch>
        </p:blipFill>
        <p:spPr>
          <a:xfrm>
            <a:off x="914400" y="2651760"/>
            <a:ext cx="4617720" cy="2743200"/>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Emission: The Electron Drops</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atom gives energy out as a photon.</a:t>
            </a:r>
            <a:endParaRPr lang="en-US" sz="1700" dirty="0"/>
          </a:p>
        </p:txBody>
      </p:sp>
      <p:sp>
        <p:nvSpPr>
          <p:cNvPr id="5" name="Text 4"/>
          <p:cNvSpPr txBox="1"/>
          <p:nvPr>
            <p:ph idx="108" type="body" hasCustomPrompt="1"/>
          </p:nvPr>
        </p:nvSpPr>
        <p:spPr>
          <a:xfrm>
            <a:off x="6327648" y="2560320"/>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DROP</a:t>
            </a:r>
            <a:endParaRPr lang="en-US" sz="1200" dirty="0"/>
          </a:p>
        </p:txBody>
      </p:sp>
      <p:sp>
        <p:nvSpPr>
          <p:cNvPr id="6" name="Text 4"/>
          <p:cNvSpPr txBox="1"/>
          <p:nvPr>
            <p:ph idx="109" type="body" hasCustomPrompt="1"/>
          </p:nvPr>
        </p:nvSpPr>
        <p:spPr>
          <a:xfrm>
            <a:off x="6327648" y="2852928"/>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electron falls from a higher level to a lower one.</a:t>
            </a:r>
            <a:endParaRPr lang="en-US" sz="1600" dirty="0"/>
          </a:p>
        </p:txBody>
      </p:sp>
      <p:sp>
        <p:nvSpPr>
          <p:cNvPr id="7" name="Text 5"/>
          <p:cNvSpPr txBox="1"/>
          <p:nvPr>
            <p:ph idx="111" type="body" hasCustomPrompt="1"/>
          </p:nvPr>
        </p:nvSpPr>
        <p:spPr>
          <a:xfrm>
            <a:off x="6327648" y="3694176"/>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PHOTON</a:t>
            </a:r>
            <a:endParaRPr lang="en-US" sz="1200" dirty="0"/>
          </a:p>
        </p:txBody>
      </p:sp>
      <p:sp>
        <p:nvSpPr>
          <p:cNvPr id="8" name="Text 5"/>
          <p:cNvSpPr txBox="1"/>
          <p:nvPr>
            <p:ph idx="112" type="body" hasCustomPrompt="1"/>
          </p:nvPr>
        </p:nvSpPr>
        <p:spPr>
          <a:xfrm>
            <a:off x="6327648" y="3986784"/>
            <a:ext cx="5129784" cy="329184"/>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Its energy equals the gap the electron just crossed.</a:t>
            </a:r>
            <a:endParaRPr lang="en-US" sz="1600" dirty="0"/>
          </a:p>
        </p:txBody>
      </p:sp>
      <p:sp>
        <p:nvSpPr>
          <p:cNvPr id="9" name="Text 6"/>
          <p:cNvSpPr txBox="1"/>
          <p:nvPr>
            <p:ph idx="114" type="body" hasCustomPrompt="1"/>
          </p:nvPr>
        </p:nvSpPr>
        <p:spPr>
          <a:xfrm>
            <a:off x="6327648" y="4828032"/>
            <a:ext cx="512978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A BIGGER DROP</a:t>
            </a:r>
            <a:endParaRPr lang="en-US" sz="1200" dirty="0"/>
          </a:p>
        </p:txBody>
      </p:sp>
      <p:sp>
        <p:nvSpPr>
          <p:cNvPr id="10" name="Text 6"/>
          <p:cNvSpPr txBox="1"/>
          <p:nvPr>
            <p:ph idx="115" type="body" hasCustomPrompt="1"/>
          </p:nvPr>
        </p:nvSpPr>
        <p:spPr>
          <a:xfrm>
            <a:off x="6327648" y="5120640"/>
            <a:ext cx="5129784" cy="32004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bigger drop gives a higher-energy photon.</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7"/>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3"/>
          <p:cNvSpPr txBox="1"/>
          <p:nvPr>
            <p:ph idx="106" type="body" hasCustomPrompt="1"/>
          </p:nvPr>
        </p:nvSpPr>
        <p:spPr>
          <a:xfrm>
            <a:off x="914400" y="2651760"/>
            <a:ext cx="4617720" cy="2743200"/>
          </a:xfrm>
          <a:prstGeom prst="rect">
            <a:avLst/>
          </a:prstGeom>
          <a:noFill/>
          <a:ln/>
        </p:spPr>
        <p:txBody>
          <a:bodyPr wrap="square" lIns="0" tIns="0" rIns="0" bIns="0" rtlCol="0" anchor="ctr"/>
          <a:lstStyle/>
          <a:p>
            <a:pPr algn="ctr" indent="0" marL="0">
              <a:buNone/>
            </a:pP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Ground or Excited?</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We do this one together. Write the reasoning, not just the answer.</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A hydrogen electron is in n = 3. Is it in the ground state? What must happen to move it to n = 5?</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Hydrogen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Electron in n = 3</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Target level: n = 5</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Ground state or excited?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moves it up?</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To move up, the electron absorbs a photon of exactly the right energy.</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home/user/WorkWork/templates/slide/assets/chem_u02_s2.1_ground_excited.png">    </p:cNvPr>
          <p:cNvPicPr>
            <a:picLocks noChangeAspect="1"/>
          </p:cNvPicPr>
          <p:nvPr/>
        </p:nvPicPr>
        <p:blipFill>
          <a:blip r:embed="rId1"/>
          <a:stretch>
            <a:fillRect/>
          </a:stretch>
        </p:blipFill>
        <p:spPr>
          <a:xfrm>
            <a:off x="832104" y="2542817"/>
            <a:ext cx="3867912" cy="2266141"/>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Ground or Excited, Worked</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Find the level, then say which way the energy goes.</a:t>
            </a:r>
            <a:endParaRPr lang="en-US" sz="1700" dirty="0"/>
          </a:p>
        </p:txBody>
      </p:sp>
      <p:sp>
        <p:nvSpPr>
          <p:cNvPr id="5"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IDEAS</a:t>
            </a:r>
            <a:endParaRPr lang="en-US" sz="1200" dirty="0"/>
          </a:p>
        </p:txBody>
      </p:sp>
      <p:sp>
        <p:nvSpPr>
          <p:cNvPr id="6"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Ground state: n = 1 only.</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Any higher n: excited.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Up needs energy in.</a:t>
            </a:r>
            <a:endParaRPr lang="en-US" sz="1600" dirty="0"/>
          </a:p>
        </p:txBody>
      </p:sp>
      <p:sp>
        <p:nvSpPr>
          <p:cNvPr id="7"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n = 3 is above n = 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So: excited state</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To reach n = 5:</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absorb a matching photon</a:t>
            </a:r>
            <a:endParaRPr lang="en-US" sz="1900" dirty="0"/>
          </a:p>
        </p:txBody>
      </p:sp>
      <p:sp>
        <p:nvSpPr>
          <p:cNvPr id="8"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n = 3 is above n = 1, so the electron is excited, not in the ground state.</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2"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Ranking Three Drops</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Look back at the level diagram on slide 9. A longer drop is a bigger drop.</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Rank drops A, B and C from least to most energy released. Which gives the highest-energy light?</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n = 4 to n = 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 n = 3 to n = 2</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 n = 2 to n = 1</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Order, least to most</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highest-energy light</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 bigger vertical drop on the diagram means more energy released.</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WorkWork/templates/slide/assets/chem_u02_s2.1_drops_ranked.png">    </p:cNvPr>
          <p:cNvPicPr>
            <a:picLocks noChangeAspect="1"/>
          </p:cNvPicPr>
          <p:nvPr/>
        </p:nvPicPr>
        <p:blipFill>
          <a:blip r:embed="rId1"/>
          <a:stretch>
            <a:fillRect/>
          </a:stretch>
        </p:blipFill>
        <p:spPr>
          <a:xfrm>
            <a:off x="832104" y="2542817"/>
            <a:ext cx="3867912" cy="2266141"/>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Ranking Three Drops, Worked</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Longer arrow, more energy, bluer light.</a:t>
            </a:r>
            <a:endParaRPr lang="en-US" sz="1700" dirty="0"/>
          </a:p>
        </p:txBody>
      </p:sp>
      <p:sp>
        <p:nvSpPr>
          <p:cNvPr id="5"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RULES</a:t>
            </a:r>
            <a:endParaRPr lang="en-US" sz="1200" dirty="0"/>
          </a:p>
        </p:txBody>
      </p:sp>
      <p:sp>
        <p:nvSpPr>
          <p:cNvPr id="6"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Bigger drop,</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energy released.</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More energy, bluer light.</a:t>
            </a:r>
            <a:endParaRPr lang="en-US" sz="1600" dirty="0"/>
          </a:p>
        </p:txBody>
      </p:sp>
      <p:sp>
        <p:nvSpPr>
          <p:cNvPr id="7"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Least: B (3 to 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Then: A (4 to 2)</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Most: C (2 to 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Highest: C (ultraviolet)</a:t>
            </a:r>
            <a:endParaRPr lang="en-US" sz="1900" dirty="0"/>
          </a:p>
        </p:txBody>
      </p:sp>
      <p:sp>
        <p:nvSpPr>
          <p:cNvPr id="8"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More energy released means a shorter wavelength, which is bluer light.</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2"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86384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Example: Removing the Electron</a:t>
            </a:r>
            <a:endParaRPr lang="en-US" sz="2800" dirty="0"/>
          </a:p>
        </p:txBody>
      </p:sp>
      <p:sp>
        <p:nvSpPr>
          <p:cNvPr id="3" name="Text 2"/>
          <p:cNvSpPr txBox="1"/>
          <p:nvPr>
            <p:ph idx="104" type="body" hasCustomPrompt="1"/>
          </p:nvPr>
        </p:nvSpPr>
        <p:spPr>
          <a:xfrm>
            <a:off x="685800" y="1847088"/>
            <a:ext cx="786384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Ionization means the electron leaves the atom.</a:t>
            </a:r>
            <a:endParaRPr lang="en-US" sz="1700" dirty="0"/>
          </a:p>
        </p:txBody>
      </p:sp>
      <p:sp>
        <p:nvSpPr>
          <p:cNvPr id="4" name="Text 6"/>
          <p:cNvSpPr txBox="1"/>
          <p:nvPr>
            <p:ph idx="110" type="body" hasCustomPrompt="1"/>
          </p:nvPr>
        </p:nvSpPr>
        <p:spPr>
          <a:xfrm>
            <a:off x="886968" y="2798064"/>
            <a:ext cx="4992624" cy="54864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Hydrogen's electron absorbs enough energy to escape. Which level does it reach? What is the atom afterward?</a:t>
            </a:r>
            <a:endParaRPr lang="en-US" sz="1600" dirty="0"/>
          </a:p>
        </p:txBody>
      </p:sp>
      <p:sp>
        <p:nvSpPr>
          <p:cNvPr id="5" name="Text 7"/>
          <p:cNvSpPr txBox="1"/>
          <p:nvPr>
            <p:ph idx="112" type="body" hasCustomPrompt="1"/>
          </p:nvPr>
        </p:nvSpPr>
        <p:spPr>
          <a:xfrm>
            <a:off x="88696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GIVEN</a:t>
            </a:r>
            <a:endParaRPr lang="en-US" sz="1200" dirty="0"/>
          </a:p>
        </p:txBody>
      </p:sp>
      <p:sp>
        <p:nvSpPr>
          <p:cNvPr id="6" name="Text 7"/>
          <p:cNvSpPr txBox="1"/>
          <p:nvPr>
            <p:ph idx="113" type="body" hasCustomPrompt="1"/>
          </p:nvPr>
        </p:nvSpPr>
        <p:spPr>
          <a:xfrm>
            <a:off x="88696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Hydrogen, ground state</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Electron starts in n = 1</a:t>
            </a:r>
            <a:endParaRPr lang="en-US" sz="1600" dirty="0"/>
          </a:p>
        </p:txBody>
      </p:sp>
      <p:sp>
        <p:nvSpPr>
          <p:cNvPr id="7" name="Text 8"/>
          <p:cNvSpPr txBox="1"/>
          <p:nvPr>
            <p:ph idx="115" type="body" hasCustomPrompt="1"/>
          </p:nvPr>
        </p:nvSpPr>
        <p:spPr>
          <a:xfrm>
            <a:off x="3675888" y="3776472"/>
            <a:ext cx="220370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NEED</a:t>
            </a:r>
            <a:endParaRPr lang="en-US" sz="1200" dirty="0"/>
          </a:p>
        </p:txBody>
      </p:sp>
      <p:sp>
        <p:nvSpPr>
          <p:cNvPr id="8" name="Text 8"/>
          <p:cNvSpPr txBox="1"/>
          <p:nvPr>
            <p:ph idx="116" type="body" hasCustomPrompt="1"/>
          </p:nvPr>
        </p:nvSpPr>
        <p:spPr>
          <a:xfrm>
            <a:off x="3675888" y="4069080"/>
            <a:ext cx="2203704" cy="107899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The level it reaches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What the atom becomes</a:t>
            </a:r>
            <a:endParaRPr lang="en-US" sz="1600" dirty="0"/>
          </a:p>
        </p:txBody>
      </p:sp>
      <p:sp>
        <p:nvSpPr>
          <p:cNvPr id="9" name="Text 10"/>
          <p:cNvSpPr txBox="1"/>
          <p:nvPr>
            <p:ph idx="119" type="body" hasCustomPrompt="1"/>
          </p:nvPr>
        </p:nvSpPr>
        <p:spPr>
          <a:xfrm>
            <a:off x="6464808" y="2880360"/>
            <a:ext cx="4837176" cy="2286000"/>
          </a:xfrm>
          <a:prstGeom prst="rect">
            <a:avLst/>
          </a:prstGeom>
          <a:noFill/>
          <a:ln/>
        </p:spPr>
        <p:txBody>
          <a:bodyPr wrap="square" lIns="0" tIns="0" rIns="0" bIns="0" rtlCol="0"/>
          <a:lstStyle/>
          <a:p>
            <a:pPr indent="0" marL="0">
              <a:buNone/>
            </a:pPr>
            <a:endParaRPr lang="en-US" sz="1900" dirty="0"/>
          </a:p>
        </p:txBody>
      </p:sp>
      <p:sp>
        <p:nvSpPr>
          <p:cNvPr id="10" name="Text 12"/>
          <p:cNvSpPr txBox="1"/>
          <p:nvPr>
            <p:ph idx="122" type="body" hasCustomPrompt="1"/>
          </p:nvPr>
        </p:nvSpPr>
        <p:spPr>
          <a:xfrm>
            <a:off x="2240280" y="5605272"/>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Ionization: the electron leaves the atom, which becomes a positive ion.</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3"/>
          <p:cNvSpPr txBox="1"/>
          <p:nvPr>
            <p:ph idx="124"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4"/>
          <p:cNvSpPr txBox="1"/>
          <p:nvPr>
            <p:ph idx="107" hasCustomPrompt="1"/>
          </p:nvPr>
        </p:nvSpPr>
        <p:spPr>
          <a:xfrm>
            <a:off x="9262872" y="1088136"/>
            <a:ext cx="1901952" cy="106984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home/user/WorkWork/templates/slide/assets/chem_u02_s2.1_ionization.png">    </p:cNvPr>
          <p:cNvPicPr>
            <a:picLocks noChangeAspect="1"/>
          </p:cNvPicPr>
          <p:nvPr/>
        </p:nvPicPr>
        <p:blipFill>
          <a:blip r:embed="rId1"/>
          <a:stretch>
            <a:fillRect/>
          </a:stretch>
        </p:blipFill>
        <p:spPr>
          <a:xfrm>
            <a:off x="832104" y="2542817"/>
            <a:ext cx="3867912" cy="2266141"/>
          </a:xfrm>
          <a:prstGeom prst="rect">
            <a:avLst/>
          </a:prstGeom>
        </p:spPr>
      </p:pic>
      <p:sp>
        <p:nvSpPr>
          <p:cNvPr id="3"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Ionization, Worked</a:t>
            </a:r>
            <a:endParaRPr lang="en-US" sz="2800" dirty="0"/>
          </a:p>
        </p:txBody>
      </p:sp>
      <p:sp>
        <p:nvSpPr>
          <p:cNvPr id="4"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The electron climbs to the top of the diagram and leaves.</a:t>
            </a:r>
            <a:endParaRPr lang="en-US" sz="1700" dirty="0"/>
          </a:p>
        </p:txBody>
      </p:sp>
      <p:sp>
        <p:nvSpPr>
          <p:cNvPr id="5" name="Text 5"/>
          <p:cNvSpPr txBox="1"/>
          <p:nvPr>
            <p:ph idx="109" type="body" hasCustomPrompt="1"/>
          </p:nvPr>
        </p:nvSpPr>
        <p:spPr>
          <a:xfrm>
            <a:off x="5276088" y="2560320"/>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IDEAS</a:t>
            </a:r>
            <a:endParaRPr lang="en-US" sz="1200" dirty="0"/>
          </a:p>
        </p:txBody>
      </p:sp>
      <p:sp>
        <p:nvSpPr>
          <p:cNvPr id="6" name="Text 5"/>
          <p:cNvSpPr txBox="1"/>
          <p:nvPr>
            <p:ph idx="110" type="body" hasCustomPrompt="1"/>
          </p:nvPr>
        </p:nvSpPr>
        <p:spPr>
          <a:xfrm>
            <a:off x="5276088" y="2852928"/>
            <a:ext cx="2752344" cy="19019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Energy in lifts the electron.</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No level is above n = ∞.</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In bigger atoms, the</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outermost electron leaves first.</a:t>
            </a:r>
            <a:endParaRPr lang="en-US" sz="1600" dirty="0"/>
          </a:p>
        </p:txBody>
      </p:sp>
      <p:sp>
        <p:nvSpPr>
          <p:cNvPr id="7" name="Text 7"/>
          <p:cNvSpPr txBox="1"/>
          <p:nvPr>
            <p:ph idx="113" type="body" hasCustomPrompt="1"/>
          </p:nvPr>
        </p:nvSpPr>
        <p:spPr>
          <a:xfrm>
            <a:off x="8613648" y="2871216"/>
            <a:ext cx="2688336" cy="1920240"/>
          </a:xfrm>
          <a:prstGeom prst="rect">
            <a:avLst/>
          </a:prstGeom>
          <a:noFill/>
          <a:ln/>
        </p:spPr>
        <p:txBody>
          <a:bodyPr wrap="square" lIns="0" tIns="0" rIns="0" bIns="0" rtlCol="0"/>
          <a:lstStyle/>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Start: n = 1</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Energy in: it goes up</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End: n = ∞, it leaves</a:t>
            </a:r>
            <a:endParaRPr lang="en-US" sz="1900" dirty="0"/>
          </a:p>
          <a:p>
            <a:pPr indent="0" marL="0">
              <a:buNone/>
            </a:pPr>
            <a:r>
              <a:rPr lang="en-US" sz="1900" dirty="0">
                <a:solidFill>
                  <a:srgbClr val="14161B"/>
                </a:solidFill>
                <a:latin typeface="Trade Gothic Next" pitchFamily="34" charset="0"/>
                <a:ea typeface="Trade Gothic Next" pitchFamily="34" charset="-122"/>
                <a:cs typeface="Trade Gothic Next" pitchFamily="34" charset="-120"/>
              </a:rPr>
              <a:t>Atom: a positive ion</a:t>
            </a:r>
            <a:endParaRPr lang="en-US" sz="1900" dirty="0"/>
          </a:p>
        </p:txBody>
      </p:sp>
      <p:sp>
        <p:nvSpPr>
          <p:cNvPr id="8" name="Text 9"/>
          <p:cNvSpPr txBox="1"/>
          <p:nvPr>
            <p:ph idx="116" type="body" hasCustomPrompt="1"/>
          </p:nvPr>
        </p:nvSpPr>
        <p:spPr>
          <a:xfrm>
            <a:off x="2240280" y="521208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Ionization takes energy in. Hydrogen ends as a positive ion with no electron.</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10"/>
          <p:cNvSpPr txBox="1"/>
          <p:nvPr>
            <p:ph idx="118"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2" name="Text 4"/>
          <p:cNvSpPr txBox="1"/>
          <p:nvPr>
            <p:ph idx="107" hasCustomPrompt="1"/>
          </p:nvPr>
        </p:nvSpPr>
        <p:spPr>
          <a:xfrm>
            <a:off x="832104" y="2542032"/>
            <a:ext cx="3867912" cy="2267712"/>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Where the Bohr Model Stops Working</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It was a real step forward. It is no longer the accepted model.</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HYDROGEN ONLY</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Correct energies for hydrogen. Wrong for He, Li, and every atom with 2 or more electrons.</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THE PICTURE</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Electrons are not particles on circular tracks. The electron-cloud model replaces the orbits.</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WHAT SURVIVES</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Quantized energy levels.</a:t>
            </a:r>
            <a:endParaRPr lang="en-US" sz="1600" dirty="0"/>
          </a:p>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level change means a photon in or out.</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Keep this: energy is quantized, and a change of level means a photon in or out.</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7360920"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Quick Check: Items 1 to 3</a:t>
            </a:r>
            <a:endParaRPr lang="en-US" sz="2800" dirty="0"/>
          </a:p>
        </p:txBody>
      </p:sp>
      <p:sp>
        <p:nvSpPr>
          <p:cNvPr id="3" name="Text 2"/>
          <p:cNvSpPr txBox="1"/>
          <p:nvPr>
            <p:ph idx="104" type="body" hasCustomPrompt="1"/>
          </p:nvPr>
        </p:nvSpPr>
        <p:spPr>
          <a:xfrm>
            <a:off x="685800" y="1847088"/>
            <a:ext cx="7360920"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Work these on your own paper, then we compare.</a:t>
            </a:r>
            <a:endParaRPr lang="en-US" sz="1700" dirty="0"/>
          </a:p>
        </p:txBody>
      </p:sp>
      <p:sp>
        <p:nvSpPr>
          <p:cNvPr id="4" name="Text 5"/>
          <p:cNvSpPr txBox="1"/>
          <p:nvPr>
            <p:ph idx="109" type="body" hasCustomPrompt="1"/>
          </p:nvPr>
        </p:nvSpPr>
        <p:spPr>
          <a:xfrm>
            <a:off x="88696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CHECK 1</a:t>
            </a:r>
            <a:endParaRPr lang="en-US" sz="1200" dirty="0"/>
          </a:p>
        </p:txBody>
      </p:sp>
      <p:sp>
        <p:nvSpPr>
          <p:cNvPr id="5" name="Text 5"/>
          <p:cNvSpPr txBox="1"/>
          <p:nvPr>
            <p:ph idx="110" type="body" hasCustomPrompt="1"/>
          </p:nvPr>
        </p:nvSpPr>
        <p:spPr>
          <a:xfrm>
            <a:off x="88696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Explain why hydrogen emits light at only certain colors. Use the word quantized.</a:t>
            </a:r>
            <a:endParaRPr lang="en-US" sz="1600" dirty="0"/>
          </a:p>
        </p:txBody>
      </p:sp>
      <p:sp>
        <p:nvSpPr>
          <p:cNvPr id="6" name="Text 6"/>
          <p:cNvSpPr txBox="1"/>
          <p:nvPr>
            <p:ph idx="112" type="body" hasCustomPrompt="1"/>
          </p:nvPr>
        </p:nvSpPr>
        <p:spPr>
          <a:xfrm>
            <a:off x="449884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CHECK 2</a:t>
            </a:r>
            <a:endParaRPr lang="en-US" sz="1200" dirty="0"/>
          </a:p>
        </p:txBody>
      </p:sp>
      <p:sp>
        <p:nvSpPr>
          <p:cNvPr id="7" name="Text 6"/>
          <p:cNvSpPr txBox="1"/>
          <p:nvPr>
            <p:ph idx="113" type="body" hasCustomPrompt="1"/>
          </p:nvPr>
        </p:nvSpPr>
        <p:spPr>
          <a:xfrm>
            <a:off x="449884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hydrogen electron drops from n = 2 to n = 1. Is a photon absorbed or emitted? Does the atom gain or lose energy?</a:t>
            </a:r>
            <a:endParaRPr lang="en-US" sz="1600" dirty="0"/>
          </a:p>
        </p:txBody>
      </p:sp>
      <p:sp>
        <p:nvSpPr>
          <p:cNvPr id="8" name="Text 7"/>
          <p:cNvSpPr txBox="1"/>
          <p:nvPr>
            <p:ph idx="115" type="body" hasCustomPrompt="1"/>
          </p:nvPr>
        </p:nvSpPr>
        <p:spPr>
          <a:xfrm>
            <a:off x="8110728" y="2953512"/>
            <a:ext cx="2999232"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CHECK 3</a:t>
            </a:r>
            <a:endParaRPr lang="en-US" sz="1200" dirty="0"/>
          </a:p>
        </p:txBody>
      </p:sp>
      <p:sp>
        <p:nvSpPr>
          <p:cNvPr id="9" name="Text 7"/>
          <p:cNvSpPr txBox="1"/>
          <p:nvPr>
            <p:ph idx="116" type="body" hasCustomPrompt="1"/>
          </p:nvPr>
        </p:nvSpPr>
        <p:spPr>
          <a:xfrm>
            <a:off x="8110728" y="3246120"/>
            <a:ext cx="2999232" cy="1673352"/>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A photon has too little energy to lift an electron from n = 1 to n = 2. What happens to the photon?</a:t>
            </a:r>
            <a:endParaRPr lang="en-US" sz="1600" dirty="0"/>
          </a:p>
        </p:txBody>
      </p:sp>
      <p:sp>
        <p:nvSpPr>
          <p:cNvPr id="10" name="Text 9"/>
          <p:cNvSpPr txBox="1"/>
          <p:nvPr>
            <p:ph idx="119" type="body" hasCustomPrompt="1"/>
          </p:nvPr>
        </p:nvSpPr>
        <p:spPr>
          <a:xfrm>
            <a:off x="2240280" y="548640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Answer in full sentences. Name the levels and say up or down.</a:t>
            </a:r>
            <a:endParaRPr lang="en-US" sz="1600" dirty="0"/>
          </a:p>
        </p:txBody>
      </p:sp>
      <p:sp>
        <p:nvSpPr>
          <p:cNvPr id="11"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2" name="Text 10"/>
          <p:cNvSpPr txBox="1"/>
          <p:nvPr>
            <p:ph idx="121"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4" name="Text 4"/>
          <p:cNvSpPr txBox="1"/>
          <p:nvPr>
            <p:ph idx="107" hasCustomPrompt="1"/>
          </p:nvPr>
        </p:nvSpPr>
        <p:spPr>
          <a:xfrm>
            <a:off x="8641080" y="1088136"/>
            <a:ext cx="2633472" cy="1481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txBox="1"/>
          <p:nvPr>
            <p:ph idx="103" type="title" hasCustomPrompt="1"/>
          </p:nvPr>
        </p:nvSpPr>
        <p:spPr>
          <a:xfrm>
            <a:off x="685800" y="932688"/>
            <a:ext cx="10820095" cy="868680"/>
          </a:xfrm>
          <a:prstGeom prst="rect">
            <a:avLst/>
          </a:prstGeom>
          <a:noFill/>
          <a:ln/>
        </p:spPr>
        <p:txBody>
          <a:bodyPr wrap="square" lIns="0" tIns="0" rIns="0" bIns="0" rtlCol="0" anchor="t"/>
          <a:lstStyle/>
          <a:p>
            <a:pPr algn="l" indent="0" marL="0">
              <a:buNone/>
            </a:pPr>
            <a:r>
              <a:rPr lang="en-US" sz="2800" b="1" dirty="0">
                <a:solidFill>
                  <a:srgbClr val="14161B"/>
                </a:solidFill>
                <a:latin typeface="Trade Gothic Next" pitchFamily="34" charset="0"/>
                <a:ea typeface="Trade Gothic Next" pitchFamily="34" charset="-122"/>
                <a:cs typeface="Trade Gothic Next" pitchFamily="34" charset="-120"/>
              </a:rPr>
              <a:t>Quick Check: Items 4 and 5</a:t>
            </a:r>
            <a:endParaRPr lang="en-US" sz="2800" dirty="0"/>
          </a:p>
        </p:txBody>
      </p:sp>
      <p:sp>
        <p:nvSpPr>
          <p:cNvPr id="3" name="Text 2"/>
          <p:cNvSpPr txBox="1"/>
          <p:nvPr>
            <p:ph idx="104" type="body" hasCustomPrompt="1"/>
          </p:nvPr>
        </p:nvSpPr>
        <p:spPr>
          <a:xfrm>
            <a:off x="685800" y="1847088"/>
            <a:ext cx="10820095" cy="384048"/>
          </a:xfrm>
          <a:prstGeom prst="rect">
            <a:avLst/>
          </a:prstGeom>
          <a:noFill/>
          <a:ln/>
        </p:spPr>
        <p:txBody>
          <a:bodyPr wrap="square" lIns="0" tIns="0" rIns="0" bIns="0" rtlCol="0"/>
          <a:lstStyle/>
          <a:p>
            <a:pPr indent="0" marL="0">
              <a:buNone/>
            </a:pPr>
            <a:r>
              <a:rPr lang="en-US" sz="1700" dirty="0">
                <a:solidFill>
                  <a:srgbClr val="2E3338"/>
                </a:solidFill>
                <a:latin typeface="Trade Gothic Next" pitchFamily="34" charset="0"/>
                <a:ea typeface="Trade Gothic Next" pitchFamily="34" charset="-122"/>
                <a:cs typeface="Trade Gothic Next" pitchFamily="34" charset="-120"/>
              </a:rPr>
              <a:t>Same as before. Your own paper first.</a:t>
            </a:r>
            <a:endParaRPr lang="en-US" sz="1700" dirty="0"/>
          </a:p>
        </p:txBody>
      </p:sp>
      <p:sp>
        <p:nvSpPr>
          <p:cNvPr id="4" name="Text 4"/>
          <p:cNvSpPr txBox="1"/>
          <p:nvPr>
            <p:ph idx="108" type="body" hasCustomPrompt="1"/>
          </p:nvPr>
        </p:nvSpPr>
        <p:spPr>
          <a:xfrm>
            <a:off x="5733288" y="2542032"/>
            <a:ext cx="2752344" cy="219456"/>
          </a:xfrm>
          <a:prstGeom prst="rect">
            <a:avLst/>
          </a:prstGeom>
          <a:noFill/>
          <a:ln/>
        </p:spPr>
        <p:txBody>
          <a:bodyPr wrap="square" lIns="0" tIns="0" rIns="0" bIns="0" rtlCol="0"/>
          <a:lstStyle/>
          <a:p>
            <a:pPr indent="0" marL="0">
              <a:buNone/>
            </a:pPr>
            <a:r>
              <a:rPr lang="en-US" sz="1200" b="1" spc="120" kern="0" dirty="0">
                <a:solidFill>
                  <a:srgbClr val="2E3338"/>
                </a:solidFill>
                <a:latin typeface="Trade Gothic Next" pitchFamily="34" charset="0"/>
                <a:ea typeface="Trade Gothic Next" pitchFamily="34" charset="-122"/>
                <a:cs typeface="Trade Gothic Next" pitchFamily="34" charset="-120"/>
              </a:rPr>
              <a:t>CHECK 4</a:t>
            </a:r>
            <a:endParaRPr lang="en-US" sz="1200" dirty="0"/>
          </a:p>
        </p:txBody>
      </p:sp>
      <p:sp>
        <p:nvSpPr>
          <p:cNvPr id="5" name="Text 4"/>
          <p:cNvSpPr txBox="1"/>
          <p:nvPr>
            <p:ph idx="109" type="body" hasCustomPrompt="1"/>
          </p:nvPr>
        </p:nvSpPr>
        <p:spPr>
          <a:xfrm>
            <a:off x="5733288" y="2834640"/>
            <a:ext cx="2752344" cy="1965960"/>
          </a:xfrm>
          <a:prstGeom prst="rect">
            <a:avLst/>
          </a:prstGeom>
          <a:noFill/>
          <a:ln/>
        </p:spPr>
        <p:txBody>
          <a:bodyPr wrap="square" lIns="0" tIns="0" rIns="0" bIns="0" rtlCol="0"/>
          <a:lstStyle/>
          <a:p>
            <a:pPr indent="0" marL="0">
              <a:buNone/>
            </a:pPr>
            <a:r>
              <a:rPr lang="en-US" sz="1600" dirty="0">
                <a:solidFill>
                  <a:srgbClr val="14161B"/>
                </a:solidFill>
                <a:latin typeface="Trade Gothic Next" pitchFamily="34" charset="0"/>
                <a:ea typeface="Trade Gothic Next" pitchFamily="34" charset="-122"/>
                <a:cs typeface="Trade Gothic Next" pitchFamily="34" charset="-120"/>
              </a:rPr>
              <a:t>Which drop releases more energy, n = 3 to n = 2 or n = 2 to n = 1? How do you know?</a:t>
            </a:r>
            <a:endParaRPr lang="en-US" sz="1600" dirty="0"/>
          </a:p>
        </p:txBody>
      </p:sp>
      <p:sp>
        <p:nvSpPr>
          <p:cNvPr id="6" name="Text 5"/>
          <p:cNvSpPr txBox="1"/>
          <p:nvPr>
            <p:ph idx="111" type="body" hasCustomPrompt="1"/>
          </p:nvPr>
        </p:nvSpPr>
        <p:spPr>
          <a:xfrm>
            <a:off x="9116568" y="2542032"/>
            <a:ext cx="2752344" cy="219456"/>
          </a:xfrm>
          <a:prstGeom prst="rect">
            <a:avLst/>
          </a:prstGeom>
          <a:noFill/>
          <a:ln/>
        </p:spPr>
        <p:txBody>
          <a:bodyPr wrap="square" lIns="0" tIns="0" rIns="0" bIns="0" rtlCol="0"/>
          <a:lstStyle/>
          <a:p>
            <a:pPr indent="0" marL="0">
              <a:buNone/>
            </a:pPr>
            <a:r>
              <a:rPr lang="en-US" sz="1200" b="1" spc="120" kern="0" dirty="0">
                <a:solidFill>
                  <a:srgbClr val="BDB6AA"/>
                </a:solidFill>
                <a:latin typeface="Trade Gothic Next" pitchFamily="34" charset="0"/>
                <a:ea typeface="Trade Gothic Next" pitchFamily="34" charset="-122"/>
                <a:cs typeface="Trade Gothic Next" pitchFamily="34" charset="-120"/>
              </a:rPr>
              <a:t>CHECK 5</a:t>
            </a:r>
            <a:endParaRPr lang="en-US" sz="1200" dirty="0"/>
          </a:p>
        </p:txBody>
      </p:sp>
      <p:sp>
        <p:nvSpPr>
          <p:cNvPr id="7" name="Text 5"/>
          <p:cNvSpPr txBox="1"/>
          <p:nvPr>
            <p:ph idx="112" type="body" hasCustomPrompt="1"/>
          </p:nvPr>
        </p:nvSpPr>
        <p:spPr>
          <a:xfrm>
            <a:off x="9116568" y="2834640"/>
            <a:ext cx="2752344" cy="1965960"/>
          </a:xfrm>
          <a:prstGeom prst="rect">
            <a:avLst/>
          </a:prstGeom>
          <a:noFill/>
          <a:ln/>
        </p:spPr>
        <p:txBody>
          <a:bodyPr wrap="square" lIns="0" tIns="0" rIns="0" bIns="0" rtlCol="0"/>
          <a:lstStyle/>
          <a:p>
            <a:pPr indent="0" marL="0">
              <a:buNone/>
            </a:pPr>
            <a:r>
              <a:rPr lang="en-US" sz="1600" dirty="0">
                <a:solidFill>
                  <a:srgbClr val="EDF0E5"/>
                </a:solidFill>
                <a:latin typeface="Trade Gothic Next" pitchFamily="34" charset="0"/>
                <a:ea typeface="Trade Gothic Next" pitchFamily="34" charset="-122"/>
                <a:cs typeface="Trade Gothic Next" pitchFamily="34" charset="-120"/>
              </a:rPr>
              <a:t>Give one reason the Bohr model is no longer the accepted model of the atom.</a:t>
            </a:r>
            <a:endParaRPr lang="en-US" sz="1600" dirty="0"/>
          </a:p>
        </p:txBody>
      </p:sp>
      <p:sp>
        <p:nvSpPr>
          <p:cNvPr id="8" name="Text 7"/>
          <p:cNvSpPr txBox="1"/>
          <p:nvPr>
            <p:ph idx="115" type="body" hasCustomPrompt="1"/>
          </p:nvPr>
        </p:nvSpPr>
        <p:spPr>
          <a:xfrm>
            <a:off x="2240280" y="5394960"/>
            <a:ext cx="8991295" cy="402336"/>
          </a:xfrm>
          <a:prstGeom prst="rect">
            <a:avLst/>
          </a:prstGeom>
          <a:noFill/>
          <a:ln/>
        </p:spPr>
        <p:txBody>
          <a:bodyPr wrap="square" lIns="0" tIns="0" rIns="0" bIns="0" rtlCol="0" anchor="ctr"/>
          <a:lstStyle/>
          <a:p>
            <a:pPr indent="0" marL="0">
              <a:buNone/>
            </a:pPr>
            <a:r>
              <a:rPr lang="en-US" sz="1600" b="1" dirty="0">
                <a:solidFill>
                  <a:srgbClr val="EDF0E5"/>
                </a:solidFill>
                <a:latin typeface="Trade Gothic Next" pitchFamily="34" charset="0"/>
                <a:ea typeface="Trade Gothic Next" pitchFamily="34" charset="-122"/>
                <a:cs typeface="Trade Gothic Next" pitchFamily="34" charset="-120"/>
              </a:rPr>
              <a:t>Down releases energy as a photon. Up absorbs energy.</a:t>
            </a:r>
            <a:endParaRPr lang="en-US" sz="1600" dirty="0"/>
          </a:p>
        </p:txBody>
      </p:sp>
      <p:sp>
        <p:nvSpPr>
          <p:cNvPr id="9" name="Text 1"/>
          <p:cNvSpPr txBox="1"/>
          <p:nvPr>
            <p:ph idx="101" type="body" hasCustomPrompt="1"/>
          </p:nvPr>
        </p:nvSpPr>
        <p:spPr>
          <a:xfrm>
            <a:off x="685800" y="384048"/>
            <a:ext cx="6400800" cy="237744"/>
          </a:xfrm>
          <a:prstGeom prst="rect">
            <a:avLst/>
          </a:prstGeom>
          <a:noFill/>
          <a:ln/>
        </p:spPr>
        <p:txBody>
          <a:bodyPr wrap="square" lIns="0" tIns="0" rIns="0" bIns="0" rtlCol="0" anchor="ctr"/>
          <a:lstStyle/>
          <a:p>
            <a:pPr indent="0" marL="0">
              <a:buNone/>
            </a:pPr>
            <a:r>
              <a:rPr lang="en-US" sz="1100" b="1" spc="160" kern="0" dirty="0">
                <a:solidFill>
                  <a:srgbClr val="14161B"/>
                </a:solidFill>
                <a:latin typeface="Trade Gothic Next" pitchFamily="34" charset="0"/>
                <a:ea typeface="Trade Gothic Next" pitchFamily="34" charset="-122"/>
                <a:cs typeface="Trade Gothic Next" pitchFamily="34" charset="-120"/>
              </a:rPr>
              <a:t>UNIT 02  •  CHEMISTRY</a:t>
            </a:r>
            <a:endParaRPr lang="en-US" sz="1100" dirty="0"/>
          </a:p>
        </p:txBody>
      </p:sp>
      <p:sp>
        <p:nvSpPr>
          <p:cNvPr id="10" name="Text 8"/>
          <p:cNvSpPr txBox="1"/>
          <p:nvPr>
            <p:ph idx="117"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2E3338"/>
                </a:solidFill>
                <a:latin typeface="Trade Gothic Next" pitchFamily="34" charset="0"/>
                <a:ea typeface="Trade Gothic Next" pitchFamily="34" charset="-122"/>
                <a:cs typeface="Trade Gothic Next" pitchFamily="34" charset="-120"/>
              </a:rPr>
              <a:t>U02 • S02.1</a:t>
            </a:r>
            <a:endParaRPr lang="en-US" sz="1000" dirty="0"/>
          </a:p>
        </p:txBody>
      </p:sp>
      <p:sp>
        <p:nvSpPr>
          <p:cNvPr id="12" name="Text 3"/>
          <p:cNvSpPr txBox="1"/>
          <p:nvPr>
            <p:ph idx="106" hasCustomPrompt="1"/>
          </p:nvPr>
        </p:nvSpPr>
        <p:spPr>
          <a:xfrm>
            <a:off x="685800" y="2377440"/>
            <a:ext cx="4663440" cy="2624328"/>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5"/>
          <p:cNvSpPr txBox="1"/>
          <p:nvPr>
            <p:ph idx="106" type="body" hasCustomPrompt="1"/>
          </p:nvPr>
        </p:nvSpPr>
        <p:spPr>
          <a:xfrm>
            <a:off x="841248" y="1755648"/>
            <a:ext cx="3154680" cy="457200"/>
          </a:xfrm>
          <a:prstGeom prst="rect">
            <a:avLst/>
          </a:prstGeom>
          <a:noFill/>
          <a:ln/>
        </p:spPr>
        <p:txBody>
          <a:bodyPr wrap="square" lIns="0" tIns="0" rIns="0" bIns="0" rtlCol="0"/>
          <a:lstStyle/>
          <a:p>
            <a:pPr indent="0" marL="0">
              <a:buNone/>
            </a:pPr>
            <a:r>
              <a:rPr lang="en-US" sz="1100" b="1" spc="150" kern="0" dirty="0">
                <a:solidFill>
                  <a:srgbClr val="A3E635"/>
                </a:solidFill>
                <a:latin typeface="Trade Gothic Next" pitchFamily="34" charset="0"/>
                <a:ea typeface="Trade Gothic Next" pitchFamily="34" charset="-122"/>
                <a:cs typeface="Trade Gothic Next" pitchFamily="34" charset="-120"/>
              </a:rPr>
              <a:t>LOOKING AHEAD</a:t>
            </a:r>
            <a:endParaRPr lang="en-US" sz="1100" dirty="0"/>
          </a:p>
        </p:txBody>
      </p:sp>
      <p:sp>
        <p:nvSpPr>
          <p:cNvPr id="3" name="Text 5"/>
          <p:cNvSpPr txBox="1"/>
          <p:nvPr>
            <p:ph idx="107" type="title" hasCustomPrompt="1"/>
          </p:nvPr>
        </p:nvSpPr>
        <p:spPr>
          <a:xfrm>
            <a:off x="841248" y="2304288"/>
            <a:ext cx="3154680" cy="1417320"/>
          </a:xfrm>
          <a:prstGeom prst="rect">
            <a:avLst/>
          </a:prstGeom>
          <a:noFill/>
          <a:ln/>
        </p:spPr>
        <p:txBody>
          <a:bodyPr wrap="square" lIns="0" tIns="0" rIns="0" bIns="0" rtlCol="0"/>
          <a:lstStyle/>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Where This Goes</a:t>
            </a:r>
            <a:endParaRPr lang="en-US" sz="2600" dirty="0"/>
          </a:p>
          <a:p>
            <a:pPr algn="l" indent="0" marL="0">
              <a:lnSpc>
                <a:spcPct val="108000"/>
              </a:lnSpc>
              <a:buNone/>
            </a:pPr>
            <a:r>
              <a:rPr lang="en-US" sz="2600" b="1" dirty="0">
                <a:solidFill>
                  <a:srgbClr val="EDF0E5"/>
                </a:solidFill>
                <a:latin typeface="Trade Gothic Next" pitchFamily="34" charset="0"/>
                <a:ea typeface="Trade Gothic Next" pitchFamily="34" charset="-122"/>
                <a:cs typeface="Trade Gothic Next" pitchFamily="34" charset="-120"/>
              </a:rPr>
              <a:t>Next</a:t>
            </a:r>
            <a:endParaRPr lang="en-US" sz="2600" dirty="0"/>
          </a:p>
        </p:txBody>
      </p:sp>
      <p:sp>
        <p:nvSpPr>
          <p:cNvPr id="4" name="Text 5"/>
          <p:cNvSpPr txBox="1"/>
          <p:nvPr>
            <p:ph idx="108" type="body" hasCustomPrompt="1"/>
          </p:nvPr>
        </p:nvSpPr>
        <p:spPr>
          <a:xfrm>
            <a:off x="841248" y="3858768"/>
            <a:ext cx="3154680" cy="1097280"/>
          </a:xfrm>
          <a:prstGeom prst="rect">
            <a:avLst/>
          </a:prstGeom>
          <a:noFill/>
          <a:ln/>
        </p:spPr>
        <p:txBody>
          <a:bodyPr wrap="square" lIns="0" tIns="0" rIns="0" bIns="0" rtlCol="0"/>
          <a:lstStyle/>
          <a:p>
            <a:pPr indent="0" marL="0">
              <a:buNone/>
            </a:pPr>
            <a:r>
              <a:rPr lang="en-US" sz="1600" dirty="0">
                <a:solidFill>
                  <a:srgbClr val="BDB6AA"/>
                </a:solidFill>
                <a:latin typeface="Trade Gothic Next" pitchFamily="34" charset="0"/>
                <a:ea typeface="Trade Gothic Next" pitchFamily="34" charset="-122"/>
                <a:cs typeface="Trade Gothic Next" pitchFamily="34" charset="-120"/>
              </a:rPr>
              <a:t>Bohr's model works for hydrogen, not for atoms with 2 or more electrons. Next: what replaced it, and what an orbital is.</a:t>
            </a:r>
            <a:endParaRPr lang="en-US" sz="1600" dirty="0"/>
          </a:p>
        </p:txBody>
      </p:sp>
      <p:sp>
        <p:nvSpPr>
          <p:cNvPr id="5" name="Text 6"/>
          <p:cNvSpPr txBox="1"/>
          <p:nvPr>
            <p:ph idx="110" type="body" hasCustomPrompt="1"/>
          </p:nvPr>
        </p:nvSpPr>
        <p:spPr>
          <a:xfrm>
            <a:off x="8762695" y="6382512"/>
            <a:ext cx="2743200" cy="237744"/>
          </a:xfrm>
          <a:prstGeom prst="rect">
            <a:avLst/>
          </a:prstGeom>
          <a:noFill/>
          <a:ln/>
        </p:spPr>
        <p:txBody>
          <a:bodyPr wrap="square" lIns="0" tIns="0" rIns="0" bIns="0" rtlCol="0" anchor="ctr"/>
          <a:lstStyle/>
          <a:p>
            <a:pPr algn="r" indent="0" marL="0">
              <a:buNone/>
            </a:pPr>
            <a:r>
              <a:rPr lang="en-US" sz="1000" b="1" spc="140" kern="0" dirty="0">
                <a:solidFill>
                  <a:srgbClr val="BDB6AA"/>
                </a:solidFill>
                <a:latin typeface="Trade Gothic Next" pitchFamily="34" charset="0"/>
                <a:ea typeface="Trade Gothic Next" pitchFamily="34" charset="-122"/>
                <a:cs typeface="Trade Gothic Next" pitchFamily="34" charset="-120"/>
              </a:rPr>
              <a:t>U02 • S02.1</a:t>
            </a:r>
            <a:endParaRPr lang="en-US" sz="1000" dirty="0"/>
          </a:p>
        </p:txBody>
      </p:sp>
      <p:sp>
        <p:nvSpPr>
          <p:cNvPr id="7" name="Text 2"/>
          <p:cNvSpPr txBox="1"/>
          <p:nvPr>
            <p:ph idx="102" hasCustomPrompt="1"/>
          </p:nvPr>
        </p:nvSpPr>
        <p:spPr>
          <a:xfrm>
            <a:off x="2926080" y="0"/>
            <a:ext cx="9262872" cy="6858000"/>
          </a:xfrm>
          <a:prstGeom prst="rect">
            <a:avLst/>
          </a:prstGeom>
          <a:noFill/>
          <a:ln/>
        </p:spPr>
        <p:txBody>
          <a:bodyPr wrap="square" lIns="0" tIns="0" rIns="0" bIns="0" rtlCol="0" anchor="ctr"/>
          <a:lstStyle/>
          <a:p>
            <a:pPr algn="ctr" indent="0" marL="0">
              <a:buNone/>
            </a:pP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SHULL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SHULL Science — Slide Template (CHEMISTRY)</dc:title>
  <dc:subject>PptxGenJS Presentation</dc:subject>
  <dc:creator>Matthew Shull</dc:creator>
  <cp:lastModifiedBy>Matthew Shull</cp:lastModifiedBy>
  <cp:revision>1</cp:revision>
  <dcterms:created xsi:type="dcterms:W3CDTF">2026-10-04T22:08:55Z</dcterms:created>
  <dcterms:modified xsi:type="dcterms:W3CDTF">2026-10-04T22:08:55Z</dcterms:modified>
</cp:coreProperties>
</file>