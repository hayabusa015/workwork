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PROVISIONAL scope: required through Kr (Z = 36), per the content brief; Matt to confirm. Period 5 and beyond (Mo, Ag, Au) are not taught on these slides and are not checked in the build script. PROVISIONAL notation: configurations are written in filling order, e.g. [Ar] 4s^2 3d^6, not energy order. Image prompt (section slot): a long row of numbered wooden mail slots in a dim hallway, a few holding envelopes.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Hook. Ask: do all 8 electrons have the same energy? Let them guess; the slides answer it (no). Z = 8 comes from the periodic table. Image prompt (concept slot): an apartment building at dusk with a few lit windows on different floors.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aloud: two-p-four. Level 2, p sublevel, 4 electrons. Ground state = lowest-energy arrangement; every configuration today is a ground state unless the slide says otherwise. Image prompt (aside slot): a printed periodic table with oxygen's cell circled in pencil.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each arrow top right to bottom left. We need the order through 5p: 1s 2s 2p 3s 3p 4s 3d 4p 5s 4d 5p. Say it as: 4s fills before 3d in neutral K and Ca. Do not say 4s is always lower than 3d (once 3d holds electrons it sits lower; that is S2.4, 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Spin up and down are labels, not literal rotation. Common mix-up: two per orbital, not two per sublevel (a p sublevel has 3 orbitals and holds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Figure: N in 2p. Correct = three singles, spins parallel. Wrong = one pair, one single, one empty box. Equal-energy orbitals are called degenerate. Electrons spread out first because sharing an orbital costs repulsion.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 has 7 electrons so 7 arrows: 2 + 2 + 3. Convention: draw the up arrow first in every box, and the label's raised number counts the arrows.</a:t>
            </a:r>
          </a:p>
          <a:p>
            <a:r>
              <a:t>CLICK BUILD: 8 clicks: 1 boxes and labels fly in; 2 1s up arrow; 3 1s down arrow; 4 2s up arrow; 5 2s down arrow; 6 2p up arrow; 7 2p up arrow; 8 2p up arrow.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Click build (see scripts/add_click_builds.py): the three 2p boxes fly in, then one arrow per click: up, up, up (Hund: singles first), then down in box 1 (Pauli: a pair has opposite spins). Result: 2p^4 with one pair and two singles, so 2 unpaired electrons. Have students draw each arrow in their notes at the same click. Same filling as the oxygen example later in this deck.</a:t>
            </a:r>
          </a:p>
          <a:p>
            <a:r>
              <a:t>CLICK BUILD: 5 clicks: 1 boxes and labels fly in; 2 2p up arrow; 3 2p up arrow; 4 2p up arrow; 5 2p down arrow.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steps, every element. Caps: s 2, p 6, d 10, f 14. Always check that the sum equals Z. Image prompt (band slot): a periodic table wall chart photographed at a shallow angle.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 setup; the work area stays empty on purpose and is filled live on the board. Answer on the next slide: 1s^2 2s^2 2p^4, 2 unpaired. Image prompt (aside slot): a small cylinder of oxygen gas with a regulator, on a lab cart.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Oxygen: 1s^2 2s^2 2p^4, 2 + 2 + 4 = 8. The 2p boxes hold one pair and two singles, so 2 unpaired.</a:t>
            </a:r>
          </a:p>
          <a:p>
            <a:r>
              <a:t>CLICK BUILD: 9 clicks: 1 boxes and labels fly in; 2 1s up arrow; 3 1s down arrow; 4 2s up arrow; 5 2s down arrow; 6 2p up arrow; 7 2p up arrow; 8 2p up arrow; 9 2p down arrow.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N: 1s^2 2s^2 2p^3, 3 unpaired. Cl: 1s^2 2s^2 2p^6 3s^2 3p^5, 1 unpaired. Ca: 1s^2 2s^2 2p^6 3s^2 3p^6 4s^2, 0 unpaired. 3d stays empty until scandium. Image prompt (aside slot): period 3 of a periodic table wall chart, lit from the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ERROR (brief): using the noble gas of the same period, or the element's own. Cl is period 3, so the core is [Ne], not [Ar]; the core is the previous period's noble gas. Shorthand: [Ne] 3s^2 3p^5, which equals the longhand 1s^2 2s^2 2p^6 3s^2 3p^5. Image prompt (concept slot): a neon sign tube glowing orange-red in a dark window.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 setup, then work it. Answer on the next slide. Fe, Z = 26. Fill 4s before 3d, and we write 4s ahead of 3d (filling-order notation, PROVISIONAL convention). Image prompt (aside slot): a rusted iron nail on a white 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Fe: [Ar] 4s^2 3d^6, 18 + 2 + 6 = 26. The 3d boxes hold one pair and four singles, so 4 unpaired. Longhand: 1s^2 2s^2 2p^6 3s^2 3p^6 4s^2 3d^6.</a:t>
            </a:r>
          </a:p>
          <a:p>
            <a:r>
              <a:t>CLICK BUILD: 9 clicks: 1 boxes and labels fly in; 2 4s up arrow; 3 4s down arrow; 4 3d up arrow; 5 3d up arrow; 6 3d up arrow; 7 3d up arrow; 8 3d up arrow; 9 3d down arrow.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Cr and Cu are taught as exceptions. Cr: [Ar] 4s^1 3d^5. Cu: [Ar] 4s^1 3d^10. These are measured ground states, not textbook errors. PROVISIONAL label: 'half-full or full d is extra stable' is a simplification, not a predictor; it does not explain every exception. Mo, Ag and Au (one period down) are not taught and unchecked here; outside Cr and Cu, say 'look it up'.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four checks in order: count, caps and order, Hund and Pauli, then core / Cr / Cu. Stop at the first failure. Image prompt (band slot): a teacher's red pen resting on a page of student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on the next slide. Each was written as a ground state. (a) O: 1s^2 2s^2 2p^6 is 10 electrons, O has 8. (b) K: [Ar] 3d^1 puts 3d before 4s. (c) Ca: [Ne] 4s^2 is 12 electrons, wrong core. (d) Cr: [Ar] 4s^2 3d^4 obeys the rules but is not the real ground state. Image prompt (aside slot): a page of student work with a few lines circled in red 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(a) O 1s^2 2s^2 2p^4. (b) K [Ar] 4s^1. (c) Ca [Ar] 4s^2. (d) Cr [Ar] 4s^1 3d^5. Teach 'rules-consistent' versus 'observed': (d) passes every rule on paper and is still not the real atom. Image prompt (data slot): a pencil resting on a page of crossed-out electron counts.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Orbital-diagram errors (brief items c, d), labelled (e) and (f) here. (e) N 2p drawn up, down, up: three singles but not parallel. (f) Ne 2s drawn up, up in one box: Pauli. Ask which rule each breaks and what the fix looks like.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(e) Hund: unpaired electrons need parallel spins. Correct N 2p: up, up, up. (f) Pauli: two electrons in one orbital must have opposite spins. Correct Ne 2s: up, down. The brief's other Hund error (pair, single, empty) is the WRONG row on the Hund slide earlier in this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(re-derived). P, Z = 15: 1s^2 2s^2 2p^6 3s^2 3p^3, 2+2+6+2+3 = 15, 3 unpaired. S, Z = 16: [Ne] 3s^2 3p^4, 10+2+4 = 16; 3p boxes: one pair and two singles, 2 unpaired. Cu, Z = 29: [Ar] 4s^1 3d^10, 18+1+10 = 29; exception, a filled 3d is extra stable (simplification, PROVISIONAL label). Image prompt (aside slot): a pencil and a blank sheet of lined paper on a lab 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ahead: next is valence electrons and ion configurations (S2.4). Image prompt (divider slot): an empty lab stool at a long bench, window light across the floor.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1_UNIT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5532120" y="1554480"/>
            <a:ext cx="6656832" cy="374904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5532120" y="1554480"/>
            <a:ext cx="6656832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HERO IMAGE  •  16:9  •  1920×1080 min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685800" y="1188720"/>
            <a:ext cx="461772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Goes Here</a:t>
            </a:r>
            <a:endParaRPr lang="en-US" sz="40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685800" y="3246120"/>
            <a:ext cx="4434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sentence on what this unit is actually about.</a:t>
            </a:r>
            <a:endParaRPr lang="en-US" sz="1700" dirty="0"/>
          </a:p>
        </p:txBody>
      </p:sp>
      <p:sp>
        <p:nvSpPr>
          <p:cNvPr id="10" name="Shape 4"/>
          <p:cNvSpPr/>
          <p:nvPr/>
        </p:nvSpPr>
        <p:spPr>
          <a:xfrm>
            <a:off x="685800" y="5074920"/>
            <a:ext cx="1417320" cy="329184"/>
          </a:xfrm>
          <a:prstGeom prst="rect">
            <a:avLst>
              <a:gd name="adj" fmla="val 50000"/>
            </a:avLst>
          </a:prstGeom>
          <a:solidFill>
            <a:srgbClr val="A3E635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85800" y="51023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MR. SHULL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2_SECTION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977640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4480560" y="777240"/>
            <a:ext cx="7086600" cy="3986784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5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IMAGE  •  16:9</a:t>
            </a:r>
            <a:endParaRPr lang="en-US" sz="1200" dirty="0"/>
          </a:p>
        </p:txBody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14813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100" dirty="0"/>
          </a:p>
        </p:txBody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1.1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Name</a:t>
            </a:r>
            <a:endParaRPr lang="en-US" sz="28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students should be able to do by the end.</a:t>
            </a:r>
            <a:endParaRPr lang="en-US" sz="1600" dirty="0"/>
          </a:p>
        </p:txBody>
      </p:sp>
      <p:sp>
        <p:nvSpPr>
          <p:cNvPr id="10" name="Text 4"/>
          <p:cNvSpPr txBox="1"/>
          <p:nvPr/>
        </p:nvSpPr>
        <p:spPr>
          <a:xfrm>
            <a:off x="777240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3_GROUPED_CONCEP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77440"/>
            <a:ext cx="466344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8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9" name="Shape 3"/>
          <p:cNvSpPr/>
          <p:nvPr/>
        </p:nvSpPr>
        <p:spPr>
          <a:xfrm>
            <a:off x="5532120" y="2377440"/>
            <a:ext cx="315468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first idea, in one or two lines.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8915400" y="2377440"/>
            <a:ext cx="3154680" cy="2624328"/>
          </a:xfrm>
          <a:prstGeom prst="rect">
            <a:avLst/>
          </a:prstGeom>
          <a:solidFill>
            <a:srgbClr val="2E3338"/>
          </a:solidFill>
          <a:ln w="12700">
            <a:solidFill>
              <a:srgbClr val="2E3338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contrasting idea.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85800" y="532180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6" name="Text 6"/>
          <p:cNvSpPr txBox="1"/>
          <p:nvPr/>
        </p:nvSpPr>
        <p:spPr>
          <a:xfrm>
            <a:off x="886968" y="53766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8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4_DIVIDER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0" y="0"/>
            <a:ext cx="9262872" cy="68580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FULL-BLEED CONCEPT IMAGE  •  one image, no decoration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6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3703320" cy="3675888"/>
          </a:xfrm>
          <a:prstGeom prst="rect">
            <a:avLst/>
          </a:prstGeom>
          <a:solidFill>
            <a:srgbClr val="14161B"/>
          </a:solidFill>
          <a:ln w="15875">
            <a:solidFill>
              <a:srgbClr val="A3E635"/>
            </a:solidFill>
            <a:prstDash val="solid"/>
          </a:ln>
        </p:spPr>
      </p:sp>
      <p:sp>
        <p:nvSpPr>
          <p:cNvPr id="8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1.2  •  SECTION NAME</a:t>
            </a:r>
            <a:endParaRPr lang="en-US" sz="1100" dirty="0"/>
          </a:p>
        </p:txBody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Big Idea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Of This Section</a:t>
            </a:r>
            <a:endParaRPr lang="en-US" sz="26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Students see the story before the first bullet.</a:t>
            </a:r>
            <a:endParaRPr lang="en-US" sz="1600" dirty="0"/>
          </a:p>
        </p:txBody>
      </p:sp>
      <p:sp>
        <p:nvSpPr>
          <p:cNvPr id="11" name="Text 5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5_PROCESS_TIME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10820095" cy="201168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8" name="Shape 3"/>
          <p:cNvSpPr/>
          <p:nvPr/>
        </p:nvSpPr>
        <p:spPr>
          <a:xfrm>
            <a:off x="3246120" y="2487168"/>
            <a:ext cx="5669280" cy="18288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 BAND  •  3:1  •  generate 16:9 and centre-crop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32104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1</a:t>
            </a:r>
            <a:endParaRPr lang="en-US" sz="1200" dirty="0"/>
          </a:p>
        </p:txBody>
      </p:sp>
      <p:sp>
        <p:nvSpPr>
          <p:cNvPr id="13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4" name="Shape 6"/>
          <p:cNvSpPr/>
          <p:nvPr/>
        </p:nvSpPr>
        <p:spPr>
          <a:xfrm>
            <a:off x="3447288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3593592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2</a:t>
            </a:r>
            <a:endParaRPr lang="en-US" sz="1200" dirty="0"/>
          </a:p>
        </p:txBody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8" name="Shape 8"/>
          <p:cNvSpPr/>
          <p:nvPr/>
        </p:nvSpPr>
        <p:spPr>
          <a:xfrm>
            <a:off x="6208776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9" name="Text 9"/>
          <p:cNvSpPr txBox="1"/>
          <p:nvPr/>
        </p:nvSpPr>
        <p:spPr>
          <a:xfrm>
            <a:off x="6355080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3</a:t>
            </a:r>
            <a:endParaRPr lang="en-US" sz="12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2" name="Shape 10"/>
          <p:cNvSpPr/>
          <p:nvPr/>
        </p:nvSpPr>
        <p:spPr>
          <a:xfrm>
            <a:off x="8970264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3" name="Text 11"/>
          <p:cNvSpPr txBox="1"/>
          <p:nvPr/>
        </p:nvSpPr>
        <p:spPr>
          <a:xfrm>
            <a:off x="9116568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4</a:t>
            </a:r>
            <a:endParaRPr lang="en-US" sz="1200" dirty="0"/>
          </a:p>
        </p:txBody>
      </p:sp>
      <p:sp>
        <p:nvSpPr>
          <p:cNvPr id="25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6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7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6_CONCEPT_IMAG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6172200" y="868680"/>
            <a:ext cx="5349240" cy="41605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5" name="Shape 3"/>
          <p:cNvSpPr/>
          <p:nvPr/>
        </p:nvSpPr>
        <p:spPr>
          <a:xfrm>
            <a:off x="6355080" y="1298448"/>
            <a:ext cx="4983480" cy="2798064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6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7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Headline</a:t>
            </a:r>
            <a:endParaRPr lang="en-US" sz="28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Keep it to what the image cannot say on its own.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685800" y="3520440"/>
            <a:ext cx="4892040" cy="114300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86968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KEY QUESTION</a:t>
            </a:r>
            <a:endParaRPr lang="en-US" sz="9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question this slide is asking.</a:t>
            </a:r>
            <a:endParaRPr lang="en-US" sz="1600" dirty="0"/>
          </a:p>
        </p:txBody>
      </p:sp>
      <p:sp>
        <p:nvSpPr>
          <p:cNvPr id="14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5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7_COMPARISON_CARD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412480" y="960120"/>
            <a:ext cx="3090672" cy="173736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641080" y="1088136"/>
            <a:ext cx="2633472" cy="1481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ONE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job each.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429768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TWO</a:t>
            </a:r>
            <a:endParaRPr lang="en-US" sz="1200" dirty="0"/>
          </a:p>
        </p:txBody>
      </p:sp>
      <p:sp>
        <p:nvSpPr>
          <p:cNvPr id="15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Not a wall of bullets.</a:t>
            </a:r>
            <a:endParaRPr lang="en-US" sz="1600" dirty="0"/>
          </a:p>
        </p:txBody>
      </p:sp>
      <p:sp>
        <p:nvSpPr>
          <p:cNvPr id="16" name="Shape 6"/>
          <p:cNvSpPr/>
          <p:nvPr/>
        </p:nvSpPr>
        <p:spPr>
          <a:xfrm>
            <a:off x="790956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THREE</a:t>
            </a:r>
            <a:endParaRPr lang="en-US" sz="1200" dirty="0"/>
          </a:p>
        </p:txBody>
      </p:sp>
      <p:sp>
        <p:nvSpPr>
          <p:cNvPr id="18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third parallel item.</a:t>
            </a:r>
            <a:endParaRPr lang="en-US" sz="1600" dirty="0"/>
          </a:p>
        </p:txBody>
      </p:sp>
      <p:sp>
        <p:nvSpPr>
          <p:cNvPr id="19" name="Shape 7"/>
          <p:cNvSpPr/>
          <p:nvPr/>
        </p:nvSpPr>
        <p:spPr>
          <a:xfrm>
            <a:off x="685800" y="541324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0" name="Text 8"/>
          <p:cNvSpPr txBox="1"/>
          <p:nvPr/>
        </p:nvSpPr>
        <p:spPr>
          <a:xfrm>
            <a:off x="886968" y="546811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1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2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8_DIAGRAM_ANNOTA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5074920" cy="32461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8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Hand-built diagram here.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Anything with a number or a label is built, not generated.</a:t>
            </a:r>
            <a:endParaRPr lang="en-US" sz="2000" dirty="0"/>
          </a:p>
        </p:txBody>
      </p:sp>
      <p:sp>
        <p:nvSpPr>
          <p:cNvPr id="9" name="Shape 3"/>
          <p:cNvSpPr/>
          <p:nvPr/>
        </p:nvSpPr>
        <p:spPr>
          <a:xfrm>
            <a:off x="6126480" y="2395728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6126480" y="3529584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126480" y="4663440"/>
            <a:ext cx="5532120" cy="97840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6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THREE</a:t>
            </a:r>
            <a:endParaRPr lang="en-US" sz="1200" dirty="0"/>
          </a:p>
        </p:txBody>
      </p:sp>
      <p:sp>
        <p:nvSpPr>
          <p:cNvPr id="17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8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9_EXAMPLE_PROBLE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915400" y="960120"/>
            <a:ext cx="2587752" cy="1325880"/>
          </a:xfrm>
          <a:prstGeom prst="rect">
            <a:avLst/>
          </a:prstGeom>
          <a:solidFill>
            <a:srgbClr val="EDF0E5"/>
          </a:solidFill>
          <a:ln w="25400">
            <a:solidFill>
              <a:srgbClr val="A3E635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262872" y="1088136"/>
            <a:ext cx="1901952" cy="106984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395728"/>
            <a:ext cx="5394960" cy="105156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886968" y="25237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68580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the problem hands you.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347472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you are solving for.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6263640" y="2395728"/>
            <a:ext cx="5239512" cy="29535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6464808" y="25603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 AREA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Leave this blank in the projected copy. It is filled live on the board.</a:t>
            </a:r>
            <a:endParaRPr lang="en-US" sz="1900" dirty="0"/>
          </a:p>
        </p:txBody>
      </p:sp>
      <p:sp>
        <p:nvSpPr>
          <p:cNvPr id="22" name="Shape 10"/>
          <p:cNvSpPr/>
          <p:nvPr/>
        </p:nvSpPr>
        <p:spPr>
          <a:xfrm>
            <a:off x="685800" y="5532120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3" name="Text 11"/>
          <p:cNvSpPr txBox="1"/>
          <p:nvPr/>
        </p:nvSpPr>
        <p:spPr>
          <a:xfrm>
            <a:off x="886968" y="558698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5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6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WORKED_SOLU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160520" cy="25603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3867912" cy="22677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DATA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074920" y="2395728"/>
            <a:ext cx="3154680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FORMULA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relationship, before any numbers.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8412480" y="2395728"/>
            <a:ext cx="3090672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/>
        </p:nvSpPr>
        <p:spPr>
          <a:xfrm>
            <a:off x="8613648" y="25603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</a:t>
            </a:r>
            <a:endParaRPr lang="en-US" sz="9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completed work,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by step.</a:t>
            </a:r>
            <a:endParaRPr lang="en-US" sz="1900" dirty="0"/>
          </a:p>
        </p:txBody>
      </p:sp>
      <p:sp>
        <p:nvSpPr>
          <p:cNvPr id="16" name="Shape 7"/>
          <p:cNvSpPr/>
          <p:nvPr/>
        </p:nvSpPr>
        <p:spPr>
          <a:xfrm>
            <a:off x="685800" y="513892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7" name="Text 8"/>
          <p:cNvSpPr txBox="1"/>
          <p:nvPr/>
        </p:nvSpPr>
        <p:spPr>
          <a:xfrm>
            <a:off x="886968" y="5193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9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GIVENS_EQUATION_ANSW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663440" cy="2624328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4370832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4370832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577840" y="2395728"/>
            <a:ext cx="5925312" cy="96012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5779008" y="25054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5779008" y="2743200"/>
            <a:ext cx="5522976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577840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5779008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5779008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Values the problem supplies.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8631936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8833104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EQUATION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8833104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 you will use.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5577840" y="5193792"/>
            <a:ext cx="5925312" cy="777240"/>
          </a:xfrm>
          <a:prstGeom prst="rect">
            <a:avLst/>
          </a:prstGeom>
          <a:solidFill>
            <a:srgbClr val="EDF0E5"/>
          </a:solidFill>
          <a:ln w="19050">
            <a:solidFill>
              <a:srgbClr val="A3E635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5779008" y="5285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ANSWER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5779008" y="5504688"/>
            <a:ext cx="5522976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with units</a:t>
            </a:r>
            <a:endParaRPr lang="en-US" sz="2000" dirty="0"/>
          </a:p>
        </p:txBody>
      </p:sp>
      <p:sp>
        <p:nvSpPr>
          <p:cNvPr id="22" name="Text 10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1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DECK_INDEX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Text 2"/>
          <p:cNvSpPr txBox="1"/>
          <p:nvPr>
            <p:ph idx="102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6" name="Text 3"/>
          <p:cNvSpPr txBox="1"/>
          <p:nvPr>
            <p:ph idx="104" type="title" hasCustomPrompt="1"/>
          </p:nvPr>
        </p:nvSpPr>
        <p:spPr>
          <a:xfrm>
            <a:off x="685800" y="1097280"/>
            <a:ext cx="32004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Template Slide</a:t>
            </a:r>
            <a:endParaRPr lang="en-US" sz="3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Family</a:t>
            </a:r>
            <a:endParaRPr lang="en-US" sz="3000" dirty="0"/>
          </a:p>
        </p:txBody>
      </p:sp>
      <p:sp>
        <p:nvSpPr>
          <p:cNvPr id="7" name="Text 3"/>
          <p:cNvSpPr txBox="1"/>
          <p:nvPr>
            <p:ph idx="105" type="body" hasCustomPrompt="1"/>
          </p:nvPr>
        </p:nvSpPr>
        <p:spPr>
          <a:xfrm>
            <a:off x="685800" y="2514600"/>
            <a:ext cx="3200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Twelve layouts shared by Chemistry, Physics, and Geology.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New slide → Layout → pick one. Never build from scratch.</a:t>
            </a:r>
            <a:endParaRPr lang="en-US" sz="1600" dirty="0"/>
          </a:p>
        </p:txBody>
      </p:sp>
      <p:sp>
        <p:nvSpPr>
          <p:cNvPr id="8" name="Shape 3"/>
          <p:cNvSpPr/>
          <p:nvPr/>
        </p:nvSpPr>
        <p:spPr>
          <a:xfrm>
            <a:off x="443484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459943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503834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459943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unit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676656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693115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737006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93115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section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09828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926287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970178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Grouped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26287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contrasting ideas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43484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59943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503834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Divider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9943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visual reset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76656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693115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737006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93115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four numbered steps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909828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926287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06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970178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926287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panel + key question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443484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459943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07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503834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459943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76656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693115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08</a:t>
            </a:r>
            <a:endParaRPr lang="en-US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737006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Diagram</a:t>
            </a:r>
            <a:endParaRPr lang="en-US" sz="1200" dirty="0"/>
          </a:p>
        </p:txBody>
      </p:sp>
      <p:sp>
        <p:nvSpPr>
          <p:cNvPr id="39" name="Text 34"/>
          <p:cNvSpPr txBox="1"/>
          <p:nvPr/>
        </p:nvSpPr>
        <p:spPr>
          <a:xfrm>
            <a:off x="693115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figure + annotation</a:t>
            </a:r>
            <a:endParaRPr lang="en-US" sz="1100" dirty="0"/>
          </a:p>
        </p:txBody>
      </p:sp>
      <p:sp>
        <p:nvSpPr>
          <p:cNvPr id="40" name="Shape 35"/>
          <p:cNvSpPr/>
          <p:nvPr/>
        </p:nvSpPr>
        <p:spPr>
          <a:xfrm>
            <a:off x="909828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926287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09</a:t>
            </a:r>
            <a:endParaRPr lang="en-US" sz="1100" dirty="0"/>
          </a:p>
        </p:txBody>
      </p:sp>
      <p:sp>
        <p:nvSpPr>
          <p:cNvPr id="42" name="Text 37"/>
          <p:cNvSpPr txBox="1"/>
          <p:nvPr/>
        </p:nvSpPr>
        <p:spPr>
          <a:xfrm>
            <a:off x="970178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</a:t>
            </a:r>
            <a:endParaRPr lang="en-US" sz="1200" dirty="0"/>
          </a:p>
        </p:txBody>
      </p:sp>
      <p:sp>
        <p:nvSpPr>
          <p:cNvPr id="43" name="Text 38"/>
          <p:cNvSpPr txBox="1"/>
          <p:nvPr/>
        </p:nvSpPr>
        <p:spPr>
          <a:xfrm>
            <a:off x="926287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empty work area</a:t>
            </a:r>
            <a:endParaRPr lang="en-US" sz="1100" dirty="0"/>
          </a:p>
        </p:txBody>
      </p:sp>
      <p:sp>
        <p:nvSpPr>
          <p:cNvPr id="44" name="Shape 39"/>
          <p:cNvSpPr/>
          <p:nvPr/>
        </p:nvSpPr>
        <p:spPr>
          <a:xfrm>
            <a:off x="443484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459943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100" dirty="0"/>
          </a:p>
        </p:txBody>
      </p:sp>
      <p:sp>
        <p:nvSpPr>
          <p:cNvPr id="46" name="Text 41"/>
          <p:cNvSpPr txBox="1"/>
          <p:nvPr/>
        </p:nvSpPr>
        <p:spPr>
          <a:xfrm>
            <a:off x="503834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Solution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459943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pairs with 09</a:t>
            </a:r>
            <a:endParaRPr lang="en-US" sz="1100" dirty="0"/>
          </a:p>
        </p:txBody>
      </p:sp>
      <p:sp>
        <p:nvSpPr>
          <p:cNvPr id="48" name="Shape 43"/>
          <p:cNvSpPr/>
          <p:nvPr/>
        </p:nvSpPr>
        <p:spPr>
          <a:xfrm>
            <a:off x="676656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693115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11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737006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Given/Eq/Ans</a:t>
            </a:r>
            <a:endParaRPr lang="en-US" sz="1200" dirty="0"/>
          </a:p>
        </p:txBody>
      </p:sp>
      <p:sp>
        <p:nvSpPr>
          <p:cNvPr id="51" name="Text 46"/>
          <p:cNvSpPr txBox="1"/>
          <p:nvPr/>
        </p:nvSpPr>
        <p:spPr>
          <a:xfrm>
            <a:off x="693115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 course</a:t>
            </a:r>
            <a:endParaRPr lang="en-US" sz="1100" dirty="0"/>
          </a:p>
        </p:txBody>
      </p:sp>
      <p:sp>
        <p:nvSpPr>
          <p:cNvPr id="52" name="Shape 47"/>
          <p:cNvSpPr/>
          <p:nvPr/>
        </p:nvSpPr>
        <p:spPr>
          <a:xfrm>
            <a:off x="909828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926287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Text 49"/>
          <p:cNvSpPr txBox="1"/>
          <p:nvPr/>
        </p:nvSpPr>
        <p:spPr>
          <a:xfrm>
            <a:off x="970178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Deck Index</a:t>
            </a:r>
            <a:endParaRPr lang="en-US" sz="1200" dirty="0"/>
          </a:p>
        </p:txBody>
      </p:sp>
      <p:sp>
        <p:nvSpPr>
          <p:cNvPr id="55" name="Text 50"/>
          <p:cNvSpPr txBox="1"/>
          <p:nvPr/>
        </p:nvSpPr>
        <p:spPr>
          <a:xfrm>
            <a:off x="926287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delete before class</a:t>
            </a:r>
            <a:endParaRPr lang="en-US" sz="1100" dirty="0"/>
          </a:p>
        </p:txBody>
      </p:sp>
      <p:sp>
        <p:nvSpPr>
          <p:cNvPr id="56" name="Text 51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57" name="Text 52"/>
          <p:cNvSpPr txBox="1"/>
          <p:nvPr>
            <p:ph idx="15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03</a:t>
            </a:r>
            <a:endParaRPr lang="en-US" sz="4400" dirty="0"/>
          </a:p>
        </p:txBody>
      </p:sp>
      <p:sp>
        <p:nvSpPr>
          <p:cNvPr id="3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2.3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Configurations</a:t>
            </a:r>
            <a:endParaRPr lang="en-US" sz="2800" dirty="0"/>
          </a:p>
        </p:txBody>
      </p:sp>
      <p:sp>
        <p:nvSpPr>
          <p:cNvPr id="4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configurations and orbital diagrams through krypton, and catch mistakes in them.</a:t>
            </a:r>
            <a:endParaRPr lang="en-US" sz="16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7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Where Are Oxygen's Electrons?</a:t>
            </a:r>
            <a:endParaRPr lang="en-US" sz="2800" dirty="0"/>
          </a:p>
        </p:txBody>
      </p:sp>
      <p:sp>
        <p:nvSpPr>
          <p:cNvPr id="3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periodic table gives you the count: 8. Today you write where each one sits.</a:t>
            </a:r>
            <a:endParaRPr lang="en-US" sz="1600" dirty="0"/>
          </a:p>
        </p:txBody>
      </p:sp>
      <p:sp>
        <p:nvSpPr>
          <p:cNvPr id="4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Oxygen has 8 electrons. Do all 8 have the same energy?</a:t>
            </a:r>
            <a:endParaRPr lang="en-US" sz="1600" dirty="0"/>
          </a:p>
        </p:txBody>
      </p:sp>
      <p:sp>
        <p:nvSpPr>
          <p:cNvPr id="5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6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8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Reading an Electron Configuration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Take 2p</a:t>
            </a:r>
            <a:pPr indent="0" marL="0">
              <a:buNone/>
            </a:pPr>
            <a:r>
              <a:rPr lang="en-US" sz="1700" baseline="30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apart one piece at a time.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ENERGY LEVEL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big number in front is the level: 2.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SUBLEVEL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letter is the sublevel: p.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raised number is the electron count: 4.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configuration lists where the electrons sit. Ground state means the lowest-energy arrangement.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aufbau_or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Order Electrons Fill In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Read each arrow from top right to bottom left, then start the next arrow.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AUFBAU PRINCIPLE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lowest-energy open orbital fills first.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ORDER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 2s 2p 3s 3p 4s 3d 4p 5s 4d 5p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HEAVY BOXES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4s fills before 3d, in K and Ca.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paul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Pauli: Two per Orbital, Opposite Spins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Up and down arrows are spin labels, not electrons orbiting opposite ways.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PAULI EXCLUSION PRINCIPLE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orbital holds at most 2 electrons.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SPINS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If there are two, their spins are opposite.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COMMON MIX-UP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per orbital, not two per sublevel.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h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Hund's Rule: Singles Before Pairs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Equal-energy orbitals, like the three 2p boxes, each get one electron first.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HUND'S RULE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Singles first, all pointing the same way.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NITROGEN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Its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is three single electrons: 3 unpaired.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TERM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Equal-energy orbitals are called degenerate.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Reading an Orbital Diagram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box per orbital. Nitrogen has 7 electrons, so 7 arrows.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BOXES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 and 2s have 1 box each. 2p has 3.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ARROWS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Draw the up arrow first in every box.</a:t>
            </a:r>
            <a:endParaRPr lang="en-US" sz="1600" dirty="0"/>
          </a:p>
        </p:txBody>
      </p:sp>
      <p:sp>
        <p:nvSpPr>
          <p:cNvPr id="8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LABEL UNDER EACH GROUP</a:t>
            </a:r>
            <a:endParaRPr lang="en-US" sz="1200" dirty="0"/>
          </a:p>
        </p:txBody>
      </p:sp>
      <p:sp>
        <p:nvSpPr>
          <p:cNvPr id="9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raised number counts the arrows.</a:t>
            </a:r>
            <a:endParaRPr lang="en-US" sz="1600" dirty="0"/>
          </a:p>
        </p:txBody>
      </p:sp>
      <p:sp>
        <p:nvSpPr>
          <p:cNvPr id="10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1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14" name="BUILD backdrop"/>
          <p:cNvSpPr/>
          <p:nvPr/>
        </p:nvSpPr>
        <p:spPr>
          <a:xfrm>
            <a:off x="914400" y="2651760"/>
            <a:ext cx="461772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2" name="BUILD boxes and labels"/>
          <p:cNvGrpSpPr/>
          <p:nvPr/>
        </p:nvGrpSpPr>
        <p:grpSpPr>
          <a:xfrm>
            <a:off x="932687" y="2894076"/>
            <a:ext cx="4581145" cy="1380744"/>
            <a:chOff x="932687" y="2894076"/>
            <a:chExt cx="4581145" cy="1380744"/>
          </a:xfrm>
        </p:grpSpPr>
        <p:sp>
          <p:nvSpPr>
            <p:cNvPr id="15" name="BUILD title"/>
            <p:cNvSpPr txBox="1"/>
            <p:nvPr/>
          </p:nvSpPr>
          <p:spPr>
            <a:xfrm>
              <a:off x="1024128" y="2894076"/>
              <a:ext cx="4398264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NITROGEN  Z = 7</a:t>
              </a:r>
            </a:p>
          </p:txBody>
        </p:sp>
        <p:sp>
          <p:nvSpPr>
            <p:cNvPr id="16" name="BUILD box 1s 1"/>
            <p:cNvSpPr/>
            <p:nvPr/>
          </p:nvSpPr>
          <p:spPr>
            <a:xfrm>
              <a:off x="1024127" y="3204972"/>
              <a:ext cx="758952" cy="758952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BUILD label 1s"/>
            <p:cNvSpPr txBox="1"/>
            <p:nvPr/>
          </p:nvSpPr>
          <p:spPr>
            <a:xfrm>
              <a:off x="932687" y="4000500"/>
              <a:ext cx="941832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1s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2</a:t>
              </a:r>
            </a:p>
          </p:txBody>
        </p:sp>
        <p:sp>
          <p:nvSpPr>
            <p:cNvPr id="18" name="BUILD box 2s 1"/>
            <p:cNvSpPr/>
            <p:nvPr/>
          </p:nvSpPr>
          <p:spPr>
            <a:xfrm>
              <a:off x="2039111" y="3204972"/>
              <a:ext cx="758952" cy="758952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BUILD label 2s"/>
            <p:cNvSpPr txBox="1"/>
            <p:nvPr/>
          </p:nvSpPr>
          <p:spPr>
            <a:xfrm>
              <a:off x="1947671" y="4000500"/>
              <a:ext cx="941832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2s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2</a:t>
              </a:r>
            </a:p>
          </p:txBody>
        </p:sp>
        <p:sp>
          <p:nvSpPr>
            <p:cNvPr id="20" name="BUILD box 2p 1"/>
            <p:cNvSpPr/>
            <p:nvPr/>
          </p:nvSpPr>
          <p:spPr>
            <a:xfrm>
              <a:off x="3054096" y="3204972"/>
              <a:ext cx="758952" cy="758952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BUILD box 2p 2"/>
            <p:cNvSpPr/>
            <p:nvPr/>
          </p:nvSpPr>
          <p:spPr>
            <a:xfrm>
              <a:off x="3858768" y="3204972"/>
              <a:ext cx="758952" cy="758952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BUILD box 2p 3"/>
            <p:cNvSpPr/>
            <p:nvPr/>
          </p:nvSpPr>
          <p:spPr>
            <a:xfrm>
              <a:off x="4663440" y="3204972"/>
              <a:ext cx="758952" cy="758952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BUILD label 2p"/>
            <p:cNvSpPr txBox="1"/>
            <p:nvPr/>
          </p:nvSpPr>
          <p:spPr>
            <a:xfrm>
              <a:off x="2962656" y="4000500"/>
              <a:ext cx="2551176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2p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3</a:t>
              </a:r>
            </a:p>
          </p:txBody>
        </p:sp>
      </p:grpSp>
      <p:sp>
        <p:nvSpPr>
          <p:cNvPr id="24" name="BUILD arrow 1s box1 up"/>
          <p:cNvSpPr/>
          <p:nvPr/>
        </p:nvSpPr>
        <p:spPr>
          <a:xfrm>
            <a:off x="1156944" y="3349172"/>
            <a:ext cx="189738" cy="470550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BUILD arrow 1s box1 down"/>
          <p:cNvSpPr/>
          <p:nvPr/>
        </p:nvSpPr>
        <p:spPr>
          <a:xfrm>
            <a:off x="1460525" y="3349172"/>
            <a:ext cx="189738" cy="470550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BUILD arrow 2s box1 up"/>
          <p:cNvSpPr/>
          <p:nvPr/>
        </p:nvSpPr>
        <p:spPr>
          <a:xfrm>
            <a:off x="2171928" y="3349172"/>
            <a:ext cx="189738" cy="470550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BUILD arrow 2s box1 down"/>
          <p:cNvSpPr/>
          <p:nvPr/>
        </p:nvSpPr>
        <p:spPr>
          <a:xfrm>
            <a:off x="2475509" y="3349172"/>
            <a:ext cx="189738" cy="470550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BUILD arrow 2p box1 up"/>
          <p:cNvSpPr/>
          <p:nvPr/>
        </p:nvSpPr>
        <p:spPr>
          <a:xfrm>
            <a:off x="3186912" y="3349172"/>
            <a:ext cx="189738" cy="470550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BUILD arrow 2p box2 up"/>
          <p:cNvSpPr/>
          <p:nvPr/>
        </p:nvSpPr>
        <p:spPr>
          <a:xfrm>
            <a:off x="3991584" y="3349172"/>
            <a:ext cx="189738" cy="470550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BUILD arrow 2p box3 up"/>
          <p:cNvSpPr/>
          <p:nvPr/>
        </p:nvSpPr>
        <p:spPr>
          <a:xfrm>
            <a:off x="4796256" y="3349172"/>
            <a:ext cx="189738" cy="470550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BUILD caption"/>
          <p:cNvSpPr txBox="1"/>
          <p:nvPr/>
        </p:nvSpPr>
        <p:spPr>
          <a:xfrm>
            <a:off x="1024128" y="4311396"/>
            <a:ext cx="439826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4D730E"/>
                </a:solidFill>
                <a:latin typeface="Trade Gothic Next"/>
              </a:rPr>
              <a:t>Pauli: pair with opposite spin</a:t>
            </a:r>
          </a:p>
        </p:txBody>
      </p:sp>
      <p:sp>
        <p:nvSpPr>
          <p:cNvPr id="32" name="BUILD caption"/>
          <p:cNvSpPr txBox="1"/>
          <p:nvPr/>
        </p:nvSpPr>
        <p:spPr>
          <a:xfrm>
            <a:off x="1024128" y="4567428"/>
            <a:ext cx="439826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4D730E"/>
                </a:solidFill>
                <a:latin typeface="Trade Gothic Next"/>
              </a:rPr>
              <a:t>Hund: one up arrow in each box first</a:t>
            </a:r>
          </a:p>
        </p:txBody>
      </p:sp>
      <p:sp>
        <p:nvSpPr>
          <p:cNvPr id="33" name="BUILD sum"/>
          <p:cNvSpPr txBox="1"/>
          <p:nvPr/>
        </p:nvSpPr>
        <p:spPr>
          <a:xfrm>
            <a:off x="1024128" y="4860036"/>
            <a:ext cx="439826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4161B"/>
                </a:solidFill>
                <a:latin typeface="Trade Gothic Next"/>
              </a:rPr>
              <a:t>2 + 2 + 3 = 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31" grpId="0"/>
      <p:bldP spid="26" grpId="0" animBg="1"/>
      <p:bldP spid="27" grpId="0" animBg="1"/>
      <p:bldP spid="28" grpId="0" animBg="1"/>
      <p:bldP spid="32" grpId="0"/>
      <p:bldP spid="29" grpId="0" animBg="1"/>
      <p:bldP spid="30" grpId="0" animBg="1"/>
      <p:bldP spid="3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Filling Oxygen's 2p Boxes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Four electrons, three boxes. Watch the order of the arrows.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BOXES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2p sublevel has 3 boxes. Oxygen puts 4 electrons in them.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HUND'S RULE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up arrow in each box first.</a:t>
            </a:r>
            <a:endParaRPr lang="en-US" sz="1600" dirty="0"/>
          </a:p>
        </p:txBody>
      </p:sp>
      <p:sp>
        <p:nvSpPr>
          <p:cNvPr id="8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PAULI EXCLUSION PRINCIPLE</a:t>
            </a:r>
            <a:endParaRPr lang="en-US" sz="1200" dirty="0"/>
          </a:p>
        </p:txBody>
      </p:sp>
      <p:sp>
        <p:nvSpPr>
          <p:cNvPr id="9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fourth arrow pairs up, pointing the opposite way.</a:t>
            </a:r>
            <a:endParaRPr lang="en-US" sz="1600" dirty="0"/>
          </a:p>
        </p:txBody>
      </p:sp>
      <p:sp>
        <p:nvSpPr>
          <p:cNvPr id="10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1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14" name="BUILD backdrop"/>
          <p:cNvSpPr/>
          <p:nvPr/>
        </p:nvSpPr>
        <p:spPr>
          <a:xfrm>
            <a:off x="914400" y="2651760"/>
            <a:ext cx="461772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2" name="BUILD boxes and labels"/>
          <p:cNvGrpSpPr/>
          <p:nvPr/>
        </p:nvGrpSpPr>
        <p:grpSpPr>
          <a:xfrm>
            <a:off x="1024128" y="2816352"/>
            <a:ext cx="4398264" cy="1536192"/>
            <a:chOff x="1024128" y="2816352"/>
            <a:chExt cx="4398264" cy="1536192"/>
          </a:xfrm>
        </p:grpSpPr>
        <p:sp>
          <p:nvSpPr>
            <p:cNvPr id="15" name="BUILD title"/>
            <p:cNvSpPr txBox="1"/>
            <p:nvPr/>
          </p:nvSpPr>
          <p:spPr>
            <a:xfrm>
              <a:off x="1024128" y="2816352"/>
              <a:ext cx="4398264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OXYGEN  2p SUBLEVEL</a:t>
              </a:r>
            </a:p>
          </p:txBody>
        </p:sp>
        <p:sp>
          <p:nvSpPr>
            <p:cNvPr id="16" name="BUILD box 2p 1"/>
            <p:cNvSpPr/>
            <p:nvPr/>
          </p:nvSpPr>
          <p:spPr>
            <a:xfrm>
              <a:off x="1805939" y="3127248"/>
              <a:ext cx="914400" cy="9144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BUILD box 2p 2"/>
            <p:cNvSpPr/>
            <p:nvPr/>
          </p:nvSpPr>
          <p:spPr>
            <a:xfrm>
              <a:off x="2766060" y="3127248"/>
              <a:ext cx="914400" cy="9144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BUILD box 2p 3"/>
            <p:cNvSpPr/>
            <p:nvPr/>
          </p:nvSpPr>
          <p:spPr>
            <a:xfrm>
              <a:off x="3726180" y="3127248"/>
              <a:ext cx="914400" cy="9144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BUILD label 2p"/>
            <p:cNvSpPr txBox="1"/>
            <p:nvPr/>
          </p:nvSpPr>
          <p:spPr>
            <a:xfrm>
              <a:off x="1714499" y="4078224"/>
              <a:ext cx="301752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2p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4</a:t>
              </a:r>
            </a:p>
          </p:txBody>
        </p:sp>
      </p:grpSp>
      <p:sp>
        <p:nvSpPr>
          <p:cNvPr id="20" name="BUILD arrow 2p box1 up"/>
          <p:cNvSpPr/>
          <p:nvPr/>
        </p:nvSpPr>
        <p:spPr>
          <a:xfrm>
            <a:off x="1965960" y="3300984"/>
            <a:ext cx="228600" cy="566928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BUILD arrow 2p box2 up"/>
          <p:cNvSpPr/>
          <p:nvPr/>
        </p:nvSpPr>
        <p:spPr>
          <a:xfrm>
            <a:off x="2926079" y="3300984"/>
            <a:ext cx="228600" cy="566928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BUILD arrow 2p box3 up"/>
          <p:cNvSpPr/>
          <p:nvPr/>
        </p:nvSpPr>
        <p:spPr>
          <a:xfrm>
            <a:off x="3886200" y="3300984"/>
            <a:ext cx="228600" cy="566928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BUILD arrow 2p box1 down"/>
          <p:cNvSpPr/>
          <p:nvPr/>
        </p:nvSpPr>
        <p:spPr>
          <a:xfrm>
            <a:off x="2331720" y="3300984"/>
            <a:ext cx="228600" cy="566928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BUILD caption"/>
          <p:cNvSpPr txBox="1"/>
          <p:nvPr/>
        </p:nvSpPr>
        <p:spPr>
          <a:xfrm>
            <a:off x="1024128" y="4389120"/>
            <a:ext cx="439826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4D730E"/>
                </a:solidFill>
                <a:latin typeface="Trade Gothic Next"/>
              </a:rPr>
              <a:t>Hund: one up arrow in each box first</a:t>
            </a:r>
          </a:p>
        </p:txBody>
      </p:sp>
      <p:sp>
        <p:nvSpPr>
          <p:cNvPr id="25" name="BUILD caption"/>
          <p:cNvSpPr txBox="1"/>
          <p:nvPr/>
        </p:nvSpPr>
        <p:spPr>
          <a:xfrm>
            <a:off x="1024128" y="4645152"/>
            <a:ext cx="439826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4D730E"/>
                </a:solidFill>
                <a:latin typeface="Trade Gothic Next"/>
              </a:rPr>
              <a:t>Pauli: pair with opposite spin</a:t>
            </a:r>
          </a:p>
        </p:txBody>
      </p:sp>
      <p:sp>
        <p:nvSpPr>
          <p:cNvPr id="26" name="BUILD sum"/>
          <p:cNvSpPr txBox="1"/>
          <p:nvPr/>
        </p:nvSpPr>
        <p:spPr>
          <a:xfrm>
            <a:off x="1024128" y="4937759"/>
            <a:ext cx="439826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4161B"/>
                </a:solidFill>
                <a:latin typeface="Trade Gothic Next"/>
              </a:rPr>
              <a:t>4 arrows = 4 electrons in 2p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4" grpId="0"/>
      <p:bldP spid="21" grpId="0" animBg="1"/>
      <p:bldP spid="22" grpId="0" animBg="1"/>
      <p:bldP spid="23" grpId="0" animBg="1"/>
      <p:bldP spid="25" grpId="0"/>
      <p:bldP spid="2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Writing a Configuration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same four steps, for every element.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Find Z</a:t>
            </a:r>
            <a:endParaRPr lang="en-US" sz="1200" dirty="0"/>
          </a:p>
        </p:txBody>
      </p:sp>
      <p:sp>
        <p:nvSpPr>
          <p:cNvPr id="5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Atomic number is the electron count.</a:t>
            </a:r>
            <a:endParaRPr lang="en-US" sz="1600" dirty="0"/>
          </a:p>
        </p:txBody>
      </p:sp>
      <p:sp>
        <p:nvSpPr>
          <p:cNvPr id="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Fill in order</a:t>
            </a:r>
            <a:endParaRPr lang="en-US" sz="12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Follow the chart, lowest first.</a:t>
            </a:r>
            <a:endParaRPr lang="en-US" sz="1600" dirty="0"/>
          </a:p>
        </p:txBody>
      </p:sp>
      <p:sp>
        <p:nvSpPr>
          <p:cNvPr id="8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Respect the caps</a:t>
            </a:r>
            <a:endParaRPr lang="en-US" sz="12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 holds 2, p 6, d 10, f 14.</a:t>
            </a:r>
            <a:endParaRPr lang="en-US" sz="16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Add it up</a:t>
            </a:r>
            <a:endParaRPr lang="en-US" sz="1200" dirty="0"/>
          </a:p>
        </p:txBody>
      </p:sp>
      <p:sp>
        <p:nvSpPr>
          <p:cNvPr id="11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raised numbers must total Z.</a:t>
            </a:r>
            <a:endParaRPr lang="en-US" sz="1600" dirty="0"/>
          </a:p>
        </p:txBody>
      </p:sp>
      <p:sp>
        <p:nvSpPr>
          <p:cNvPr id="12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3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5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Oxygen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Copy the setup, not just the answer.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longhand configuration and the orbital diagram for oxygen.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Oxygen, Z = 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Neutral atom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Longhand configuration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Orbital diagram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 electrons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Always check that the raised numbers add up to Z.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Oxygen,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Order first. Then singles before pairs in the 2p boxes.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 = 8 electrons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Fill 1s, then 2s, then 2p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 + 2 + 4 = 8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Unpaired: 2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Oxygen is 1s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with 2 unpaired electrons.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1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2" name="BUILD backdrop"/>
          <p:cNvSpPr/>
          <p:nvPr/>
        </p:nvSpPr>
        <p:spPr>
          <a:xfrm>
            <a:off x="832104" y="2542032"/>
            <a:ext cx="3867912" cy="22677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0" name="BUILD boxes and labels"/>
          <p:cNvGrpSpPr/>
          <p:nvPr/>
        </p:nvGrpSpPr>
        <p:grpSpPr>
          <a:xfrm>
            <a:off x="941832" y="2651759"/>
            <a:ext cx="3648456" cy="1170432"/>
            <a:chOff x="941832" y="2651759"/>
            <a:chExt cx="3648456" cy="1170432"/>
          </a:xfrm>
        </p:grpSpPr>
        <p:sp>
          <p:nvSpPr>
            <p:cNvPr id="13" name="BUILD title"/>
            <p:cNvSpPr txBox="1"/>
            <p:nvPr/>
          </p:nvSpPr>
          <p:spPr>
            <a:xfrm>
              <a:off x="941832" y="2651759"/>
              <a:ext cx="3648456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OXYGEN  Z = 8</a:t>
              </a:r>
            </a:p>
          </p:txBody>
        </p:sp>
        <p:sp>
          <p:nvSpPr>
            <p:cNvPr id="14" name="BUILD box 1s 1"/>
            <p:cNvSpPr/>
            <p:nvPr/>
          </p:nvSpPr>
          <p:spPr>
            <a:xfrm>
              <a:off x="1092708" y="2962655"/>
              <a:ext cx="548640" cy="54864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BUILD label 1s"/>
            <p:cNvSpPr txBox="1"/>
            <p:nvPr/>
          </p:nvSpPr>
          <p:spPr>
            <a:xfrm>
              <a:off x="1001268" y="3547871"/>
              <a:ext cx="73152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1s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2</a:t>
              </a:r>
            </a:p>
          </p:txBody>
        </p:sp>
        <p:sp>
          <p:nvSpPr>
            <p:cNvPr id="16" name="BUILD box 2s 1"/>
            <p:cNvSpPr/>
            <p:nvPr/>
          </p:nvSpPr>
          <p:spPr>
            <a:xfrm>
              <a:off x="1897380" y="2962655"/>
              <a:ext cx="548640" cy="54864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BUILD label 2s"/>
            <p:cNvSpPr txBox="1"/>
            <p:nvPr/>
          </p:nvSpPr>
          <p:spPr>
            <a:xfrm>
              <a:off x="1805940" y="3547871"/>
              <a:ext cx="73152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2s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2</a:t>
              </a:r>
            </a:p>
          </p:txBody>
        </p:sp>
        <p:sp>
          <p:nvSpPr>
            <p:cNvPr id="18" name="BUILD box 2p 1"/>
            <p:cNvSpPr/>
            <p:nvPr/>
          </p:nvSpPr>
          <p:spPr>
            <a:xfrm>
              <a:off x="2702052" y="2962655"/>
              <a:ext cx="548640" cy="54864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BUILD box 2p 2"/>
            <p:cNvSpPr/>
            <p:nvPr/>
          </p:nvSpPr>
          <p:spPr>
            <a:xfrm>
              <a:off x="3296412" y="2962655"/>
              <a:ext cx="548640" cy="54864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BUILD box 2p 3"/>
            <p:cNvSpPr/>
            <p:nvPr/>
          </p:nvSpPr>
          <p:spPr>
            <a:xfrm>
              <a:off x="3890772" y="2962655"/>
              <a:ext cx="548640" cy="54864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BUILD label 2p"/>
            <p:cNvSpPr txBox="1"/>
            <p:nvPr/>
          </p:nvSpPr>
          <p:spPr>
            <a:xfrm>
              <a:off x="2610612" y="3547871"/>
              <a:ext cx="192024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2p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4</a:t>
              </a:r>
            </a:p>
          </p:txBody>
        </p:sp>
      </p:grpSp>
      <p:sp>
        <p:nvSpPr>
          <p:cNvPr id="22" name="BUILD arrow 1s box1 up"/>
          <p:cNvSpPr/>
          <p:nvPr/>
        </p:nvSpPr>
        <p:spPr>
          <a:xfrm>
            <a:off x="1188720" y="3066897"/>
            <a:ext cx="137160" cy="340156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BUILD arrow 1s box1 down"/>
          <p:cNvSpPr/>
          <p:nvPr/>
        </p:nvSpPr>
        <p:spPr>
          <a:xfrm>
            <a:off x="1408176" y="3066897"/>
            <a:ext cx="137160" cy="340156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BUILD arrow 2s box1 up"/>
          <p:cNvSpPr/>
          <p:nvPr/>
        </p:nvSpPr>
        <p:spPr>
          <a:xfrm>
            <a:off x="1993392" y="3066897"/>
            <a:ext cx="137160" cy="340156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BUILD arrow 2s box1 down"/>
          <p:cNvSpPr/>
          <p:nvPr/>
        </p:nvSpPr>
        <p:spPr>
          <a:xfrm>
            <a:off x="2212848" y="3066897"/>
            <a:ext cx="137160" cy="340156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BUILD arrow 2p box1 up"/>
          <p:cNvSpPr/>
          <p:nvPr/>
        </p:nvSpPr>
        <p:spPr>
          <a:xfrm>
            <a:off x="2798064" y="3066897"/>
            <a:ext cx="137160" cy="340156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BUILD arrow 2p box2 up"/>
          <p:cNvSpPr/>
          <p:nvPr/>
        </p:nvSpPr>
        <p:spPr>
          <a:xfrm>
            <a:off x="3392424" y="3066897"/>
            <a:ext cx="137160" cy="340156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BUILD arrow 2p box3 up"/>
          <p:cNvSpPr/>
          <p:nvPr/>
        </p:nvSpPr>
        <p:spPr>
          <a:xfrm>
            <a:off x="3986783" y="3066897"/>
            <a:ext cx="137160" cy="340156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BUILD arrow 2p box1 down"/>
          <p:cNvSpPr/>
          <p:nvPr/>
        </p:nvSpPr>
        <p:spPr>
          <a:xfrm>
            <a:off x="3017520" y="3066897"/>
            <a:ext cx="137160" cy="340156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BUILD caption"/>
          <p:cNvSpPr txBox="1"/>
          <p:nvPr/>
        </p:nvSpPr>
        <p:spPr>
          <a:xfrm>
            <a:off x="941832" y="3858768"/>
            <a:ext cx="3648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4D730E"/>
                </a:solidFill>
                <a:latin typeface="Trade Gothic Next"/>
              </a:rPr>
              <a:t>Pauli: opposite spins</a:t>
            </a:r>
          </a:p>
        </p:txBody>
      </p:sp>
      <p:sp>
        <p:nvSpPr>
          <p:cNvPr id="31" name="BUILD caption"/>
          <p:cNvSpPr txBox="1"/>
          <p:nvPr/>
        </p:nvSpPr>
        <p:spPr>
          <a:xfrm>
            <a:off x="941832" y="4114800"/>
            <a:ext cx="3648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4D730E"/>
                </a:solidFill>
                <a:latin typeface="Trade Gothic Next"/>
              </a:rPr>
              <a:t>Hund: singles first</a:t>
            </a:r>
          </a:p>
        </p:txBody>
      </p:sp>
      <p:sp>
        <p:nvSpPr>
          <p:cNvPr id="32" name="BUILD sum"/>
          <p:cNvSpPr txBox="1"/>
          <p:nvPr/>
        </p:nvSpPr>
        <p:spPr>
          <a:xfrm>
            <a:off x="941832" y="4407407"/>
            <a:ext cx="36484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4161B"/>
                </a:solidFill>
                <a:latin typeface="Trade Gothic Next"/>
              </a:rPr>
              <a:t>2 + 2 + 4 = 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30" grpId="0"/>
      <p:bldP spid="24" grpId="0" animBg="1"/>
      <p:bldP spid="25" grpId="0" animBg="1"/>
      <p:bldP spid="26" grpId="0" animBg="1"/>
      <p:bldP spid="31" grpId="0"/>
      <p:bldP spid="27" grpId="0" animBg="1"/>
      <p:bldP spid="28" grpId="0" animBg="1"/>
      <p:bldP spid="29" grpId="0" animBg="1"/>
      <p:bldP spid="3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Longhand: N, Cl, and Ca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Calcium stops at 4s</a:t>
            </a:r>
            <a:pPr indent="0" marL="0">
              <a:buNone/>
            </a:pPr>
            <a:r>
              <a:rPr lang="en-US" sz="1700" baseline="30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 The 3d sublevel stays empty until scandium.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NITROGEN, Z = 7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Sum: 2+2+3 = 7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Unpaired: 3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CHLORINE, Z = 17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5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Sum: 2+2+6+2+5 = 17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Unpaired: 1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CALCIUM, Z = 20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Sum: 2+2+6+2+6+2 = 20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Unpaired: 0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raised numbers add up to the atomic number, every time.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Noble-Gas Shorthand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Replace the filled inner core with a noble gas in brackets.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LONGHAND: Cl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5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All 17 electrons written out.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SHORTHAND: Cl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[Ne] 3s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5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[Ne] stands for the first 10: 1s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Use the previous period's noble gas. Cl is in period 3, so its core is [Ne], not [Ar].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2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Iron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Longhand, shorthand, and the unpaired count.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longhand and shorthand for iron. How many unpaired electrons?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Iron, Z = 26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Neutral atom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Longhand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Shorthand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 electrons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Fill 4s before 3d. We write 4s ahead of 3d.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Iron,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Argon is the core. Then 4s, then 3d.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LONGHAND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[Ar] 4s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18 + 2 + 6 = 26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Unpaired: 4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Fe is [Ar] 4s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 One pair and 4 singles in the 3d boxes.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1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2" name="BUILD backdrop"/>
          <p:cNvSpPr/>
          <p:nvPr/>
        </p:nvSpPr>
        <p:spPr>
          <a:xfrm>
            <a:off x="832104" y="2542032"/>
            <a:ext cx="3867912" cy="22677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0" name="BUILD boxes and labels"/>
          <p:cNvGrpSpPr/>
          <p:nvPr/>
        </p:nvGrpSpPr>
        <p:grpSpPr>
          <a:xfrm>
            <a:off x="850392" y="2658618"/>
            <a:ext cx="3831336" cy="1156715"/>
            <a:chOff x="850392" y="2658618"/>
            <a:chExt cx="3831336" cy="1156715"/>
          </a:xfrm>
        </p:grpSpPr>
        <p:sp>
          <p:nvSpPr>
            <p:cNvPr id="13" name="BUILD title"/>
            <p:cNvSpPr txBox="1"/>
            <p:nvPr/>
          </p:nvSpPr>
          <p:spPr>
            <a:xfrm>
              <a:off x="941832" y="2658618"/>
              <a:ext cx="3648456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IRON  Z = 26</a:t>
              </a:r>
            </a:p>
          </p:txBody>
        </p:sp>
        <p:sp>
          <p:nvSpPr>
            <p:cNvPr id="14" name="BUILD box 4s 1"/>
            <p:cNvSpPr/>
            <p:nvPr/>
          </p:nvSpPr>
          <p:spPr>
            <a:xfrm>
              <a:off x="941832" y="2969513"/>
              <a:ext cx="534924" cy="534924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BUILD label 4s"/>
            <p:cNvSpPr txBox="1"/>
            <p:nvPr/>
          </p:nvSpPr>
          <p:spPr>
            <a:xfrm>
              <a:off x="850392" y="3541013"/>
              <a:ext cx="717803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4s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2</a:t>
              </a:r>
            </a:p>
          </p:txBody>
        </p:sp>
        <p:sp>
          <p:nvSpPr>
            <p:cNvPr id="16" name="BUILD box 3d 1"/>
            <p:cNvSpPr/>
            <p:nvPr/>
          </p:nvSpPr>
          <p:spPr>
            <a:xfrm>
              <a:off x="1732788" y="2969513"/>
              <a:ext cx="534924" cy="534924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BUILD box 3d 2"/>
            <p:cNvSpPr/>
            <p:nvPr/>
          </p:nvSpPr>
          <p:spPr>
            <a:xfrm>
              <a:off x="2313432" y="2969513"/>
              <a:ext cx="534924" cy="534924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BUILD box 3d 3"/>
            <p:cNvSpPr/>
            <p:nvPr/>
          </p:nvSpPr>
          <p:spPr>
            <a:xfrm>
              <a:off x="2894076" y="2969513"/>
              <a:ext cx="534924" cy="534924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BUILD box 3d 4"/>
            <p:cNvSpPr/>
            <p:nvPr/>
          </p:nvSpPr>
          <p:spPr>
            <a:xfrm>
              <a:off x="3474720" y="2969513"/>
              <a:ext cx="534924" cy="534924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BUILD box 3d 5"/>
            <p:cNvSpPr/>
            <p:nvPr/>
          </p:nvSpPr>
          <p:spPr>
            <a:xfrm>
              <a:off x="4055364" y="2969513"/>
              <a:ext cx="534924" cy="534924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BUILD label 3d"/>
            <p:cNvSpPr txBox="1"/>
            <p:nvPr/>
          </p:nvSpPr>
          <p:spPr>
            <a:xfrm>
              <a:off x="1641348" y="3541013"/>
              <a:ext cx="304038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3d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6</a:t>
              </a:r>
            </a:p>
          </p:txBody>
        </p:sp>
      </p:grpSp>
      <p:sp>
        <p:nvSpPr>
          <p:cNvPr id="22" name="BUILD arrow 4s box1 up"/>
          <p:cNvSpPr/>
          <p:nvPr/>
        </p:nvSpPr>
        <p:spPr>
          <a:xfrm>
            <a:off x="1035443" y="3071149"/>
            <a:ext cx="133731" cy="331652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BUILD arrow 4s box1 down"/>
          <p:cNvSpPr/>
          <p:nvPr/>
        </p:nvSpPr>
        <p:spPr>
          <a:xfrm>
            <a:off x="1249413" y="3071149"/>
            <a:ext cx="133731" cy="331652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BUILD arrow 3d box1 up"/>
          <p:cNvSpPr/>
          <p:nvPr/>
        </p:nvSpPr>
        <p:spPr>
          <a:xfrm>
            <a:off x="1826399" y="3071149"/>
            <a:ext cx="133731" cy="331652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BUILD arrow 3d box2 up"/>
          <p:cNvSpPr/>
          <p:nvPr/>
        </p:nvSpPr>
        <p:spPr>
          <a:xfrm>
            <a:off x="2407043" y="3071149"/>
            <a:ext cx="133731" cy="331652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BUILD arrow 3d box3 up"/>
          <p:cNvSpPr/>
          <p:nvPr/>
        </p:nvSpPr>
        <p:spPr>
          <a:xfrm>
            <a:off x="2987687" y="3071149"/>
            <a:ext cx="133731" cy="331652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BUILD arrow 3d box4 up"/>
          <p:cNvSpPr/>
          <p:nvPr/>
        </p:nvSpPr>
        <p:spPr>
          <a:xfrm>
            <a:off x="3568331" y="3071149"/>
            <a:ext cx="133731" cy="331652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BUILD arrow 3d box5 up"/>
          <p:cNvSpPr/>
          <p:nvPr/>
        </p:nvSpPr>
        <p:spPr>
          <a:xfrm>
            <a:off x="4148975" y="3071149"/>
            <a:ext cx="133731" cy="331652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BUILD arrow 3d box1 down"/>
          <p:cNvSpPr/>
          <p:nvPr/>
        </p:nvSpPr>
        <p:spPr>
          <a:xfrm>
            <a:off x="2040369" y="3071149"/>
            <a:ext cx="133731" cy="331652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BUILD caption"/>
          <p:cNvSpPr txBox="1"/>
          <p:nvPr/>
        </p:nvSpPr>
        <p:spPr>
          <a:xfrm>
            <a:off x="941832" y="3851909"/>
            <a:ext cx="3648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4D730E"/>
                </a:solidFill>
                <a:latin typeface="Trade Gothic Next"/>
              </a:rPr>
              <a:t>Pauli: opposite spins</a:t>
            </a:r>
          </a:p>
        </p:txBody>
      </p:sp>
      <p:sp>
        <p:nvSpPr>
          <p:cNvPr id="31" name="BUILD caption"/>
          <p:cNvSpPr txBox="1"/>
          <p:nvPr/>
        </p:nvSpPr>
        <p:spPr>
          <a:xfrm>
            <a:off x="941832" y="4107941"/>
            <a:ext cx="3648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4D730E"/>
                </a:solidFill>
                <a:latin typeface="Trade Gothic Next"/>
              </a:rPr>
              <a:t>Hund: singles first</a:t>
            </a:r>
          </a:p>
        </p:txBody>
      </p:sp>
      <p:sp>
        <p:nvSpPr>
          <p:cNvPr id="32" name="BUILD sum"/>
          <p:cNvSpPr txBox="1"/>
          <p:nvPr/>
        </p:nvSpPr>
        <p:spPr>
          <a:xfrm>
            <a:off x="941832" y="4400549"/>
            <a:ext cx="36484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4161B"/>
                </a:solidFill>
                <a:latin typeface="Trade Gothic Next"/>
              </a:rPr>
              <a:t>[Ar] 18 + 2 + 6 = 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30" grpId="0"/>
      <p:bldP spid="24" grpId="0" animBg="1"/>
      <p:bldP spid="31" grpId="0"/>
      <p:bldP spid="25" grpId="0" animBg="1"/>
      <p:bldP spid="26" grpId="0" animBg="1"/>
      <p:bldP spid="27" grpId="0" animBg="1"/>
      <p:bldP spid="28" grpId="0" animBg="1"/>
      <p:bldP spid="29" grpId="0" animBg="1"/>
      <p:bldP spid="3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cr_cu_excep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Exceptions: Cr and Cu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Learn both. The rules predict 4s</a:t>
            </a:r>
            <a:pPr indent="0" marL="0">
              <a:buNone/>
            </a:pPr>
            <a:r>
              <a:rPr lang="en-US" sz="1700" baseline="30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for each, and the measurements disagree.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CHROMIUM, Z = 24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Actual: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5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COPPER, Z = 29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Actual: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WHY (A SIMPLIFICATION)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Half-full and full 3d are extra stable.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Checking a Configuration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Run these four checks in order.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</a:t>
            </a:r>
            <a:endParaRPr lang="en-US" sz="1200" dirty="0"/>
          </a:p>
        </p:txBody>
      </p:sp>
      <p:sp>
        <p:nvSpPr>
          <p:cNvPr id="5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Do the raised numbers add up to Z?</a:t>
            </a:r>
            <a:endParaRPr lang="en-US" sz="1600" dirty="0"/>
          </a:p>
        </p:txBody>
      </p:sp>
      <p:sp>
        <p:nvSpPr>
          <p:cNvPr id="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Caps and order</a:t>
            </a:r>
            <a:endParaRPr lang="en-US" sz="12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Max 2, 6, 10, 14. Aufbau order.</a:t>
            </a:r>
            <a:endParaRPr lang="en-US" sz="1600" dirty="0"/>
          </a:p>
        </p:txBody>
      </p:sp>
      <p:sp>
        <p:nvSpPr>
          <p:cNvPr id="8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Hund and Pauli</a:t>
            </a:r>
            <a:endParaRPr lang="en-US" sz="12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Singles first. Pairs have opposite spins.</a:t>
            </a:r>
            <a:endParaRPr lang="en-US" sz="16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Core, Cr, Cu</a:t>
            </a:r>
            <a:endParaRPr lang="en-US" sz="1200" dirty="0"/>
          </a:p>
        </p:txBody>
      </p:sp>
      <p:sp>
        <p:nvSpPr>
          <p:cNvPr id="11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Previous noble gas? Is it Cr or Cu?</a:t>
            </a:r>
            <a:endParaRPr lang="en-US" sz="1600" dirty="0"/>
          </a:p>
        </p:txBody>
      </p:sp>
      <p:sp>
        <p:nvSpPr>
          <p:cNvPr id="12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3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5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Spot the Mistake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was written as a ground state.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of these is wrong. Name the rule or fact it breaks.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 (a), (b)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(a) O: 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(b) K: [Ar]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 (c), (d)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(c) Ca: [Ne]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(d) Cr: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Add the electrons first. If the total is not Z, stop there.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Spot the Mistake,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Four problems, four different checks. Each fix is on the right.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IS WRONG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(a) Count: 10, not 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(b) Aufbau: 4s first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(c) Core: needs [Ar]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(d) Real Cr differs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Corrected: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(a) 1s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(b) [Ar] 4s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(c) [Ar] 4s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(d) [Ar] 4s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5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Cr follows the rules on paper, but the measured ground state is [Ar] 4s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5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1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spot_diagra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Spot the Mistake, Diagrams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orbital diagrams. Each breaks a different rule.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(E) NITROGEN, Z = 7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Only the three 2p boxes are drawn.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(F) NEON, Z = 10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Only the 2s box is drawn.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YOUR JOB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Name the broken rule. Redraw it correctly.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spot_diagrams_fix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542032"/>
            <a:ext cx="3867912" cy="2267712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Spot the Mistake, Diagrams, Worked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Hund error and one Pauli error. The fixes are drawn at left.</a:t>
            </a:r>
            <a:endParaRPr lang="en-US" sz="17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IS WRONG</a:t>
            </a:r>
            <a:endParaRPr lang="en-US" sz="1200" dirty="0"/>
          </a:p>
        </p:txBody>
      </p:sp>
      <p:sp>
        <p:nvSpPr>
          <p:cNvPr id="6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(e) Hund: spins differ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(f) Pauli: same spin</a:t>
            </a:r>
            <a:endParaRPr lang="en-US" sz="1600" dirty="0"/>
          </a:p>
        </p:txBody>
      </p:sp>
      <p:sp>
        <p:nvSpPr>
          <p:cNvPr id="7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Fixed: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(e) 2p: up, up, up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(f) 2s: up, down</a:t>
            </a:r>
            <a:endParaRPr lang="en-US" sz="1900" dirty="0"/>
          </a:p>
        </p:txBody>
      </p:sp>
      <p:sp>
        <p:nvSpPr>
          <p:cNvPr id="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Hund: singles first, all spins the same. Pauli: two in one orbital must be opposite.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2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Yourself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 all three in your notes before we compare.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PHOSPHORUS, Z = 15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longhand configuration.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SULFUR, Z = 16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shorthand and sketch the 3p boxes.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COPPER, Z = 29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actual shorthand. Say why it is an exception.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Show the electron sum for each one. If it is not Z, find the error.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LOOKING AHEAD</a:t>
            </a:r>
            <a:endParaRPr lang="en-US" sz="1100" dirty="0"/>
          </a:p>
        </p:txBody>
      </p:sp>
      <p:sp>
        <p:nvSpPr>
          <p:cNvPr id="3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Where This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Goes Next</a:t>
            </a:r>
            <a:endParaRPr lang="en-US" sz="2600" dirty="0"/>
          </a:p>
        </p:txBody>
      </p:sp>
      <p:sp>
        <p:nvSpPr>
          <p:cNvPr id="4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Next: valence electrons, and the configurations of ions.</a:t>
            </a:r>
            <a:endParaRPr lang="en-US" sz="1600" dirty="0"/>
          </a:p>
        </p:txBody>
      </p:sp>
      <p:sp>
        <p:nvSpPr>
          <p:cNvPr id="5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7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SHULL Science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SHULL Science — Slide Template (CHEMISTRY)</dc:title>
  <dc:subject>PptxGenJS Presentation</dc:subject>
  <dc:creator>Matthew Shull</dc:creator>
  <cp:lastModifiedBy>Matthew Shull</cp:lastModifiedBy>
  <cp:revision>1</cp:revision>
  <dcterms:created xsi:type="dcterms:W3CDTF">2026-10-04T13:16:09Z</dcterms:created>
  <dcterms:modified xsi:type="dcterms:W3CDTF">2026-10-04T13:16:09Z</dcterms:modified>
</cp:coreProperties>
</file>