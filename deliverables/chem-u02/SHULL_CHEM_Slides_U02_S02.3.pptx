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notesMasterIdLst>
    <p:notesMasterId r:id="rId3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PROVISIONAL scope: required through Kr (Z = 36), per the content brief; Matt to confirm. Period 5 and beyond (Mo, Ag, Au) are not taught on these slides and are not checked in the build script. PROVISIONAL notation: configurations are written in filling order, e.g. [Ar] 4s^2 3d^6, not energy order. Image prompt (section slot): a long row of numbered wooden mail slots in a dim hallway, a few holding envelopes.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Ask: do all 8 electrons have the same energy? Let them guess; the slides answer it (no). Z = 8 comes from the periodic table. Image prompt (concept slot): an apartment building at dusk with a few lit windows on different floors.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it aloud: two-p-four. Level 2, p sublevel, 4 electrons. Ground state = lowest-energy arrangement; every configuration today is a ground state unless the slide says otherwise. Image prompt (aside slot): a printed periodic table with oxygen's cell circled in pencil.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each arrow top right to bottom left. We need the order through 5p: 1s 2s 2p 3s 3p 4s 3d 4p 5s 4d 5p. Say it as: 4s fills before 3d in neutral K and Ca. Do not say 4s is always lower than 3d (once 3d holds electrons it sits lower; that is S2.4, 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Spin up and down are labels, not literal rotation. Common mix-up: two per orbital, not two per sublevel (a p sublevel has 3 orbitals and holds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N in 2p. Correct = three singles, spins parallel. Wrong = one pair, one single, one empty box. Equal-energy orbitals are called degenerate. Electrons spread out first because sharing an orbital costs repulsion.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 has 7 electrons so 7 arrows: 2 + 2 + 3. Convention: draw the up arrow first in every box, and the label's raised number counts the arrows.</a:t>
            </a:r>
          </a:p>
          <a:p>
            <a:r>
              <a:t>CLICK BUILD: 8 clicks: 1 boxes and labels fly in; 2 1s up arrow; 3 1s down arrow; 4 2s up arrow; 5 2s down arrow; 6 2p up arrow; 7 2p up arrow; 8 2p up arrow.</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Click build (see scripts/add_click_builds.py): the three 2p boxes fly in, then one arrow per click: up, up, up (Hund: singles first), then down in box 1 (Pauli: a pair has opposite spins). Result: 2p^4 with one pair and two singles, so 2 unpaired electrons. Have students draw each arrow in their notes at the same click. Same filling as the oxygen example later in this deck.</a:t>
            </a:r>
          </a:p>
          <a:p>
            <a:r>
              <a:t>CLICK BUILD: 5 clicks: 1 boxes and labels fly in; 2 2p up arrow; 3 2p up arrow; 4 2p up arrow; 5 2p down arrow.</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steps, every element. Caps: s 2, p 6, d 10, f 14. Always check that the sum equals Z. Image prompt (band slot): a periodic table wall chart photographed at a shallow angle.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copy the setup; the work area stays empty on purpose and is filled live on the board. Answer on the next slide: 1s^2 2s^2 2p^4, 2 unpaired. Image prompt (aside slot): a small cylinder of oxygen gas with a regulator, on a lab cart.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Oxygen: 1s^2 2s^2 2p^4, 2 + 2 + 4 = 8. The 2p boxes hold one pair and two singles, so 2 unpaired.</a:t>
            </a:r>
          </a:p>
          <a:p>
            <a:r>
              <a:t>CLICK BUILD: 9 clicks: 1 boxes and labels fly in; 2 1s up arrow; 3 1s down arrow; 4 2s up arrow; 5 2s down arrow; 6 2p up arrow; 7 2p up arrow; 8 2p up arrow; 9 2p down arrow.</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orbital-diagram example, after oxygen. Students copy the setup, then work it; answer on the next slide. Fe, Z = 26. Fill 4s before 3d, and we write 4s ahead of 3d (filling-order notation, PROVISIONAL convention). Only the 4s and 3d boxes are drawn; the first 18 electrons (through 3p) are just counted. The [Ar] label on the next slide previews noble-gas shorthand, which has not been taught yet at this point: say 'the first 18 electrons, the same as argon' and let the shorthand slides name it. Image prompt (aside slot): a rusted iron nail on a white bench.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Fe: 1s^2 2s^2 2p^6 3s^2 3p^6 4s^2 3d^6, written with the first 18 as [Ar] 4s^2 3d^6, 18 + 2 + 6 = 26. The 3d boxes hold one pair and four singles, so 4 unpaired. The 4s pair is drawn first, then the 3d boxes (Hund: one up arrow in each box, then pair). [Ar] here is a preview of the noble-gas shorthand taught two slides later; treat it as 'the first 18'.</a:t>
            </a:r>
          </a:p>
          <a:p>
            <a:r>
              <a:t>CLICK BUILD: 9 clicks: 1 boxes and labels fly in; 2 4s up arrow; 3 4s down arrow; 4 3d up arrow; 5 3d up arrow; 6 3d up arrow; 7 3d up arrow; 8 3d up arrow; 9 3d down arrow.</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 1s^2 2s^2 2p^3, 3 unpaired. Cl: 1s^2 2s^2 2p^6 3s^2 3p^5, 1 unpaired. Ca: 1s^2 2s^2 2p^6 3s^2 3p^6 4s^2, 0 unpaired. 3d stays empty until scandium. Image prompt (aside slot): period 3 of a periodic table wall chart, lit from the 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COMMON ERROR (brief): using the noble gas of the same period, or the element's own. Cl is period 3, so the core is [Ne], not [Ar]; the core is the previous period's noble gas. Shorthand: [Ne] 3s^2 3p^5, which equals the longhand 1s^2 2s^2 2p^6 3s^2 3p^5. Next slide: the same idea for germanium, built one click at a time (the longhand first, then the noble gas before it in brackets). Image prompt (concept slot): a neon sign tube glowing orange-red in a dark window.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Shorthand build for germanium (Z = 32), on text boxes, one per segment. The CLICK BUILD line at the end says exactly what each click does. Teach it in this order: write the longhand first; find the noble gas that comes BEFORE germanium and highlight those electrons; put that noble gas in brackets; finish the line. Longhand: 1s^2 2s^2 2p^6 3s^2 3p^6 4s^2 3d^10 4p^2, 2+2+6+2+6+2+10+2 = 32. The first five segments total 18 and are exactly argon's configuration, so [Ar] is a placeholder, a substitution like writing one symbol for a long repeated expression in math. Shorthand: [Ar] 4s^2 3d^10 4p^2, 18 + 2 + 10 + 2 = 32, with 2 unpaired electrons (the two 4p singles). Common error (brief): using the noble gas of the element's own period. Krypton ends germanium's period and comes AFTER it (Z = 36 &gt; 32), so [Kr] would claim 36 electrons; the next slide shows the table strip. [Ar] sits against the remaining segments, in the space the highlighted block occupied, so the line reads [Ar] 4s^2 3d^10 4p^2 after click 3; click 4 writes the finished line as the answer to copy. Cl stays on the previous slide as the static example. A static export or print of this slide shows every shape at once (the highlight, the replaced segments and [Ar] overlap); for a handout use the --preview export of scripts/add_click_builds.py.</a:t>
            </a:r>
          </a:p>
          <a:p>
            <a:r>
              <a:t>CLICK BUILD: 4 clicks: 1 Ge: the longhand line, one text box per segment, and its sum (2+2+6+2+6+2+10+2 = 32) appear; 2 Ge: the first 5 segments (the Ar part, 18 electrons) are highlighted: These 18 electrons are exactly argon's configuration; 3 Ge: the highlighted segments and the longhand sum leave and [Ar] appears in their place: The noble gas BEFORE germanium stands in for them, like a substitution in math; 4 Ge: the finished line appears: [Ar] 4s2 3d10 4p2, with its own sum (18 + 2 + 10 + 2 = 32).</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strip, periods 3 and 4 (groups 1-2, 3-12 as spans, then 13-18). Argon (Z = 18) is the last element of period 3: the noble gas BEFORE germanium. Germanium (Z = 32) is period 4, group 14. Krypton (Z = 36) ends period 4: it comes AFTER germanium, so it cannot be a core for a 32-electron atom. Rule restated: the core is the previous period's noble gas. Positions are asserted from the atomic numbers in scripts/build_diagram_u02_s02.3_configurations.py. The marks use a tick, a cross and words as well as colour. Alt text on the picture describes the strip.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Notation-only example: no orbital diagram. Students copy the setup, then work it. Answer on the next slide: Al, Z = 13, 1s^2 2s^2 2p^6 3s^2 3p^1, 2+2+6+2+1 = 13; shorthand [Ne] 3s^2 3p^1, 10+2+1 = 13. Common error: [Ar] as the core. Argon (Z = 18) is bigger than aluminum's 13 electrons, so it cannot be a core. The core is the noble gas that ends the previous period (neon, period 2). Image prompt (aside slot): a roll of aluminum foil partly unrolled on a white bench.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 longhand 1s^2 2s^2 2p^6 3s^2 3p^1, 2+2+6+2+1 = 13. Shorthand [Ne] 3s^2 3p^1: [Ne] stands for the first 10 (1s^2 2s^2 2p^6), then 10+2+1 = 13. Notation only; no diagram is drawn. If students use [Ar] as the core, have them add it: 18 + 2 + 1 = 21, not 13. Image prompt (data slot): the aluminum square of a periodic table wall chart, photographed close and slightly off-axis.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Notation-only example: no orbital diagram. Answers on the next slide. (a) Br, Z = 35: [Ar] 4s^2 3d^10 4p^5, 18+2+10+5 = 35. (b) Ni, Z = 28: [Ar] 4s^2 3d^8, 18+2+8 = 28. Common error: [Kr] because krypton is 'close' (Kr is Z = 36, one more than bromine, so [Kr] would already hold 36 electrons). Both are period 4, so the core is the noble gas that ends period 3, argon. Nickel follows the rules; the only exceptions taught are Cr and Cu. Image prompt (aside slot): a nickel-plated metal bar and a sealed amber ampoule of bromine on a white tray.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Br, Z = 35: [Ar] 4s^2 3d^10 4p^5, 18+2+10+5 = 35. (b) Ni, Z = 28: [Ar] 4s^2 3d^8, 18+2+8 = 28. Notation only; no diagram is drawn. Fill 4s before 3d, and write 4s ahead of 3d (filling-order notation, PROVISIONAL convention). Ni is not an exception. A student who writes [Kr] for either one has counted 36 electrons before writing anything else. Image prompt (data slot): the period 4 row of a periodic table wall chart, photographed close and slightly off-axis.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Copper click build (the CLICK BUILD line at the end gives the clicks). Boxes for 4s and 3d only; the [Ar] core (18 electrons) is not drawn. Click 1: the atom as the rules predict, [Ar] 4s^2 3d^9 (4s before 3d; 18 + 2 + 9 = 29). Click 2: one 4s arrow leaves. Click 3: a 3d down arrow arrives in the fifth box. End: [Ar] 4s^1 3d^10, 18 + 1 + 10 = 29, one unpaired electron (the 4s). Same electron count before and after: an electron MOVES, none is gained. Say 'measured ground state', not 'textbook error'. The arrows are bookkeeping for the end state; the diagram does not track one electron's journey. Forward pointer to S2.4: the 4s^1 electron leaves first, so Cu^+ = [Ar] 3d^10 and Cu^2+ = [Ar] 3d^9 (both checked by the figure script). The reason follows on the Why slide. Do not extend this to Ag or Au: not taught, not checked (look it up).</a:t>
            </a:r>
          </a:p>
          <a:p>
            <a:r>
              <a:t>CLICK BUILD: 3 clicks: 1 Cu: boxes, labels and every electron arrow fly in; 2 Cu: remove 4s down arrow; 3 Cu: add 3d down arrow.</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Chromium click build. Click 1: predicted [Ar] 4s^2 3d^4 (18 + 2 + 4 = 24): four up arrows in 3d and one empty box. Click 2: one 4s arrow leaves. Click 3: an up arrow arrives in the fifth 3d box. End: [Ar] 4s^1 3d^5, 18 + 1 + 5 = 24; every box in 4s and 3d holds exactly one up arrow, all spins parallel (Hund), so 6 unpaired electrons, more than iron's 4. The arrows are bookkeeping for the end state: the arrow that leaves 4s is the down one and the arrow that arrives in 3d is an up one, so do not present it as one electron keeping its spin; the point is the final arrangement. Answer to the unpaired question: 6. Same teaching label as Cu: measured ground state. Mo (same group, one period down) is an exception too, and W is not; not taught, not checked here.</a:t>
            </a:r>
          </a:p>
          <a:p>
            <a:r>
              <a:t>CLICK BUILD: 3 clicks: 1 Cr: boxes, labels and every electron arrow fly in; 2 Cr: remove 4s down arrow; 3 Cr: add 3d up arrow.</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 LEVEL (simplified; say so out loud): 4s and 3d are very close in energy here. Moving one 4s electron gives a completely filled 3d (Cu) or a half-filled 3d with all five spins parallel (Cr). That lowers the atom's total energy slightly, so the real atom does that. This explains Cr and Cu; it does not predict every exception, and in this course students learn Cr and Cu and look the rest up. Do NOT say that half-full and full are always more stable. TEACHER LEVEL: the near-degeneracy of 4s and 3d is what lets a small energy change decide the arrangement. Textbook accounts cite exchange stabilization (same-spin electrons in different orbitals lower the energy; Cr has six parallel spins) and reduced electron-electron repulsion. PROVISIONAL: the textbook story is simpler than the real energy accounting, which needs electron-correlation calculations; that is why the heuristic fails. COUNTEREXAMPLES (checked against a secondary dataset, the mendeleev PyPI package, for Cr, Cu, Nb, Mo, W, Ag and Au; NIST was not reachable from here; still PROVISIONAL until Matt or a source confirms. The script itself checks only that the electron totals are 41 and 74): Nb is [Kr] 5s^1 4d^4, an exception that is not half-full or full; W is the regular [Xe] 6s^2 4f^14 5d^4 although Cr and Mo, in the same group, are exceptions. So the heuristic is not a predictor. Mo, Ag and Au (one period down) are not taught and not checked here. Forward pointer to S2.4: the 4s^1 electron leaves first, so Cu^+ = [Ar] 3d^10 and Cu^2+ = [Ar] 3d^9. Image prompt (aside slot): a coil of copper wire beside a chromium-plated tap on a lab bench.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four checks in order: count, caps and order, Hund and Pauli, then core / Cr / Cu. Stop at the first failure. Image prompt (band slot): a teacher's red pen resting on a page of student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on the next slide. Each was written as a ground state. (a) O: 1s^2 2s^2 2p^6 is 10 electrons, O has 8. (b) K: [Ar] 3d^1 puts 3d before 4s. (c) Ca: [Ne] 4s^2 is 12 electrons, wrong core. (d) Cr: [Ar] 4s^2 3d^4 obeys the rules but is not the real ground state. Replay the Chromium click build if students are unsure. Image prompt (aside slot): a page of student work with a few lines circled in red 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Corrected: (a) O 1s^2 2s^2 2p^4. (b) K [Ar] 4s^1. (c) Ca [Ar] 4s^2. (d) Cr [Ar] 4s^1 3d^5. (d) is the Chromium click build: predicted [Ar] 4s^2 3d^4, actual [Ar] 4s^1 3d^5. Teach 'rules-consistent' versus 'observed': (d) passes every rule on paper and is still not the real atom. Image prompt (data slot): a pencil resting on a page of crossed-out electron counts.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Orbital-diagram errors (brief items c, d), labelled (e) and (f) here. (e) N 2p drawn up, down, up: three singles but not parallel. (f) Ne 2s drawn up, up in one box: Pauli. Ask which rule each breaks and what the fix looks 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 Hund: unpaired electrons need parallel spins. Correct N 2p: up, up, up. (f) Pauli: two electrons in one orbital must have opposite spins. Correct Ne 2s: up, down. The brief's other Hund error (pair, single, empty) is the WRONG row on the Hund slide earlier in this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(re-derived). P, Z = 15: 1s^2 2s^2 2p^6 3s^2 3p^3, 2+2+6+2+3 = 15, 3 unpaired. S, Z = 16: [Ne] 3s^2 3p^4, 10+2+4 = 16; 3p boxes: one pair and two singles, 2 unpaired. Cu, Z = 29: [Ar] 4s^1 3d^10, 18+1+10 = 29. Exception: replay the Copper click build (slide 'Exception: Copper'): the rules predict [Ar] 4s^2 3d^9, one 4s electron moves into 3d, and the filled 3d lowers the atom's total energy slightly. That is the simplified reason from the Why slide (4s and 3d are close in energy); it does not predict every exception, so do not accept 'full is always more stable'. Image prompt (aside slot): a pencil and a blank sheet of lined paper on a lab bench.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Looking ahead: next is valence electrons and ion configurations (S2.4). Image prompt (divider slot): an empty lab stool at a long bench, window light across the floor.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01_UNIT_TITLE">
    <p:bg>
      <p:bgPr>
        <a:solidFill>
          <a:srgbClr val="14161B"/>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4161B"/>
          </a:solidFill>
          <a:ln/>
        </p:spPr>
      </p:sp>
      <p:sp>
        <p:nvSpPr>
          <p:cNvPr id="3" name="Shape 1"/>
          <p:cNvSpPr/>
          <p:nvPr/>
        </p:nvSpPr>
        <p:spPr>
          <a:xfrm>
            <a:off x="5532120" y="1554480"/>
            <a:ext cx="6656832" cy="3749040"/>
          </a:xfrm>
          <a:prstGeom prst="rect">
            <a:avLst/>
          </a:prstGeom>
          <a:solidFill>
            <a:srgbClr val="2E3338"/>
          </a:solidFill>
          <a:ln w="12700">
            <a:solidFill>
              <a:srgbClr val="BDB6AA"/>
            </a:solidFill>
            <a:prstDash val="dash"/>
          </a:ln>
        </p:spPr>
      </p:sp>
      <p:sp>
        <p:nvSpPr>
          <p:cNvPr id="4" name="Text 2"/>
          <p:cNvSpPr txBox="1"/>
          <p:nvPr>
            <p:ph idx="102" hasCustomPrompt="1"/>
          </p:nvPr>
        </p:nvSpPr>
        <p:spPr>
          <a:xfrm>
            <a:off x="5532120" y="1554480"/>
            <a:ext cx="6656832" cy="3749040"/>
          </a:xfrm>
          <a:prstGeom prst="rect">
            <a:avLst/>
          </a:prstGeom>
          <a:noFill/>
          <a:ln/>
        </p:spPr>
        <p:txBody>
          <a:bodyPr wrap="square" rtlCol="0"/>
          <a:lstStyle>
            <a:lvl1pPr algn="ctr" indent="0" marL="0">
              <a:buNone/>
              <a:defRPr lang="en-US" sz="1200" dirty="0">
                <a:solidFill>
                  <a:srgbClr val="BDB6AA"/>
                </a:solidFill>
                <a:latin typeface="Trade Gothic Next" pitchFamily="34" charset="0"/>
                <a:ea typeface="Trade Gothic Next" pitchFamily="34" charset="-122"/>
                <a:cs typeface="Trade Gothic Next" pitchFamily="34" charset="-120"/>
              </a:defRPr>
            </a:lvl1pPr>
          </a:lstStyle>
          <a:p>
            <a:pPr algn="ctr" indent="0" marL="0">
              <a:buNone/>
            </a:pPr>
            <a:r>
              <a:rPr lang="en-US" sz="1200" dirty="0">
                <a:solidFill>
                  <a:srgbClr val="BDB6AA"/>
                </a:solidFill>
                <a:latin typeface="Trade Gothic Next" pitchFamily="34" charset="0"/>
                <a:ea typeface="Trade Gothic Next" pitchFamily="34" charset="-122"/>
                <a:cs typeface="Trade Gothic Next" pitchFamily="34" charset="-120"/>
              </a:rPr>
              <a:t>UNIT HERO IMAGE  •  16:9  •  1920×1080 min</a:t>
            </a:r>
            <a:endParaRPr lang="en-US" sz="1200" dirty="0"/>
          </a:p>
        </p:txBody>
      </p:sp>
      <p:sp>
        <p:nvSpPr>
          <p:cNvPr id="5" name="Shape 2"/>
          <p:cNvSpPr/>
          <p:nvPr/>
        </p:nvSpPr>
        <p:spPr>
          <a:xfrm>
            <a:off x="0" y="0"/>
            <a:ext cx="164592" cy="6858000"/>
          </a:xfrm>
          <a:prstGeom prst="rect">
            <a:avLst/>
          </a:prstGeom>
          <a:solidFill>
            <a:srgbClr val="A3E635"/>
          </a:solidFill>
          <a:ln/>
        </p:spPr>
      </p:sp>
      <p:sp>
        <p:nvSpPr>
          <p:cNvPr id="6" name="Text 3"/>
          <p:cNvSpPr txBox="1"/>
          <p:nvPr>
            <p:ph idx="104" type="body" hasCustomPrompt="1"/>
          </p:nvPr>
        </p:nvSpPr>
        <p:spPr>
          <a:xfrm>
            <a:off x="685800" y="384048"/>
            <a:ext cx="6400800" cy="237744"/>
          </a:xfrm>
          <a:prstGeom prst="rect">
            <a:avLst/>
          </a:prstGeom>
          <a:noFill/>
          <a:ln/>
        </p:spPr>
        <p:txBody>
          <a:bodyPr wrap="square" rtlCol="0"/>
          <a:lstStyle>
            <a:lvl1pPr indent="0" marL="0">
              <a:buNone/>
              <a:defRPr lang="en-US" sz="1100" b="1" spc="160" kern="0" dirty="0">
                <a:solidFill>
                  <a:srgbClr val="EDF0E5"/>
                </a:solidFill>
                <a:latin typeface="Trade Gothic Next" pitchFamily="34" charset="0"/>
                <a:ea typeface="Trade Gothic Next" pitchFamily="34" charset="-122"/>
                <a:cs typeface="Trade Gothic Next" pitchFamily="34" charset="-120"/>
              </a:defRPr>
            </a:lvl1pPr>
          </a:lstStyle>
          <a:p>
            <a:pPr indent="0" marL="0">
              <a:buNone/>
            </a:pPr>
            <a:r>
              <a:rPr lang="en-US" sz="1100" b="1" spc="160" kern="0" dirty="0">
                <a:solidFill>
                  <a:srgbClr val="EDF0E5"/>
                </a:solidFill>
                <a:latin typeface="Trade Gothic Next" pitchFamily="34" charset="0"/>
                <a:ea typeface="Trade Gothic Next" pitchFamily="34" charset="-122"/>
                <a:cs typeface="Trade Gothic Next" pitchFamily="34" charset="-120"/>
              </a:rPr>
              <a:t>UNIT 00  •  CHEMISTRY</a:t>
            </a:r>
            <a:endParaRPr lang="en-US" sz="1100" dirty="0"/>
          </a:p>
        </p:txBody>
      </p:sp>
      <p:sp>
        <p:nvSpPr>
          <p:cNvPr id="7" name="Shape 3"/>
          <p:cNvSpPr/>
          <p:nvPr/>
        </p:nvSpPr>
        <p:spPr>
          <a:xfrm>
            <a:off x="685800" y="676656"/>
            <a:ext cx="1371600" cy="0"/>
          </a:xfrm>
          <a:prstGeom prst="line">
            <a:avLst/>
          </a:prstGeom>
          <a:noFill/>
          <a:ln w="22225">
            <a:solidFill>
              <a:srgbClr val="A3E635"/>
            </a:solidFill>
            <a:prstDash val="solid"/>
          </a:ln>
        </p:spPr>
      </p:sp>
      <p:sp>
        <p:nvSpPr>
          <p:cNvPr id="8" name="Text 4"/>
          <p:cNvSpPr txBox="1"/>
          <p:nvPr>
            <p:ph idx="106" type="title" hasCustomPrompt="1"/>
          </p:nvPr>
        </p:nvSpPr>
        <p:spPr>
          <a:xfrm>
            <a:off x="685800" y="1188720"/>
            <a:ext cx="4617720" cy="1920240"/>
          </a:xfrm>
          <a:prstGeom prst="rect">
            <a:avLst/>
          </a:prstGeom>
          <a:noFill/>
          <a:ln/>
        </p:spPr>
        <p:txBody>
          <a:bodyPr wrap="square" rtlCol="0"/>
          <a:lstStyle>
            <a:lvl1pPr algn="l" indent="0" marL="0">
              <a:lnSpc>
                <a:spcPct val="105000"/>
              </a:lnSpc>
              <a:buNone/>
              <a:defRPr lang="en-US" sz="4000" b="1" dirty="0">
                <a:solidFill>
                  <a:srgbClr val="EDF0E5"/>
                </a:solidFill>
                <a:latin typeface="Trade Gothic Next" pitchFamily="34" charset="0"/>
                <a:ea typeface="Trade Gothic Next" pitchFamily="34" charset="-122"/>
                <a:cs typeface="Trade Gothic Next" pitchFamily="34" charset="-120"/>
              </a:defRPr>
            </a:lvl1pPr>
          </a:lstStyle>
          <a:p>
            <a:pPr algn="l" indent="0" marL="0">
              <a:lnSpc>
                <a:spcPct val="105000"/>
              </a:lnSpc>
              <a:buNone/>
            </a:pPr>
            <a:r>
              <a:rPr lang="en-US" sz="4000" b="1" dirty="0">
                <a:solidFill>
                  <a:srgbClr val="EDF0E5"/>
                </a:solidFill>
                <a:latin typeface="Trade Gothic Next" pitchFamily="34" charset="0"/>
                <a:ea typeface="Trade Gothic Next" pitchFamily="34" charset="-122"/>
                <a:cs typeface="Trade Gothic Next" pitchFamily="34" charset="-120"/>
              </a:rPr>
              <a:t>Unit Title</a:t>
            </a:r>
            <a:endParaRPr lang="en-US" sz="4000" dirty="0"/>
          </a:p>
          <a:p>
            <a:pPr algn="l" indent="0" marL="0">
              <a:lnSpc>
                <a:spcPct val="105000"/>
              </a:lnSpc>
              <a:buNone/>
            </a:pPr>
            <a:r>
              <a:rPr lang="en-US" sz="4000" b="1" dirty="0">
                <a:solidFill>
                  <a:srgbClr val="EDF0E5"/>
                </a:solidFill>
                <a:latin typeface="Trade Gothic Next" pitchFamily="34" charset="0"/>
                <a:ea typeface="Trade Gothic Next" pitchFamily="34" charset="-122"/>
                <a:cs typeface="Trade Gothic Next" pitchFamily="34" charset="-120"/>
              </a:rPr>
              <a:t>Goes Here</a:t>
            </a:r>
            <a:endParaRPr lang="en-US" sz="4000" dirty="0"/>
          </a:p>
        </p:txBody>
      </p:sp>
      <p:sp>
        <p:nvSpPr>
          <p:cNvPr id="9" name="Text 4"/>
          <p:cNvSpPr txBox="1"/>
          <p:nvPr>
            <p:ph idx="107" type="body" hasCustomPrompt="1"/>
          </p:nvPr>
        </p:nvSpPr>
        <p:spPr>
          <a:xfrm>
            <a:off x="685800" y="3246120"/>
            <a:ext cx="4434840" cy="822960"/>
          </a:xfrm>
          <a:prstGeom prst="rect">
            <a:avLst/>
          </a:prstGeom>
          <a:noFill/>
          <a:ln/>
        </p:spPr>
        <p:txBody>
          <a:bodyPr wrap="square" rtlCol="0"/>
          <a:lstStyle>
            <a:lvl1pPr indent="0" marL="0">
              <a:buNone/>
              <a:defRPr lang="en-US" sz="1700" dirty="0">
                <a:solidFill>
                  <a:srgbClr val="BDB6AA"/>
                </a:solidFill>
                <a:latin typeface="Trade Gothic Next" pitchFamily="34" charset="0"/>
                <a:ea typeface="Trade Gothic Next" pitchFamily="34" charset="-122"/>
                <a:cs typeface="Trade Gothic Next" pitchFamily="34" charset="-120"/>
              </a:defRPr>
            </a:lvl1pPr>
          </a:lstStyle>
          <a:p>
            <a:pPr indent="0" marL="0">
              <a:buNone/>
            </a:pPr>
            <a:r>
              <a:rPr lang="en-US" sz="1700" dirty="0">
                <a:solidFill>
                  <a:srgbClr val="BDB6AA"/>
                </a:solidFill>
                <a:latin typeface="Trade Gothic Next" pitchFamily="34" charset="0"/>
                <a:ea typeface="Trade Gothic Next" pitchFamily="34" charset="-122"/>
                <a:cs typeface="Trade Gothic Next" pitchFamily="34" charset="-120"/>
              </a:rPr>
              <a:t>One sentence on what this unit is actually about.</a:t>
            </a:r>
            <a:endParaRPr lang="en-US" sz="1700" dirty="0"/>
          </a:p>
        </p:txBody>
      </p:sp>
      <p:sp>
        <p:nvSpPr>
          <p:cNvPr id="10" name="Shape 4"/>
          <p:cNvSpPr/>
          <p:nvPr/>
        </p:nvSpPr>
        <p:spPr>
          <a:xfrm>
            <a:off x="685800" y="5074920"/>
            <a:ext cx="1417320" cy="329184"/>
          </a:xfrm>
          <a:prstGeom prst="rect">
            <a:avLst>
              <a:gd name="adj" fmla="val 50000"/>
            </a:avLst>
          </a:prstGeom>
          <a:solidFill>
            <a:srgbClr val="A3E635"/>
          </a:solidFill>
          <a:ln/>
        </p:spPr>
      </p:sp>
      <p:sp>
        <p:nvSpPr>
          <p:cNvPr id="11" name="Text 5"/>
          <p:cNvSpPr txBox="1"/>
          <p:nvPr/>
        </p:nvSpPr>
        <p:spPr>
          <a:xfrm>
            <a:off x="685800" y="5102352"/>
            <a:ext cx="1417320" cy="274320"/>
          </a:xfrm>
          <a:prstGeom prst="rect">
            <a:avLst/>
          </a:prstGeom>
          <a:noFill/>
          <a:ln/>
        </p:spPr>
        <p:txBody>
          <a:bodyPr wrap="square" lIns="0" tIns="0" rIns="0" bIns="0" rtlCol="0" anchor="ctr"/>
          <a:lstStyle/>
          <a:p>
            <a:pPr algn="ctr" indent="0" marL="0">
              <a:buNone/>
            </a:pPr>
            <a:r>
              <a:rPr lang="en-US" sz="1000" b="1" spc="120" kern="0" dirty="0">
                <a:solidFill>
                  <a:srgbClr val="14161B"/>
                </a:solidFill>
                <a:latin typeface="Trade Gothic Next" pitchFamily="34" charset="0"/>
                <a:ea typeface="Trade Gothic Next" pitchFamily="34" charset="-122"/>
                <a:cs typeface="Trade Gothic Next" pitchFamily="34" charset="-120"/>
              </a:rPr>
              <a:t>MR. SHULL</a:t>
            </a:r>
            <a:endParaRPr lang="en-US" sz="1000" dirty="0"/>
          </a:p>
        </p:txBody>
      </p:sp>
      <p:sp>
        <p:nvSpPr>
          <p:cNvPr id="12" name="Text 6"/>
          <p:cNvSpPr txBox="1"/>
          <p:nvPr/>
        </p:nvSpPr>
        <p:spPr>
          <a:xfrm>
            <a:off x="685800" y="6382512"/>
            <a:ext cx="3657600" cy="237744"/>
          </a:xfrm>
          <a:prstGeom prst="rect">
            <a:avLst/>
          </a:prstGeom>
          <a:noFill/>
          <a:ln/>
        </p:spPr>
        <p:txBody>
          <a:bodyPr wrap="square" lIns="0" tIns="0" rIns="0" bIns="0" rtlCol="0" anchor="ctr"/>
          <a:lstStyle/>
          <a:p>
            <a:pPr indent="0" marL="0">
              <a:buNone/>
            </a:pPr>
            <a:r>
              <a:rPr lang="en-US" sz="1000" b="1" spc="140" kern="0" dirty="0">
                <a:solidFill>
                  <a:srgbClr val="BDB6AA"/>
                </a:solidFill>
                <a:latin typeface="Trade Gothic Next" pitchFamily="34" charset="0"/>
                <a:ea typeface="Trade Gothic Next" pitchFamily="34" charset="-122"/>
                <a:cs typeface="Trade Gothic Next" pitchFamily="34" charset="-120"/>
              </a:rPr>
              <a:t>SHULL SCIENCE</a:t>
            </a:r>
            <a:endParaRPr lang="en-US" sz="1000" dirty="0"/>
          </a:p>
        </p:txBody>
      </p:sp>
      <p:sp>
        <p:nvSpPr>
          <p:cNvPr id="13" name="Text 7"/>
          <p:cNvSpPr txBox="1"/>
          <p:nvPr>
            <p:ph idx="111" type="body" hasCustomPrompt="1"/>
          </p:nvPr>
        </p:nvSpPr>
        <p:spPr>
          <a:xfrm>
            <a:off x="8762695" y="6382512"/>
            <a:ext cx="2743200" cy="237744"/>
          </a:xfrm>
          <a:prstGeom prst="rect">
            <a:avLst/>
          </a:prstGeom>
          <a:noFill/>
          <a:ln/>
        </p:spPr>
        <p:txBody>
          <a:bodyPr wrap="square" rtlCol="0"/>
          <a:lstStyle>
            <a:lvl1pPr algn="r" indent="0" marL="0">
              <a:buNone/>
              <a:defRPr lang="en-US" sz="1000" b="1" spc="140" kern="0" dirty="0">
                <a:solidFill>
                  <a:srgbClr val="BDB6AA"/>
                </a:solidFill>
                <a:latin typeface="Trade Gothic Next" pitchFamily="34" charset="0"/>
                <a:ea typeface="Trade Gothic Next" pitchFamily="34" charset="-122"/>
                <a:cs typeface="Trade Gothic Next" pitchFamily="34" charset="-120"/>
              </a:defRPr>
            </a:lvl1pPr>
          </a:lstStyle>
          <a:p>
            <a:pPr algn="r" indent="0" marL="0">
              <a:buNone/>
            </a:pPr>
            <a:r>
              <a:rPr lang="en-US" sz="1000" b="1" spc="140" kern="0" dirty="0">
                <a:solidFill>
                  <a:srgbClr val="BDB6AA"/>
                </a:solidFill>
                <a:latin typeface="Trade Gothic Next" pitchFamily="34" charset="0"/>
                <a:ea typeface="Trade Gothic Next" pitchFamily="34" charset="-122"/>
                <a:cs typeface="Trade Gothic Next" pitchFamily="34" charset="-120"/>
              </a:rPr>
              <a:t>U00 • S0.0</a:t>
            </a:r>
            <a:endParaRPr lang="en-US" sz="1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02_SECTION_TITLE">
    <p:bg>
      <p:bgPr>
        <a:solidFill>
          <a:srgbClr val="14161B"/>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4161B"/>
          </a:solidFill>
          <a:ln/>
        </p:spPr>
      </p:sp>
      <p:sp>
        <p:nvSpPr>
          <p:cNvPr id="3" name="Shape 1"/>
          <p:cNvSpPr/>
          <p:nvPr/>
        </p:nvSpPr>
        <p:spPr>
          <a:xfrm>
            <a:off x="0" y="0"/>
            <a:ext cx="3977640" cy="6858000"/>
          </a:xfrm>
          <a:prstGeom prst="rect">
            <a:avLst/>
          </a:prstGeom>
          <a:solidFill>
            <a:srgbClr val="A3E635"/>
          </a:solidFill>
          <a:ln/>
        </p:spPr>
      </p:sp>
      <p:sp>
        <p:nvSpPr>
          <p:cNvPr id="4" name="Shape 2"/>
          <p:cNvSpPr/>
          <p:nvPr/>
        </p:nvSpPr>
        <p:spPr>
          <a:xfrm>
            <a:off x="4480560" y="777240"/>
            <a:ext cx="7086600" cy="3986784"/>
          </a:xfrm>
          <a:prstGeom prst="rect">
            <a:avLst/>
          </a:prstGeom>
          <a:solidFill>
            <a:srgbClr val="2E3338"/>
          </a:solidFill>
          <a:ln w="12700">
            <a:solidFill>
              <a:srgbClr val="BDB6AA"/>
            </a:solidFill>
            <a:prstDash val="dash"/>
          </a:ln>
        </p:spPr>
      </p:sp>
      <p:sp>
        <p:nvSpPr>
          <p:cNvPr id="5" name="Text 3"/>
          <p:cNvSpPr txBox="1"/>
          <p:nvPr>
            <p:ph idx="103" hasCustomPrompt="1"/>
          </p:nvPr>
        </p:nvSpPr>
        <p:spPr>
          <a:xfrm>
            <a:off x="4480560" y="777240"/>
            <a:ext cx="7086600" cy="3986784"/>
          </a:xfrm>
          <a:prstGeom prst="rect">
            <a:avLst/>
          </a:prstGeom>
          <a:noFill/>
          <a:ln/>
        </p:spPr>
        <p:txBody>
          <a:bodyPr wrap="square" rtlCol="0"/>
          <a:lstStyle>
            <a:lvl1pPr algn="ctr" indent="0" marL="0">
              <a:buNone/>
              <a:defRPr lang="en-US" sz="1200" dirty="0">
                <a:solidFill>
                  <a:srgbClr val="BDB6AA"/>
                </a:solidFill>
                <a:latin typeface="Trade Gothic Next" pitchFamily="34" charset="0"/>
                <a:ea typeface="Trade Gothic Next" pitchFamily="34" charset="-122"/>
                <a:cs typeface="Trade Gothic Next" pitchFamily="34" charset="-120"/>
              </a:defRPr>
            </a:lvl1pPr>
          </a:lstStyle>
          <a:p>
            <a:pPr algn="ctr" indent="0" marL="0">
              <a:buNone/>
            </a:pPr>
            <a:r>
              <a:rPr lang="en-US" sz="1200" dirty="0">
                <a:solidFill>
                  <a:srgbClr val="BDB6AA"/>
                </a:solidFill>
                <a:latin typeface="Trade Gothic Next" pitchFamily="34" charset="0"/>
                <a:ea typeface="Trade Gothic Next" pitchFamily="34" charset="-122"/>
                <a:cs typeface="Trade Gothic Next" pitchFamily="34" charset="-120"/>
              </a:rPr>
              <a:t>SECTION IMAGE  •  16:9</a:t>
            </a:r>
            <a:endParaRPr lang="en-US" sz="1200" dirty="0"/>
          </a:p>
        </p:txBody>
      </p:sp>
      <p:sp>
        <p:nvSpPr>
          <p:cNvPr id="6" name="Text 3"/>
          <p:cNvSpPr txBox="1"/>
          <p:nvPr>
            <p:ph idx="104" type="body" hasCustomPrompt="1"/>
          </p:nvPr>
        </p:nvSpPr>
        <p:spPr>
          <a:xfrm>
            <a:off x="777240" y="502920"/>
            <a:ext cx="2011680" cy="868680"/>
          </a:xfrm>
          <a:prstGeom prst="rect">
            <a:avLst/>
          </a:prstGeom>
          <a:noFill/>
          <a:ln/>
        </p:spPr>
        <p:txBody>
          <a:bodyPr wrap="square" rtlCol="0"/>
          <a:lstStyle>
            <a:lvl1pPr algn="l" indent="0" marL="0">
              <a:buNone/>
              <a:defRPr lang="en-US" sz="4400" b="1" dirty="0">
                <a:solidFill>
                  <a:srgbClr val="14161B"/>
                </a:solidFill>
                <a:latin typeface="Trade Gothic Next" pitchFamily="34" charset="0"/>
                <a:ea typeface="Trade Gothic Next" pitchFamily="34" charset="-122"/>
                <a:cs typeface="Trade Gothic Next" pitchFamily="34" charset="-120"/>
              </a:defRPr>
            </a:lvl1pPr>
          </a:lstStyle>
          <a:p>
            <a:pPr algn="l" indent="0" marL="0">
              <a:buNone/>
            </a:pPr>
            <a:r>
              <a:rPr lang="en-US" sz="4400" b="1" dirty="0">
                <a:solidFill>
                  <a:srgbClr val="14161B"/>
                </a:solidFill>
                <a:latin typeface="Trade Gothic Next" pitchFamily="34" charset="0"/>
                <a:ea typeface="Trade Gothic Next" pitchFamily="34" charset="-122"/>
                <a:cs typeface="Trade Gothic Next" pitchFamily="34" charset="-120"/>
              </a:rPr>
              <a:t>01</a:t>
            </a:r>
            <a:endParaRPr lang="en-US" sz="4400" dirty="0"/>
          </a:p>
        </p:txBody>
      </p:sp>
      <p:sp>
        <p:nvSpPr>
          <p:cNvPr id="7" name="Text 3"/>
          <p:cNvSpPr txBox="1"/>
          <p:nvPr/>
        </p:nvSpPr>
        <p:spPr>
          <a:xfrm>
            <a:off x="777240" y="1481328"/>
            <a:ext cx="2743200" cy="219456"/>
          </a:xfrm>
          <a:prstGeom prst="rect">
            <a:avLst/>
          </a:prstGeom>
          <a:noFill/>
          <a:ln/>
        </p:spPr>
        <p:txBody>
          <a:bodyPr wrap="square" lIns="0" tIns="0" rIns="0" bIns="0" rtlCol="0" anchor="ctr"/>
          <a:lstStyle/>
          <a:p>
            <a:pPr indent="0" marL="0">
              <a:buNone/>
            </a:pPr>
            <a:r>
              <a:rPr lang="en-US" sz="1100" b="1" spc="160" kern="0" dirty="0">
                <a:solidFill>
                  <a:srgbClr val="14161B"/>
                </a:solidFill>
                <a:latin typeface="Trade Gothic Next" pitchFamily="34" charset="0"/>
                <a:ea typeface="Trade Gothic Next" pitchFamily="34" charset="-122"/>
                <a:cs typeface="Trade Gothic Next" pitchFamily="34" charset="-120"/>
              </a:rPr>
              <a:t>SECTION TITLE</a:t>
            </a:r>
            <a:endParaRPr lang="en-US" sz="1100" dirty="0"/>
          </a:p>
        </p:txBody>
      </p:sp>
      <p:sp>
        <p:nvSpPr>
          <p:cNvPr id="8" name="Text 4"/>
          <p:cNvSpPr txBox="1"/>
          <p:nvPr>
            <p:ph idx="106" type="title" hasCustomPrompt="1"/>
          </p:nvPr>
        </p:nvSpPr>
        <p:spPr>
          <a:xfrm>
            <a:off x="777240" y="1847088"/>
            <a:ext cx="2834640" cy="1691640"/>
          </a:xfrm>
          <a:prstGeom prst="rect">
            <a:avLst/>
          </a:prstGeom>
          <a:noFill/>
          <a:ln/>
        </p:spPr>
        <p:txBody>
          <a:bodyPr wrap="square" rtlCol="0"/>
          <a:lstStyle>
            <a:lvl1pPr algn="l" indent="0" marL="0">
              <a:lnSpc>
                <a:spcPct val="106000"/>
              </a:lnSpc>
              <a:buNone/>
              <a:defRPr lang="en-US" sz="2800" b="1" dirty="0">
                <a:solidFill>
                  <a:srgbClr val="14161B"/>
                </a:solidFill>
                <a:latin typeface="Trade Gothic Next" pitchFamily="34" charset="0"/>
                <a:ea typeface="Trade Gothic Next" pitchFamily="34" charset="-122"/>
                <a:cs typeface="Trade Gothic Next" pitchFamily="34" charset="-120"/>
              </a:defRPr>
            </a:lvl1pPr>
          </a:lstStyle>
          <a:p>
            <a:pPr algn="l" indent="0" marL="0">
              <a:lnSpc>
                <a:spcPct val="106000"/>
              </a:lnSpc>
              <a:buNone/>
            </a:pPr>
            <a:r>
              <a:rPr lang="en-US" sz="2800" b="1" dirty="0">
                <a:solidFill>
                  <a:srgbClr val="14161B"/>
                </a:solidFill>
                <a:latin typeface="Trade Gothic Next" pitchFamily="34" charset="0"/>
                <a:ea typeface="Trade Gothic Next" pitchFamily="34" charset="-122"/>
                <a:cs typeface="Trade Gothic Next" pitchFamily="34" charset="-120"/>
              </a:rPr>
              <a:t>1.1</a:t>
            </a:r>
            <a:endParaRPr lang="en-US" sz="2800" dirty="0"/>
          </a:p>
          <a:p>
            <a:pPr algn="l" indent="0" marL="0">
              <a:lnSpc>
                <a:spcPct val="106000"/>
              </a:lnSpc>
              <a:buNone/>
            </a:pPr>
            <a:r>
              <a:rPr lang="en-US" sz="2800" b="1" dirty="0">
                <a:solidFill>
                  <a:srgbClr val="14161B"/>
                </a:solidFill>
                <a:latin typeface="Trade Gothic Next" pitchFamily="34" charset="0"/>
                <a:ea typeface="Trade Gothic Next" pitchFamily="34" charset="-122"/>
                <a:cs typeface="Trade Gothic Next" pitchFamily="34" charset="-120"/>
              </a:rPr>
              <a:t>Section Name</a:t>
            </a:r>
            <a:endParaRPr lang="en-US" sz="2800" dirty="0"/>
          </a:p>
        </p:txBody>
      </p:sp>
      <p:sp>
        <p:nvSpPr>
          <p:cNvPr id="9" name="Text 4"/>
          <p:cNvSpPr txBox="1"/>
          <p:nvPr>
            <p:ph idx="107" type="body" hasCustomPrompt="1"/>
          </p:nvPr>
        </p:nvSpPr>
        <p:spPr>
          <a:xfrm>
            <a:off x="777240" y="3749040"/>
            <a:ext cx="2834640" cy="1097280"/>
          </a:xfrm>
          <a:prstGeom prst="rect">
            <a:avLst/>
          </a:prstGeom>
          <a:noFill/>
          <a:ln/>
        </p:spPr>
        <p:txBody>
          <a:bodyPr wrap="square" rtlCol="0"/>
          <a:lstStyle>
            <a:lvl1pPr indent="0" marL="0">
              <a:buNone/>
              <a:defRPr lang="en-US" sz="1600" dirty="0">
                <a:solidFill>
                  <a:srgbClr val="14161B"/>
                </a:solidFill>
                <a:latin typeface="Trade Gothic Next" pitchFamily="34" charset="0"/>
                <a:ea typeface="Trade Gothic Next" pitchFamily="34" charset="-122"/>
                <a:cs typeface="Trade Gothic Next" pitchFamily="34" charset="-120"/>
              </a:defRPr>
            </a:lvl1pPr>
          </a:lstStyle>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What students should be able to do by the end.</a:t>
            </a:r>
            <a:endParaRPr lang="en-US" sz="1600" dirty="0"/>
          </a:p>
        </p:txBody>
      </p:sp>
      <p:sp>
        <p:nvSpPr>
          <p:cNvPr id="10" name="Text 4"/>
          <p:cNvSpPr txBox="1"/>
          <p:nvPr/>
        </p:nvSpPr>
        <p:spPr>
          <a:xfrm>
            <a:off x="777240" y="6382512"/>
            <a:ext cx="2743200" cy="237744"/>
          </a:xfrm>
          <a:prstGeom prst="rect">
            <a:avLst/>
          </a:prstGeom>
          <a:noFill/>
          <a:ln/>
        </p:spPr>
        <p:txBody>
          <a:bodyPr wrap="square" lIns="0" tIns="0" rIns="0" bIns="0" rtlCol="0" anchor="ctr"/>
          <a:lstStyle/>
          <a:p>
            <a:pPr indent="0" marL="0">
              <a:buNone/>
            </a:pPr>
            <a:r>
              <a:rPr lang="en-US" sz="1000" b="1" spc="140" kern="0" dirty="0">
                <a:solidFill>
                  <a:srgbClr val="14161B"/>
                </a:solidFill>
                <a:latin typeface="Trade Gothic Next" pitchFamily="34" charset="0"/>
                <a:ea typeface="Trade Gothic Next" pitchFamily="34" charset="-122"/>
                <a:cs typeface="Trade Gothic Next" pitchFamily="34" charset="-120"/>
              </a:rPr>
              <a:t>SHULL SCIENCE</a:t>
            </a:r>
            <a:endParaRPr lang="en-US" sz="1000" dirty="0"/>
          </a:p>
        </p:txBody>
      </p:sp>
      <p:sp>
        <p:nvSpPr>
          <p:cNvPr id="11" name="Text 5"/>
          <p:cNvSpPr txBox="1"/>
          <p:nvPr>
            <p:ph idx="109" type="body" hasCustomPrompt="1"/>
          </p:nvPr>
        </p:nvSpPr>
        <p:spPr>
          <a:xfrm>
            <a:off x="8762695" y="6382512"/>
            <a:ext cx="2743200" cy="237744"/>
          </a:xfrm>
          <a:prstGeom prst="rect">
            <a:avLst/>
          </a:prstGeom>
          <a:noFill/>
          <a:ln/>
        </p:spPr>
        <p:txBody>
          <a:bodyPr wrap="square" rtlCol="0"/>
          <a:lstStyle>
            <a:lvl1pPr algn="r" indent="0" marL="0">
              <a:buNone/>
              <a:defRPr lang="en-US" sz="1000" b="1" spc="140" kern="0" dirty="0">
                <a:solidFill>
                  <a:srgbClr val="BDB6AA"/>
                </a:solidFill>
                <a:latin typeface="Trade Gothic Next" pitchFamily="34" charset="0"/>
                <a:ea typeface="Trade Gothic Next" pitchFamily="34" charset="-122"/>
                <a:cs typeface="Trade Gothic Next" pitchFamily="34" charset="-120"/>
              </a:defRPr>
            </a:lvl1pPr>
          </a:lstStyle>
          <a:p>
            <a:pPr algn="r" indent="0" marL="0">
              <a:buNone/>
            </a:pPr>
            <a:r>
              <a:rPr lang="en-US" sz="1000" b="1" spc="140" kern="0" dirty="0">
                <a:solidFill>
                  <a:srgbClr val="BDB6AA"/>
                </a:solidFill>
                <a:latin typeface="Trade Gothic Next" pitchFamily="34" charset="0"/>
                <a:ea typeface="Trade Gothic Next" pitchFamily="34" charset="-122"/>
                <a:cs typeface="Trade Gothic Next" pitchFamily="34" charset="-120"/>
              </a:rPr>
              <a:t>U00 • S0.0</a:t>
            </a:r>
            <a:endParaRPr lang="en-US" sz="1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03_GROUPED_CONCEP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p:spPr>
      </p:sp>
      <p:sp>
        <p:nvSpPr>
          <p:cNvPr id="3" name="Text 1"/>
          <p:cNvSpPr txBox="1"/>
          <p:nvPr>
            <p:ph idx="101" type="body" hasCustomPrompt="1"/>
          </p:nvPr>
        </p:nvSpPr>
        <p:spPr>
          <a:xfrm>
            <a:off x="685800" y="384048"/>
            <a:ext cx="6400800" cy="237744"/>
          </a:xfrm>
          <a:prstGeom prst="rect">
            <a:avLst/>
          </a:prstGeom>
          <a:noFill/>
          <a:ln/>
        </p:spPr>
        <p:txBody>
          <a:bodyPr wrap="square" rtlCol="0"/>
          <a:lstStyle>
            <a:lvl1pPr indent="0" marL="0">
              <a:buNone/>
              <a:defRPr lang="en-US" sz="1100" b="1" spc="160" kern="0" dirty="0">
                <a:solidFill>
                  <a:srgbClr val="14161B"/>
                </a:solidFill>
                <a:latin typeface="Trade Gothic Next" pitchFamily="34" charset="0"/>
                <a:ea typeface="Trade Gothic Next" pitchFamily="34" charset="-122"/>
                <a:cs typeface="Trade Gothic Next" pitchFamily="34" charset="-120"/>
              </a:defRPr>
            </a:lvl1pPr>
          </a:lstStyle>
          <a:p>
            <a:pPr indent="0" marL="0">
              <a:buNone/>
            </a:pPr>
            <a:r>
              <a:rPr lang="en-US" sz="1100" b="1" spc="160" kern="0" dirty="0">
                <a:solidFill>
                  <a:srgbClr val="14161B"/>
                </a:solidFill>
                <a:latin typeface="Trade Gothic Next" pitchFamily="34" charset="0"/>
                <a:ea typeface="Trade Gothic Next" pitchFamily="34" charset="-122"/>
                <a:cs typeface="Trade Gothic Next" pitchFamily="34" charset="-120"/>
              </a:rPr>
              <a:t>UNIT 00  •  CHEMISTRY</a:t>
            </a:r>
            <a:endParaRPr lang="en-US" sz="1100" dirty="0"/>
          </a:p>
        </p:txBody>
      </p:sp>
      <p:sp>
        <p:nvSpPr>
          <p:cNvPr id="4" name="Shape 1"/>
          <p:cNvSpPr/>
          <p:nvPr/>
        </p:nvSpPr>
        <p:spPr>
          <a:xfrm>
            <a:off x="685800" y="676656"/>
            <a:ext cx="1371600" cy="0"/>
          </a:xfrm>
          <a:prstGeom prst="line">
            <a:avLst/>
          </a:prstGeom>
          <a:noFill/>
          <a:ln w="22225">
            <a:solidFill>
              <a:srgbClr val="A3E635"/>
            </a:solidFill>
            <a:prstDash val="solid"/>
          </a:ln>
        </p:spPr>
      </p:sp>
      <p:sp>
        <p:nvSpPr>
          <p:cNvPr id="5" name="Text 2"/>
          <p:cNvSpPr txBox="1"/>
          <p:nvPr>
            <p:ph idx="103" type="title" hasCustomPrompt="1"/>
          </p:nvPr>
        </p:nvSpPr>
        <p:spPr>
          <a:xfrm>
            <a:off x="685800" y="932688"/>
            <a:ext cx="10820095" cy="868680"/>
          </a:xfrm>
          <a:prstGeom prst="rect">
            <a:avLst/>
          </a:prstGeom>
          <a:noFill/>
          <a:ln/>
        </p:spPr>
        <p:txBody>
          <a:bodyPr wrap="square" rtlCol="0"/>
          <a:lstStyle>
            <a:lvl1pPr algn="l" indent="0" marL="0">
              <a:buNone/>
              <a:defRPr lang="en-US" sz="2800" b="1" dirty="0">
                <a:solidFill>
                  <a:srgbClr val="14161B"/>
                </a:solidFill>
                <a:latin typeface="Trade Gothic Next" pitchFamily="34" charset="0"/>
                <a:ea typeface="Trade Gothic Next" pitchFamily="34" charset="-122"/>
                <a:cs typeface="Trade Gothic Next" pitchFamily="34" charset="-120"/>
              </a:defRPr>
            </a:lvl1pPr>
          </a:lstStyle>
          <a:p>
            <a:pPr algn="l" indent="0" marL="0">
              <a:buNone/>
            </a:pPr>
            <a:r>
              <a:rPr lang="en-US" sz="2800" b="1" dirty="0">
                <a:solidFill>
                  <a:srgbClr val="14161B"/>
                </a:solidFill>
                <a:latin typeface="Trade Gothic Next" pitchFamily="34" charset="0"/>
                <a:ea typeface="Trade Gothic Next" pitchFamily="34" charset="-122"/>
                <a:cs typeface="Trade Gothic Next" pitchFamily="34" charset="-120"/>
              </a:rPr>
              <a:t>Slide Headline Goes Here</a:t>
            </a:r>
            <a:endParaRPr lang="en-US" sz="2800" dirty="0"/>
          </a:p>
        </p:txBody>
      </p:sp>
      <p:sp>
        <p:nvSpPr>
          <p:cNvPr id="6" name="Text 2"/>
          <p:cNvSpPr txBox="1"/>
          <p:nvPr>
            <p:ph idx="104" type="body" hasCustomPrompt="1"/>
          </p:nvPr>
        </p:nvSpPr>
        <p:spPr>
          <a:xfrm>
            <a:off x="685800" y="1847088"/>
            <a:ext cx="10820095" cy="384048"/>
          </a:xfrm>
          <a:prstGeom prst="rect">
            <a:avLst/>
          </a:prstGeom>
          <a:noFill/>
          <a:ln/>
        </p:spPr>
        <p:txBody>
          <a:bodyPr wrap="square" rtlCol="0"/>
          <a:lstStyle>
            <a:lvl1pPr indent="0" marL="0">
              <a:buNone/>
              <a:defRPr lang="en-US" sz="1700" dirty="0">
                <a:solidFill>
                  <a:srgbClr val="2E3338"/>
                </a:solidFill>
                <a:latin typeface="Trade Gothic Next" pitchFamily="34" charset="0"/>
                <a:ea typeface="Trade Gothic Next" pitchFamily="34" charset="-122"/>
                <a:cs typeface="Trade Gothic Next" pitchFamily="34" charset="-120"/>
              </a:defRPr>
            </a:lvl1pPr>
          </a:lstStyle>
          <a:p>
            <a:pPr indent="0" marL="0">
              <a:buNone/>
            </a:pPr>
            <a:r>
              <a:rPr lang="en-US" sz="1700" dirty="0">
                <a:solidFill>
                  <a:srgbClr val="2E3338"/>
                </a:solidFill>
                <a:latin typeface="Trade Gothic Next" pitchFamily="34" charset="0"/>
                <a:ea typeface="Trade Gothic Next" pitchFamily="34" charset="-122"/>
                <a:cs typeface="Trade Gothic Next" pitchFamily="34" charset="-120"/>
              </a:rPr>
              <a:t>One line that frames what students should look for.</a:t>
            </a:r>
            <a:endParaRPr lang="en-US" sz="1700" dirty="0"/>
          </a:p>
        </p:txBody>
      </p:sp>
      <p:sp>
        <p:nvSpPr>
          <p:cNvPr id="7" name="Shape 2"/>
          <p:cNvSpPr/>
          <p:nvPr/>
        </p:nvSpPr>
        <p:spPr>
          <a:xfrm>
            <a:off x="685800" y="2377440"/>
            <a:ext cx="4663440" cy="2624328"/>
          </a:xfrm>
          <a:prstGeom prst="rect">
            <a:avLst/>
          </a:prstGeom>
          <a:solidFill>
            <a:srgbClr val="EDF0E5"/>
          </a:solidFill>
          <a:ln w="12700">
            <a:solidFill>
              <a:srgbClr val="C8CDC2"/>
            </a:solidFill>
            <a:prstDash val="dash"/>
          </a:ln>
        </p:spPr>
      </p:sp>
      <p:sp>
        <p:nvSpPr>
          <p:cNvPr id="8" name="Text 3"/>
          <p:cNvSpPr txBox="1"/>
          <p:nvPr>
            <p:ph idx="106" hasCustomPrompt="1"/>
          </p:nvPr>
        </p:nvSpPr>
        <p:spPr>
          <a:xfrm>
            <a:off x="685800" y="2377440"/>
            <a:ext cx="4663440" cy="2624328"/>
          </a:xfrm>
          <a:prstGeom prst="rect">
            <a:avLst/>
          </a:prstGeom>
          <a:noFill/>
          <a:ln/>
        </p:spPr>
        <p:txBody>
          <a:bodyPr wrap="square" rtlCol="0"/>
          <a:lstStyle>
            <a:lvl1pPr algn="ctr" indent="0" marL="0">
              <a:buNone/>
              <a:defRPr lang="en-US" sz="1200" dirty="0">
                <a:solidFill>
                  <a:srgbClr val="2E3338"/>
                </a:solidFill>
                <a:latin typeface="Trade Gothic Next" pitchFamily="34" charset="0"/>
                <a:ea typeface="Trade Gothic Next" pitchFamily="34" charset="-122"/>
                <a:cs typeface="Trade Gothic Next" pitchFamily="34" charset="-120"/>
              </a:defRPr>
            </a:lvl1pPr>
          </a:lstStyle>
          <a:p>
            <a:pPr algn="ctr" indent="0" marL="0">
              <a:buNone/>
            </a:pPr>
            <a:r>
              <a:rPr lang="en-US" sz="1200" dirty="0">
                <a:solidFill>
                  <a:srgbClr val="2E3338"/>
                </a:solidFill>
                <a:latin typeface="Trade Gothic Next" pitchFamily="34" charset="0"/>
                <a:ea typeface="Trade Gothic Next" pitchFamily="34" charset="-122"/>
                <a:cs typeface="Trade Gothic Next" pitchFamily="34" charset="-120"/>
              </a:rPr>
              <a:t>CONCEPT IMAGE  •  16:9</a:t>
            </a:r>
            <a:endParaRPr lang="en-US" sz="1200" dirty="0"/>
          </a:p>
        </p:txBody>
      </p:sp>
      <p:sp>
        <p:nvSpPr>
          <p:cNvPr id="9" name="Shape 3"/>
          <p:cNvSpPr/>
          <p:nvPr/>
        </p:nvSpPr>
        <p:spPr>
          <a:xfrm>
            <a:off x="5532120" y="2377440"/>
            <a:ext cx="3154680" cy="2624328"/>
          </a:xfrm>
          <a:prstGeom prst="rect">
            <a:avLst/>
          </a:prstGeom>
          <a:solidFill>
            <a:srgbClr val="EDF0E5"/>
          </a:solidFill>
          <a:ln w="12700">
            <a:solidFill>
              <a:srgbClr val="C8CDC2"/>
            </a:solidFill>
            <a:prstDash val="solid"/>
          </a:ln>
        </p:spPr>
      </p:sp>
      <p:sp>
        <p:nvSpPr>
          <p:cNvPr id="10" name="Text 4"/>
          <p:cNvSpPr txBox="1"/>
          <p:nvPr>
            <p:ph idx="108" type="body" hasCustomPrompt="1"/>
          </p:nvPr>
        </p:nvSpPr>
        <p:spPr>
          <a:xfrm>
            <a:off x="5733288" y="2542032"/>
            <a:ext cx="2752344" cy="219456"/>
          </a:xfrm>
          <a:prstGeom prst="rect">
            <a:avLst/>
          </a:prstGeom>
          <a:noFill/>
          <a:ln/>
        </p:spPr>
        <p:txBody>
          <a:bodyPr wrap="square" rtlCol="0"/>
          <a:lstStyle>
            <a:lvl1pPr indent="0" marL="0">
              <a:buNone/>
              <a:defRPr lang="en-US" sz="1200" b="1" spc="120" kern="0" dirty="0">
                <a:solidFill>
                  <a:srgbClr val="2E3338"/>
                </a:solidFill>
                <a:latin typeface="Trade Gothic Next" pitchFamily="34" charset="0"/>
                <a:ea typeface="Trade Gothic Next" pitchFamily="34" charset="-122"/>
                <a:cs typeface="Trade Gothic Next" pitchFamily="34" charset="-120"/>
              </a:defRPr>
            </a:lvl1pPr>
          </a:lstStyle>
          <a:p>
            <a:pPr indent="0" marL="0">
              <a:buNone/>
            </a:pPr>
            <a:r>
              <a:rPr lang="en-US" sz="1200" b="1" spc="120" kern="0" dirty="0">
                <a:solidFill>
                  <a:srgbClr val="2E3338"/>
                </a:solidFill>
                <a:latin typeface="Trade Gothic Next" pitchFamily="34" charset="0"/>
                <a:ea typeface="Trade Gothic Next" pitchFamily="34" charset="-122"/>
                <a:cs typeface="Trade Gothic Next" pitchFamily="34" charset="-120"/>
              </a:rPr>
              <a:t>GROUP ONE</a:t>
            </a:r>
            <a:endParaRPr lang="en-US" sz="1200" dirty="0"/>
          </a:p>
        </p:txBody>
      </p:sp>
      <p:sp>
        <p:nvSpPr>
          <p:cNvPr id="11" name="Text 4"/>
          <p:cNvSpPr txBox="1"/>
          <p:nvPr>
            <p:ph idx="109" type="body" hasCustomPrompt="1"/>
          </p:nvPr>
        </p:nvSpPr>
        <p:spPr>
          <a:xfrm>
            <a:off x="5733288" y="2834640"/>
            <a:ext cx="2752344" cy="1965960"/>
          </a:xfrm>
          <a:prstGeom prst="rect">
            <a:avLst/>
          </a:prstGeom>
          <a:noFill/>
          <a:ln/>
        </p:spPr>
        <p:txBody>
          <a:bodyPr wrap="square" rtlCol="0"/>
          <a:lstStyle>
            <a:lvl1pPr indent="0" marL="0">
              <a:buNone/>
              <a:defRPr lang="en-US" sz="1600" dirty="0">
                <a:solidFill>
                  <a:srgbClr val="14161B"/>
                </a:solidFill>
                <a:latin typeface="Trade Gothic Next" pitchFamily="34" charset="0"/>
                <a:ea typeface="Trade Gothic Next" pitchFamily="34" charset="-122"/>
                <a:cs typeface="Trade Gothic Next" pitchFamily="34" charset="-120"/>
              </a:defRPr>
            </a:lvl1pPr>
          </a:lstStyle>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The first idea, in one or two lines.</a:t>
            </a:r>
            <a:endParaRPr lang="en-US" sz="1600" dirty="0"/>
          </a:p>
        </p:txBody>
      </p:sp>
      <p:sp>
        <p:nvSpPr>
          <p:cNvPr id="12" name="Shape 4"/>
          <p:cNvSpPr/>
          <p:nvPr/>
        </p:nvSpPr>
        <p:spPr>
          <a:xfrm>
            <a:off x="8915400" y="2377440"/>
            <a:ext cx="3154680" cy="2624328"/>
          </a:xfrm>
          <a:prstGeom prst="rect">
            <a:avLst/>
          </a:prstGeom>
          <a:solidFill>
            <a:srgbClr val="2E3338"/>
          </a:solidFill>
          <a:ln w="12700">
            <a:solidFill>
              <a:srgbClr val="2E3338"/>
            </a:solidFill>
            <a:prstDash val="solid"/>
          </a:ln>
        </p:spPr>
      </p:sp>
      <p:sp>
        <p:nvSpPr>
          <p:cNvPr id="13" name="Text 5"/>
          <p:cNvSpPr txBox="1"/>
          <p:nvPr>
            <p:ph idx="111" type="body" hasCustomPrompt="1"/>
          </p:nvPr>
        </p:nvSpPr>
        <p:spPr>
          <a:xfrm>
            <a:off x="9116568" y="2542032"/>
            <a:ext cx="2752344" cy="219456"/>
          </a:xfrm>
          <a:prstGeom prst="rect">
            <a:avLst/>
          </a:prstGeom>
          <a:noFill/>
          <a:ln/>
        </p:spPr>
        <p:txBody>
          <a:bodyPr wrap="square" rtlCol="0"/>
          <a:lstStyle>
            <a:lvl1pPr indent="0" marL="0">
              <a:buNone/>
              <a:defRPr lang="en-US" sz="1200" b="1" spc="120" kern="0" dirty="0">
                <a:solidFill>
                  <a:srgbClr val="BDB6AA"/>
                </a:solidFill>
                <a:latin typeface="Trade Gothic Next" pitchFamily="34" charset="0"/>
                <a:ea typeface="Trade Gothic Next" pitchFamily="34" charset="-122"/>
                <a:cs typeface="Trade Gothic Next" pitchFamily="34" charset="-120"/>
              </a:defRPr>
            </a:lvl1pPr>
          </a:lstStyle>
          <a:p>
            <a:pPr indent="0" marL="0">
              <a:buNone/>
            </a:pPr>
            <a:r>
              <a:rPr lang="en-US" sz="1200" b="1" spc="120" kern="0" dirty="0">
                <a:solidFill>
                  <a:srgbClr val="BDB6AA"/>
                </a:solidFill>
                <a:latin typeface="Trade Gothic Next" pitchFamily="34" charset="0"/>
                <a:ea typeface="Trade Gothic Next" pitchFamily="34" charset="-122"/>
                <a:cs typeface="Trade Gothic Next" pitchFamily="34" charset="-120"/>
              </a:rPr>
              <a:t>GROUP TWO</a:t>
            </a:r>
            <a:endParaRPr lang="en-US" sz="1200" dirty="0"/>
          </a:p>
        </p:txBody>
      </p:sp>
      <p:sp>
        <p:nvSpPr>
          <p:cNvPr id="14" name="Text 5"/>
          <p:cNvSpPr txBox="1"/>
          <p:nvPr>
            <p:ph idx="112" type="body" hasCustomPrompt="1"/>
          </p:nvPr>
        </p:nvSpPr>
        <p:spPr>
          <a:xfrm>
            <a:off x="9116568" y="2834640"/>
            <a:ext cx="2752344" cy="1965960"/>
          </a:xfrm>
          <a:prstGeom prst="rect">
            <a:avLst/>
          </a:prstGeom>
          <a:noFill/>
          <a:ln/>
        </p:spPr>
        <p:txBody>
          <a:bodyPr wrap="square" rtlCol="0"/>
          <a:lstStyle>
            <a:lvl1pPr indent="0" marL="0">
              <a:buNone/>
              <a:defRPr lang="en-US" sz="1600" dirty="0">
                <a:solidFill>
                  <a:srgbClr val="EDF0E5"/>
                </a:solidFill>
                <a:latin typeface="Trade Gothic Next" pitchFamily="34" charset="0"/>
                <a:ea typeface="Trade Gothic Next" pitchFamily="34" charset="-122"/>
                <a:cs typeface="Trade Gothic Next" pitchFamily="34" charset="-120"/>
              </a:defRPr>
            </a:lvl1pPr>
          </a:lstStyle>
          <a:p>
            <a:pPr indent="0" marL="0">
              <a:buNone/>
            </a:pPr>
            <a:r>
              <a:rPr lang="en-US" sz="1600" dirty="0">
                <a:solidFill>
                  <a:srgbClr val="EDF0E5"/>
                </a:solidFill>
                <a:latin typeface="Trade Gothic Next" pitchFamily="34" charset="0"/>
                <a:ea typeface="Trade Gothic Next" pitchFamily="34" charset="-122"/>
                <a:cs typeface="Trade Gothic Next" pitchFamily="34" charset="-120"/>
              </a:rPr>
              <a:t>The contrasting idea.</a:t>
            </a:r>
            <a:endParaRPr lang="en-US" sz="1600" dirty="0"/>
          </a:p>
        </p:txBody>
      </p:sp>
      <p:sp>
        <p:nvSpPr>
          <p:cNvPr id="15" name="Shape 5"/>
          <p:cNvSpPr/>
          <p:nvPr/>
        </p:nvSpPr>
        <p:spPr>
          <a:xfrm>
            <a:off x="685800" y="5321808"/>
            <a:ext cx="10820095" cy="566928"/>
          </a:xfrm>
          <a:prstGeom prst="rect">
            <a:avLst/>
          </a:prstGeom>
          <a:solidFill>
            <a:srgbClr val="14161B"/>
          </a:solidFill>
          <a:ln/>
        </p:spPr>
      </p:sp>
      <p:sp>
        <p:nvSpPr>
          <p:cNvPr id="16" name="Text 6"/>
          <p:cNvSpPr txBox="1"/>
          <p:nvPr/>
        </p:nvSpPr>
        <p:spPr>
          <a:xfrm>
            <a:off x="886968" y="5376672"/>
            <a:ext cx="1188720" cy="201168"/>
          </a:xfrm>
          <a:prstGeom prst="rect">
            <a:avLst/>
          </a:prstGeom>
          <a:noFill/>
          <a:ln/>
        </p:spPr>
        <p:txBody>
          <a:bodyPr wrap="square" lIns="0" tIns="0" rIns="0" bIns="0" rtlCol="0" anchor="ctr"/>
          <a:lstStyle/>
          <a:p>
            <a:pPr indent="0" marL="0">
              <a:buNone/>
            </a:pPr>
            <a:r>
              <a:rPr lang="en-US" sz="900" b="1" spc="150" kern="0" dirty="0">
                <a:solidFill>
                  <a:srgbClr val="A3E635"/>
                </a:solidFill>
                <a:latin typeface="Trade Gothic Next" pitchFamily="34" charset="0"/>
                <a:ea typeface="Trade Gothic Next" pitchFamily="34" charset="-122"/>
                <a:cs typeface="Trade Gothic Next" pitchFamily="34" charset="-120"/>
              </a:rPr>
              <a:t>MUST WRITE</a:t>
            </a:r>
            <a:endParaRPr lang="en-US" sz="900" dirty="0"/>
          </a:p>
        </p:txBody>
      </p:sp>
      <p:sp>
        <p:nvSpPr>
          <p:cNvPr id="17" name="Text 7"/>
          <p:cNvSpPr txBox="1"/>
          <p:nvPr>
            <p:ph idx="115" type="body" hasCustomPrompt="1"/>
          </p:nvPr>
        </p:nvSpPr>
        <p:spPr>
          <a:xfrm>
            <a:off x="2240280" y="5394960"/>
            <a:ext cx="8991295" cy="402336"/>
          </a:xfrm>
          <a:prstGeom prst="rect">
            <a:avLst/>
          </a:prstGeom>
          <a:noFill/>
          <a:ln/>
        </p:spPr>
        <p:txBody>
          <a:bodyPr wrap="square" rtlCol="0"/>
          <a:lstStyle>
            <a:lvl1pPr indent="0" marL="0">
              <a:buNone/>
              <a:defRPr lang="en-US" sz="1600" b="1" dirty="0">
                <a:solidFill>
                  <a:srgbClr val="EDF0E5"/>
                </a:solidFill>
                <a:latin typeface="Trade Gothic Next" pitchFamily="34" charset="0"/>
                <a:ea typeface="Trade Gothic Next" pitchFamily="34" charset="-122"/>
                <a:cs typeface="Trade Gothic Next" pitchFamily="34" charset="-120"/>
              </a:defRPr>
            </a:lvl1pPr>
          </a:lstStyle>
          <a:p>
            <a:pPr indent="0" marL="0">
              <a:buNone/>
            </a:pPr>
            <a:r>
              <a:rPr lang="en-US" sz="1600" b="1" dirty="0">
                <a:solidFill>
                  <a:srgbClr val="EDF0E5"/>
                </a:solidFill>
                <a:latin typeface="Trade Gothic Next" pitchFamily="34" charset="0"/>
                <a:ea typeface="Trade Gothic Next" pitchFamily="34" charset="-122"/>
                <a:cs typeface="Trade Gothic Next" pitchFamily="34" charset="-120"/>
              </a:rPr>
              <a:t>The one sentence students copy down.</a:t>
            </a:r>
            <a:endParaRPr lang="en-US" sz="1600" dirty="0"/>
          </a:p>
        </p:txBody>
      </p:sp>
      <p:sp>
        <p:nvSpPr>
          <p:cNvPr id="18" name="Text 7"/>
          <p:cNvSpPr txBox="1"/>
          <p:nvPr/>
        </p:nvSpPr>
        <p:spPr>
          <a:xfrm>
            <a:off x="685800" y="6382512"/>
            <a:ext cx="3657600" cy="237744"/>
          </a:xfrm>
          <a:prstGeom prst="rect">
            <a:avLst/>
          </a:prstGeom>
          <a:noFill/>
          <a:ln/>
        </p:spPr>
        <p:txBody>
          <a:bodyPr wrap="square" lIns="0" tIns="0" rIns="0" bIns="0" rtlCol="0" anchor="ctr"/>
          <a:lstStyle/>
          <a:p>
            <a:pPr indent="0" marL="0">
              <a:buNone/>
            </a:pPr>
            <a:r>
              <a:rPr lang="en-US" sz="1000" b="1" spc="140" kern="0" dirty="0">
                <a:solidFill>
                  <a:srgbClr val="2E3338"/>
                </a:solidFill>
                <a:latin typeface="Trade Gothic Next" pitchFamily="34" charset="0"/>
                <a:ea typeface="Trade Gothic Next" pitchFamily="34" charset="-122"/>
                <a:cs typeface="Trade Gothic Next" pitchFamily="34" charset="-120"/>
              </a:rPr>
              <a:t>SHULL SCIENCE</a:t>
            </a:r>
            <a:endParaRPr lang="en-US" sz="1000" dirty="0"/>
          </a:p>
        </p:txBody>
      </p:sp>
      <p:sp>
        <p:nvSpPr>
          <p:cNvPr id="19" name="Text 8"/>
          <p:cNvSpPr txBox="1"/>
          <p:nvPr>
            <p:ph idx="117" type="body" hasCustomPrompt="1"/>
          </p:nvPr>
        </p:nvSpPr>
        <p:spPr>
          <a:xfrm>
            <a:off x="8762695" y="6382512"/>
            <a:ext cx="2743200" cy="237744"/>
          </a:xfrm>
          <a:prstGeom prst="rect">
            <a:avLst/>
          </a:prstGeom>
          <a:noFill/>
          <a:ln/>
        </p:spPr>
        <p:txBody>
          <a:bodyPr wrap="square" rtlCol="0"/>
          <a:lstStyle>
            <a:lvl1pPr algn="r" indent="0" marL="0">
              <a:buNone/>
              <a:defRPr lang="en-US" sz="1000" b="1" spc="140" kern="0" dirty="0">
                <a:solidFill>
                  <a:srgbClr val="2E3338"/>
                </a:solidFill>
                <a:latin typeface="Trade Gothic Next" pitchFamily="34" charset="0"/>
                <a:ea typeface="Trade Gothic Next" pitchFamily="34" charset="-122"/>
                <a:cs typeface="Trade Gothic Next" pitchFamily="34" charset="-120"/>
              </a:defRPr>
            </a:lvl1pPr>
          </a:lstStyle>
          <a:p>
            <a:pPr algn="r" indent="0" marL="0">
              <a:buNone/>
            </a:pPr>
            <a:r>
              <a:rPr lang="en-US" sz="1000" b="1" spc="140" kern="0" dirty="0">
                <a:solidFill>
                  <a:srgbClr val="2E3338"/>
                </a:solidFill>
                <a:latin typeface="Trade Gothic Next" pitchFamily="34" charset="0"/>
                <a:ea typeface="Trade Gothic Next" pitchFamily="34" charset="-122"/>
                <a:cs typeface="Trade Gothic Next" pitchFamily="34" charset="-120"/>
              </a:rPr>
              <a:t>U00 • S0.0</a:t>
            </a:r>
            <a:endParaRPr lang="en-US" sz="10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04_DIVIDER">
    <p:bg>
      <p:bgPr>
        <a:solidFill>
          <a:srgbClr val="14161B"/>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4161B"/>
          </a:solidFill>
          <a:ln/>
        </p:spPr>
      </p:sp>
      <p:sp>
        <p:nvSpPr>
          <p:cNvPr id="3" name="Shape 1"/>
          <p:cNvSpPr/>
          <p:nvPr/>
        </p:nvSpPr>
        <p:spPr>
          <a:xfrm>
            <a:off x="2926080" y="0"/>
            <a:ext cx="9262872" cy="6858000"/>
          </a:xfrm>
          <a:prstGeom prst="rect">
            <a:avLst/>
          </a:prstGeom>
          <a:solidFill>
            <a:srgbClr val="2E3338"/>
          </a:solidFill>
          <a:ln w="12700">
            <a:solidFill>
              <a:srgbClr val="BDB6AA"/>
            </a:solidFill>
            <a:prstDash val="dash"/>
          </a:ln>
        </p:spPr>
      </p:sp>
      <p:sp>
        <p:nvSpPr>
          <p:cNvPr id="4" name="Text 2"/>
          <p:cNvSpPr txBox="1"/>
          <p:nvPr>
            <p:ph idx="102" hasCustomPrompt="1"/>
          </p:nvPr>
        </p:nvSpPr>
        <p:spPr>
          <a:xfrm>
            <a:off x="2926080" y="0"/>
            <a:ext cx="9262872" cy="6858000"/>
          </a:xfrm>
          <a:prstGeom prst="rect">
            <a:avLst/>
          </a:prstGeom>
          <a:noFill/>
          <a:ln/>
        </p:spPr>
        <p:txBody>
          <a:bodyPr wrap="square" rtlCol="0"/>
          <a:lstStyle>
            <a:lvl1pPr algn="ctr" indent="0" marL="0">
              <a:buNone/>
              <a:defRPr lang="en-US" sz="1200" dirty="0">
                <a:solidFill>
                  <a:srgbClr val="BDB6AA"/>
                </a:solidFill>
                <a:latin typeface="Trade Gothic Next" pitchFamily="34" charset="0"/>
                <a:ea typeface="Trade Gothic Next" pitchFamily="34" charset="-122"/>
                <a:cs typeface="Trade Gothic Next" pitchFamily="34" charset="-120"/>
              </a:defRPr>
            </a:lvl1pPr>
          </a:lstStyle>
          <a:p>
            <a:pPr algn="ctr" indent="0" marL="0">
              <a:buNone/>
            </a:pPr>
            <a:r>
              <a:rPr lang="en-US" sz="1200" dirty="0">
                <a:solidFill>
                  <a:srgbClr val="BDB6AA"/>
                </a:solidFill>
                <a:latin typeface="Trade Gothic Next" pitchFamily="34" charset="0"/>
                <a:ea typeface="Trade Gothic Next" pitchFamily="34" charset="-122"/>
                <a:cs typeface="Trade Gothic Next" pitchFamily="34" charset="-120"/>
              </a:rPr>
              <a:t>FULL-BLEED CONCEPT IMAGE  •  one image, no decoration</a:t>
            </a:r>
            <a:endParaRPr lang="en-US" sz="1200" dirty="0"/>
          </a:p>
        </p:txBody>
      </p:sp>
      <p:sp>
        <p:nvSpPr>
          <p:cNvPr id="5" name="Shape 2"/>
          <p:cNvSpPr/>
          <p:nvPr/>
        </p:nvSpPr>
        <p:spPr>
          <a:xfrm>
            <a:off x="0" y="0"/>
            <a:ext cx="3931920" cy="6858000"/>
          </a:xfrm>
          <a:prstGeom prst="rect">
            <a:avLst/>
          </a:prstGeom>
          <a:solidFill>
            <a:srgbClr val="14161B"/>
          </a:solidFill>
          <a:ln/>
        </p:spPr>
      </p:sp>
      <p:sp>
        <p:nvSpPr>
          <p:cNvPr id="6" name="Shape 3"/>
          <p:cNvSpPr/>
          <p:nvPr/>
        </p:nvSpPr>
        <p:spPr>
          <a:xfrm>
            <a:off x="0" y="0"/>
            <a:ext cx="164592" cy="6858000"/>
          </a:xfrm>
          <a:prstGeom prst="rect">
            <a:avLst/>
          </a:prstGeom>
          <a:solidFill>
            <a:srgbClr val="A3E635"/>
          </a:solidFill>
          <a:ln/>
        </p:spPr>
      </p:sp>
      <p:sp>
        <p:nvSpPr>
          <p:cNvPr id="7" name="Shape 4"/>
          <p:cNvSpPr/>
          <p:nvPr/>
        </p:nvSpPr>
        <p:spPr>
          <a:xfrm>
            <a:off x="566928" y="1481328"/>
            <a:ext cx="3703320" cy="3675888"/>
          </a:xfrm>
          <a:prstGeom prst="rect">
            <a:avLst/>
          </a:prstGeom>
          <a:solidFill>
            <a:srgbClr val="14161B"/>
          </a:solidFill>
          <a:ln w="15875">
            <a:solidFill>
              <a:srgbClr val="A3E635"/>
            </a:solidFill>
            <a:prstDash val="solid"/>
          </a:ln>
        </p:spPr>
      </p:sp>
      <p:sp>
        <p:nvSpPr>
          <p:cNvPr id="8" name="Text 5"/>
          <p:cNvSpPr txBox="1"/>
          <p:nvPr>
            <p:ph idx="106" type="body" hasCustomPrompt="1"/>
          </p:nvPr>
        </p:nvSpPr>
        <p:spPr>
          <a:xfrm>
            <a:off x="841248" y="1755648"/>
            <a:ext cx="3154680" cy="457200"/>
          </a:xfrm>
          <a:prstGeom prst="rect">
            <a:avLst/>
          </a:prstGeom>
          <a:noFill/>
          <a:ln/>
        </p:spPr>
        <p:txBody>
          <a:bodyPr wrap="square" rtlCol="0"/>
          <a:lstStyle>
            <a:lvl1pPr indent="0" marL="0">
              <a:buNone/>
              <a:defRPr lang="en-US" sz="1100" b="1" spc="150" kern="0" dirty="0">
                <a:solidFill>
                  <a:srgbClr val="A3E635"/>
                </a:solidFill>
                <a:latin typeface="Trade Gothic Next" pitchFamily="34" charset="0"/>
                <a:ea typeface="Trade Gothic Next" pitchFamily="34" charset="-122"/>
                <a:cs typeface="Trade Gothic Next" pitchFamily="34" charset="-120"/>
              </a:defRPr>
            </a:lvl1pPr>
          </a:lstStyle>
          <a:p>
            <a:pPr indent="0" marL="0">
              <a:buNone/>
            </a:pPr>
            <a:r>
              <a:rPr lang="en-US" sz="1100" b="1" spc="150" kern="0" dirty="0">
                <a:solidFill>
                  <a:srgbClr val="A3E635"/>
                </a:solidFill>
                <a:latin typeface="Trade Gothic Next" pitchFamily="34" charset="0"/>
                <a:ea typeface="Trade Gothic Next" pitchFamily="34" charset="-122"/>
                <a:cs typeface="Trade Gothic Next" pitchFamily="34" charset="-120"/>
              </a:rPr>
              <a:t>1.2  •  SECTION NAME</a:t>
            </a:r>
            <a:endParaRPr lang="en-US" sz="1100" dirty="0"/>
          </a:p>
        </p:txBody>
      </p:sp>
      <p:sp>
        <p:nvSpPr>
          <p:cNvPr id="9" name="Text 5"/>
          <p:cNvSpPr txBox="1"/>
          <p:nvPr>
            <p:ph idx="107" type="title" hasCustomPrompt="1"/>
          </p:nvPr>
        </p:nvSpPr>
        <p:spPr>
          <a:xfrm>
            <a:off x="841248" y="2304288"/>
            <a:ext cx="3154680" cy="1417320"/>
          </a:xfrm>
          <a:prstGeom prst="rect">
            <a:avLst/>
          </a:prstGeom>
          <a:noFill/>
          <a:ln/>
        </p:spPr>
        <p:txBody>
          <a:bodyPr wrap="square" rtlCol="0"/>
          <a:lstStyle>
            <a:lvl1pPr algn="l" indent="0" marL="0">
              <a:lnSpc>
                <a:spcPct val="108000"/>
              </a:lnSpc>
              <a:buNone/>
              <a:defRPr lang="en-US" sz="2600" b="1" dirty="0">
                <a:solidFill>
                  <a:srgbClr val="EDF0E5"/>
                </a:solidFill>
                <a:latin typeface="Trade Gothic Next" pitchFamily="34" charset="0"/>
                <a:ea typeface="Trade Gothic Next" pitchFamily="34" charset="-122"/>
                <a:cs typeface="Trade Gothic Next" pitchFamily="34" charset="-120"/>
              </a:defRPr>
            </a:lvl1pPr>
          </a:lstStyle>
          <a:p>
            <a:pPr algn="l" indent="0" marL="0">
              <a:lnSpc>
                <a:spcPct val="108000"/>
              </a:lnSpc>
              <a:buNone/>
            </a:pPr>
            <a:r>
              <a:rPr lang="en-US" sz="2600" b="1" dirty="0">
                <a:solidFill>
                  <a:srgbClr val="EDF0E5"/>
                </a:solidFill>
                <a:latin typeface="Trade Gothic Next" pitchFamily="34" charset="0"/>
                <a:ea typeface="Trade Gothic Next" pitchFamily="34" charset="-122"/>
                <a:cs typeface="Trade Gothic Next" pitchFamily="34" charset="-120"/>
              </a:rPr>
              <a:t>The Big Idea</a:t>
            </a:r>
            <a:endParaRPr lang="en-US" sz="2600" dirty="0"/>
          </a:p>
          <a:p>
            <a:pPr algn="l" indent="0" marL="0">
              <a:lnSpc>
                <a:spcPct val="108000"/>
              </a:lnSpc>
              <a:buNone/>
            </a:pPr>
            <a:r>
              <a:rPr lang="en-US" sz="2600" b="1" dirty="0">
                <a:solidFill>
                  <a:srgbClr val="EDF0E5"/>
                </a:solidFill>
                <a:latin typeface="Trade Gothic Next" pitchFamily="34" charset="0"/>
                <a:ea typeface="Trade Gothic Next" pitchFamily="34" charset="-122"/>
                <a:cs typeface="Trade Gothic Next" pitchFamily="34" charset="-120"/>
              </a:rPr>
              <a:t>Of This Section</a:t>
            </a:r>
            <a:endParaRPr lang="en-US" sz="2600" dirty="0"/>
          </a:p>
        </p:txBody>
      </p:sp>
      <p:sp>
        <p:nvSpPr>
          <p:cNvPr id="10" name="Text 5"/>
          <p:cNvSpPr txBox="1"/>
          <p:nvPr>
            <p:ph idx="108" type="body" hasCustomPrompt="1"/>
          </p:nvPr>
        </p:nvSpPr>
        <p:spPr>
          <a:xfrm>
            <a:off x="841248" y="3858768"/>
            <a:ext cx="3154680" cy="1097280"/>
          </a:xfrm>
          <a:prstGeom prst="rect">
            <a:avLst/>
          </a:prstGeom>
          <a:noFill/>
          <a:ln/>
        </p:spPr>
        <p:txBody>
          <a:bodyPr wrap="square" rtlCol="0"/>
          <a:lstStyle>
            <a:lvl1pPr indent="0" marL="0">
              <a:buNone/>
              <a:defRPr lang="en-US" sz="1600" dirty="0">
                <a:solidFill>
                  <a:srgbClr val="BDB6AA"/>
                </a:solidFill>
                <a:latin typeface="Trade Gothic Next" pitchFamily="34" charset="0"/>
                <a:ea typeface="Trade Gothic Next" pitchFamily="34" charset="-122"/>
                <a:cs typeface="Trade Gothic Next" pitchFamily="34" charset="-120"/>
              </a:defRPr>
            </a:lvl1pPr>
          </a:lstStyle>
          <a:p>
            <a:pPr indent="0" marL="0">
              <a:buNone/>
            </a:pPr>
            <a:r>
              <a:rPr lang="en-US" sz="1600" dirty="0">
                <a:solidFill>
                  <a:srgbClr val="BDB6AA"/>
                </a:solidFill>
                <a:latin typeface="Trade Gothic Next" pitchFamily="34" charset="0"/>
                <a:ea typeface="Trade Gothic Next" pitchFamily="34" charset="-122"/>
                <a:cs typeface="Trade Gothic Next" pitchFamily="34" charset="-120"/>
              </a:rPr>
              <a:t>Students see the story before the first bullet.</a:t>
            </a:r>
            <a:endParaRPr lang="en-US" sz="1600" dirty="0"/>
          </a:p>
        </p:txBody>
      </p:sp>
      <p:sp>
        <p:nvSpPr>
          <p:cNvPr id="11" name="Text 5"/>
          <p:cNvSpPr txBox="1"/>
          <p:nvPr/>
        </p:nvSpPr>
        <p:spPr>
          <a:xfrm>
            <a:off x="685800" y="6382512"/>
            <a:ext cx="3657600" cy="237744"/>
          </a:xfrm>
          <a:prstGeom prst="rect">
            <a:avLst/>
          </a:prstGeom>
          <a:noFill/>
          <a:ln/>
        </p:spPr>
        <p:txBody>
          <a:bodyPr wrap="square" lIns="0" tIns="0" rIns="0" bIns="0" rtlCol="0" anchor="ctr"/>
          <a:lstStyle/>
          <a:p>
            <a:pPr indent="0" marL="0">
              <a:buNone/>
            </a:pPr>
            <a:r>
              <a:rPr lang="en-US" sz="1000" b="1" spc="140" kern="0" dirty="0">
                <a:solidFill>
                  <a:srgbClr val="BDB6AA"/>
                </a:solidFill>
                <a:latin typeface="Trade Gothic Next" pitchFamily="34" charset="0"/>
                <a:ea typeface="Trade Gothic Next" pitchFamily="34" charset="-122"/>
                <a:cs typeface="Trade Gothic Next" pitchFamily="34" charset="-120"/>
              </a:rPr>
              <a:t>SHULL SCIENCE</a:t>
            </a:r>
            <a:endParaRPr lang="en-US" sz="1000" dirty="0"/>
          </a:p>
        </p:txBody>
      </p:sp>
      <p:sp>
        <p:nvSpPr>
          <p:cNvPr id="12" name="Text 6"/>
          <p:cNvSpPr txBox="1"/>
          <p:nvPr>
            <p:ph idx="110" type="body" hasCustomPrompt="1"/>
          </p:nvPr>
        </p:nvSpPr>
        <p:spPr>
          <a:xfrm>
            <a:off x="8762695" y="6382512"/>
            <a:ext cx="2743200" cy="237744"/>
          </a:xfrm>
          <a:prstGeom prst="rect">
            <a:avLst/>
          </a:prstGeom>
          <a:noFill/>
          <a:ln/>
        </p:spPr>
        <p:txBody>
          <a:bodyPr wrap="square" rtlCol="0"/>
          <a:lstStyle>
            <a:lvl1pPr algn="r" indent="0" marL="0">
              <a:buNone/>
              <a:defRPr lang="en-US" sz="1000" b="1" spc="140" kern="0" dirty="0">
                <a:solidFill>
                  <a:srgbClr val="BDB6AA"/>
                </a:solidFill>
                <a:latin typeface="Trade Gothic Next" pitchFamily="34" charset="0"/>
                <a:ea typeface="Trade Gothic Next" pitchFamily="34" charset="-122"/>
                <a:cs typeface="Trade Gothic Next" pitchFamily="34" charset="-120"/>
              </a:defRPr>
            </a:lvl1pPr>
          </a:lstStyle>
          <a:p>
            <a:pPr algn="r" indent="0" marL="0">
              <a:buNone/>
            </a:pPr>
            <a:r>
              <a:rPr lang="en-US" sz="1000" b="1" spc="140" kern="0" dirty="0">
                <a:solidFill>
                  <a:srgbClr val="BDB6AA"/>
                </a:solidFill>
                <a:latin typeface="Trade Gothic Next" pitchFamily="34" charset="0"/>
                <a:ea typeface="Trade Gothic Next" pitchFamily="34" charset="-122"/>
                <a:cs typeface="Trade Gothic Next" pitchFamily="34" charset="-120"/>
              </a:rPr>
              <a:t>U00 • S0.0</a:t>
            </a:r>
            <a:endParaRPr lang="en-US" sz="1000"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05_PROCESS_TIMELIN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p:spPr>
      </p:sp>
      <p:sp>
        <p:nvSpPr>
          <p:cNvPr id="3" name="Text 1"/>
          <p:cNvSpPr txBox="1"/>
          <p:nvPr>
            <p:ph idx="101" type="body" hasCustomPrompt="1"/>
          </p:nvPr>
        </p:nvSpPr>
        <p:spPr>
          <a:xfrm>
            <a:off x="685800" y="384048"/>
            <a:ext cx="6400800" cy="237744"/>
          </a:xfrm>
          <a:prstGeom prst="rect">
            <a:avLst/>
          </a:prstGeom>
          <a:noFill/>
          <a:ln/>
        </p:spPr>
        <p:txBody>
          <a:bodyPr wrap="square" rtlCol="0"/>
          <a:lstStyle>
            <a:lvl1pPr indent="0" marL="0">
              <a:buNone/>
              <a:defRPr lang="en-US" sz="1100" b="1" spc="160" kern="0" dirty="0">
                <a:solidFill>
                  <a:srgbClr val="14161B"/>
                </a:solidFill>
                <a:latin typeface="Trade Gothic Next" pitchFamily="34" charset="0"/>
                <a:ea typeface="Trade Gothic Next" pitchFamily="34" charset="-122"/>
                <a:cs typeface="Trade Gothic Next" pitchFamily="34" charset="-120"/>
              </a:defRPr>
            </a:lvl1pPr>
          </a:lstStyle>
          <a:p>
            <a:pPr indent="0" marL="0">
              <a:buNone/>
            </a:pPr>
            <a:r>
              <a:rPr lang="en-US" sz="1100" b="1" spc="160" kern="0" dirty="0">
                <a:solidFill>
                  <a:srgbClr val="14161B"/>
                </a:solidFill>
                <a:latin typeface="Trade Gothic Next" pitchFamily="34" charset="0"/>
                <a:ea typeface="Trade Gothic Next" pitchFamily="34" charset="-122"/>
                <a:cs typeface="Trade Gothic Next" pitchFamily="34" charset="-120"/>
              </a:rPr>
              <a:t>UNIT 00  •  CHEMISTRY</a:t>
            </a:r>
            <a:endParaRPr lang="en-US" sz="1100" dirty="0"/>
          </a:p>
        </p:txBody>
      </p:sp>
      <p:sp>
        <p:nvSpPr>
          <p:cNvPr id="4" name="Shape 1"/>
          <p:cNvSpPr/>
          <p:nvPr/>
        </p:nvSpPr>
        <p:spPr>
          <a:xfrm>
            <a:off x="685800" y="676656"/>
            <a:ext cx="1371600" cy="0"/>
          </a:xfrm>
          <a:prstGeom prst="line">
            <a:avLst/>
          </a:prstGeom>
          <a:noFill/>
          <a:ln w="22225">
            <a:solidFill>
              <a:srgbClr val="A3E635"/>
            </a:solidFill>
            <a:prstDash val="solid"/>
          </a:ln>
        </p:spPr>
      </p:sp>
      <p:sp>
        <p:nvSpPr>
          <p:cNvPr id="5" name="Text 2"/>
          <p:cNvSpPr txBox="1"/>
          <p:nvPr>
            <p:ph idx="103" type="title" hasCustomPrompt="1"/>
          </p:nvPr>
        </p:nvSpPr>
        <p:spPr>
          <a:xfrm>
            <a:off x="685800" y="932688"/>
            <a:ext cx="10820095" cy="868680"/>
          </a:xfrm>
          <a:prstGeom prst="rect">
            <a:avLst/>
          </a:prstGeom>
          <a:noFill/>
          <a:ln/>
        </p:spPr>
        <p:txBody>
          <a:bodyPr wrap="square" rtlCol="0"/>
          <a:lstStyle>
            <a:lvl1pPr algn="l" indent="0" marL="0">
              <a:buNone/>
              <a:defRPr lang="en-US" sz="2800" b="1" dirty="0">
                <a:solidFill>
                  <a:srgbClr val="14161B"/>
                </a:solidFill>
                <a:latin typeface="Trade Gothic Next" pitchFamily="34" charset="0"/>
                <a:ea typeface="Trade Gothic Next" pitchFamily="34" charset="-122"/>
                <a:cs typeface="Trade Gothic Next" pitchFamily="34" charset="-120"/>
              </a:defRPr>
            </a:lvl1pPr>
          </a:lstStyle>
          <a:p>
            <a:pPr algn="l" indent="0" marL="0">
              <a:buNone/>
            </a:pPr>
            <a:r>
              <a:rPr lang="en-US" sz="2800" b="1" dirty="0">
                <a:solidFill>
                  <a:srgbClr val="14161B"/>
                </a:solidFill>
                <a:latin typeface="Trade Gothic Next" pitchFamily="34" charset="0"/>
                <a:ea typeface="Trade Gothic Next" pitchFamily="34" charset="-122"/>
                <a:cs typeface="Trade Gothic Next" pitchFamily="34" charset="-120"/>
              </a:rPr>
              <a:t>Slide Headline Goes Here</a:t>
            </a:r>
            <a:endParaRPr lang="en-US" sz="2800" dirty="0"/>
          </a:p>
        </p:txBody>
      </p:sp>
      <p:sp>
        <p:nvSpPr>
          <p:cNvPr id="6" name="Text 2"/>
          <p:cNvSpPr txBox="1"/>
          <p:nvPr>
            <p:ph idx="104" type="body" hasCustomPrompt="1"/>
          </p:nvPr>
        </p:nvSpPr>
        <p:spPr>
          <a:xfrm>
            <a:off x="685800" y="1847088"/>
            <a:ext cx="10820095" cy="384048"/>
          </a:xfrm>
          <a:prstGeom prst="rect">
            <a:avLst/>
          </a:prstGeom>
          <a:noFill/>
          <a:ln/>
        </p:spPr>
        <p:txBody>
          <a:bodyPr wrap="square" rtlCol="0"/>
          <a:lstStyle>
            <a:lvl1pPr indent="0" marL="0">
              <a:buNone/>
              <a:defRPr lang="en-US" sz="1700" dirty="0">
                <a:solidFill>
                  <a:srgbClr val="2E3338"/>
                </a:solidFill>
                <a:latin typeface="Trade Gothic Next" pitchFamily="34" charset="0"/>
                <a:ea typeface="Trade Gothic Next" pitchFamily="34" charset="-122"/>
                <a:cs typeface="Trade Gothic Next" pitchFamily="34" charset="-120"/>
              </a:defRPr>
            </a:lvl1pPr>
          </a:lstStyle>
          <a:p>
            <a:pPr indent="0" marL="0">
              <a:buNone/>
            </a:pPr>
            <a:r>
              <a:rPr lang="en-US" sz="1700" dirty="0">
                <a:solidFill>
                  <a:srgbClr val="2E3338"/>
                </a:solidFill>
                <a:latin typeface="Trade Gothic Next" pitchFamily="34" charset="0"/>
                <a:ea typeface="Trade Gothic Next" pitchFamily="34" charset="-122"/>
                <a:cs typeface="Trade Gothic Next" pitchFamily="34" charset="-120"/>
              </a:rPr>
              <a:t>One line that frames what students should look for.</a:t>
            </a:r>
            <a:endParaRPr lang="en-US" sz="1700" dirty="0"/>
          </a:p>
        </p:txBody>
      </p:sp>
      <p:sp>
        <p:nvSpPr>
          <p:cNvPr id="7" name="Shape 2"/>
          <p:cNvSpPr/>
          <p:nvPr/>
        </p:nvSpPr>
        <p:spPr>
          <a:xfrm>
            <a:off x="685800" y="2395728"/>
            <a:ext cx="10820095" cy="2011680"/>
          </a:xfrm>
          <a:prstGeom prst="rect">
            <a:avLst/>
          </a:prstGeom>
          <a:solidFill>
            <a:srgbClr val="14161B"/>
          </a:solidFill>
          <a:ln/>
        </p:spPr>
      </p:sp>
      <p:sp>
        <p:nvSpPr>
          <p:cNvPr id="8" name="Shape 3"/>
          <p:cNvSpPr/>
          <p:nvPr/>
        </p:nvSpPr>
        <p:spPr>
          <a:xfrm>
            <a:off x="3246120" y="2487168"/>
            <a:ext cx="5669280" cy="1828800"/>
          </a:xfrm>
          <a:prstGeom prst="rect">
            <a:avLst/>
          </a:prstGeom>
          <a:solidFill>
            <a:srgbClr val="2E3338"/>
          </a:solidFill>
          <a:ln w="12700">
            <a:solidFill>
              <a:srgbClr val="BDB6AA"/>
            </a:solidFill>
            <a:prstDash val="dash"/>
          </a:ln>
        </p:spPr>
      </p:sp>
      <p:sp>
        <p:nvSpPr>
          <p:cNvPr id="9" name="Text 4"/>
          <p:cNvSpPr txBox="1"/>
          <p:nvPr>
            <p:ph idx="107" hasCustomPrompt="1"/>
          </p:nvPr>
        </p:nvSpPr>
        <p:spPr>
          <a:xfrm>
            <a:off x="3246120" y="2487168"/>
            <a:ext cx="5669280" cy="1828800"/>
          </a:xfrm>
          <a:prstGeom prst="rect">
            <a:avLst/>
          </a:prstGeom>
          <a:noFill/>
          <a:ln/>
        </p:spPr>
        <p:txBody>
          <a:bodyPr wrap="square" rtlCol="0"/>
          <a:lstStyle>
            <a:lvl1pPr algn="ctr" indent="0" marL="0">
              <a:buNone/>
              <a:defRPr lang="en-US" sz="1200" dirty="0">
                <a:solidFill>
                  <a:srgbClr val="BDB6AA"/>
                </a:solidFill>
                <a:latin typeface="Trade Gothic Next" pitchFamily="34" charset="0"/>
                <a:ea typeface="Trade Gothic Next" pitchFamily="34" charset="-122"/>
                <a:cs typeface="Trade Gothic Next" pitchFamily="34" charset="-120"/>
              </a:defRPr>
            </a:lvl1pPr>
          </a:lstStyle>
          <a:p>
            <a:pPr algn="ctr" indent="0" marL="0">
              <a:buNone/>
            </a:pPr>
            <a:r>
              <a:rPr lang="en-US" sz="1200" dirty="0">
                <a:solidFill>
                  <a:srgbClr val="BDB6AA"/>
                </a:solidFill>
                <a:latin typeface="Trade Gothic Next" pitchFamily="34" charset="0"/>
                <a:ea typeface="Trade Gothic Next" pitchFamily="34" charset="-122"/>
                <a:cs typeface="Trade Gothic Next" pitchFamily="34" charset="-120"/>
              </a:rPr>
              <a:t>PROCESS BAND  •  3:1  •  generate 16:9 and centre-crop</a:t>
            </a:r>
            <a:endParaRPr lang="en-US" sz="1200" dirty="0"/>
          </a:p>
        </p:txBody>
      </p:sp>
      <p:sp>
        <p:nvSpPr>
          <p:cNvPr id="10" name="Shape 4"/>
          <p:cNvSpPr/>
          <p:nvPr/>
        </p:nvSpPr>
        <p:spPr>
          <a:xfrm>
            <a:off x="685800" y="4617720"/>
            <a:ext cx="2615184" cy="1188720"/>
          </a:xfrm>
          <a:prstGeom prst="rect">
            <a:avLst/>
          </a:prstGeom>
          <a:solidFill>
            <a:srgbClr val="EDF0E5"/>
          </a:solidFill>
          <a:ln w="12700">
            <a:solidFill>
              <a:srgbClr val="C8CDC2"/>
            </a:solidFill>
            <a:prstDash val="solid"/>
          </a:ln>
        </p:spPr>
      </p:sp>
      <p:sp>
        <p:nvSpPr>
          <p:cNvPr id="11" name="Text 5"/>
          <p:cNvSpPr txBox="1"/>
          <p:nvPr/>
        </p:nvSpPr>
        <p:spPr>
          <a:xfrm>
            <a:off x="832104" y="4736592"/>
            <a:ext cx="365760" cy="347472"/>
          </a:xfrm>
          <a:prstGeom prst="rect">
            <a:avLst/>
          </a:prstGeom>
          <a:noFill/>
          <a:ln/>
        </p:spPr>
        <p:txBody>
          <a:bodyPr wrap="square" lIns="0" tIns="0" rIns="0" bIns="0" rtlCol="0" anchor="ctr"/>
          <a:lstStyle/>
          <a:p>
            <a:pPr algn="l" indent="0" marL="0">
              <a:buNone/>
            </a:pPr>
            <a:r>
              <a:rPr lang="en-US" sz="1300" b="1" dirty="0">
                <a:solidFill>
                  <a:srgbClr val="14161B"/>
                </a:solidFill>
                <a:latin typeface="Trade Gothic Next" pitchFamily="34" charset="0"/>
                <a:ea typeface="Trade Gothic Next" pitchFamily="34" charset="-122"/>
                <a:cs typeface="Trade Gothic Next" pitchFamily="34" charset="-120"/>
              </a:rPr>
              <a:t>1</a:t>
            </a:r>
            <a:endParaRPr lang="en-US" sz="1300" dirty="0"/>
          </a:p>
        </p:txBody>
      </p:sp>
      <p:sp>
        <p:nvSpPr>
          <p:cNvPr id="12" name="Text 6"/>
          <p:cNvSpPr txBox="1"/>
          <p:nvPr>
            <p:ph idx="110" type="body" hasCustomPrompt="1"/>
          </p:nvPr>
        </p:nvSpPr>
        <p:spPr>
          <a:xfrm>
            <a:off x="1234440" y="4754880"/>
            <a:ext cx="1920240" cy="274320"/>
          </a:xfrm>
          <a:prstGeom prst="rect">
            <a:avLst/>
          </a:prstGeom>
          <a:noFill/>
          <a:ln/>
        </p:spPr>
        <p:txBody>
          <a:bodyPr wrap="square" rtlCol="0"/>
          <a:lstStyle>
            <a:lvl1pPr indent="0" marL="0">
              <a:buNone/>
              <a:defRPr lang="en-US" sz="1200" b="1" dirty="0">
                <a:solidFill>
                  <a:srgbClr val="14161B"/>
                </a:solidFill>
                <a:latin typeface="Trade Gothic Next" pitchFamily="34" charset="0"/>
                <a:ea typeface="Trade Gothic Next" pitchFamily="34" charset="-122"/>
                <a:cs typeface="Trade Gothic Next" pitchFamily="34" charset="-120"/>
              </a:defRPr>
            </a:lvl1pPr>
          </a:lstStyle>
          <a:p>
            <a:pPr indent="0" marL="0">
              <a:buNone/>
            </a:pPr>
            <a:r>
              <a:rPr lang="en-US" sz="1200" b="1" dirty="0">
                <a:solidFill>
                  <a:srgbClr val="14161B"/>
                </a:solidFill>
                <a:latin typeface="Trade Gothic Next" pitchFamily="34" charset="0"/>
                <a:ea typeface="Trade Gothic Next" pitchFamily="34" charset="-122"/>
                <a:cs typeface="Trade Gothic Next" pitchFamily="34" charset="-120"/>
              </a:rPr>
              <a:t>Step 1</a:t>
            </a:r>
            <a:endParaRPr lang="en-US" sz="1200" dirty="0"/>
          </a:p>
        </p:txBody>
      </p:sp>
      <p:sp>
        <p:nvSpPr>
          <p:cNvPr id="13" name="Text 6"/>
          <p:cNvSpPr txBox="1"/>
          <p:nvPr>
            <p:ph idx="111" type="body" hasCustomPrompt="1"/>
          </p:nvPr>
        </p:nvSpPr>
        <p:spPr>
          <a:xfrm>
            <a:off x="832104" y="5120640"/>
            <a:ext cx="2322576" cy="566928"/>
          </a:xfrm>
          <a:prstGeom prst="rect">
            <a:avLst/>
          </a:prstGeom>
          <a:noFill/>
          <a:ln/>
        </p:spPr>
        <p:txBody>
          <a:bodyPr wrap="square" rtlCol="0"/>
          <a:lstStyle>
            <a:lvl1pPr indent="0" marL="0">
              <a:buNone/>
              <a:defRPr lang="en-US" sz="1600" dirty="0">
                <a:solidFill>
                  <a:srgbClr val="14161B"/>
                </a:solidFill>
                <a:latin typeface="Trade Gothic Next" pitchFamily="34" charset="0"/>
                <a:ea typeface="Trade Gothic Next" pitchFamily="34" charset="-122"/>
                <a:cs typeface="Trade Gothic Next" pitchFamily="34" charset="-120"/>
              </a:defRPr>
            </a:lvl1pPr>
          </a:lstStyle>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What changed, and why.</a:t>
            </a:r>
            <a:endParaRPr lang="en-US" sz="1600" dirty="0"/>
          </a:p>
        </p:txBody>
      </p:sp>
      <p:sp>
        <p:nvSpPr>
          <p:cNvPr id="14" name="Shape 6"/>
          <p:cNvSpPr/>
          <p:nvPr/>
        </p:nvSpPr>
        <p:spPr>
          <a:xfrm>
            <a:off x="3447288" y="4617720"/>
            <a:ext cx="2615184" cy="1188720"/>
          </a:xfrm>
          <a:prstGeom prst="rect">
            <a:avLst/>
          </a:prstGeom>
          <a:solidFill>
            <a:srgbClr val="EDF0E5"/>
          </a:solidFill>
          <a:ln w="12700">
            <a:solidFill>
              <a:srgbClr val="C8CDC2"/>
            </a:solidFill>
            <a:prstDash val="solid"/>
          </a:ln>
        </p:spPr>
      </p:sp>
      <p:sp>
        <p:nvSpPr>
          <p:cNvPr id="15" name="Text 7"/>
          <p:cNvSpPr txBox="1"/>
          <p:nvPr/>
        </p:nvSpPr>
        <p:spPr>
          <a:xfrm>
            <a:off x="3593592" y="4736592"/>
            <a:ext cx="365760" cy="347472"/>
          </a:xfrm>
          <a:prstGeom prst="rect">
            <a:avLst/>
          </a:prstGeom>
          <a:noFill/>
          <a:ln/>
        </p:spPr>
        <p:txBody>
          <a:bodyPr wrap="square" lIns="0" tIns="0" rIns="0" bIns="0" rtlCol="0" anchor="ctr"/>
          <a:lstStyle/>
          <a:p>
            <a:pPr algn="l" indent="0" marL="0">
              <a:buNone/>
            </a:pPr>
            <a:r>
              <a:rPr lang="en-US" sz="1300" b="1" dirty="0">
                <a:solidFill>
                  <a:srgbClr val="14161B"/>
                </a:solidFill>
                <a:latin typeface="Trade Gothic Next" pitchFamily="34" charset="0"/>
                <a:ea typeface="Trade Gothic Next" pitchFamily="34" charset="-122"/>
                <a:cs typeface="Trade Gothic Next" pitchFamily="34" charset="-120"/>
              </a:rPr>
              <a:t>2</a:t>
            </a:r>
            <a:endParaRPr lang="en-US" sz="1300" dirty="0"/>
          </a:p>
        </p:txBody>
      </p:sp>
      <p:sp>
        <p:nvSpPr>
          <p:cNvPr id="16" name="Text 8"/>
          <p:cNvSpPr txBox="1"/>
          <p:nvPr>
            <p:ph idx="114" type="body" hasCustomPrompt="1"/>
          </p:nvPr>
        </p:nvSpPr>
        <p:spPr>
          <a:xfrm>
            <a:off x="3995928" y="4754880"/>
            <a:ext cx="1920240" cy="274320"/>
          </a:xfrm>
          <a:prstGeom prst="rect">
            <a:avLst/>
          </a:prstGeom>
          <a:noFill/>
          <a:ln/>
        </p:spPr>
        <p:txBody>
          <a:bodyPr wrap="square" rtlCol="0"/>
          <a:lstStyle>
            <a:lvl1pPr indent="0" marL="0">
              <a:buNone/>
              <a:defRPr lang="en-US" sz="1200" b="1" dirty="0">
                <a:solidFill>
                  <a:srgbClr val="14161B"/>
                </a:solidFill>
                <a:latin typeface="Trade Gothic Next" pitchFamily="34" charset="0"/>
                <a:ea typeface="Trade Gothic Next" pitchFamily="34" charset="-122"/>
                <a:cs typeface="Trade Gothic Next" pitchFamily="34" charset="-120"/>
              </a:defRPr>
            </a:lvl1pPr>
          </a:lstStyle>
          <a:p>
            <a:pPr indent="0" marL="0">
              <a:buNone/>
            </a:pPr>
            <a:r>
              <a:rPr lang="en-US" sz="1200" b="1" dirty="0">
                <a:solidFill>
                  <a:srgbClr val="14161B"/>
                </a:solidFill>
                <a:latin typeface="Trade Gothic Next" pitchFamily="34" charset="0"/>
                <a:ea typeface="Trade Gothic Next" pitchFamily="34" charset="-122"/>
                <a:cs typeface="Trade Gothic Next" pitchFamily="34" charset="-120"/>
              </a:rPr>
              <a:t>Step 2</a:t>
            </a:r>
            <a:endParaRPr lang="en-US" sz="1200" dirty="0"/>
          </a:p>
        </p:txBody>
      </p:sp>
      <p:sp>
        <p:nvSpPr>
          <p:cNvPr id="17" name="Text 8"/>
          <p:cNvSpPr txBox="1"/>
          <p:nvPr>
            <p:ph idx="115" type="body" hasCustomPrompt="1"/>
          </p:nvPr>
        </p:nvSpPr>
        <p:spPr>
          <a:xfrm>
            <a:off x="3593592" y="5120640"/>
            <a:ext cx="2322576" cy="566928"/>
          </a:xfrm>
          <a:prstGeom prst="rect">
            <a:avLst/>
          </a:prstGeom>
          <a:noFill/>
          <a:ln/>
        </p:spPr>
        <p:txBody>
          <a:bodyPr wrap="square" rtlCol="0"/>
          <a:lstStyle>
            <a:lvl1pPr indent="0" marL="0">
              <a:buNone/>
              <a:defRPr lang="en-US" sz="1600" dirty="0">
                <a:solidFill>
                  <a:srgbClr val="14161B"/>
                </a:solidFill>
                <a:latin typeface="Trade Gothic Next" pitchFamily="34" charset="0"/>
                <a:ea typeface="Trade Gothic Next" pitchFamily="34" charset="-122"/>
                <a:cs typeface="Trade Gothic Next" pitchFamily="34" charset="-120"/>
              </a:defRPr>
            </a:lvl1pPr>
          </a:lstStyle>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What changed, and why.</a:t>
            </a:r>
            <a:endParaRPr lang="en-US" sz="1600" dirty="0"/>
          </a:p>
        </p:txBody>
      </p:sp>
      <p:sp>
        <p:nvSpPr>
          <p:cNvPr id="18" name="Shape 8"/>
          <p:cNvSpPr/>
          <p:nvPr/>
        </p:nvSpPr>
        <p:spPr>
          <a:xfrm>
            <a:off x="6208776" y="4617720"/>
            <a:ext cx="2615184" cy="1188720"/>
          </a:xfrm>
          <a:prstGeom prst="rect">
            <a:avLst/>
          </a:prstGeom>
          <a:solidFill>
            <a:srgbClr val="EDF0E5"/>
          </a:solidFill>
          <a:ln w="12700">
            <a:solidFill>
              <a:srgbClr val="C8CDC2"/>
            </a:solidFill>
            <a:prstDash val="solid"/>
          </a:ln>
        </p:spPr>
      </p:sp>
      <p:sp>
        <p:nvSpPr>
          <p:cNvPr id="19" name="Text 9"/>
          <p:cNvSpPr txBox="1"/>
          <p:nvPr/>
        </p:nvSpPr>
        <p:spPr>
          <a:xfrm>
            <a:off x="6355080" y="4736592"/>
            <a:ext cx="365760" cy="347472"/>
          </a:xfrm>
          <a:prstGeom prst="rect">
            <a:avLst/>
          </a:prstGeom>
          <a:noFill/>
          <a:ln/>
        </p:spPr>
        <p:txBody>
          <a:bodyPr wrap="square" lIns="0" tIns="0" rIns="0" bIns="0" rtlCol="0" anchor="ctr"/>
          <a:lstStyle/>
          <a:p>
            <a:pPr algn="l" indent="0" marL="0">
              <a:buNone/>
            </a:pPr>
            <a:r>
              <a:rPr lang="en-US" sz="1300" b="1" dirty="0">
                <a:solidFill>
                  <a:srgbClr val="14161B"/>
                </a:solidFill>
                <a:latin typeface="Trade Gothic Next" pitchFamily="34" charset="0"/>
                <a:ea typeface="Trade Gothic Next" pitchFamily="34" charset="-122"/>
                <a:cs typeface="Trade Gothic Next" pitchFamily="34" charset="-120"/>
              </a:rPr>
              <a:t>3</a:t>
            </a:r>
            <a:endParaRPr lang="en-US" sz="1300" dirty="0"/>
          </a:p>
        </p:txBody>
      </p:sp>
      <p:sp>
        <p:nvSpPr>
          <p:cNvPr id="20" name="Text 10"/>
          <p:cNvSpPr txBox="1"/>
          <p:nvPr>
            <p:ph idx="118" type="body" hasCustomPrompt="1"/>
          </p:nvPr>
        </p:nvSpPr>
        <p:spPr>
          <a:xfrm>
            <a:off x="6757416" y="4754880"/>
            <a:ext cx="1920240" cy="274320"/>
          </a:xfrm>
          <a:prstGeom prst="rect">
            <a:avLst/>
          </a:prstGeom>
          <a:noFill/>
          <a:ln/>
        </p:spPr>
        <p:txBody>
          <a:bodyPr wrap="square" rtlCol="0"/>
          <a:lstStyle>
            <a:lvl1pPr indent="0" marL="0">
              <a:buNone/>
              <a:defRPr lang="en-US" sz="1200" b="1" dirty="0">
                <a:solidFill>
                  <a:srgbClr val="14161B"/>
                </a:solidFill>
                <a:latin typeface="Trade Gothic Next" pitchFamily="34" charset="0"/>
                <a:ea typeface="Trade Gothic Next" pitchFamily="34" charset="-122"/>
                <a:cs typeface="Trade Gothic Next" pitchFamily="34" charset="-120"/>
              </a:defRPr>
            </a:lvl1pPr>
          </a:lstStyle>
          <a:p>
            <a:pPr indent="0" marL="0">
              <a:buNone/>
            </a:pPr>
            <a:r>
              <a:rPr lang="en-US" sz="1200" b="1" dirty="0">
                <a:solidFill>
                  <a:srgbClr val="14161B"/>
                </a:solidFill>
                <a:latin typeface="Trade Gothic Next" pitchFamily="34" charset="0"/>
                <a:ea typeface="Trade Gothic Next" pitchFamily="34" charset="-122"/>
                <a:cs typeface="Trade Gothic Next" pitchFamily="34" charset="-120"/>
              </a:rPr>
              <a:t>Step 3</a:t>
            </a:r>
            <a:endParaRPr lang="en-US" sz="1200" dirty="0"/>
          </a:p>
        </p:txBody>
      </p:sp>
      <p:sp>
        <p:nvSpPr>
          <p:cNvPr id="21" name="Text 10"/>
          <p:cNvSpPr txBox="1"/>
          <p:nvPr>
            <p:ph idx="119" type="body" hasCustomPrompt="1"/>
          </p:nvPr>
        </p:nvSpPr>
        <p:spPr>
          <a:xfrm>
            <a:off x="6355080" y="5120640"/>
            <a:ext cx="2322576" cy="566928"/>
          </a:xfrm>
          <a:prstGeom prst="rect">
            <a:avLst/>
          </a:prstGeom>
          <a:noFill/>
          <a:ln/>
        </p:spPr>
        <p:txBody>
          <a:bodyPr wrap="square" rtlCol="0"/>
          <a:lstStyle>
            <a:lvl1pPr indent="0" marL="0">
              <a:buNone/>
              <a:defRPr lang="en-US" sz="1600" dirty="0">
                <a:solidFill>
                  <a:srgbClr val="14161B"/>
                </a:solidFill>
                <a:latin typeface="Trade Gothic Next" pitchFamily="34" charset="0"/>
                <a:ea typeface="Trade Gothic Next" pitchFamily="34" charset="-122"/>
                <a:cs typeface="Trade Gothic Next" pitchFamily="34" charset="-120"/>
              </a:defRPr>
            </a:lvl1pPr>
          </a:lstStyle>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What changed, and why.</a:t>
            </a:r>
            <a:endParaRPr lang="en-US" sz="1600" dirty="0"/>
          </a:p>
        </p:txBody>
      </p:sp>
      <p:sp>
        <p:nvSpPr>
          <p:cNvPr id="22" name="Shape 10"/>
          <p:cNvSpPr/>
          <p:nvPr/>
        </p:nvSpPr>
        <p:spPr>
          <a:xfrm>
            <a:off x="8970264" y="4617720"/>
            <a:ext cx="2615184" cy="1188720"/>
          </a:xfrm>
          <a:prstGeom prst="rect">
            <a:avLst/>
          </a:prstGeom>
          <a:solidFill>
            <a:srgbClr val="EDF0E5"/>
          </a:solidFill>
          <a:ln w="12700">
            <a:solidFill>
              <a:srgbClr val="C8CDC2"/>
            </a:solidFill>
            <a:prstDash val="solid"/>
          </a:ln>
        </p:spPr>
      </p:sp>
      <p:sp>
        <p:nvSpPr>
          <p:cNvPr id="23" name="Text 11"/>
          <p:cNvSpPr txBox="1"/>
          <p:nvPr/>
        </p:nvSpPr>
        <p:spPr>
          <a:xfrm>
            <a:off x="9116568" y="4736592"/>
            <a:ext cx="365760" cy="347472"/>
          </a:xfrm>
          <a:prstGeom prst="rect">
            <a:avLst/>
          </a:prstGeom>
          <a:noFill/>
          <a:ln/>
        </p:spPr>
        <p:txBody>
          <a:bodyPr wrap="square" lIns="0" tIns="0" rIns="0" bIns="0" rtlCol="0" anchor="ctr"/>
          <a:lstStyle/>
          <a:p>
            <a:pPr algn="l" indent="0" marL="0">
              <a:buNone/>
            </a:pPr>
            <a:r>
              <a:rPr lang="en-US" sz="1300" b="1" dirty="0">
                <a:solidFill>
                  <a:srgbClr val="14161B"/>
                </a:solidFill>
                <a:latin typeface="Trade Gothic Next" pitchFamily="34" charset="0"/>
                <a:ea typeface="Trade Gothic Next" pitchFamily="34" charset="-122"/>
                <a:cs typeface="Trade Gothic Next" pitchFamily="34" charset="-120"/>
              </a:rPr>
              <a:t>4</a:t>
            </a:r>
            <a:endParaRPr lang="en-US" sz="1300" dirty="0"/>
          </a:p>
        </p:txBody>
      </p:sp>
      <p:sp>
        <p:nvSpPr>
          <p:cNvPr id="24" name="Text 12"/>
          <p:cNvSpPr txBox="1"/>
          <p:nvPr>
            <p:ph idx="122" type="body" hasCustomPrompt="1"/>
          </p:nvPr>
        </p:nvSpPr>
        <p:spPr>
          <a:xfrm>
            <a:off x="9518904" y="4754880"/>
            <a:ext cx="1920240" cy="274320"/>
          </a:xfrm>
          <a:prstGeom prst="rect">
            <a:avLst/>
          </a:prstGeom>
          <a:noFill/>
          <a:ln/>
        </p:spPr>
        <p:txBody>
          <a:bodyPr wrap="square" rtlCol="0"/>
          <a:lstStyle>
            <a:lvl1pPr indent="0" marL="0">
              <a:buNone/>
              <a:defRPr lang="en-US" sz="1200" b="1" dirty="0">
                <a:solidFill>
                  <a:srgbClr val="14161B"/>
                </a:solidFill>
                <a:latin typeface="Trade Gothic Next" pitchFamily="34" charset="0"/>
                <a:ea typeface="Trade Gothic Next" pitchFamily="34" charset="-122"/>
                <a:cs typeface="Trade Gothic Next" pitchFamily="34" charset="-120"/>
              </a:defRPr>
            </a:lvl1pPr>
          </a:lstStyle>
          <a:p>
            <a:pPr indent="0" marL="0">
              <a:buNone/>
            </a:pPr>
            <a:r>
              <a:rPr lang="en-US" sz="1200" b="1" dirty="0">
                <a:solidFill>
                  <a:srgbClr val="14161B"/>
                </a:solidFill>
                <a:latin typeface="Trade Gothic Next" pitchFamily="34" charset="0"/>
                <a:ea typeface="Trade Gothic Next" pitchFamily="34" charset="-122"/>
                <a:cs typeface="Trade Gothic Next" pitchFamily="34" charset="-120"/>
              </a:rPr>
              <a:t>Step 4</a:t>
            </a:r>
            <a:endParaRPr lang="en-US" sz="1200" dirty="0"/>
          </a:p>
        </p:txBody>
      </p:sp>
      <p:sp>
        <p:nvSpPr>
          <p:cNvPr id="25" name="Text 12"/>
          <p:cNvSpPr txBox="1"/>
          <p:nvPr>
            <p:ph idx="123" type="body" hasCustomPrompt="1"/>
          </p:nvPr>
        </p:nvSpPr>
        <p:spPr>
          <a:xfrm>
            <a:off x="9116568" y="5120640"/>
            <a:ext cx="2322576" cy="566928"/>
          </a:xfrm>
          <a:prstGeom prst="rect">
            <a:avLst/>
          </a:prstGeom>
          <a:noFill/>
          <a:ln/>
        </p:spPr>
        <p:txBody>
          <a:bodyPr wrap="square" rtlCol="0"/>
          <a:lstStyle>
            <a:lvl1pPr indent="0" marL="0">
              <a:buNone/>
              <a:defRPr lang="en-US" sz="1600" dirty="0">
                <a:solidFill>
                  <a:srgbClr val="14161B"/>
                </a:solidFill>
                <a:latin typeface="Trade Gothic Next" pitchFamily="34" charset="0"/>
                <a:ea typeface="Trade Gothic Next" pitchFamily="34" charset="-122"/>
                <a:cs typeface="Trade Gothic Next" pitchFamily="34" charset="-120"/>
              </a:defRPr>
            </a:lvl1pPr>
          </a:lstStyle>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What changed, and why.</a:t>
            </a:r>
            <a:endParaRPr lang="en-US" sz="1600" dirty="0"/>
          </a:p>
        </p:txBody>
      </p:sp>
      <p:sp>
        <p:nvSpPr>
          <p:cNvPr id="26" name="Text 12"/>
          <p:cNvSpPr txBox="1"/>
          <p:nvPr/>
        </p:nvSpPr>
        <p:spPr>
          <a:xfrm>
            <a:off x="685800" y="6382512"/>
            <a:ext cx="3657600" cy="237744"/>
          </a:xfrm>
          <a:prstGeom prst="rect">
            <a:avLst/>
          </a:prstGeom>
          <a:noFill/>
          <a:ln/>
        </p:spPr>
        <p:txBody>
          <a:bodyPr wrap="square" lIns="0" tIns="0" rIns="0" bIns="0" rtlCol="0" anchor="ctr"/>
          <a:lstStyle/>
          <a:p>
            <a:pPr indent="0" marL="0">
              <a:buNone/>
            </a:pPr>
            <a:r>
              <a:rPr lang="en-US" sz="1000" b="1" spc="140" kern="0" dirty="0">
                <a:solidFill>
                  <a:srgbClr val="2E3338"/>
                </a:solidFill>
                <a:latin typeface="Trade Gothic Next" pitchFamily="34" charset="0"/>
                <a:ea typeface="Trade Gothic Next" pitchFamily="34" charset="-122"/>
                <a:cs typeface="Trade Gothic Next" pitchFamily="34" charset="-120"/>
              </a:rPr>
              <a:t>SHULL SCIENCE</a:t>
            </a:r>
            <a:endParaRPr lang="en-US" sz="1000" dirty="0"/>
          </a:p>
        </p:txBody>
      </p:sp>
      <p:sp>
        <p:nvSpPr>
          <p:cNvPr id="27" name="Text 13"/>
          <p:cNvSpPr txBox="1"/>
          <p:nvPr>
            <p:ph idx="125" type="body" hasCustomPrompt="1"/>
          </p:nvPr>
        </p:nvSpPr>
        <p:spPr>
          <a:xfrm>
            <a:off x="8762695" y="6382512"/>
            <a:ext cx="2743200" cy="237744"/>
          </a:xfrm>
          <a:prstGeom prst="rect">
            <a:avLst/>
          </a:prstGeom>
          <a:noFill/>
          <a:ln/>
        </p:spPr>
        <p:txBody>
          <a:bodyPr wrap="square" rtlCol="0"/>
          <a:lstStyle>
            <a:lvl1pPr algn="r" indent="0" marL="0">
              <a:buNone/>
              <a:defRPr lang="en-US" sz="1000" b="1" spc="140" kern="0" dirty="0">
                <a:solidFill>
                  <a:srgbClr val="2E3338"/>
                </a:solidFill>
                <a:latin typeface="Trade Gothic Next" pitchFamily="34" charset="0"/>
                <a:ea typeface="Trade Gothic Next" pitchFamily="34" charset="-122"/>
                <a:cs typeface="Trade Gothic Next" pitchFamily="34" charset="-120"/>
              </a:defRPr>
            </a:lvl1pPr>
          </a:lstStyle>
          <a:p>
            <a:pPr algn="r" indent="0" marL="0">
              <a:buNone/>
            </a:pPr>
            <a:r>
              <a:rPr lang="en-US" sz="1000" b="1" spc="140" kern="0" dirty="0">
                <a:solidFill>
                  <a:srgbClr val="2E3338"/>
                </a:solidFill>
                <a:latin typeface="Trade Gothic Next" pitchFamily="34" charset="0"/>
                <a:ea typeface="Trade Gothic Next" pitchFamily="34" charset="-122"/>
                <a:cs typeface="Trade Gothic Next" pitchFamily="34" charset="-120"/>
              </a:rPr>
              <a:t>U00 • S0.0</a:t>
            </a:r>
            <a:endParaRPr lang="en-US" sz="1000"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06_CONCEPT_IMAGE">
    <p:bg>
      <p:bgPr>
        <a:solidFill>
          <a:srgbClr val="14161B"/>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4161B"/>
          </a:solidFill>
          <a:ln/>
        </p:spPr>
      </p:sp>
      <p:sp>
        <p:nvSpPr>
          <p:cNvPr id="3" name="Shape 1"/>
          <p:cNvSpPr/>
          <p:nvPr/>
        </p:nvSpPr>
        <p:spPr>
          <a:xfrm>
            <a:off x="0" y="0"/>
            <a:ext cx="164592" cy="6858000"/>
          </a:xfrm>
          <a:prstGeom prst="rect">
            <a:avLst/>
          </a:prstGeom>
          <a:solidFill>
            <a:srgbClr val="A3E635"/>
          </a:solidFill>
          <a:ln/>
        </p:spPr>
      </p:sp>
      <p:sp>
        <p:nvSpPr>
          <p:cNvPr id="4" name="Shape 2"/>
          <p:cNvSpPr/>
          <p:nvPr/>
        </p:nvSpPr>
        <p:spPr>
          <a:xfrm>
            <a:off x="6172200" y="868680"/>
            <a:ext cx="5349240" cy="4160520"/>
          </a:xfrm>
          <a:prstGeom prst="rect">
            <a:avLst/>
          </a:prstGeom>
          <a:solidFill>
            <a:srgbClr val="A3E635"/>
          </a:solidFill>
          <a:ln/>
        </p:spPr>
      </p:sp>
      <p:sp>
        <p:nvSpPr>
          <p:cNvPr id="5" name="Shape 3"/>
          <p:cNvSpPr/>
          <p:nvPr/>
        </p:nvSpPr>
        <p:spPr>
          <a:xfrm>
            <a:off x="6355080" y="1298448"/>
            <a:ext cx="4983480" cy="2798064"/>
          </a:xfrm>
          <a:prstGeom prst="rect">
            <a:avLst/>
          </a:prstGeom>
          <a:solidFill>
            <a:srgbClr val="EDF0E5"/>
          </a:solidFill>
          <a:ln w="12700">
            <a:solidFill>
              <a:srgbClr val="C8CDC2"/>
            </a:solidFill>
            <a:prstDash val="dash"/>
          </a:ln>
        </p:spPr>
      </p:sp>
      <p:sp>
        <p:nvSpPr>
          <p:cNvPr id="6" name="Text 4"/>
          <p:cNvSpPr txBox="1"/>
          <p:nvPr>
            <p:ph idx="104" hasCustomPrompt="1"/>
          </p:nvPr>
        </p:nvSpPr>
        <p:spPr>
          <a:xfrm>
            <a:off x="6355080" y="1298448"/>
            <a:ext cx="4983480" cy="2798064"/>
          </a:xfrm>
          <a:prstGeom prst="rect">
            <a:avLst/>
          </a:prstGeom>
          <a:noFill/>
          <a:ln/>
        </p:spPr>
        <p:txBody>
          <a:bodyPr wrap="square" rtlCol="0"/>
          <a:lstStyle>
            <a:lvl1pPr algn="ctr" indent="0" marL="0">
              <a:buNone/>
              <a:defRPr lang="en-US" sz="1200" dirty="0">
                <a:solidFill>
                  <a:srgbClr val="2E3338"/>
                </a:solidFill>
                <a:latin typeface="Trade Gothic Next" pitchFamily="34" charset="0"/>
                <a:ea typeface="Trade Gothic Next" pitchFamily="34" charset="-122"/>
                <a:cs typeface="Trade Gothic Next" pitchFamily="34" charset="-120"/>
              </a:defRPr>
            </a:lvl1pPr>
          </a:lstStyle>
          <a:p>
            <a:pPr algn="ctr" indent="0" marL="0">
              <a:buNone/>
            </a:pPr>
            <a:r>
              <a:rPr lang="en-US" sz="1200" dirty="0">
                <a:solidFill>
                  <a:srgbClr val="2E3338"/>
                </a:solidFill>
                <a:latin typeface="Trade Gothic Next" pitchFamily="34" charset="0"/>
                <a:ea typeface="Trade Gothic Next" pitchFamily="34" charset="-122"/>
                <a:cs typeface="Trade Gothic Next" pitchFamily="34" charset="-120"/>
              </a:rPr>
              <a:t>CONCEPT IMAGE  •  16:9</a:t>
            </a:r>
            <a:endParaRPr lang="en-US" sz="1200" dirty="0"/>
          </a:p>
        </p:txBody>
      </p:sp>
      <p:sp>
        <p:nvSpPr>
          <p:cNvPr id="7" name="Text 4"/>
          <p:cNvSpPr txBox="1"/>
          <p:nvPr>
            <p:ph idx="105" type="body" hasCustomPrompt="1"/>
          </p:nvPr>
        </p:nvSpPr>
        <p:spPr>
          <a:xfrm>
            <a:off x="685800" y="384048"/>
            <a:ext cx="6400800" cy="237744"/>
          </a:xfrm>
          <a:prstGeom prst="rect">
            <a:avLst/>
          </a:prstGeom>
          <a:noFill/>
          <a:ln/>
        </p:spPr>
        <p:txBody>
          <a:bodyPr wrap="square" rtlCol="0"/>
          <a:lstStyle>
            <a:lvl1pPr indent="0" marL="0">
              <a:buNone/>
              <a:defRPr lang="en-US" sz="1100" b="1" spc="160" kern="0" dirty="0">
                <a:solidFill>
                  <a:srgbClr val="EDF0E5"/>
                </a:solidFill>
                <a:latin typeface="Trade Gothic Next" pitchFamily="34" charset="0"/>
                <a:ea typeface="Trade Gothic Next" pitchFamily="34" charset="-122"/>
                <a:cs typeface="Trade Gothic Next" pitchFamily="34" charset="-120"/>
              </a:defRPr>
            </a:lvl1pPr>
          </a:lstStyle>
          <a:p>
            <a:pPr indent="0" marL="0">
              <a:buNone/>
            </a:pPr>
            <a:r>
              <a:rPr lang="en-US" sz="1100" b="1" spc="160" kern="0" dirty="0">
                <a:solidFill>
                  <a:srgbClr val="EDF0E5"/>
                </a:solidFill>
                <a:latin typeface="Trade Gothic Next" pitchFamily="34" charset="0"/>
                <a:ea typeface="Trade Gothic Next" pitchFamily="34" charset="-122"/>
                <a:cs typeface="Trade Gothic Next" pitchFamily="34" charset="-120"/>
              </a:rPr>
              <a:t>UNIT 00  •  CHEMISTRY</a:t>
            </a:r>
            <a:endParaRPr lang="en-US" sz="1100" dirty="0"/>
          </a:p>
        </p:txBody>
      </p:sp>
      <p:sp>
        <p:nvSpPr>
          <p:cNvPr id="8" name="Shape 4"/>
          <p:cNvSpPr/>
          <p:nvPr/>
        </p:nvSpPr>
        <p:spPr>
          <a:xfrm>
            <a:off x="685800" y="676656"/>
            <a:ext cx="1371600" cy="0"/>
          </a:xfrm>
          <a:prstGeom prst="line">
            <a:avLst/>
          </a:prstGeom>
          <a:noFill/>
          <a:ln w="22225">
            <a:solidFill>
              <a:srgbClr val="A3E635"/>
            </a:solidFill>
            <a:prstDash val="solid"/>
          </a:ln>
        </p:spPr>
      </p:sp>
      <p:sp>
        <p:nvSpPr>
          <p:cNvPr id="9" name="Text 5"/>
          <p:cNvSpPr txBox="1"/>
          <p:nvPr>
            <p:ph idx="107" type="title" hasCustomPrompt="1"/>
          </p:nvPr>
        </p:nvSpPr>
        <p:spPr>
          <a:xfrm>
            <a:off x="685800" y="1188720"/>
            <a:ext cx="4892040" cy="868680"/>
          </a:xfrm>
          <a:prstGeom prst="rect">
            <a:avLst/>
          </a:prstGeom>
          <a:noFill/>
          <a:ln/>
        </p:spPr>
        <p:txBody>
          <a:bodyPr wrap="square" rtlCol="0"/>
          <a:lstStyle>
            <a:lvl1pPr algn="l" indent="0" marL="0">
              <a:buNone/>
              <a:defRPr lang="en-US" sz="2800" b="1" dirty="0">
                <a:solidFill>
                  <a:srgbClr val="EDF0E5"/>
                </a:solidFill>
                <a:latin typeface="Trade Gothic Next" pitchFamily="34" charset="0"/>
                <a:ea typeface="Trade Gothic Next" pitchFamily="34" charset="-122"/>
                <a:cs typeface="Trade Gothic Next" pitchFamily="34" charset="-120"/>
              </a:defRPr>
            </a:lvl1pPr>
          </a:lstStyle>
          <a:p>
            <a:pPr algn="l" indent="0" marL="0">
              <a:buNone/>
            </a:pPr>
            <a:r>
              <a:rPr lang="en-US" sz="2800" b="1" dirty="0">
                <a:solidFill>
                  <a:srgbClr val="EDF0E5"/>
                </a:solidFill>
                <a:latin typeface="Trade Gothic Next" pitchFamily="34" charset="0"/>
                <a:ea typeface="Trade Gothic Next" pitchFamily="34" charset="-122"/>
                <a:cs typeface="Trade Gothic Next" pitchFamily="34" charset="-120"/>
              </a:rPr>
              <a:t>Concept Headline</a:t>
            </a:r>
            <a:endParaRPr lang="en-US" sz="2800" dirty="0"/>
          </a:p>
        </p:txBody>
      </p:sp>
      <p:sp>
        <p:nvSpPr>
          <p:cNvPr id="10" name="Text 5"/>
          <p:cNvSpPr txBox="1"/>
          <p:nvPr>
            <p:ph idx="108" type="body" hasCustomPrompt="1"/>
          </p:nvPr>
        </p:nvSpPr>
        <p:spPr>
          <a:xfrm>
            <a:off x="685800" y="2148840"/>
            <a:ext cx="4892040" cy="1005840"/>
          </a:xfrm>
          <a:prstGeom prst="rect">
            <a:avLst/>
          </a:prstGeom>
          <a:noFill/>
          <a:ln/>
        </p:spPr>
        <p:txBody>
          <a:bodyPr wrap="square" rtlCol="0"/>
          <a:lstStyle>
            <a:lvl1pPr indent="0" marL="0">
              <a:buNone/>
              <a:defRPr lang="en-US" sz="1600" dirty="0">
                <a:solidFill>
                  <a:srgbClr val="BDB6AA"/>
                </a:solidFill>
                <a:latin typeface="Trade Gothic Next" pitchFamily="34" charset="0"/>
                <a:ea typeface="Trade Gothic Next" pitchFamily="34" charset="-122"/>
                <a:cs typeface="Trade Gothic Next" pitchFamily="34" charset="-120"/>
              </a:defRPr>
            </a:lvl1pPr>
          </a:lstStyle>
          <a:p>
            <a:pPr indent="0" marL="0">
              <a:buNone/>
            </a:pPr>
            <a:r>
              <a:rPr lang="en-US" sz="1600" dirty="0">
                <a:solidFill>
                  <a:srgbClr val="BDB6AA"/>
                </a:solidFill>
                <a:latin typeface="Trade Gothic Next" pitchFamily="34" charset="0"/>
                <a:ea typeface="Trade Gothic Next" pitchFamily="34" charset="-122"/>
                <a:cs typeface="Trade Gothic Next" pitchFamily="34" charset="-120"/>
              </a:rPr>
              <a:t>Keep it to what the image cannot say on its own.</a:t>
            </a:r>
            <a:endParaRPr lang="en-US" sz="1600" dirty="0"/>
          </a:p>
        </p:txBody>
      </p:sp>
      <p:sp>
        <p:nvSpPr>
          <p:cNvPr id="11" name="Shape 5"/>
          <p:cNvSpPr/>
          <p:nvPr/>
        </p:nvSpPr>
        <p:spPr>
          <a:xfrm>
            <a:off x="685800" y="3520440"/>
            <a:ext cx="4892040" cy="1143000"/>
          </a:xfrm>
          <a:prstGeom prst="rect">
            <a:avLst/>
          </a:prstGeom>
          <a:solidFill>
            <a:srgbClr val="2E3338"/>
          </a:solidFill>
          <a:ln/>
        </p:spPr>
      </p:sp>
      <p:sp>
        <p:nvSpPr>
          <p:cNvPr id="12" name="Text 6"/>
          <p:cNvSpPr txBox="1"/>
          <p:nvPr/>
        </p:nvSpPr>
        <p:spPr>
          <a:xfrm>
            <a:off x="886968" y="3657600"/>
            <a:ext cx="2743200" cy="219456"/>
          </a:xfrm>
          <a:prstGeom prst="rect">
            <a:avLst/>
          </a:prstGeom>
          <a:noFill/>
          <a:ln/>
        </p:spPr>
        <p:txBody>
          <a:bodyPr wrap="square" lIns="0" tIns="0" rIns="0" bIns="0" rtlCol="0" anchor="ctr"/>
          <a:lstStyle/>
          <a:p>
            <a:pPr indent="0" marL="0">
              <a:buNone/>
            </a:pPr>
            <a:r>
              <a:rPr lang="en-US" sz="900" b="1" spc="140" kern="0" dirty="0">
                <a:solidFill>
                  <a:srgbClr val="BDB6AA"/>
                </a:solidFill>
                <a:latin typeface="Trade Gothic Next" pitchFamily="34" charset="0"/>
                <a:ea typeface="Trade Gothic Next" pitchFamily="34" charset="-122"/>
                <a:cs typeface="Trade Gothic Next" pitchFamily="34" charset="-120"/>
              </a:rPr>
              <a:t>KEY QUESTION</a:t>
            </a:r>
            <a:endParaRPr lang="en-US" sz="900" dirty="0"/>
          </a:p>
        </p:txBody>
      </p:sp>
      <p:sp>
        <p:nvSpPr>
          <p:cNvPr id="13" name="Text 7"/>
          <p:cNvSpPr txBox="1"/>
          <p:nvPr>
            <p:ph idx="111" type="body" hasCustomPrompt="1"/>
          </p:nvPr>
        </p:nvSpPr>
        <p:spPr>
          <a:xfrm>
            <a:off x="886968" y="3950208"/>
            <a:ext cx="4489704" cy="566928"/>
          </a:xfrm>
          <a:prstGeom prst="rect">
            <a:avLst/>
          </a:prstGeom>
          <a:noFill/>
          <a:ln/>
        </p:spPr>
        <p:txBody>
          <a:bodyPr wrap="square" rtlCol="0"/>
          <a:lstStyle>
            <a:lvl1pPr indent="0" marL="0">
              <a:buNone/>
              <a:defRPr lang="en-US" sz="1600" b="1" dirty="0">
                <a:solidFill>
                  <a:srgbClr val="EDF0E5"/>
                </a:solidFill>
                <a:latin typeface="Trade Gothic Next" pitchFamily="34" charset="0"/>
                <a:ea typeface="Trade Gothic Next" pitchFamily="34" charset="-122"/>
                <a:cs typeface="Trade Gothic Next" pitchFamily="34" charset="-120"/>
              </a:defRPr>
            </a:lvl1pPr>
          </a:lstStyle>
          <a:p>
            <a:pPr indent="0" marL="0">
              <a:buNone/>
            </a:pPr>
            <a:r>
              <a:rPr lang="en-US" sz="1600" b="1" dirty="0">
                <a:solidFill>
                  <a:srgbClr val="EDF0E5"/>
                </a:solidFill>
                <a:latin typeface="Trade Gothic Next" pitchFamily="34" charset="0"/>
                <a:ea typeface="Trade Gothic Next" pitchFamily="34" charset="-122"/>
                <a:cs typeface="Trade Gothic Next" pitchFamily="34" charset="-120"/>
              </a:rPr>
              <a:t>The one question this slide is asking.</a:t>
            </a:r>
            <a:endParaRPr lang="en-US" sz="1600" dirty="0"/>
          </a:p>
        </p:txBody>
      </p:sp>
      <p:sp>
        <p:nvSpPr>
          <p:cNvPr id="14" name="Text 7"/>
          <p:cNvSpPr txBox="1"/>
          <p:nvPr/>
        </p:nvSpPr>
        <p:spPr>
          <a:xfrm>
            <a:off x="685800" y="6382512"/>
            <a:ext cx="3657600" cy="237744"/>
          </a:xfrm>
          <a:prstGeom prst="rect">
            <a:avLst/>
          </a:prstGeom>
          <a:noFill/>
          <a:ln/>
        </p:spPr>
        <p:txBody>
          <a:bodyPr wrap="square" lIns="0" tIns="0" rIns="0" bIns="0" rtlCol="0" anchor="ctr"/>
          <a:lstStyle/>
          <a:p>
            <a:pPr indent="0" marL="0">
              <a:buNone/>
            </a:pPr>
            <a:r>
              <a:rPr lang="en-US" sz="1000" b="1" spc="140" kern="0" dirty="0">
                <a:solidFill>
                  <a:srgbClr val="BDB6AA"/>
                </a:solidFill>
                <a:latin typeface="Trade Gothic Next" pitchFamily="34" charset="0"/>
                <a:ea typeface="Trade Gothic Next" pitchFamily="34" charset="-122"/>
                <a:cs typeface="Trade Gothic Next" pitchFamily="34" charset="-120"/>
              </a:rPr>
              <a:t>SHULL SCIENCE</a:t>
            </a:r>
            <a:endParaRPr lang="en-US" sz="1000" dirty="0"/>
          </a:p>
        </p:txBody>
      </p:sp>
      <p:sp>
        <p:nvSpPr>
          <p:cNvPr id="15" name="Text 8"/>
          <p:cNvSpPr txBox="1"/>
          <p:nvPr>
            <p:ph idx="113" type="body" hasCustomPrompt="1"/>
          </p:nvPr>
        </p:nvSpPr>
        <p:spPr>
          <a:xfrm>
            <a:off x="8762695" y="6382512"/>
            <a:ext cx="2743200" cy="237744"/>
          </a:xfrm>
          <a:prstGeom prst="rect">
            <a:avLst/>
          </a:prstGeom>
          <a:noFill/>
          <a:ln/>
        </p:spPr>
        <p:txBody>
          <a:bodyPr wrap="square" rtlCol="0"/>
          <a:lstStyle>
            <a:lvl1pPr algn="r" indent="0" marL="0">
              <a:buNone/>
              <a:defRPr lang="en-US" sz="1000" b="1" spc="140" kern="0" dirty="0">
                <a:solidFill>
                  <a:srgbClr val="BDB6AA"/>
                </a:solidFill>
                <a:latin typeface="Trade Gothic Next" pitchFamily="34" charset="0"/>
                <a:ea typeface="Trade Gothic Next" pitchFamily="34" charset="-122"/>
                <a:cs typeface="Trade Gothic Next" pitchFamily="34" charset="-120"/>
              </a:defRPr>
            </a:lvl1pPr>
          </a:lstStyle>
          <a:p>
            <a:pPr algn="r" indent="0" marL="0">
              <a:buNone/>
            </a:pPr>
            <a:r>
              <a:rPr lang="en-US" sz="1000" b="1" spc="140" kern="0" dirty="0">
                <a:solidFill>
                  <a:srgbClr val="BDB6AA"/>
                </a:solidFill>
                <a:latin typeface="Trade Gothic Next" pitchFamily="34" charset="0"/>
                <a:ea typeface="Trade Gothic Next" pitchFamily="34" charset="-122"/>
                <a:cs typeface="Trade Gothic Next" pitchFamily="34" charset="-120"/>
              </a:rPr>
              <a:t>U00 • S0.0</a:t>
            </a:r>
            <a:endParaRPr lang="en-US" sz="1000"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07_COMPARISON_CARDS">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p:spPr>
      </p:sp>
      <p:sp>
        <p:nvSpPr>
          <p:cNvPr id="3" name="Text 1"/>
          <p:cNvSpPr txBox="1"/>
          <p:nvPr>
            <p:ph idx="101" type="body" hasCustomPrompt="1"/>
          </p:nvPr>
        </p:nvSpPr>
        <p:spPr>
          <a:xfrm>
            <a:off x="685800" y="384048"/>
            <a:ext cx="6400800" cy="237744"/>
          </a:xfrm>
          <a:prstGeom prst="rect">
            <a:avLst/>
          </a:prstGeom>
          <a:noFill/>
          <a:ln/>
        </p:spPr>
        <p:txBody>
          <a:bodyPr wrap="square" rtlCol="0"/>
          <a:lstStyle>
            <a:lvl1pPr indent="0" marL="0">
              <a:buNone/>
              <a:defRPr lang="en-US" sz="1100" b="1" spc="160" kern="0" dirty="0">
                <a:solidFill>
                  <a:srgbClr val="14161B"/>
                </a:solidFill>
                <a:latin typeface="Trade Gothic Next" pitchFamily="34" charset="0"/>
                <a:ea typeface="Trade Gothic Next" pitchFamily="34" charset="-122"/>
                <a:cs typeface="Trade Gothic Next" pitchFamily="34" charset="-120"/>
              </a:defRPr>
            </a:lvl1pPr>
          </a:lstStyle>
          <a:p>
            <a:pPr indent="0" marL="0">
              <a:buNone/>
            </a:pPr>
            <a:r>
              <a:rPr lang="en-US" sz="1100" b="1" spc="160" kern="0" dirty="0">
                <a:solidFill>
                  <a:srgbClr val="14161B"/>
                </a:solidFill>
                <a:latin typeface="Trade Gothic Next" pitchFamily="34" charset="0"/>
                <a:ea typeface="Trade Gothic Next" pitchFamily="34" charset="-122"/>
                <a:cs typeface="Trade Gothic Next" pitchFamily="34" charset="-120"/>
              </a:rPr>
              <a:t>UNIT 00  •  CHEMISTRY</a:t>
            </a:r>
            <a:endParaRPr lang="en-US" sz="1100" dirty="0"/>
          </a:p>
        </p:txBody>
      </p:sp>
      <p:sp>
        <p:nvSpPr>
          <p:cNvPr id="4" name="Shape 1"/>
          <p:cNvSpPr/>
          <p:nvPr/>
        </p:nvSpPr>
        <p:spPr>
          <a:xfrm>
            <a:off x="685800" y="676656"/>
            <a:ext cx="1371600" cy="0"/>
          </a:xfrm>
          <a:prstGeom prst="line">
            <a:avLst/>
          </a:prstGeom>
          <a:noFill/>
          <a:ln w="22225">
            <a:solidFill>
              <a:srgbClr val="A3E635"/>
            </a:solidFill>
            <a:prstDash val="solid"/>
          </a:ln>
        </p:spPr>
      </p:sp>
      <p:sp>
        <p:nvSpPr>
          <p:cNvPr id="5" name="Text 2"/>
          <p:cNvSpPr txBox="1"/>
          <p:nvPr>
            <p:ph idx="103" type="title" hasCustomPrompt="1"/>
          </p:nvPr>
        </p:nvSpPr>
        <p:spPr>
          <a:xfrm>
            <a:off x="685800" y="932688"/>
            <a:ext cx="7360920" cy="868680"/>
          </a:xfrm>
          <a:prstGeom prst="rect">
            <a:avLst/>
          </a:prstGeom>
          <a:noFill/>
          <a:ln/>
        </p:spPr>
        <p:txBody>
          <a:bodyPr wrap="square" rtlCol="0"/>
          <a:lstStyle>
            <a:lvl1pPr algn="l" indent="0" marL="0">
              <a:buNone/>
              <a:defRPr lang="en-US" sz="2800" b="1" dirty="0">
                <a:solidFill>
                  <a:srgbClr val="14161B"/>
                </a:solidFill>
                <a:latin typeface="Trade Gothic Next" pitchFamily="34" charset="0"/>
                <a:ea typeface="Trade Gothic Next" pitchFamily="34" charset="-122"/>
                <a:cs typeface="Trade Gothic Next" pitchFamily="34" charset="-120"/>
              </a:defRPr>
            </a:lvl1pPr>
          </a:lstStyle>
          <a:p>
            <a:pPr algn="l" indent="0" marL="0">
              <a:buNone/>
            </a:pPr>
            <a:r>
              <a:rPr lang="en-US" sz="2800" b="1" dirty="0">
                <a:solidFill>
                  <a:srgbClr val="14161B"/>
                </a:solidFill>
                <a:latin typeface="Trade Gothic Next" pitchFamily="34" charset="0"/>
                <a:ea typeface="Trade Gothic Next" pitchFamily="34" charset="-122"/>
                <a:cs typeface="Trade Gothic Next" pitchFamily="34" charset="-120"/>
              </a:rPr>
              <a:t>Slide Headline Goes Here</a:t>
            </a:r>
            <a:endParaRPr lang="en-US" sz="2800" dirty="0"/>
          </a:p>
        </p:txBody>
      </p:sp>
      <p:sp>
        <p:nvSpPr>
          <p:cNvPr id="6" name="Text 2"/>
          <p:cNvSpPr txBox="1"/>
          <p:nvPr>
            <p:ph idx="104" type="body" hasCustomPrompt="1"/>
          </p:nvPr>
        </p:nvSpPr>
        <p:spPr>
          <a:xfrm>
            <a:off x="685800" y="1847088"/>
            <a:ext cx="7360920" cy="384048"/>
          </a:xfrm>
          <a:prstGeom prst="rect">
            <a:avLst/>
          </a:prstGeom>
          <a:noFill/>
          <a:ln/>
        </p:spPr>
        <p:txBody>
          <a:bodyPr wrap="square" rtlCol="0"/>
          <a:lstStyle>
            <a:lvl1pPr indent="0" marL="0">
              <a:buNone/>
              <a:defRPr lang="en-US" sz="1700" dirty="0">
                <a:solidFill>
                  <a:srgbClr val="2E3338"/>
                </a:solidFill>
                <a:latin typeface="Trade Gothic Next" pitchFamily="34" charset="0"/>
                <a:ea typeface="Trade Gothic Next" pitchFamily="34" charset="-122"/>
                <a:cs typeface="Trade Gothic Next" pitchFamily="34" charset="-120"/>
              </a:defRPr>
            </a:lvl1pPr>
          </a:lstStyle>
          <a:p>
            <a:pPr indent="0" marL="0">
              <a:buNone/>
            </a:pPr>
            <a:r>
              <a:rPr lang="en-US" sz="1700" dirty="0">
                <a:solidFill>
                  <a:srgbClr val="2E3338"/>
                </a:solidFill>
                <a:latin typeface="Trade Gothic Next" pitchFamily="34" charset="0"/>
                <a:ea typeface="Trade Gothic Next" pitchFamily="34" charset="-122"/>
                <a:cs typeface="Trade Gothic Next" pitchFamily="34" charset="-120"/>
              </a:rPr>
              <a:t>One line that frames what students should look for.</a:t>
            </a:r>
            <a:endParaRPr lang="en-US" sz="1700" dirty="0"/>
          </a:p>
        </p:txBody>
      </p:sp>
      <p:sp>
        <p:nvSpPr>
          <p:cNvPr id="7" name="Shape 2"/>
          <p:cNvSpPr/>
          <p:nvPr/>
        </p:nvSpPr>
        <p:spPr>
          <a:xfrm>
            <a:off x="8412480" y="960120"/>
            <a:ext cx="3090672" cy="1737360"/>
          </a:xfrm>
          <a:prstGeom prst="rect">
            <a:avLst/>
          </a:prstGeom>
          <a:solidFill>
            <a:srgbClr val="A3E635"/>
          </a:solidFill>
          <a:ln/>
        </p:spPr>
      </p:sp>
      <p:sp>
        <p:nvSpPr>
          <p:cNvPr id="8" name="Shape 3"/>
          <p:cNvSpPr/>
          <p:nvPr/>
        </p:nvSpPr>
        <p:spPr>
          <a:xfrm>
            <a:off x="8641080" y="1088136"/>
            <a:ext cx="2633472" cy="1481328"/>
          </a:xfrm>
          <a:prstGeom prst="rect">
            <a:avLst/>
          </a:prstGeom>
          <a:solidFill>
            <a:srgbClr val="EDF0E5"/>
          </a:solidFill>
          <a:ln w="12700">
            <a:solidFill>
              <a:srgbClr val="C8CDC2"/>
            </a:solidFill>
            <a:prstDash val="dash"/>
          </a:ln>
        </p:spPr>
      </p:sp>
      <p:sp>
        <p:nvSpPr>
          <p:cNvPr id="9" name="Text 4"/>
          <p:cNvSpPr txBox="1"/>
          <p:nvPr>
            <p:ph idx="107" hasCustomPrompt="1"/>
          </p:nvPr>
        </p:nvSpPr>
        <p:spPr>
          <a:xfrm>
            <a:off x="8641080" y="1088136"/>
            <a:ext cx="2633472" cy="1481328"/>
          </a:xfrm>
          <a:prstGeom prst="rect">
            <a:avLst/>
          </a:prstGeom>
          <a:noFill/>
          <a:ln/>
        </p:spPr>
        <p:txBody>
          <a:bodyPr wrap="square" rtlCol="0"/>
          <a:lstStyle>
            <a:lvl1pPr algn="ctr" indent="0" marL="0">
              <a:buNone/>
              <a:defRPr lang="en-US" sz="1200" dirty="0">
                <a:solidFill>
                  <a:srgbClr val="2E3338"/>
                </a:solidFill>
                <a:latin typeface="Trade Gothic Next" pitchFamily="34" charset="0"/>
                <a:ea typeface="Trade Gothic Next" pitchFamily="34" charset="-122"/>
                <a:cs typeface="Trade Gothic Next" pitchFamily="34" charset="-120"/>
              </a:defRPr>
            </a:lvl1pPr>
          </a:lstStyle>
          <a:p>
            <a:pPr algn="ctr" indent="0" marL="0">
              <a:buNone/>
            </a:pPr>
            <a:r>
              <a:rPr lang="en-US" sz="1200" dirty="0">
                <a:solidFill>
                  <a:srgbClr val="2E3338"/>
                </a:solidFill>
                <a:latin typeface="Trade Gothic Next" pitchFamily="34" charset="0"/>
                <a:ea typeface="Trade Gothic Next" pitchFamily="34" charset="-122"/>
                <a:cs typeface="Trade Gothic Next" pitchFamily="34" charset="-120"/>
              </a:rPr>
              <a:t>SUPPORTING IMAGE</a:t>
            </a:r>
            <a:endParaRPr lang="en-US" sz="1200" dirty="0"/>
          </a:p>
        </p:txBody>
      </p:sp>
      <p:sp>
        <p:nvSpPr>
          <p:cNvPr id="10" name="Shape 4"/>
          <p:cNvSpPr/>
          <p:nvPr/>
        </p:nvSpPr>
        <p:spPr>
          <a:xfrm>
            <a:off x="685800" y="2788920"/>
            <a:ext cx="3401568" cy="2331720"/>
          </a:xfrm>
          <a:prstGeom prst="rect">
            <a:avLst/>
          </a:prstGeom>
          <a:solidFill>
            <a:srgbClr val="EDF0E5"/>
          </a:solidFill>
          <a:ln w="12700">
            <a:solidFill>
              <a:srgbClr val="C8CDC2"/>
            </a:solidFill>
            <a:prstDash val="solid"/>
          </a:ln>
        </p:spPr>
      </p:sp>
      <p:sp>
        <p:nvSpPr>
          <p:cNvPr id="11" name="Text 5"/>
          <p:cNvSpPr txBox="1"/>
          <p:nvPr>
            <p:ph idx="109" type="body" hasCustomPrompt="1"/>
          </p:nvPr>
        </p:nvSpPr>
        <p:spPr>
          <a:xfrm>
            <a:off x="886968" y="2953512"/>
            <a:ext cx="2999232" cy="219456"/>
          </a:xfrm>
          <a:prstGeom prst="rect">
            <a:avLst/>
          </a:prstGeom>
          <a:noFill/>
          <a:ln/>
        </p:spPr>
        <p:txBody>
          <a:bodyPr wrap="square" rtlCol="0"/>
          <a:lstStyle>
            <a:lvl1pPr indent="0" marL="0">
              <a:buNone/>
              <a:defRPr lang="en-US" sz="1200" b="1" spc="120" kern="0" dirty="0">
                <a:solidFill>
                  <a:srgbClr val="2E3338"/>
                </a:solidFill>
                <a:latin typeface="Trade Gothic Next" pitchFamily="34" charset="0"/>
                <a:ea typeface="Trade Gothic Next" pitchFamily="34" charset="-122"/>
                <a:cs typeface="Trade Gothic Next" pitchFamily="34" charset="-120"/>
              </a:defRPr>
            </a:lvl1pPr>
          </a:lstStyle>
          <a:p>
            <a:pPr indent="0" marL="0">
              <a:buNone/>
            </a:pPr>
            <a:r>
              <a:rPr lang="en-US" sz="1200" b="1" spc="120" kern="0" dirty="0">
                <a:solidFill>
                  <a:srgbClr val="2E3338"/>
                </a:solidFill>
                <a:latin typeface="Trade Gothic Next" pitchFamily="34" charset="0"/>
                <a:ea typeface="Trade Gothic Next" pitchFamily="34" charset="-122"/>
                <a:cs typeface="Trade Gothic Next" pitchFamily="34" charset="-120"/>
              </a:rPr>
              <a:t>ITEM ONE</a:t>
            </a:r>
            <a:endParaRPr lang="en-US" sz="1200" dirty="0"/>
          </a:p>
        </p:txBody>
      </p:sp>
      <p:sp>
        <p:nvSpPr>
          <p:cNvPr id="12" name="Text 5"/>
          <p:cNvSpPr txBox="1"/>
          <p:nvPr>
            <p:ph idx="110" type="body" hasCustomPrompt="1"/>
          </p:nvPr>
        </p:nvSpPr>
        <p:spPr>
          <a:xfrm>
            <a:off x="886968" y="3246120"/>
            <a:ext cx="2999232" cy="1673352"/>
          </a:xfrm>
          <a:prstGeom prst="rect">
            <a:avLst/>
          </a:prstGeom>
          <a:noFill/>
          <a:ln/>
        </p:spPr>
        <p:txBody>
          <a:bodyPr wrap="square" rtlCol="0"/>
          <a:lstStyle>
            <a:lvl1pPr indent="0" marL="0">
              <a:buNone/>
              <a:defRPr lang="en-US" sz="1600" dirty="0">
                <a:solidFill>
                  <a:srgbClr val="14161B"/>
                </a:solidFill>
                <a:latin typeface="Trade Gothic Next" pitchFamily="34" charset="0"/>
                <a:ea typeface="Trade Gothic Next" pitchFamily="34" charset="-122"/>
                <a:cs typeface="Trade Gothic Next" pitchFamily="34" charset="-120"/>
              </a:defRPr>
            </a:lvl1pPr>
          </a:lstStyle>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Three parallel items.</a:t>
            </a:r>
            <a:endParaRPr lang="en-US" sz="1600" dirty="0"/>
          </a:p>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One job each.</a:t>
            </a:r>
            <a:endParaRPr lang="en-US" sz="1600" dirty="0"/>
          </a:p>
        </p:txBody>
      </p:sp>
      <p:sp>
        <p:nvSpPr>
          <p:cNvPr id="13" name="Shape 5"/>
          <p:cNvSpPr/>
          <p:nvPr/>
        </p:nvSpPr>
        <p:spPr>
          <a:xfrm>
            <a:off x="4297680" y="2788920"/>
            <a:ext cx="3401568" cy="2331720"/>
          </a:xfrm>
          <a:prstGeom prst="rect">
            <a:avLst/>
          </a:prstGeom>
          <a:solidFill>
            <a:srgbClr val="EDF0E5"/>
          </a:solidFill>
          <a:ln w="12700">
            <a:solidFill>
              <a:srgbClr val="C8CDC2"/>
            </a:solidFill>
            <a:prstDash val="solid"/>
          </a:ln>
        </p:spPr>
      </p:sp>
      <p:sp>
        <p:nvSpPr>
          <p:cNvPr id="14" name="Text 6"/>
          <p:cNvSpPr txBox="1"/>
          <p:nvPr>
            <p:ph idx="112" type="body" hasCustomPrompt="1"/>
          </p:nvPr>
        </p:nvSpPr>
        <p:spPr>
          <a:xfrm>
            <a:off x="4498848" y="2953512"/>
            <a:ext cx="2999232" cy="219456"/>
          </a:xfrm>
          <a:prstGeom prst="rect">
            <a:avLst/>
          </a:prstGeom>
          <a:noFill/>
          <a:ln/>
        </p:spPr>
        <p:txBody>
          <a:bodyPr wrap="square" rtlCol="0"/>
          <a:lstStyle>
            <a:lvl1pPr indent="0" marL="0">
              <a:buNone/>
              <a:defRPr lang="en-US" sz="1200" b="1" spc="120" kern="0" dirty="0">
                <a:solidFill>
                  <a:srgbClr val="2E3338"/>
                </a:solidFill>
                <a:latin typeface="Trade Gothic Next" pitchFamily="34" charset="0"/>
                <a:ea typeface="Trade Gothic Next" pitchFamily="34" charset="-122"/>
                <a:cs typeface="Trade Gothic Next" pitchFamily="34" charset="-120"/>
              </a:defRPr>
            </a:lvl1pPr>
          </a:lstStyle>
          <a:p>
            <a:pPr indent="0" marL="0">
              <a:buNone/>
            </a:pPr>
            <a:r>
              <a:rPr lang="en-US" sz="1200" b="1" spc="120" kern="0" dirty="0">
                <a:solidFill>
                  <a:srgbClr val="2E3338"/>
                </a:solidFill>
                <a:latin typeface="Trade Gothic Next" pitchFamily="34" charset="0"/>
                <a:ea typeface="Trade Gothic Next" pitchFamily="34" charset="-122"/>
                <a:cs typeface="Trade Gothic Next" pitchFamily="34" charset="-120"/>
              </a:rPr>
              <a:t>ITEM TWO</a:t>
            </a:r>
            <a:endParaRPr lang="en-US" sz="1200" dirty="0"/>
          </a:p>
        </p:txBody>
      </p:sp>
      <p:sp>
        <p:nvSpPr>
          <p:cNvPr id="15" name="Text 6"/>
          <p:cNvSpPr txBox="1"/>
          <p:nvPr>
            <p:ph idx="113" type="body" hasCustomPrompt="1"/>
          </p:nvPr>
        </p:nvSpPr>
        <p:spPr>
          <a:xfrm>
            <a:off x="4498848" y="3246120"/>
            <a:ext cx="2999232" cy="1673352"/>
          </a:xfrm>
          <a:prstGeom prst="rect">
            <a:avLst/>
          </a:prstGeom>
          <a:noFill/>
          <a:ln/>
        </p:spPr>
        <p:txBody>
          <a:bodyPr wrap="square" rtlCol="0"/>
          <a:lstStyle>
            <a:lvl1pPr indent="0" marL="0">
              <a:buNone/>
              <a:defRPr lang="en-US" sz="1600" dirty="0">
                <a:solidFill>
                  <a:srgbClr val="14161B"/>
                </a:solidFill>
                <a:latin typeface="Trade Gothic Next" pitchFamily="34" charset="0"/>
                <a:ea typeface="Trade Gothic Next" pitchFamily="34" charset="-122"/>
                <a:cs typeface="Trade Gothic Next" pitchFamily="34" charset="-120"/>
              </a:defRPr>
            </a:lvl1pPr>
          </a:lstStyle>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Not a wall of bullets.</a:t>
            </a:r>
            <a:endParaRPr lang="en-US" sz="1600" dirty="0"/>
          </a:p>
        </p:txBody>
      </p:sp>
      <p:sp>
        <p:nvSpPr>
          <p:cNvPr id="16" name="Shape 6"/>
          <p:cNvSpPr/>
          <p:nvPr/>
        </p:nvSpPr>
        <p:spPr>
          <a:xfrm>
            <a:off x="7909560" y="2788920"/>
            <a:ext cx="3401568" cy="2331720"/>
          </a:xfrm>
          <a:prstGeom prst="rect">
            <a:avLst/>
          </a:prstGeom>
          <a:solidFill>
            <a:srgbClr val="EDF0E5"/>
          </a:solidFill>
          <a:ln w="12700">
            <a:solidFill>
              <a:srgbClr val="C8CDC2"/>
            </a:solidFill>
            <a:prstDash val="solid"/>
          </a:ln>
        </p:spPr>
      </p:sp>
      <p:sp>
        <p:nvSpPr>
          <p:cNvPr id="17" name="Text 7"/>
          <p:cNvSpPr txBox="1"/>
          <p:nvPr>
            <p:ph idx="115" type="body" hasCustomPrompt="1"/>
          </p:nvPr>
        </p:nvSpPr>
        <p:spPr>
          <a:xfrm>
            <a:off x="8110728" y="2953512"/>
            <a:ext cx="2999232" cy="219456"/>
          </a:xfrm>
          <a:prstGeom prst="rect">
            <a:avLst/>
          </a:prstGeom>
          <a:noFill/>
          <a:ln/>
        </p:spPr>
        <p:txBody>
          <a:bodyPr wrap="square" rtlCol="0"/>
          <a:lstStyle>
            <a:lvl1pPr indent="0" marL="0">
              <a:buNone/>
              <a:defRPr lang="en-US" sz="1200" b="1" spc="120" kern="0" dirty="0">
                <a:solidFill>
                  <a:srgbClr val="2E3338"/>
                </a:solidFill>
                <a:latin typeface="Trade Gothic Next" pitchFamily="34" charset="0"/>
                <a:ea typeface="Trade Gothic Next" pitchFamily="34" charset="-122"/>
                <a:cs typeface="Trade Gothic Next" pitchFamily="34" charset="-120"/>
              </a:defRPr>
            </a:lvl1pPr>
          </a:lstStyle>
          <a:p>
            <a:pPr indent="0" marL="0">
              <a:buNone/>
            </a:pPr>
            <a:r>
              <a:rPr lang="en-US" sz="1200" b="1" spc="120" kern="0" dirty="0">
                <a:solidFill>
                  <a:srgbClr val="2E3338"/>
                </a:solidFill>
                <a:latin typeface="Trade Gothic Next" pitchFamily="34" charset="0"/>
                <a:ea typeface="Trade Gothic Next" pitchFamily="34" charset="-122"/>
                <a:cs typeface="Trade Gothic Next" pitchFamily="34" charset="-120"/>
              </a:rPr>
              <a:t>ITEM THREE</a:t>
            </a:r>
            <a:endParaRPr lang="en-US" sz="1200" dirty="0"/>
          </a:p>
        </p:txBody>
      </p:sp>
      <p:sp>
        <p:nvSpPr>
          <p:cNvPr id="18" name="Text 7"/>
          <p:cNvSpPr txBox="1"/>
          <p:nvPr>
            <p:ph idx="116" type="body" hasCustomPrompt="1"/>
          </p:nvPr>
        </p:nvSpPr>
        <p:spPr>
          <a:xfrm>
            <a:off x="8110728" y="3246120"/>
            <a:ext cx="2999232" cy="1673352"/>
          </a:xfrm>
          <a:prstGeom prst="rect">
            <a:avLst/>
          </a:prstGeom>
          <a:noFill/>
          <a:ln/>
        </p:spPr>
        <p:txBody>
          <a:bodyPr wrap="square" rtlCol="0"/>
          <a:lstStyle>
            <a:lvl1pPr indent="0" marL="0">
              <a:buNone/>
              <a:defRPr lang="en-US" sz="1600" dirty="0">
                <a:solidFill>
                  <a:srgbClr val="14161B"/>
                </a:solidFill>
                <a:latin typeface="Trade Gothic Next" pitchFamily="34" charset="0"/>
                <a:ea typeface="Trade Gothic Next" pitchFamily="34" charset="-122"/>
                <a:cs typeface="Trade Gothic Next" pitchFamily="34" charset="-120"/>
              </a:defRPr>
            </a:lvl1pPr>
          </a:lstStyle>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The third parallel item.</a:t>
            </a:r>
            <a:endParaRPr lang="en-US" sz="1600" dirty="0"/>
          </a:p>
        </p:txBody>
      </p:sp>
      <p:sp>
        <p:nvSpPr>
          <p:cNvPr id="19" name="Shape 7"/>
          <p:cNvSpPr/>
          <p:nvPr/>
        </p:nvSpPr>
        <p:spPr>
          <a:xfrm>
            <a:off x="685800" y="5413248"/>
            <a:ext cx="10820095" cy="566928"/>
          </a:xfrm>
          <a:prstGeom prst="rect">
            <a:avLst/>
          </a:prstGeom>
          <a:solidFill>
            <a:srgbClr val="14161B"/>
          </a:solidFill>
          <a:ln/>
        </p:spPr>
      </p:sp>
      <p:sp>
        <p:nvSpPr>
          <p:cNvPr id="20" name="Text 8"/>
          <p:cNvSpPr txBox="1"/>
          <p:nvPr/>
        </p:nvSpPr>
        <p:spPr>
          <a:xfrm>
            <a:off x="886968" y="5468112"/>
            <a:ext cx="1188720" cy="201168"/>
          </a:xfrm>
          <a:prstGeom prst="rect">
            <a:avLst/>
          </a:prstGeom>
          <a:noFill/>
          <a:ln/>
        </p:spPr>
        <p:txBody>
          <a:bodyPr wrap="square" lIns="0" tIns="0" rIns="0" bIns="0" rtlCol="0" anchor="ctr"/>
          <a:lstStyle/>
          <a:p>
            <a:pPr indent="0" marL="0">
              <a:buNone/>
            </a:pPr>
            <a:r>
              <a:rPr lang="en-US" sz="900" b="1" spc="150" kern="0" dirty="0">
                <a:solidFill>
                  <a:srgbClr val="A3E635"/>
                </a:solidFill>
                <a:latin typeface="Trade Gothic Next" pitchFamily="34" charset="0"/>
                <a:ea typeface="Trade Gothic Next" pitchFamily="34" charset="-122"/>
                <a:cs typeface="Trade Gothic Next" pitchFamily="34" charset="-120"/>
              </a:rPr>
              <a:t>MUST WRITE</a:t>
            </a:r>
            <a:endParaRPr lang="en-US" sz="900" dirty="0"/>
          </a:p>
        </p:txBody>
      </p:sp>
      <p:sp>
        <p:nvSpPr>
          <p:cNvPr id="21" name="Text 9"/>
          <p:cNvSpPr txBox="1"/>
          <p:nvPr>
            <p:ph idx="119" type="body" hasCustomPrompt="1"/>
          </p:nvPr>
        </p:nvSpPr>
        <p:spPr>
          <a:xfrm>
            <a:off x="2240280" y="5486400"/>
            <a:ext cx="8991295" cy="402336"/>
          </a:xfrm>
          <a:prstGeom prst="rect">
            <a:avLst/>
          </a:prstGeom>
          <a:noFill/>
          <a:ln/>
        </p:spPr>
        <p:txBody>
          <a:bodyPr wrap="square" rtlCol="0"/>
          <a:lstStyle>
            <a:lvl1pPr indent="0" marL="0">
              <a:buNone/>
              <a:defRPr lang="en-US" sz="1600" b="1" dirty="0">
                <a:solidFill>
                  <a:srgbClr val="EDF0E5"/>
                </a:solidFill>
                <a:latin typeface="Trade Gothic Next" pitchFamily="34" charset="0"/>
                <a:ea typeface="Trade Gothic Next" pitchFamily="34" charset="-122"/>
                <a:cs typeface="Trade Gothic Next" pitchFamily="34" charset="-120"/>
              </a:defRPr>
            </a:lvl1pPr>
          </a:lstStyle>
          <a:p>
            <a:pPr indent="0" marL="0">
              <a:buNone/>
            </a:pPr>
            <a:r>
              <a:rPr lang="en-US" sz="1600" b="1" dirty="0">
                <a:solidFill>
                  <a:srgbClr val="EDF0E5"/>
                </a:solidFill>
                <a:latin typeface="Trade Gothic Next" pitchFamily="34" charset="0"/>
                <a:ea typeface="Trade Gothic Next" pitchFamily="34" charset="-122"/>
                <a:cs typeface="Trade Gothic Next" pitchFamily="34" charset="-120"/>
              </a:rPr>
              <a:t>The one sentence students copy down.</a:t>
            </a:r>
            <a:endParaRPr lang="en-US" sz="1600" dirty="0"/>
          </a:p>
        </p:txBody>
      </p:sp>
      <p:sp>
        <p:nvSpPr>
          <p:cNvPr id="22" name="Text 9"/>
          <p:cNvSpPr txBox="1"/>
          <p:nvPr/>
        </p:nvSpPr>
        <p:spPr>
          <a:xfrm>
            <a:off x="685800" y="6382512"/>
            <a:ext cx="3657600" cy="237744"/>
          </a:xfrm>
          <a:prstGeom prst="rect">
            <a:avLst/>
          </a:prstGeom>
          <a:noFill/>
          <a:ln/>
        </p:spPr>
        <p:txBody>
          <a:bodyPr wrap="square" lIns="0" tIns="0" rIns="0" bIns="0" rtlCol="0" anchor="ctr"/>
          <a:lstStyle/>
          <a:p>
            <a:pPr indent="0" marL="0">
              <a:buNone/>
            </a:pPr>
            <a:r>
              <a:rPr lang="en-US" sz="1000" b="1" spc="140" kern="0" dirty="0">
                <a:solidFill>
                  <a:srgbClr val="2E3338"/>
                </a:solidFill>
                <a:latin typeface="Trade Gothic Next" pitchFamily="34" charset="0"/>
                <a:ea typeface="Trade Gothic Next" pitchFamily="34" charset="-122"/>
                <a:cs typeface="Trade Gothic Next" pitchFamily="34" charset="-120"/>
              </a:rPr>
              <a:t>SHULL SCIENCE</a:t>
            </a:r>
            <a:endParaRPr lang="en-US" sz="1000" dirty="0"/>
          </a:p>
        </p:txBody>
      </p:sp>
      <p:sp>
        <p:nvSpPr>
          <p:cNvPr id="23" name="Text 10"/>
          <p:cNvSpPr txBox="1"/>
          <p:nvPr>
            <p:ph idx="121" type="body" hasCustomPrompt="1"/>
          </p:nvPr>
        </p:nvSpPr>
        <p:spPr>
          <a:xfrm>
            <a:off x="8762695" y="6382512"/>
            <a:ext cx="2743200" cy="237744"/>
          </a:xfrm>
          <a:prstGeom prst="rect">
            <a:avLst/>
          </a:prstGeom>
          <a:noFill/>
          <a:ln/>
        </p:spPr>
        <p:txBody>
          <a:bodyPr wrap="square" rtlCol="0"/>
          <a:lstStyle>
            <a:lvl1pPr algn="r" indent="0" marL="0">
              <a:buNone/>
              <a:defRPr lang="en-US" sz="1000" b="1" spc="140" kern="0" dirty="0">
                <a:solidFill>
                  <a:srgbClr val="2E3338"/>
                </a:solidFill>
                <a:latin typeface="Trade Gothic Next" pitchFamily="34" charset="0"/>
                <a:ea typeface="Trade Gothic Next" pitchFamily="34" charset="-122"/>
                <a:cs typeface="Trade Gothic Next" pitchFamily="34" charset="-120"/>
              </a:defRPr>
            </a:lvl1pPr>
          </a:lstStyle>
          <a:p>
            <a:pPr algn="r" indent="0" marL="0">
              <a:buNone/>
            </a:pPr>
            <a:r>
              <a:rPr lang="en-US" sz="1000" b="1" spc="140" kern="0" dirty="0">
                <a:solidFill>
                  <a:srgbClr val="2E3338"/>
                </a:solidFill>
                <a:latin typeface="Trade Gothic Next" pitchFamily="34" charset="0"/>
                <a:ea typeface="Trade Gothic Next" pitchFamily="34" charset="-122"/>
                <a:cs typeface="Trade Gothic Next" pitchFamily="34" charset="-120"/>
              </a:rPr>
              <a:t>U00 • S0.0</a:t>
            </a:r>
            <a:endParaRPr lang="en-US" sz="1000"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08_DIAGRAM_ANNOTATI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p:spPr>
      </p:sp>
      <p:sp>
        <p:nvSpPr>
          <p:cNvPr id="3" name="Text 1"/>
          <p:cNvSpPr txBox="1"/>
          <p:nvPr>
            <p:ph idx="101" type="body" hasCustomPrompt="1"/>
          </p:nvPr>
        </p:nvSpPr>
        <p:spPr>
          <a:xfrm>
            <a:off x="685800" y="384048"/>
            <a:ext cx="6400800" cy="237744"/>
          </a:xfrm>
          <a:prstGeom prst="rect">
            <a:avLst/>
          </a:prstGeom>
          <a:noFill/>
          <a:ln/>
        </p:spPr>
        <p:txBody>
          <a:bodyPr wrap="square" rtlCol="0"/>
          <a:lstStyle>
            <a:lvl1pPr indent="0" marL="0">
              <a:buNone/>
              <a:defRPr lang="en-US" sz="1100" b="1" spc="160" kern="0" dirty="0">
                <a:solidFill>
                  <a:srgbClr val="14161B"/>
                </a:solidFill>
                <a:latin typeface="Trade Gothic Next" pitchFamily="34" charset="0"/>
                <a:ea typeface="Trade Gothic Next" pitchFamily="34" charset="-122"/>
                <a:cs typeface="Trade Gothic Next" pitchFamily="34" charset="-120"/>
              </a:defRPr>
            </a:lvl1pPr>
          </a:lstStyle>
          <a:p>
            <a:pPr indent="0" marL="0">
              <a:buNone/>
            </a:pPr>
            <a:r>
              <a:rPr lang="en-US" sz="1100" b="1" spc="160" kern="0" dirty="0">
                <a:solidFill>
                  <a:srgbClr val="14161B"/>
                </a:solidFill>
                <a:latin typeface="Trade Gothic Next" pitchFamily="34" charset="0"/>
                <a:ea typeface="Trade Gothic Next" pitchFamily="34" charset="-122"/>
                <a:cs typeface="Trade Gothic Next" pitchFamily="34" charset="-120"/>
              </a:rPr>
              <a:t>UNIT 00  •  CHEMISTRY</a:t>
            </a:r>
            <a:endParaRPr lang="en-US" sz="1100" dirty="0"/>
          </a:p>
        </p:txBody>
      </p:sp>
      <p:sp>
        <p:nvSpPr>
          <p:cNvPr id="4" name="Shape 1"/>
          <p:cNvSpPr/>
          <p:nvPr/>
        </p:nvSpPr>
        <p:spPr>
          <a:xfrm>
            <a:off x="685800" y="676656"/>
            <a:ext cx="1371600" cy="0"/>
          </a:xfrm>
          <a:prstGeom prst="line">
            <a:avLst/>
          </a:prstGeom>
          <a:noFill/>
          <a:ln w="22225">
            <a:solidFill>
              <a:srgbClr val="A3E635"/>
            </a:solidFill>
            <a:prstDash val="solid"/>
          </a:ln>
        </p:spPr>
      </p:sp>
      <p:sp>
        <p:nvSpPr>
          <p:cNvPr id="5" name="Text 2"/>
          <p:cNvSpPr txBox="1"/>
          <p:nvPr>
            <p:ph idx="103" type="title" hasCustomPrompt="1"/>
          </p:nvPr>
        </p:nvSpPr>
        <p:spPr>
          <a:xfrm>
            <a:off x="685800" y="932688"/>
            <a:ext cx="10820095" cy="868680"/>
          </a:xfrm>
          <a:prstGeom prst="rect">
            <a:avLst/>
          </a:prstGeom>
          <a:noFill/>
          <a:ln/>
        </p:spPr>
        <p:txBody>
          <a:bodyPr wrap="square" rtlCol="0"/>
          <a:lstStyle>
            <a:lvl1pPr algn="l" indent="0" marL="0">
              <a:buNone/>
              <a:defRPr lang="en-US" sz="2800" b="1" dirty="0">
                <a:solidFill>
                  <a:srgbClr val="14161B"/>
                </a:solidFill>
                <a:latin typeface="Trade Gothic Next" pitchFamily="34" charset="0"/>
                <a:ea typeface="Trade Gothic Next" pitchFamily="34" charset="-122"/>
                <a:cs typeface="Trade Gothic Next" pitchFamily="34" charset="-120"/>
              </a:defRPr>
            </a:lvl1pPr>
          </a:lstStyle>
          <a:p>
            <a:pPr algn="l" indent="0" marL="0">
              <a:buNone/>
            </a:pPr>
            <a:r>
              <a:rPr lang="en-US" sz="2800" b="1" dirty="0">
                <a:solidFill>
                  <a:srgbClr val="14161B"/>
                </a:solidFill>
                <a:latin typeface="Trade Gothic Next" pitchFamily="34" charset="0"/>
                <a:ea typeface="Trade Gothic Next" pitchFamily="34" charset="-122"/>
                <a:cs typeface="Trade Gothic Next" pitchFamily="34" charset="-120"/>
              </a:rPr>
              <a:t>Slide Headline Goes Here</a:t>
            </a:r>
            <a:endParaRPr lang="en-US" sz="2800" dirty="0"/>
          </a:p>
        </p:txBody>
      </p:sp>
      <p:sp>
        <p:nvSpPr>
          <p:cNvPr id="6" name="Text 2"/>
          <p:cNvSpPr txBox="1"/>
          <p:nvPr>
            <p:ph idx="104" type="body" hasCustomPrompt="1"/>
          </p:nvPr>
        </p:nvSpPr>
        <p:spPr>
          <a:xfrm>
            <a:off x="685800" y="1847088"/>
            <a:ext cx="10820095" cy="384048"/>
          </a:xfrm>
          <a:prstGeom prst="rect">
            <a:avLst/>
          </a:prstGeom>
          <a:noFill/>
          <a:ln/>
        </p:spPr>
        <p:txBody>
          <a:bodyPr wrap="square" rtlCol="0"/>
          <a:lstStyle>
            <a:lvl1pPr indent="0" marL="0">
              <a:buNone/>
              <a:defRPr lang="en-US" sz="1700" dirty="0">
                <a:solidFill>
                  <a:srgbClr val="2E3338"/>
                </a:solidFill>
                <a:latin typeface="Trade Gothic Next" pitchFamily="34" charset="0"/>
                <a:ea typeface="Trade Gothic Next" pitchFamily="34" charset="-122"/>
                <a:cs typeface="Trade Gothic Next" pitchFamily="34" charset="-120"/>
              </a:defRPr>
            </a:lvl1pPr>
          </a:lstStyle>
          <a:p>
            <a:pPr indent="0" marL="0">
              <a:buNone/>
            </a:pPr>
            <a:r>
              <a:rPr lang="en-US" sz="1700" dirty="0">
                <a:solidFill>
                  <a:srgbClr val="2E3338"/>
                </a:solidFill>
                <a:latin typeface="Trade Gothic Next" pitchFamily="34" charset="0"/>
                <a:ea typeface="Trade Gothic Next" pitchFamily="34" charset="-122"/>
                <a:cs typeface="Trade Gothic Next" pitchFamily="34" charset="-120"/>
              </a:rPr>
              <a:t>One line that frames what students should look for.</a:t>
            </a:r>
            <a:endParaRPr lang="en-US" sz="1700" dirty="0"/>
          </a:p>
        </p:txBody>
      </p:sp>
      <p:sp>
        <p:nvSpPr>
          <p:cNvPr id="7" name="Shape 2"/>
          <p:cNvSpPr/>
          <p:nvPr/>
        </p:nvSpPr>
        <p:spPr>
          <a:xfrm>
            <a:off x="685800" y="2395728"/>
            <a:ext cx="5074920" cy="3246120"/>
          </a:xfrm>
          <a:prstGeom prst="rect">
            <a:avLst/>
          </a:prstGeom>
          <a:solidFill>
            <a:srgbClr val="EDF0E5"/>
          </a:solidFill>
          <a:ln w="12700">
            <a:solidFill>
              <a:srgbClr val="C8CDC2"/>
            </a:solidFill>
            <a:prstDash val="solid"/>
          </a:ln>
        </p:spPr>
      </p:sp>
      <p:sp>
        <p:nvSpPr>
          <p:cNvPr id="8" name="Text 3"/>
          <p:cNvSpPr txBox="1"/>
          <p:nvPr>
            <p:ph idx="106" type="body" hasCustomPrompt="1"/>
          </p:nvPr>
        </p:nvSpPr>
        <p:spPr>
          <a:xfrm>
            <a:off x="914400" y="2651760"/>
            <a:ext cx="4617720" cy="2743200"/>
          </a:xfrm>
          <a:prstGeom prst="rect">
            <a:avLst/>
          </a:prstGeom>
          <a:noFill/>
          <a:ln/>
        </p:spPr>
        <p:txBody>
          <a:bodyPr wrap="square" rtlCol="0"/>
          <a:lstStyle>
            <a:lvl1pPr algn="ctr" indent="0" marL="0">
              <a:buNone/>
              <a:defRPr lang="en-US" sz="2000" dirty="0">
                <a:solidFill>
                  <a:srgbClr val="2E3338"/>
                </a:solidFill>
                <a:latin typeface="Trade Gothic Next" pitchFamily="34" charset="0"/>
                <a:ea typeface="Trade Gothic Next" pitchFamily="34" charset="-122"/>
                <a:cs typeface="Trade Gothic Next" pitchFamily="34" charset="-120"/>
              </a:defRPr>
            </a:lvl1pPr>
          </a:lstStyle>
          <a:p>
            <a:pPr algn="ctr" indent="0" marL="0">
              <a:buNone/>
            </a:pPr>
            <a:r>
              <a:rPr lang="en-US" sz="2000" dirty="0">
                <a:solidFill>
                  <a:srgbClr val="2E3338"/>
                </a:solidFill>
                <a:latin typeface="Trade Gothic Next" pitchFamily="34" charset="0"/>
                <a:ea typeface="Trade Gothic Next" pitchFamily="34" charset="-122"/>
                <a:cs typeface="Trade Gothic Next" pitchFamily="34" charset="-120"/>
              </a:rPr>
              <a:t>Hand-built diagram here.</a:t>
            </a:r>
            <a:endParaRPr lang="en-US" sz="2000" dirty="0"/>
          </a:p>
          <a:p>
            <a:pPr algn="ctr" indent="0" marL="0">
              <a:buNone/>
            </a:pPr>
            <a:r>
              <a:rPr lang="en-US" sz="2000" dirty="0">
                <a:solidFill>
                  <a:srgbClr val="2E3338"/>
                </a:solidFill>
                <a:latin typeface="Trade Gothic Next" pitchFamily="34" charset="0"/>
                <a:ea typeface="Trade Gothic Next" pitchFamily="34" charset="-122"/>
                <a:cs typeface="Trade Gothic Next" pitchFamily="34" charset="-120"/>
              </a:rPr>
              <a:t>Anything with a number or a label is built, not generated.</a:t>
            </a:r>
            <a:endParaRPr lang="en-US" sz="2000" dirty="0"/>
          </a:p>
        </p:txBody>
      </p:sp>
      <p:sp>
        <p:nvSpPr>
          <p:cNvPr id="9" name="Shape 3"/>
          <p:cNvSpPr/>
          <p:nvPr/>
        </p:nvSpPr>
        <p:spPr>
          <a:xfrm>
            <a:off x="6126480" y="2395728"/>
            <a:ext cx="5532120" cy="987552"/>
          </a:xfrm>
          <a:prstGeom prst="rect">
            <a:avLst/>
          </a:prstGeom>
          <a:solidFill>
            <a:srgbClr val="EDF0E5"/>
          </a:solidFill>
          <a:ln w="12700">
            <a:solidFill>
              <a:srgbClr val="C8CDC2"/>
            </a:solidFill>
            <a:prstDash val="solid"/>
          </a:ln>
        </p:spPr>
      </p:sp>
      <p:sp>
        <p:nvSpPr>
          <p:cNvPr id="10" name="Text 4"/>
          <p:cNvSpPr txBox="1"/>
          <p:nvPr>
            <p:ph idx="108" type="body" hasCustomPrompt="1"/>
          </p:nvPr>
        </p:nvSpPr>
        <p:spPr>
          <a:xfrm>
            <a:off x="6327648" y="2560320"/>
            <a:ext cx="5129784" cy="219456"/>
          </a:xfrm>
          <a:prstGeom prst="rect">
            <a:avLst/>
          </a:prstGeom>
          <a:noFill/>
          <a:ln/>
        </p:spPr>
        <p:txBody>
          <a:bodyPr wrap="square" rtlCol="0"/>
          <a:lstStyle>
            <a:lvl1pPr indent="0" marL="0">
              <a:buNone/>
              <a:defRPr lang="en-US" sz="1200" b="1" spc="120" kern="0" dirty="0">
                <a:solidFill>
                  <a:srgbClr val="2E3338"/>
                </a:solidFill>
                <a:latin typeface="Trade Gothic Next" pitchFamily="34" charset="0"/>
                <a:ea typeface="Trade Gothic Next" pitchFamily="34" charset="-122"/>
                <a:cs typeface="Trade Gothic Next" pitchFamily="34" charset="-120"/>
              </a:defRPr>
            </a:lvl1pPr>
          </a:lstStyle>
          <a:p>
            <a:pPr indent="0" marL="0">
              <a:buNone/>
            </a:pPr>
            <a:r>
              <a:rPr lang="en-US" sz="1200" b="1" spc="120" kern="0" dirty="0">
                <a:solidFill>
                  <a:srgbClr val="2E3338"/>
                </a:solidFill>
                <a:latin typeface="Trade Gothic Next" pitchFamily="34" charset="0"/>
                <a:ea typeface="Trade Gothic Next" pitchFamily="34" charset="-122"/>
                <a:cs typeface="Trade Gothic Next" pitchFamily="34" charset="-120"/>
              </a:rPr>
              <a:t>LABEL ONE</a:t>
            </a:r>
            <a:endParaRPr lang="en-US" sz="1200" dirty="0"/>
          </a:p>
        </p:txBody>
      </p:sp>
      <p:sp>
        <p:nvSpPr>
          <p:cNvPr id="11" name="Text 4"/>
          <p:cNvSpPr txBox="1"/>
          <p:nvPr>
            <p:ph idx="109" type="body" hasCustomPrompt="1"/>
          </p:nvPr>
        </p:nvSpPr>
        <p:spPr>
          <a:xfrm>
            <a:off x="6327648" y="2852928"/>
            <a:ext cx="5129784" cy="329184"/>
          </a:xfrm>
          <a:prstGeom prst="rect">
            <a:avLst/>
          </a:prstGeom>
          <a:noFill/>
          <a:ln/>
        </p:spPr>
        <p:txBody>
          <a:bodyPr wrap="square" rtlCol="0"/>
          <a:lstStyle>
            <a:lvl1pPr indent="0" marL="0">
              <a:buNone/>
              <a:defRPr lang="en-US" sz="1600" dirty="0">
                <a:solidFill>
                  <a:srgbClr val="14161B"/>
                </a:solidFill>
                <a:latin typeface="Trade Gothic Next" pitchFamily="34" charset="0"/>
                <a:ea typeface="Trade Gothic Next" pitchFamily="34" charset="-122"/>
                <a:cs typeface="Trade Gothic Next" pitchFamily="34" charset="-120"/>
              </a:defRPr>
            </a:lvl1pPr>
          </a:lstStyle>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What this part of the diagram means.</a:t>
            </a:r>
            <a:endParaRPr lang="en-US" sz="1600" dirty="0"/>
          </a:p>
        </p:txBody>
      </p:sp>
      <p:sp>
        <p:nvSpPr>
          <p:cNvPr id="12" name="Shape 4"/>
          <p:cNvSpPr/>
          <p:nvPr/>
        </p:nvSpPr>
        <p:spPr>
          <a:xfrm>
            <a:off x="6126480" y="3529584"/>
            <a:ext cx="5532120" cy="987552"/>
          </a:xfrm>
          <a:prstGeom prst="rect">
            <a:avLst/>
          </a:prstGeom>
          <a:solidFill>
            <a:srgbClr val="EDF0E5"/>
          </a:solidFill>
          <a:ln w="12700">
            <a:solidFill>
              <a:srgbClr val="C8CDC2"/>
            </a:solidFill>
            <a:prstDash val="solid"/>
          </a:ln>
        </p:spPr>
      </p:sp>
      <p:sp>
        <p:nvSpPr>
          <p:cNvPr id="13" name="Text 5"/>
          <p:cNvSpPr txBox="1"/>
          <p:nvPr>
            <p:ph idx="111" type="body" hasCustomPrompt="1"/>
          </p:nvPr>
        </p:nvSpPr>
        <p:spPr>
          <a:xfrm>
            <a:off x="6327648" y="3694176"/>
            <a:ext cx="5129784" cy="219456"/>
          </a:xfrm>
          <a:prstGeom prst="rect">
            <a:avLst/>
          </a:prstGeom>
          <a:noFill/>
          <a:ln/>
        </p:spPr>
        <p:txBody>
          <a:bodyPr wrap="square" rtlCol="0"/>
          <a:lstStyle>
            <a:lvl1pPr indent="0" marL="0">
              <a:buNone/>
              <a:defRPr lang="en-US" sz="1200" b="1" spc="120" kern="0" dirty="0">
                <a:solidFill>
                  <a:srgbClr val="2E3338"/>
                </a:solidFill>
                <a:latin typeface="Trade Gothic Next" pitchFamily="34" charset="0"/>
                <a:ea typeface="Trade Gothic Next" pitchFamily="34" charset="-122"/>
                <a:cs typeface="Trade Gothic Next" pitchFamily="34" charset="-120"/>
              </a:defRPr>
            </a:lvl1pPr>
          </a:lstStyle>
          <a:p>
            <a:pPr indent="0" marL="0">
              <a:buNone/>
            </a:pPr>
            <a:r>
              <a:rPr lang="en-US" sz="1200" b="1" spc="120" kern="0" dirty="0">
                <a:solidFill>
                  <a:srgbClr val="2E3338"/>
                </a:solidFill>
                <a:latin typeface="Trade Gothic Next" pitchFamily="34" charset="0"/>
                <a:ea typeface="Trade Gothic Next" pitchFamily="34" charset="-122"/>
                <a:cs typeface="Trade Gothic Next" pitchFamily="34" charset="-120"/>
              </a:rPr>
              <a:t>LABEL TWO</a:t>
            </a:r>
            <a:endParaRPr lang="en-US" sz="1200" dirty="0"/>
          </a:p>
        </p:txBody>
      </p:sp>
      <p:sp>
        <p:nvSpPr>
          <p:cNvPr id="14" name="Text 5"/>
          <p:cNvSpPr txBox="1"/>
          <p:nvPr>
            <p:ph idx="112" type="body" hasCustomPrompt="1"/>
          </p:nvPr>
        </p:nvSpPr>
        <p:spPr>
          <a:xfrm>
            <a:off x="6327648" y="3986784"/>
            <a:ext cx="5129784" cy="329184"/>
          </a:xfrm>
          <a:prstGeom prst="rect">
            <a:avLst/>
          </a:prstGeom>
          <a:noFill/>
          <a:ln/>
        </p:spPr>
        <p:txBody>
          <a:bodyPr wrap="square" rtlCol="0"/>
          <a:lstStyle>
            <a:lvl1pPr indent="0" marL="0">
              <a:buNone/>
              <a:defRPr lang="en-US" sz="1600" dirty="0">
                <a:solidFill>
                  <a:srgbClr val="14161B"/>
                </a:solidFill>
                <a:latin typeface="Trade Gothic Next" pitchFamily="34" charset="0"/>
                <a:ea typeface="Trade Gothic Next" pitchFamily="34" charset="-122"/>
                <a:cs typeface="Trade Gothic Next" pitchFamily="34" charset="-120"/>
              </a:defRPr>
            </a:lvl1pPr>
          </a:lstStyle>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What this part of the diagram means.</a:t>
            </a:r>
            <a:endParaRPr lang="en-US" sz="1600" dirty="0"/>
          </a:p>
        </p:txBody>
      </p:sp>
      <p:sp>
        <p:nvSpPr>
          <p:cNvPr id="15" name="Shape 5"/>
          <p:cNvSpPr/>
          <p:nvPr/>
        </p:nvSpPr>
        <p:spPr>
          <a:xfrm>
            <a:off x="6126480" y="4663440"/>
            <a:ext cx="5532120" cy="978408"/>
          </a:xfrm>
          <a:prstGeom prst="rect">
            <a:avLst/>
          </a:prstGeom>
          <a:solidFill>
            <a:srgbClr val="EDF0E5"/>
          </a:solidFill>
          <a:ln w="12700">
            <a:solidFill>
              <a:srgbClr val="C8CDC2"/>
            </a:solidFill>
            <a:prstDash val="solid"/>
          </a:ln>
        </p:spPr>
      </p:sp>
      <p:sp>
        <p:nvSpPr>
          <p:cNvPr id="16" name="Text 6"/>
          <p:cNvSpPr txBox="1"/>
          <p:nvPr>
            <p:ph idx="114" type="body" hasCustomPrompt="1"/>
          </p:nvPr>
        </p:nvSpPr>
        <p:spPr>
          <a:xfrm>
            <a:off x="6327648" y="4828032"/>
            <a:ext cx="5129784" cy="219456"/>
          </a:xfrm>
          <a:prstGeom prst="rect">
            <a:avLst/>
          </a:prstGeom>
          <a:noFill/>
          <a:ln/>
        </p:spPr>
        <p:txBody>
          <a:bodyPr wrap="square" rtlCol="0"/>
          <a:lstStyle>
            <a:lvl1pPr indent="0" marL="0">
              <a:buNone/>
              <a:defRPr lang="en-US" sz="1200" b="1" spc="120" kern="0" dirty="0">
                <a:solidFill>
                  <a:srgbClr val="2E3338"/>
                </a:solidFill>
                <a:latin typeface="Trade Gothic Next" pitchFamily="34" charset="0"/>
                <a:ea typeface="Trade Gothic Next" pitchFamily="34" charset="-122"/>
                <a:cs typeface="Trade Gothic Next" pitchFamily="34" charset="-120"/>
              </a:defRPr>
            </a:lvl1pPr>
          </a:lstStyle>
          <a:p>
            <a:pPr indent="0" marL="0">
              <a:buNone/>
            </a:pPr>
            <a:r>
              <a:rPr lang="en-US" sz="1200" b="1" spc="120" kern="0" dirty="0">
                <a:solidFill>
                  <a:srgbClr val="2E3338"/>
                </a:solidFill>
                <a:latin typeface="Trade Gothic Next" pitchFamily="34" charset="0"/>
                <a:ea typeface="Trade Gothic Next" pitchFamily="34" charset="-122"/>
                <a:cs typeface="Trade Gothic Next" pitchFamily="34" charset="-120"/>
              </a:rPr>
              <a:t>LABEL THREE</a:t>
            </a:r>
            <a:endParaRPr lang="en-US" sz="1200" dirty="0"/>
          </a:p>
        </p:txBody>
      </p:sp>
      <p:sp>
        <p:nvSpPr>
          <p:cNvPr id="17" name="Text 6"/>
          <p:cNvSpPr txBox="1"/>
          <p:nvPr>
            <p:ph idx="115" type="body" hasCustomPrompt="1"/>
          </p:nvPr>
        </p:nvSpPr>
        <p:spPr>
          <a:xfrm>
            <a:off x="6327648" y="5120640"/>
            <a:ext cx="5129784" cy="320040"/>
          </a:xfrm>
          <a:prstGeom prst="rect">
            <a:avLst/>
          </a:prstGeom>
          <a:noFill/>
          <a:ln/>
        </p:spPr>
        <p:txBody>
          <a:bodyPr wrap="square" rtlCol="0"/>
          <a:lstStyle>
            <a:lvl1pPr indent="0" marL="0">
              <a:buNone/>
              <a:defRPr lang="en-US" sz="1600" dirty="0">
                <a:solidFill>
                  <a:srgbClr val="14161B"/>
                </a:solidFill>
                <a:latin typeface="Trade Gothic Next" pitchFamily="34" charset="0"/>
                <a:ea typeface="Trade Gothic Next" pitchFamily="34" charset="-122"/>
                <a:cs typeface="Trade Gothic Next" pitchFamily="34" charset="-120"/>
              </a:defRPr>
            </a:lvl1pPr>
          </a:lstStyle>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What this part of the diagram means.</a:t>
            </a:r>
            <a:endParaRPr lang="en-US" sz="1600" dirty="0"/>
          </a:p>
        </p:txBody>
      </p:sp>
      <p:sp>
        <p:nvSpPr>
          <p:cNvPr id="18" name="Text 6"/>
          <p:cNvSpPr txBox="1"/>
          <p:nvPr/>
        </p:nvSpPr>
        <p:spPr>
          <a:xfrm>
            <a:off x="685800" y="6382512"/>
            <a:ext cx="3657600" cy="237744"/>
          </a:xfrm>
          <a:prstGeom prst="rect">
            <a:avLst/>
          </a:prstGeom>
          <a:noFill/>
          <a:ln/>
        </p:spPr>
        <p:txBody>
          <a:bodyPr wrap="square" lIns="0" tIns="0" rIns="0" bIns="0" rtlCol="0" anchor="ctr"/>
          <a:lstStyle/>
          <a:p>
            <a:pPr indent="0" marL="0">
              <a:buNone/>
            </a:pPr>
            <a:r>
              <a:rPr lang="en-US" sz="1000" b="1" spc="140" kern="0" dirty="0">
                <a:solidFill>
                  <a:srgbClr val="2E3338"/>
                </a:solidFill>
                <a:latin typeface="Trade Gothic Next" pitchFamily="34" charset="0"/>
                <a:ea typeface="Trade Gothic Next" pitchFamily="34" charset="-122"/>
                <a:cs typeface="Trade Gothic Next" pitchFamily="34" charset="-120"/>
              </a:rPr>
              <a:t>SHULL SCIENCE</a:t>
            </a:r>
            <a:endParaRPr lang="en-US" sz="1000" dirty="0"/>
          </a:p>
        </p:txBody>
      </p:sp>
      <p:sp>
        <p:nvSpPr>
          <p:cNvPr id="19" name="Text 7"/>
          <p:cNvSpPr txBox="1"/>
          <p:nvPr>
            <p:ph idx="117" type="body" hasCustomPrompt="1"/>
          </p:nvPr>
        </p:nvSpPr>
        <p:spPr>
          <a:xfrm>
            <a:off x="8762695" y="6382512"/>
            <a:ext cx="2743200" cy="237744"/>
          </a:xfrm>
          <a:prstGeom prst="rect">
            <a:avLst/>
          </a:prstGeom>
          <a:noFill/>
          <a:ln/>
        </p:spPr>
        <p:txBody>
          <a:bodyPr wrap="square" rtlCol="0"/>
          <a:lstStyle>
            <a:lvl1pPr algn="r" indent="0" marL="0">
              <a:buNone/>
              <a:defRPr lang="en-US" sz="1000" b="1" spc="140" kern="0" dirty="0">
                <a:solidFill>
                  <a:srgbClr val="2E3338"/>
                </a:solidFill>
                <a:latin typeface="Trade Gothic Next" pitchFamily="34" charset="0"/>
                <a:ea typeface="Trade Gothic Next" pitchFamily="34" charset="-122"/>
                <a:cs typeface="Trade Gothic Next" pitchFamily="34" charset="-120"/>
              </a:defRPr>
            </a:lvl1pPr>
          </a:lstStyle>
          <a:p>
            <a:pPr algn="r" indent="0" marL="0">
              <a:buNone/>
            </a:pPr>
            <a:r>
              <a:rPr lang="en-US" sz="1000" b="1" spc="140" kern="0" dirty="0">
                <a:solidFill>
                  <a:srgbClr val="2E3338"/>
                </a:solidFill>
                <a:latin typeface="Trade Gothic Next" pitchFamily="34" charset="0"/>
                <a:ea typeface="Trade Gothic Next" pitchFamily="34" charset="-122"/>
                <a:cs typeface="Trade Gothic Next" pitchFamily="34" charset="-120"/>
              </a:rPr>
              <a:t>U00 • S0.0</a:t>
            </a:r>
            <a:endParaRPr lang="en-US" sz="1000"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09_EXAMPLE_PROBLEM">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p:spPr>
      </p:sp>
      <p:sp>
        <p:nvSpPr>
          <p:cNvPr id="3" name="Text 1"/>
          <p:cNvSpPr txBox="1"/>
          <p:nvPr>
            <p:ph idx="101" type="body" hasCustomPrompt="1"/>
          </p:nvPr>
        </p:nvSpPr>
        <p:spPr>
          <a:xfrm>
            <a:off x="685800" y="384048"/>
            <a:ext cx="6400800" cy="237744"/>
          </a:xfrm>
          <a:prstGeom prst="rect">
            <a:avLst/>
          </a:prstGeom>
          <a:noFill/>
          <a:ln/>
        </p:spPr>
        <p:txBody>
          <a:bodyPr wrap="square" rtlCol="0"/>
          <a:lstStyle>
            <a:lvl1pPr indent="0" marL="0">
              <a:buNone/>
              <a:defRPr lang="en-US" sz="1100" b="1" spc="160" kern="0" dirty="0">
                <a:solidFill>
                  <a:srgbClr val="14161B"/>
                </a:solidFill>
                <a:latin typeface="Trade Gothic Next" pitchFamily="34" charset="0"/>
                <a:ea typeface="Trade Gothic Next" pitchFamily="34" charset="-122"/>
                <a:cs typeface="Trade Gothic Next" pitchFamily="34" charset="-120"/>
              </a:defRPr>
            </a:lvl1pPr>
          </a:lstStyle>
          <a:p>
            <a:pPr indent="0" marL="0">
              <a:buNone/>
            </a:pPr>
            <a:r>
              <a:rPr lang="en-US" sz="1100" b="1" spc="160" kern="0" dirty="0">
                <a:solidFill>
                  <a:srgbClr val="14161B"/>
                </a:solidFill>
                <a:latin typeface="Trade Gothic Next" pitchFamily="34" charset="0"/>
                <a:ea typeface="Trade Gothic Next" pitchFamily="34" charset="-122"/>
                <a:cs typeface="Trade Gothic Next" pitchFamily="34" charset="-120"/>
              </a:rPr>
              <a:t>UNIT 00  •  CHEMISTRY</a:t>
            </a:r>
            <a:endParaRPr lang="en-US" sz="1100" dirty="0"/>
          </a:p>
        </p:txBody>
      </p:sp>
      <p:sp>
        <p:nvSpPr>
          <p:cNvPr id="4" name="Shape 1"/>
          <p:cNvSpPr/>
          <p:nvPr/>
        </p:nvSpPr>
        <p:spPr>
          <a:xfrm>
            <a:off x="685800" y="676656"/>
            <a:ext cx="1371600" cy="0"/>
          </a:xfrm>
          <a:prstGeom prst="line">
            <a:avLst/>
          </a:prstGeom>
          <a:noFill/>
          <a:ln w="22225">
            <a:solidFill>
              <a:srgbClr val="A3E635"/>
            </a:solidFill>
            <a:prstDash val="solid"/>
          </a:ln>
        </p:spPr>
      </p:sp>
      <p:sp>
        <p:nvSpPr>
          <p:cNvPr id="5" name="Text 2"/>
          <p:cNvSpPr txBox="1"/>
          <p:nvPr>
            <p:ph idx="103" type="title" hasCustomPrompt="1"/>
          </p:nvPr>
        </p:nvSpPr>
        <p:spPr>
          <a:xfrm>
            <a:off x="685800" y="932688"/>
            <a:ext cx="7863840" cy="868680"/>
          </a:xfrm>
          <a:prstGeom prst="rect">
            <a:avLst/>
          </a:prstGeom>
          <a:noFill/>
          <a:ln/>
        </p:spPr>
        <p:txBody>
          <a:bodyPr wrap="square" rtlCol="0"/>
          <a:lstStyle>
            <a:lvl1pPr algn="l" indent="0" marL="0">
              <a:buNone/>
              <a:defRPr lang="en-US" sz="2800" b="1" dirty="0">
                <a:solidFill>
                  <a:srgbClr val="14161B"/>
                </a:solidFill>
                <a:latin typeface="Trade Gothic Next" pitchFamily="34" charset="0"/>
                <a:ea typeface="Trade Gothic Next" pitchFamily="34" charset="-122"/>
                <a:cs typeface="Trade Gothic Next" pitchFamily="34" charset="-120"/>
              </a:defRPr>
            </a:lvl1pPr>
          </a:lstStyle>
          <a:p>
            <a:pPr algn="l" indent="0" marL="0">
              <a:buNone/>
            </a:pPr>
            <a:r>
              <a:rPr lang="en-US" sz="2800" b="1" dirty="0">
                <a:solidFill>
                  <a:srgbClr val="14161B"/>
                </a:solidFill>
                <a:latin typeface="Trade Gothic Next" pitchFamily="34" charset="0"/>
                <a:ea typeface="Trade Gothic Next" pitchFamily="34" charset="-122"/>
                <a:cs typeface="Trade Gothic Next" pitchFamily="34" charset="-120"/>
              </a:rPr>
              <a:t>Slide Headline Goes Here</a:t>
            </a:r>
            <a:endParaRPr lang="en-US" sz="2800" dirty="0"/>
          </a:p>
        </p:txBody>
      </p:sp>
      <p:sp>
        <p:nvSpPr>
          <p:cNvPr id="6" name="Text 2"/>
          <p:cNvSpPr txBox="1"/>
          <p:nvPr>
            <p:ph idx="104" type="body" hasCustomPrompt="1"/>
          </p:nvPr>
        </p:nvSpPr>
        <p:spPr>
          <a:xfrm>
            <a:off x="685800" y="1847088"/>
            <a:ext cx="7863840" cy="384048"/>
          </a:xfrm>
          <a:prstGeom prst="rect">
            <a:avLst/>
          </a:prstGeom>
          <a:noFill/>
          <a:ln/>
        </p:spPr>
        <p:txBody>
          <a:bodyPr wrap="square" rtlCol="0"/>
          <a:lstStyle>
            <a:lvl1pPr indent="0" marL="0">
              <a:buNone/>
              <a:defRPr lang="en-US" sz="1700" dirty="0">
                <a:solidFill>
                  <a:srgbClr val="2E3338"/>
                </a:solidFill>
                <a:latin typeface="Trade Gothic Next" pitchFamily="34" charset="0"/>
                <a:ea typeface="Trade Gothic Next" pitchFamily="34" charset="-122"/>
                <a:cs typeface="Trade Gothic Next" pitchFamily="34" charset="-120"/>
              </a:defRPr>
            </a:lvl1pPr>
          </a:lstStyle>
          <a:p>
            <a:pPr indent="0" marL="0">
              <a:buNone/>
            </a:pPr>
            <a:r>
              <a:rPr lang="en-US" sz="1700" dirty="0">
                <a:solidFill>
                  <a:srgbClr val="2E3338"/>
                </a:solidFill>
                <a:latin typeface="Trade Gothic Next" pitchFamily="34" charset="0"/>
                <a:ea typeface="Trade Gothic Next" pitchFamily="34" charset="-122"/>
                <a:cs typeface="Trade Gothic Next" pitchFamily="34" charset="-120"/>
              </a:rPr>
              <a:t>One line that frames what students should look for.</a:t>
            </a:r>
            <a:endParaRPr lang="en-US" sz="1700" dirty="0"/>
          </a:p>
        </p:txBody>
      </p:sp>
      <p:sp>
        <p:nvSpPr>
          <p:cNvPr id="7" name="Shape 2"/>
          <p:cNvSpPr/>
          <p:nvPr/>
        </p:nvSpPr>
        <p:spPr>
          <a:xfrm>
            <a:off x="8915400" y="960120"/>
            <a:ext cx="2587752" cy="1325880"/>
          </a:xfrm>
          <a:prstGeom prst="rect">
            <a:avLst/>
          </a:prstGeom>
          <a:solidFill>
            <a:srgbClr val="EDF0E5"/>
          </a:solidFill>
          <a:ln w="25400">
            <a:solidFill>
              <a:srgbClr val="A3E635"/>
            </a:solidFill>
            <a:prstDash val="solid"/>
          </a:ln>
        </p:spPr>
      </p:sp>
      <p:sp>
        <p:nvSpPr>
          <p:cNvPr id="8" name="Shape 3"/>
          <p:cNvSpPr/>
          <p:nvPr/>
        </p:nvSpPr>
        <p:spPr>
          <a:xfrm>
            <a:off x="9262872" y="1088136"/>
            <a:ext cx="1901952" cy="1069848"/>
          </a:xfrm>
          <a:prstGeom prst="rect">
            <a:avLst/>
          </a:prstGeom>
          <a:solidFill>
            <a:srgbClr val="EDF0E5"/>
          </a:solidFill>
          <a:ln w="12700">
            <a:solidFill>
              <a:srgbClr val="C8CDC2"/>
            </a:solidFill>
            <a:prstDash val="dash"/>
          </a:ln>
        </p:spPr>
      </p:sp>
      <p:sp>
        <p:nvSpPr>
          <p:cNvPr id="9" name="Text 4"/>
          <p:cNvSpPr txBox="1"/>
          <p:nvPr>
            <p:ph idx="107" hasCustomPrompt="1"/>
          </p:nvPr>
        </p:nvSpPr>
        <p:spPr>
          <a:xfrm>
            <a:off x="9262872" y="1088136"/>
            <a:ext cx="1901952" cy="1069848"/>
          </a:xfrm>
          <a:prstGeom prst="rect">
            <a:avLst/>
          </a:prstGeom>
          <a:noFill/>
          <a:ln/>
        </p:spPr>
        <p:txBody>
          <a:bodyPr wrap="square" rtlCol="0"/>
          <a:lstStyle>
            <a:lvl1pPr algn="ctr" indent="0" marL="0">
              <a:buNone/>
              <a:defRPr lang="en-US" sz="1200" dirty="0">
                <a:solidFill>
                  <a:srgbClr val="2E3338"/>
                </a:solidFill>
                <a:latin typeface="Trade Gothic Next" pitchFamily="34" charset="0"/>
                <a:ea typeface="Trade Gothic Next" pitchFamily="34" charset="-122"/>
                <a:cs typeface="Trade Gothic Next" pitchFamily="34" charset="-120"/>
              </a:defRPr>
            </a:lvl1pPr>
          </a:lstStyle>
          <a:p>
            <a:pPr algn="ctr" indent="0" marL="0">
              <a:buNone/>
            </a:pPr>
            <a:r>
              <a:rPr lang="en-US" sz="1200" dirty="0">
                <a:solidFill>
                  <a:srgbClr val="2E3338"/>
                </a:solidFill>
                <a:latin typeface="Trade Gothic Next" pitchFamily="34" charset="0"/>
                <a:ea typeface="Trade Gothic Next" pitchFamily="34" charset="-122"/>
                <a:cs typeface="Trade Gothic Next" pitchFamily="34" charset="-120"/>
              </a:rPr>
              <a:t>SUPPORTING IMAGE</a:t>
            </a:r>
            <a:endParaRPr lang="en-US" sz="1200" dirty="0"/>
          </a:p>
        </p:txBody>
      </p:sp>
      <p:sp>
        <p:nvSpPr>
          <p:cNvPr id="10" name="Shape 4"/>
          <p:cNvSpPr/>
          <p:nvPr/>
        </p:nvSpPr>
        <p:spPr>
          <a:xfrm>
            <a:off x="685800" y="2395728"/>
            <a:ext cx="5394960" cy="1051560"/>
          </a:xfrm>
          <a:prstGeom prst="rect">
            <a:avLst/>
          </a:prstGeom>
          <a:solidFill>
            <a:srgbClr val="2E3338"/>
          </a:solidFill>
          <a:ln/>
        </p:spPr>
      </p:sp>
      <p:sp>
        <p:nvSpPr>
          <p:cNvPr id="11" name="Text 5"/>
          <p:cNvSpPr txBox="1"/>
          <p:nvPr/>
        </p:nvSpPr>
        <p:spPr>
          <a:xfrm>
            <a:off x="886968" y="2523744"/>
            <a:ext cx="1828800" cy="219456"/>
          </a:xfrm>
          <a:prstGeom prst="rect">
            <a:avLst/>
          </a:prstGeom>
          <a:noFill/>
          <a:ln/>
        </p:spPr>
        <p:txBody>
          <a:bodyPr wrap="square" lIns="0" tIns="0" rIns="0" bIns="0" rtlCol="0" anchor="ctr"/>
          <a:lstStyle/>
          <a:p>
            <a:pPr indent="0" marL="0">
              <a:buNone/>
            </a:pPr>
            <a:r>
              <a:rPr lang="en-US" sz="900" b="1" spc="140" kern="0" dirty="0">
                <a:solidFill>
                  <a:srgbClr val="A3E635"/>
                </a:solidFill>
                <a:latin typeface="Trade Gothic Next" pitchFamily="34" charset="0"/>
                <a:ea typeface="Trade Gothic Next" pitchFamily="34" charset="-122"/>
                <a:cs typeface="Trade Gothic Next" pitchFamily="34" charset="-120"/>
              </a:rPr>
              <a:t>PROBLEM</a:t>
            </a:r>
            <a:endParaRPr lang="en-US" sz="900" dirty="0"/>
          </a:p>
        </p:txBody>
      </p:sp>
      <p:sp>
        <p:nvSpPr>
          <p:cNvPr id="12" name="Text 6"/>
          <p:cNvSpPr txBox="1"/>
          <p:nvPr>
            <p:ph idx="110" type="body" hasCustomPrompt="1"/>
          </p:nvPr>
        </p:nvSpPr>
        <p:spPr>
          <a:xfrm>
            <a:off x="886968" y="2798064"/>
            <a:ext cx="4992624" cy="548640"/>
          </a:xfrm>
          <a:prstGeom prst="rect">
            <a:avLst/>
          </a:prstGeom>
          <a:noFill/>
          <a:ln/>
        </p:spPr>
        <p:txBody>
          <a:bodyPr wrap="square" rtlCol="0"/>
          <a:lstStyle>
            <a:lvl1pPr indent="0" marL="0">
              <a:buNone/>
              <a:defRPr lang="en-US" sz="1600" dirty="0">
                <a:solidFill>
                  <a:srgbClr val="EDF0E5"/>
                </a:solidFill>
                <a:latin typeface="Trade Gothic Next" pitchFamily="34" charset="0"/>
                <a:ea typeface="Trade Gothic Next" pitchFamily="34" charset="-122"/>
                <a:cs typeface="Trade Gothic Next" pitchFamily="34" charset="-120"/>
              </a:defRPr>
            </a:lvl1pPr>
          </a:lstStyle>
          <a:p>
            <a:pPr indent="0" marL="0">
              <a:buNone/>
            </a:pPr>
            <a:r>
              <a:rPr lang="en-US" sz="1600" dirty="0">
                <a:solidFill>
                  <a:srgbClr val="EDF0E5"/>
                </a:solidFill>
                <a:latin typeface="Trade Gothic Next" pitchFamily="34" charset="0"/>
                <a:ea typeface="Trade Gothic Next" pitchFamily="34" charset="-122"/>
                <a:cs typeface="Trade Gothic Next" pitchFamily="34" charset="-120"/>
              </a:rPr>
              <a:t>State the problem in one sentence.</a:t>
            </a:r>
            <a:endParaRPr lang="en-US" sz="1600" dirty="0"/>
          </a:p>
        </p:txBody>
      </p:sp>
      <p:sp>
        <p:nvSpPr>
          <p:cNvPr id="13" name="Shape 6"/>
          <p:cNvSpPr/>
          <p:nvPr/>
        </p:nvSpPr>
        <p:spPr>
          <a:xfrm>
            <a:off x="685800" y="3611880"/>
            <a:ext cx="2606040" cy="1737360"/>
          </a:xfrm>
          <a:prstGeom prst="rect">
            <a:avLst/>
          </a:prstGeom>
          <a:solidFill>
            <a:srgbClr val="EDF0E5"/>
          </a:solidFill>
          <a:ln w="12700">
            <a:solidFill>
              <a:srgbClr val="C8CDC2"/>
            </a:solidFill>
            <a:prstDash val="solid"/>
          </a:ln>
        </p:spPr>
      </p:sp>
      <p:sp>
        <p:nvSpPr>
          <p:cNvPr id="14" name="Text 7"/>
          <p:cNvSpPr txBox="1"/>
          <p:nvPr>
            <p:ph idx="112" type="body" hasCustomPrompt="1"/>
          </p:nvPr>
        </p:nvSpPr>
        <p:spPr>
          <a:xfrm>
            <a:off x="886968" y="3776472"/>
            <a:ext cx="2203704" cy="219456"/>
          </a:xfrm>
          <a:prstGeom prst="rect">
            <a:avLst/>
          </a:prstGeom>
          <a:noFill/>
          <a:ln/>
        </p:spPr>
        <p:txBody>
          <a:bodyPr wrap="square" rtlCol="0"/>
          <a:lstStyle>
            <a:lvl1pPr indent="0" marL="0">
              <a:buNone/>
              <a:defRPr lang="en-US" sz="1200" b="1" spc="120" kern="0" dirty="0">
                <a:solidFill>
                  <a:srgbClr val="2E3338"/>
                </a:solidFill>
                <a:latin typeface="Trade Gothic Next" pitchFamily="34" charset="0"/>
                <a:ea typeface="Trade Gothic Next" pitchFamily="34" charset="-122"/>
                <a:cs typeface="Trade Gothic Next" pitchFamily="34" charset="-120"/>
              </a:defRPr>
            </a:lvl1pPr>
          </a:lstStyle>
          <a:p>
            <a:pPr indent="0" marL="0">
              <a:buNone/>
            </a:pPr>
            <a:r>
              <a:rPr lang="en-US" sz="1200" b="1" spc="120" kern="0" dirty="0">
                <a:solidFill>
                  <a:srgbClr val="2E3338"/>
                </a:solidFill>
                <a:latin typeface="Trade Gothic Next" pitchFamily="34" charset="0"/>
                <a:ea typeface="Trade Gothic Next" pitchFamily="34" charset="-122"/>
                <a:cs typeface="Trade Gothic Next" pitchFamily="34" charset="-120"/>
              </a:rPr>
              <a:t>GIVEN</a:t>
            </a:r>
            <a:endParaRPr lang="en-US" sz="1200" dirty="0"/>
          </a:p>
        </p:txBody>
      </p:sp>
      <p:sp>
        <p:nvSpPr>
          <p:cNvPr id="15" name="Text 7"/>
          <p:cNvSpPr txBox="1"/>
          <p:nvPr>
            <p:ph idx="113" type="body" hasCustomPrompt="1"/>
          </p:nvPr>
        </p:nvSpPr>
        <p:spPr>
          <a:xfrm>
            <a:off x="886968" y="4069080"/>
            <a:ext cx="2203704" cy="1078992"/>
          </a:xfrm>
          <a:prstGeom prst="rect">
            <a:avLst/>
          </a:prstGeom>
          <a:noFill/>
          <a:ln/>
        </p:spPr>
        <p:txBody>
          <a:bodyPr wrap="square" rtlCol="0"/>
          <a:lstStyle>
            <a:lvl1pPr indent="0" marL="0">
              <a:buNone/>
              <a:defRPr lang="en-US" sz="1600" dirty="0">
                <a:solidFill>
                  <a:srgbClr val="14161B"/>
                </a:solidFill>
                <a:latin typeface="Trade Gothic Next" pitchFamily="34" charset="0"/>
                <a:ea typeface="Trade Gothic Next" pitchFamily="34" charset="-122"/>
                <a:cs typeface="Trade Gothic Next" pitchFamily="34" charset="-120"/>
              </a:defRPr>
            </a:lvl1pPr>
          </a:lstStyle>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What the problem hands you.</a:t>
            </a:r>
            <a:endParaRPr lang="en-US" sz="1600" dirty="0"/>
          </a:p>
        </p:txBody>
      </p:sp>
      <p:sp>
        <p:nvSpPr>
          <p:cNvPr id="16" name="Shape 7"/>
          <p:cNvSpPr/>
          <p:nvPr/>
        </p:nvSpPr>
        <p:spPr>
          <a:xfrm>
            <a:off x="3474720" y="3611880"/>
            <a:ext cx="2606040" cy="1737360"/>
          </a:xfrm>
          <a:prstGeom prst="rect">
            <a:avLst/>
          </a:prstGeom>
          <a:solidFill>
            <a:srgbClr val="EDF0E5"/>
          </a:solidFill>
          <a:ln w="12700">
            <a:solidFill>
              <a:srgbClr val="C8CDC2"/>
            </a:solidFill>
            <a:prstDash val="solid"/>
          </a:ln>
        </p:spPr>
      </p:sp>
      <p:sp>
        <p:nvSpPr>
          <p:cNvPr id="17" name="Text 8"/>
          <p:cNvSpPr txBox="1"/>
          <p:nvPr>
            <p:ph idx="115" type="body" hasCustomPrompt="1"/>
          </p:nvPr>
        </p:nvSpPr>
        <p:spPr>
          <a:xfrm>
            <a:off x="3675888" y="3776472"/>
            <a:ext cx="2203704" cy="219456"/>
          </a:xfrm>
          <a:prstGeom prst="rect">
            <a:avLst/>
          </a:prstGeom>
          <a:noFill/>
          <a:ln/>
        </p:spPr>
        <p:txBody>
          <a:bodyPr wrap="square" rtlCol="0"/>
          <a:lstStyle>
            <a:lvl1pPr indent="0" marL="0">
              <a:buNone/>
              <a:defRPr lang="en-US" sz="1200" b="1" spc="120" kern="0" dirty="0">
                <a:solidFill>
                  <a:srgbClr val="2E3338"/>
                </a:solidFill>
                <a:latin typeface="Trade Gothic Next" pitchFamily="34" charset="0"/>
                <a:ea typeface="Trade Gothic Next" pitchFamily="34" charset="-122"/>
                <a:cs typeface="Trade Gothic Next" pitchFamily="34" charset="-120"/>
              </a:defRPr>
            </a:lvl1pPr>
          </a:lstStyle>
          <a:p>
            <a:pPr indent="0" marL="0">
              <a:buNone/>
            </a:pPr>
            <a:r>
              <a:rPr lang="en-US" sz="1200" b="1" spc="120" kern="0" dirty="0">
                <a:solidFill>
                  <a:srgbClr val="2E3338"/>
                </a:solidFill>
                <a:latin typeface="Trade Gothic Next" pitchFamily="34" charset="0"/>
                <a:ea typeface="Trade Gothic Next" pitchFamily="34" charset="-122"/>
                <a:cs typeface="Trade Gothic Next" pitchFamily="34" charset="-120"/>
              </a:rPr>
              <a:t>NEED</a:t>
            </a:r>
            <a:endParaRPr lang="en-US" sz="1200" dirty="0"/>
          </a:p>
        </p:txBody>
      </p:sp>
      <p:sp>
        <p:nvSpPr>
          <p:cNvPr id="18" name="Text 8"/>
          <p:cNvSpPr txBox="1"/>
          <p:nvPr>
            <p:ph idx="116" type="body" hasCustomPrompt="1"/>
          </p:nvPr>
        </p:nvSpPr>
        <p:spPr>
          <a:xfrm>
            <a:off x="3675888" y="4069080"/>
            <a:ext cx="2203704" cy="1078992"/>
          </a:xfrm>
          <a:prstGeom prst="rect">
            <a:avLst/>
          </a:prstGeom>
          <a:noFill/>
          <a:ln/>
        </p:spPr>
        <p:txBody>
          <a:bodyPr wrap="square" rtlCol="0"/>
          <a:lstStyle>
            <a:lvl1pPr indent="0" marL="0">
              <a:buNone/>
              <a:defRPr lang="en-US" sz="1600" dirty="0">
                <a:solidFill>
                  <a:srgbClr val="14161B"/>
                </a:solidFill>
                <a:latin typeface="Trade Gothic Next" pitchFamily="34" charset="0"/>
                <a:ea typeface="Trade Gothic Next" pitchFamily="34" charset="-122"/>
                <a:cs typeface="Trade Gothic Next" pitchFamily="34" charset="-120"/>
              </a:defRPr>
            </a:lvl1pPr>
          </a:lstStyle>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What you are solving for.</a:t>
            </a:r>
            <a:endParaRPr lang="en-US" sz="1600" dirty="0"/>
          </a:p>
        </p:txBody>
      </p:sp>
      <p:sp>
        <p:nvSpPr>
          <p:cNvPr id="19" name="Shape 8"/>
          <p:cNvSpPr/>
          <p:nvPr/>
        </p:nvSpPr>
        <p:spPr>
          <a:xfrm>
            <a:off x="6263640" y="2395728"/>
            <a:ext cx="5239512" cy="2953512"/>
          </a:xfrm>
          <a:prstGeom prst="rect">
            <a:avLst/>
          </a:prstGeom>
          <a:solidFill>
            <a:srgbClr val="EDF0E5"/>
          </a:solidFill>
          <a:ln w="12700">
            <a:solidFill>
              <a:srgbClr val="C8CDC2"/>
            </a:solidFill>
            <a:prstDash val="solid"/>
          </a:ln>
        </p:spPr>
      </p:sp>
      <p:sp>
        <p:nvSpPr>
          <p:cNvPr id="20" name="Text 9"/>
          <p:cNvSpPr txBox="1"/>
          <p:nvPr/>
        </p:nvSpPr>
        <p:spPr>
          <a:xfrm>
            <a:off x="6464808" y="2560320"/>
            <a:ext cx="2286000" cy="219456"/>
          </a:xfrm>
          <a:prstGeom prst="rect">
            <a:avLst/>
          </a:prstGeom>
          <a:noFill/>
          <a:ln/>
        </p:spPr>
        <p:txBody>
          <a:bodyPr wrap="square" lIns="0" tIns="0" rIns="0" bIns="0" rtlCol="0" anchor="ctr"/>
          <a:lstStyle/>
          <a:p>
            <a:pPr indent="0" marL="0">
              <a:buNone/>
            </a:pPr>
            <a:r>
              <a:rPr lang="en-US" sz="900" b="1" spc="140" kern="0" dirty="0">
                <a:solidFill>
                  <a:srgbClr val="2E3338"/>
                </a:solidFill>
                <a:latin typeface="Trade Gothic Next" pitchFamily="34" charset="0"/>
                <a:ea typeface="Trade Gothic Next" pitchFamily="34" charset="-122"/>
                <a:cs typeface="Trade Gothic Next" pitchFamily="34" charset="-120"/>
              </a:rPr>
              <a:t>WORK AREA</a:t>
            </a:r>
            <a:endParaRPr lang="en-US" sz="900" dirty="0"/>
          </a:p>
        </p:txBody>
      </p:sp>
      <p:sp>
        <p:nvSpPr>
          <p:cNvPr id="21" name="Text 10"/>
          <p:cNvSpPr txBox="1"/>
          <p:nvPr>
            <p:ph idx="119" type="body" hasCustomPrompt="1"/>
          </p:nvPr>
        </p:nvSpPr>
        <p:spPr>
          <a:xfrm>
            <a:off x="6464808" y="2880360"/>
            <a:ext cx="4837176" cy="2286000"/>
          </a:xfrm>
          <a:prstGeom prst="rect">
            <a:avLst/>
          </a:prstGeom>
          <a:noFill/>
          <a:ln/>
        </p:spPr>
        <p:txBody>
          <a:bodyPr wrap="square" rtlCol="0"/>
          <a:lstStyle>
            <a:lvl1pPr indent="0" marL="0">
              <a:buNone/>
              <a:defRPr lang="en-US" sz="1900" dirty="0">
                <a:solidFill>
                  <a:srgbClr val="14161B"/>
                </a:solidFill>
                <a:latin typeface="Trade Gothic Next" pitchFamily="34" charset="0"/>
                <a:ea typeface="Trade Gothic Next" pitchFamily="34" charset="-122"/>
                <a:cs typeface="Trade Gothic Next" pitchFamily="34" charset="-120"/>
              </a:defRPr>
            </a:lvl1pPr>
          </a:lstStyle>
          <a:p>
            <a:pPr indent="0" marL="0">
              <a:buNone/>
            </a:pPr>
            <a:r>
              <a:rPr lang="en-US" sz="1900" dirty="0">
                <a:solidFill>
                  <a:srgbClr val="14161B"/>
                </a:solidFill>
                <a:latin typeface="Trade Gothic Next" pitchFamily="34" charset="0"/>
                <a:ea typeface="Trade Gothic Next" pitchFamily="34" charset="-122"/>
                <a:cs typeface="Trade Gothic Next" pitchFamily="34" charset="-120"/>
              </a:rPr>
              <a:t>Leave this blank in the projected copy. It is filled live on the board.</a:t>
            </a:r>
            <a:endParaRPr lang="en-US" sz="1900" dirty="0"/>
          </a:p>
        </p:txBody>
      </p:sp>
      <p:sp>
        <p:nvSpPr>
          <p:cNvPr id="22" name="Shape 10"/>
          <p:cNvSpPr/>
          <p:nvPr/>
        </p:nvSpPr>
        <p:spPr>
          <a:xfrm>
            <a:off x="685800" y="5532120"/>
            <a:ext cx="10820095" cy="566928"/>
          </a:xfrm>
          <a:prstGeom prst="rect">
            <a:avLst/>
          </a:prstGeom>
          <a:solidFill>
            <a:srgbClr val="14161B"/>
          </a:solidFill>
          <a:ln/>
        </p:spPr>
      </p:sp>
      <p:sp>
        <p:nvSpPr>
          <p:cNvPr id="23" name="Text 11"/>
          <p:cNvSpPr txBox="1"/>
          <p:nvPr/>
        </p:nvSpPr>
        <p:spPr>
          <a:xfrm>
            <a:off x="886968" y="5586984"/>
            <a:ext cx="1188720" cy="201168"/>
          </a:xfrm>
          <a:prstGeom prst="rect">
            <a:avLst/>
          </a:prstGeom>
          <a:noFill/>
          <a:ln/>
        </p:spPr>
        <p:txBody>
          <a:bodyPr wrap="square" lIns="0" tIns="0" rIns="0" bIns="0" rtlCol="0" anchor="ctr"/>
          <a:lstStyle/>
          <a:p>
            <a:pPr indent="0" marL="0">
              <a:buNone/>
            </a:pPr>
            <a:r>
              <a:rPr lang="en-US" sz="900" b="1" spc="150" kern="0" dirty="0">
                <a:solidFill>
                  <a:srgbClr val="A3E635"/>
                </a:solidFill>
                <a:latin typeface="Trade Gothic Next" pitchFamily="34" charset="0"/>
                <a:ea typeface="Trade Gothic Next" pitchFamily="34" charset="-122"/>
                <a:cs typeface="Trade Gothic Next" pitchFamily="34" charset="-120"/>
              </a:rPr>
              <a:t>MUST WRITE</a:t>
            </a:r>
            <a:endParaRPr lang="en-US" sz="900" dirty="0"/>
          </a:p>
        </p:txBody>
      </p:sp>
      <p:sp>
        <p:nvSpPr>
          <p:cNvPr id="24" name="Text 12"/>
          <p:cNvSpPr txBox="1"/>
          <p:nvPr>
            <p:ph idx="122" type="body" hasCustomPrompt="1"/>
          </p:nvPr>
        </p:nvSpPr>
        <p:spPr>
          <a:xfrm>
            <a:off x="2240280" y="5605272"/>
            <a:ext cx="8991295" cy="402336"/>
          </a:xfrm>
          <a:prstGeom prst="rect">
            <a:avLst/>
          </a:prstGeom>
          <a:noFill/>
          <a:ln/>
        </p:spPr>
        <p:txBody>
          <a:bodyPr wrap="square" rtlCol="0"/>
          <a:lstStyle>
            <a:lvl1pPr indent="0" marL="0">
              <a:buNone/>
              <a:defRPr lang="en-US" sz="1600" b="1" dirty="0">
                <a:solidFill>
                  <a:srgbClr val="EDF0E5"/>
                </a:solidFill>
                <a:latin typeface="Trade Gothic Next" pitchFamily="34" charset="0"/>
                <a:ea typeface="Trade Gothic Next" pitchFamily="34" charset="-122"/>
                <a:cs typeface="Trade Gothic Next" pitchFamily="34" charset="-120"/>
              </a:defRPr>
            </a:lvl1pPr>
          </a:lstStyle>
          <a:p>
            <a:pPr indent="0" marL="0">
              <a:buNone/>
            </a:pPr>
            <a:r>
              <a:rPr lang="en-US" sz="1600" b="1" dirty="0">
                <a:solidFill>
                  <a:srgbClr val="EDF0E5"/>
                </a:solidFill>
                <a:latin typeface="Trade Gothic Next" pitchFamily="34" charset="0"/>
                <a:ea typeface="Trade Gothic Next" pitchFamily="34" charset="-122"/>
                <a:cs typeface="Trade Gothic Next" pitchFamily="34" charset="-120"/>
              </a:rPr>
              <a:t>The one sentence students copy down.</a:t>
            </a:r>
            <a:endParaRPr lang="en-US" sz="1600" dirty="0"/>
          </a:p>
        </p:txBody>
      </p:sp>
      <p:sp>
        <p:nvSpPr>
          <p:cNvPr id="25" name="Text 12"/>
          <p:cNvSpPr txBox="1"/>
          <p:nvPr/>
        </p:nvSpPr>
        <p:spPr>
          <a:xfrm>
            <a:off x="685800" y="6382512"/>
            <a:ext cx="3657600" cy="237744"/>
          </a:xfrm>
          <a:prstGeom prst="rect">
            <a:avLst/>
          </a:prstGeom>
          <a:noFill/>
          <a:ln/>
        </p:spPr>
        <p:txBody>
          <a:bodyPr wrap="square" lIns="0" tIns="0" rIns="0" bIns="0" rtlCol="0" anchor="ctr"/>
          <a:lstStyle/>
          <a:p>
            <a:pPr indent="0" marL="0">
              <a:buNone/>
            </a:pPr>
            <a:r>
              <a:rPr lang="en-US" sz="1000" b="1" spc="140" kern="0" dirty="0">
                <a:solidFill>
                  <a:srgbClr val="2E3338"/>
                </a:solidFill>
                <a:latin typeface="Trade Gothic Next" pitchFamily="34" charset="0"/>
                <a:ea typeface="Trade Gothic Next" pitchFamily="34" charset="-122"/>
                <a:cs typeface="Trade Gothic Next" pitchFamily="34" charset="-120"/>
              </a:rPr>
              <a:t>SHULL SCIENCE</a:t>
            </a:r>
            <a:endParaRPr lang="en-US" sz="1000" dirty="0"/>
          </a:p>
        </p:txBody>
      </p:sp>
      <p:sp>
        <p:nvSpPr>
          <p:cNvPr id="26" name="Text 13"/>
          <p:cNvSpPr txBox="1"/>
          <p:nvPr>
            <p:ph idx="124" type="body" hasCustomPrompt="1"/>
          </p:nvPr>
        </p:nvSpPr>
        <p:spPr>
          <a:xfrm>
            <a:off x="8762695" y="6382512"/>
            <a:ext cx="2743200" cy="237744"/>
          </a:xfrm>
          <a:prstGeom prst="rect">
            <a:avLst/>
          </a:prstGeom>
          <a:noFill/>
          <a:ln/>
        </p:spPr>
        <p:txBody>
          <a:bodyPr wrap="square" rtlCol="0"/>
          <a:lstStyle>
            <a:lvl1pPr algn="r" indent="0" marL="0">
              <a:buNone/>
              <a:defRPr lang="en-US" sz="1000" b="1" spc="140" kern="0" dirty="0">
                <a:solidFill>
                  <a:srgbClr val="2E3338"/>
                </a:solidFill>
                <a:latin typeface="Trade Gothic Next" pitchFamily="34" charset="0"/>
                <a:ea typeface="Trade Gothic Next" pitchFamily="34" charset="-122"/>
                <a:cs typeface="Trade Gothic Next" pitchFamily="34" charset="-120"/>
              </a:defRPr>
            </a:lvl1pPr>
          </a:lstStyle>
          <a:p>
            <a:pPr algn="r" indent="0" marL="0">
              <a:buNone/>
            </a:pPr>
            <a:r>
              <a:rPr lang="en-US" sz="1000" b="1" spc="140" kern="0" dirty="0">
                <a:solidFill>
                  <a:srgbClr val="2E3338"/>
                </a:solidFill>
                <a:latin typeface="Trade Gothic Next" pitchFamily="34" charset="0"/>
                <a:ea typeface="Trade Gothic Next" pitchFamily="34" charset="-122"/>
                <a:cs typeface="Trade Gothic Next" pitchFamily="34" charset="-120"/>
              </a:rPr>
              <a:t>U00 • S0.0</a:t>
            </a:r>
            <a:endParaRPr lang="en-US" sz="1000"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10_WORKED_SOLUTI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p:spPr>
      </p:sp>
      <p:sp>
        <p:nvSpPr>
          <p:cNvPr id="3" name="Text 1"/>
          <p:cNvSpPr txBox="1"/>
          <p:nvPr>
            <p:ph idx="101" type="body" hasCustomPrompt="1"/>
          </p:nvPr>
        </p:nvSpPr>
        <p:spPr>
          <a:xfrm>
            <a:off x="685800" y="384048"/>
            <a:ext cx="6400800" cy="237744"/>
          </a:xfrm>
          <a:prstGeom prst="rect">
            <a:avLst/>
          </a:prstGeom>
          <a:noFill/>
          <a:ln/>
        </p:spPr>
        <p:txBody>
          <a:bodyPr wrap="square" rtlCol="0"/>
          <a:lstStyle>
            <a:lvl1pPr indent="0" marL="0">
              <a:buNone/>
              <a:defRPr lang="en-US" sz="1100" b="1" spc="160" kern="0" dirty="0">
                <a:solidFill>
                  <a:srgbClr val="14161B"/>
                </a:solidFill>
                <a:latin typeface="Trade Gothic Next" pitchFamily="34" charset="0"/>
                <a:ea typeface="Trade Gothic Next" pitchFamily="34" charset="-122"/>
                <a:cs typeface="Trade Gothic Next" pitchFamily="34" charset="-120"/>
              </a:defRPr>
            </a:lvl1pPr>
          </a:lstStyle>
          <a:p>
            <a:pPr indent="0" marL="0">
              <a:buNone/>
            </a:pPr>
            <a:r>
              <a:rPr lang="en-US" sz="1100" b="1" spc="160" kern="0" dirty="0">
                <a:solidFill>
                  <a:srgbClr val="14161B"/>
                </a:solidFill>
                <a:latin typeface="Trade Gothic Next" pitchFamily="34" charset="0"/>
                <a:ea typeface="Trade Gothic Next" pitchFamily="34" charset="-122"/>
                <a:cs typeface="Trade Gothic Next" pitchFamily="34" charset="-120"/>
              </a:rPr>
              <a:t>UNIT 00  •  CHEMISTRY</a:t>
            </a:r>
            <a:endParaRPr lang="en-US" sz="1100" dirty="0"/>
          </a:p>
        </p:txBody>
      </p:sp>
      <p:sp>
        <p:nvSpPr>
          <p:cNvPr id="4" name="Shape 1"/>
          <p:cNvSpPr/>
          <p:nvPr/>
        </p:nvSpPr>
        <p:spPr>
          <a:xfrm>
            <a:off x="685800" y="676656"/>
            <a:ext cx="1371600" cy="0"/>
          </a:xfrm>
          <a:prstGeom prst="line">
            <a:avLst/>
          </a:prstGeom>
          <a:noFill/>
          <a:ln w="22225">
            <a:solidFill>
              <a:srgbClr val="A3E635"/>
            </a:solidFill>
            <a:prstDash val="solid"/>
          </a:ln>
        </p:spPr>
      </p:sp>
      <p:sp>
        <p:nvSpPr>
          <p:cNvPr id="5" name="Text 2"/>
          <p:cNvSpPr txBox="1"/>
          <p:nvPr>
            <p:ph idx="103" type="title" hasCustomPrompt="1"/>
          </p:nvPr>
        </p:nvSpPr>
        <p:spPr>
          <a:xfrm>
            <a:off x="685800" y="932688"/>
            <a:ext cx="10820095" cy="868680"/>
          </a:xfrm>
          <a:prstGeom prst="rect">
            <a:avLst/>
          </a:prstGeom>
          <a:noFill/>
          <a:ln/>
        </p:spPr>
        <p:txBody>
          <a:bodyPr wrap="square" rtlCol="0"/>
          <a:lstStyle>
            <a:lvl1pPr algn="l" indent="0" marL="0">
              <a:buNone/>
              <a:defRPr lang="en-US" sz="2800" b="1" dirty="0">
                <a:solidFill>
                  <a:srgbClr val="14161B"/>
                </a:solidFill>
                <a:latin typeface="Trade Gothic Next" pitchFamily="34" charset="0"/>
                <a:ea typeface="Trade Gothic Next" pitchFamily="34" charset="-122"/>
                <a:cs typeface="Trade Gothic Next" pitchFamily="34" charset="-120"/>
              </a:defRPr>
            </a:lvl1pPr>
          </a:lstStyle>
          <a:p>
            <a:pPr algn="l" indent="0" marL="0">
              <a:buNone/>
            </a:pPr>
            <a:r>
              <a:rPr lang="en-US" sz="2800" b="1" dirty="0">
                <a:solidFill>
                  <a:srgbClr val="14161B"/>
                </a:solidFill>
                <a:latin typeface="Trade Gothic Next" pitchFamily="34" charset="0"/>
                <a:ea typeface="Trade Gothic Next" pitchFamily="34" charset="-122"/>
                <a:cs typeface="Trade Gothic Next" pitchFamily="34" charset="-120"/>
              </a:rPr>
              <a:t>Slide Headline Goes Here</a:t>
            </a:r>
            <a:endParaRPr lang="en-US" sz="2800" dirty="0"/>
          </a:p>
        </p:txBody>
      </p:sp>
      <p:sp>
        <p:nvSpPr>
          <p:cNvPr id="6" name="Text 2"/>
          <p:cNvSpPr txBox="1"/>
          <p:nvPr>
            <p:ph idx="104" type="body" hasCustomPrompt="1"/>
          </p:nvPr>
        </p:nvSpPr>
        <p:spPr>
          <a:xfrm>
            <a:off x="685800" y="1847088"/>
            <a:ext cx="10820095" cy="384048"/>
          </a:xfrm>
          <a:prstGeom prst="rect">
            <a:avLst/>
          </a:prstGeom>
          <a:noFill/>
          <a:ln/>
        </p:spPr>
        <p:txBody>
          <a:bodyPr wrap="square" rtlCol="0"/>
          <a:lstStyle>
            <a:lvl1pPr indent="0" marL="0">
              <a:buNone/>
              <a:defRPr lang="en-US" sz="1700" dirty="0">
                <a:solidFill>
                  <a:srgbClr val="2E3338"/>
                </a:solidFill>
                <a:latin typeface="Trade Gothic Next" pitchFamily="34" charset="0"/>
                <a:ea typeface="Trade Gothic Next" pitchFamily="34" charset="-122"/>
                <a:cs typeface="Trade Gothic Next" pitchFamily="34" charset="-120"/>
              </a:defRPr>
            </a:lvl1pPr>
          </a:lstStyle>
          <a:p>
            <a:pPr indent="0" marL="0">
              <a:buNone/>
            </a:pPr>
            <a:r>
              <a:rPr lang="en-US" sz="1700" dirty="0">
                <a:solidFill>
                  <a:srgbClr val="2E3338"/>
                </a:solidFill>
                <a:latin typeface="Trade Gothic Next" pitchFamily="34" charset="0"/>
                <a:ea typeface="Trade Gothic Next" pitchFamily="34" charset="-122"/>
                <a:cs typeface="Trade Gothic Next" pitchFamily="34" charset="-120"/>
              </a:rPr>
              <a:t>One line that frames what students should look for.</a:t>
            </a:r>
            <a:endParaRPr lang="en-US" sz="1700" dirty="0"/>
          </a:p>
        </p:txBody>
      </p:sp>
      <p:sp>
        <p:nvSpPr>
          <p:cNvPr id="7" name="Shape 2"/>
          <p:cNvSpPr/>
          <p:nvPr/>
        </p:nvSpPr>
        <p:spPr>
          <a:xfrm>
            <a:off x="685800" y="2395728"/>
            <a:ext cx="4160520" cy="2560320"/>
          </a:xfrm>
          <a:prstGeom prst="rect">
            <a:avLst/>
          </a:prstGeom>
          <a:solidFill>
            <a:srgbClr val="A3E635"/>
          </a:solidFill>
          <a:ln/>
        </p:spPr>
      </p:sp>
      <p:sp>
        <p:nvSpPr>
          <p:cNvPr id="8" name="Shape 3"/>
          <p:cNvSpPr/>
          <p:nvPr/>
        </p:nvSpPr>
        <p:spPr>
          <a:xfrm>
            <a:off x="832104" y="2542032"/>
            <a:ext cx="3867912" cy="2267712"/>
          </a:xfrm>
          <a:prstGeom prst="rect">
            <a:avLst/>
          </a:prstGeom>
          <a:solidFill>
            <a:srgbClr val="EDF0E5"/>
          </a:solidFill>
          <a:ln w="12700">
            <a:solidFill>
              <a:srgbClr val="C8CDC2"/>
            </a:solidFill>
            <a:prstDash val="dash"/>
          </a:ln>
        </p:spPr>
      </p:sp>
      <p:sp>
        <p:nvSpPr>
          <p:cNvPr id="9" name="Text 4"/>
          <p:cNvSpPr txBox="1"/>
          <p:nvPr>
            <p:ph idx="107" hasCustomPrompt="1"/>
          </p:nvPr>
        </p:nvSpPr>
        <p:spPr>
          <a:xfrm>
            <a:off x="832104" y="2542032"/>
            <a:ext cx="3867912" cy="2267712"/>
          </a:xfrm>
          <a:prstGeom prst="rect">
            <a:avLst/>
          </a:prstGeom>
          <a:noFill/>
          <a:ln/>
        </p:spPr>
        <p:txBody>
          <a:bodyPr wrap="square" rtlCol="0"/>
          <a:lstStyle>
            <a:lvl1pPr algn="ctr" indent="0" marL="0">
              <a:buNone/>
              <a:defRPr lang="en-US" sz="1200" dirty="0">
                <a:solidFill>
                  <a:srgbClr val="2E3338"/>
                </a:solidFill>
                <a:latin typeface="Trade Gothic Next" pitchFamily="34" charset="0"/>
                <a:ea typeface="Trade Gothic Next" pitchFamily="34" charset="-122"/>
                <a:cs typeface="Trade Gothic Next" pitchFamily="34" charset="-120"/>
              </a:defRPr>
            </a:lvl1pPr>
          </a:lstStyle>
          <a:p>
            <a:pPr algn="ctr" indent="0" marL="0">
              <a:buNone/>
            </a:pPr>
            <a:r>
              <a:rPr lang="en-US" sz="1200" dirty="0">
                <a:solidFill>
                  <a:srgbClr val="2E3338"/>
                </a:solidFill>
                <a:latin typeface="Trade Gothic Next" pitchFamily="34" charset="0"/>
                <a:ea typeface="Trade Gothic Next" pitchFamily="34" charset="-122"/>
                <a:cs typeface="Trade Gothic Next" pitchFamily="34" charset="-120"/>
              </a:rPr>
              <a:t>DATA IMAGE</a:t>
            </a:r>
            <a:endParaRPr lang="en-US" sz="1200" dirty="0"/>
          </a:p>
        </p:txBody>
      </p:sp>
      <p:sp>
        <p:nvSpPr>
          <p:cNvPr id="10" name="Shape 4"/>
          <p:cNvSpPr/>
          <p:nvPr/>
        </p:nvSpPr>
        <p:spPr>
          <a:xfrm>
            <a:off x="5074920" y="2395728"/>
            <a:ext cx="3154680" cy="2560320"/>
          </a:xfrm>
          <a:prstGeom prst="rect">
            <a:avLst/>
          </a:prstGeom>
          <a:solidFill>
            <a:srgbClr val="EDF0E5"/>
          </a:solidFill>
          <a:ln w="12700">
            <a:solidFill>
              <a:srgbClr val="C8CDC2"/>
            </a:solidFill>
            <a:prstDash val="solid"/>
          </a:ln>
        </p:spPr>
      </p:sp>
      <p:sp>
        <p:nvSpPr>
          <p:cNvPr id="11" name="Text 5"/>
          <p:cNvSpPr txBox="1"/>
          <p:nvPr>
            <p:ph idx="109" type="body" hasCustomPrompt="1"/>
          </p:nvPr>
        </p:nvSpPr>
        <p:spPr>
          <a:xfrm>
            <a:off x="5276088" y="2560320"/>
            <a:ext cx="2752344" cy="219456"/>
          </a:xfrm>
          <a:prstGeom prst="rect">
            <a:avLst/>
          </a:prstGeom>
          <a:noFill/>
          <a:ln/>
        </p:spPr>
        <p:txBody>
          <a:bodyPr wrap="square" rtlCol="0"/>
          <a:lstStyle>
            <a:lvl1pPr indent="0" marL="0">
              <a:buNone/>
              <a:defRPr lang="en-US" sz="1200" b="1" spc="120" kern="0" dirty="0">
                <a:solidFill>
                  <a:srgbClr val="2E3338"/>
                </a:solidFill>
                <a:latin typeface="Trade Gothic Next" pitchFamily="34" charset="0"/>
                <a:ea typeface="Trade Gothic Next" pitchFamily="34" charset="-122"/>
                <a:cs typeface="Trade Gothic Next" pitchFamily="34" charset="-120"/>
              </a:defRPr>
            </a:lvl1pPr>
          </a:lstStyle>
          <a:p>
            <a:pPr indent="0" marL="0">
              <a:buNone/>
            </a:pPr>
            <a:r>
              <a:rPr lang="en-US" sz="1200" b="1" spc="120" kern="0" dirty="0">
                <a:solidFill>
                  <a:srgbClr val="2E3338"/>
                </a:solidFill>
                <a:latin typeface="Trade Gothic Next" pitchFamily="34" charset="0"/>
                <a:ea typeface="Trade Gothic Next" pitchFamily="34" charset="-122"/>
                <a:cs typeface="Trade Gothic Next" pitchFamily="34" charset="-120"/>
              </a:rPr>
              <a:t>FORMULA</a:t>
            </a:r>
            <a:endParaRPr lang="en-US" sz="1200" dirty="0"/>
          </a:p>
        </p:txBody>
      </p:sp>
      <p:sp>
        <p:nvSpPr>
          <p:cNvPr id="12" name="Text 5"/>
          <p:cNvSpPr txBox="1"/>
          <p:nvPr>
            <p:ph idx="110" type="body" hasCustomPrompt="1"/>
          </p:nvPr>
        </p:nvSpPr>
        <p:spPr>
          <a:xfrm>
            <a:off x="5276088" y="2852928"/>
            <a:ext cx="2752344" cy="1901952"/>
          </a:xfrm>
          <a:prstGeom prst="rect">
            <a:avLst/>
          </a:prstGeom>
          <a:noFill/>
          <a:ln/>
        </p:spPr>
        <p:txBody>
          <a:bodyPr wrap="square" rtlCol="0"/>
          <a:lstStyle>
            <a:lvl1pPr indent="0" marL="0">
              <a:buNone/>
              <a:defRPr lang="en-US" sz="1600" dirty="0">
                <a:solidFill>
                  <a:srgbClr val="14161B"/>
                </a:solidFill>
                <a:latin typeface="Trade Gothic Next" pitchFamily="34" charset="0"/>
                <a:ea typeface="Trade Gothic Next" pitchFamily="34" charset="-122"/>
                <a:cs typeface="Trade Gothic Next" pitchFamily="34" charset="-120"/>
              </a:defRPr>
            </a:lvl1pPr>
          </a:lstStyle>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The relationship, before any numbers.</a:t>
            </a:r>
            <a:endParaRPr lang="en-US" sz="1600" dirty="0"/>
          </a:p>
        </p:txBody>
      </p:sp>
      <p:sp>
        <p:nvSpPr>
          <p:cNvPr id="13" name="Shape 5"/>
          <p:cNvSpPr/>
          <p:nvPr/>
        </p:nvSpPr>
        <p:spPr>
          <a:xfrm>
            <a:off x="8412480" y="2395728"/>
            <a:ext cx="3090672" cy="2560320"/>
          </a:xfrm>
          <a:prstGeom prst="rect">
            <a:avLst/>
          </a:prstGeom>
          <a:solidFill>
            <a:srgbClr val="EDF0E5"/>
          </a:solidFill>
          <a:ln w="12700">
            <a:solidFill>
              <a:srgbClr val="C8CDC2"/>
            </a:solidFill>
            <a:prstDash val="solid"/>
          </a:ln>
        </p:spPr>
      </p:sp>
      <p:sp>
        <p:nvSpPr>
          <p:cNvPr id="14" name="Text 6"/>
          <p:cNvSpPr txBox="1"/>
          <p:nvPr/>
        </p:nvSpPr>
        <p:spPr>
          <a:xfrm>
            <a:off x="8613648" y="2560320"/>
            <a:ext cx="1828800" cy="219456"/>
          </a:xfrm>
          <a:prstGeom prst="rect">
            <a:avLst/>
          </a:prstGeom>
          <a:noFill/>
          <a:ln/>
        </p:spPr>
        <p:txBody>
          <a:bodyPr wrap="square" lIns="0" tIns="0" rIns="0" bIns="0" rtlCol="0" anchor="ctr"/>
          <a:lstStyle/>
          <a:p>
            <a:pPr indent="0" marL="0">
              <a:buNone/>
            </a:pPr>
            <a:r>
              <a:rPr lang="en-US" sz="900" b="1" spc="140" kern="0" dirty="0">
                <a:solidFill>
                  <a:srgbClr val="2E3338"/>
                </a:solidFill>
                <a:latin typeface="Trade Gothic Next" pitchFamily="34" charset="0"/>
                <a:ea typeface="Trade Gothic Next" pitchFamily="34" charset="-122"/>
                <a:cs typeface="Trade Gothic Next" pitchFamily="34" charset="-120"/>
              </a:rPr>
              <a:t>WORK</a:t>
            </a:r>
            <a:endParaRPr lang="en-US" sz="900" dirty="0"/>
          </a:p>
        </p:txBody>
      </p:sp>
      <p:sp>
        <p:nvSpPr>
          <p:cNvPr id="15" name="Text 7"/>
          <p:cNvSpPr txBox="1"/>
          <p:nvPr>
            <p:ph idx="113" type="body" hasCustomPrompt="1"/>
          </p:nvPr>
        </p:nvSpPr>
        <p:spPr>
          <a:xfrm>
            <a:off x="8613648" y="2871216"/>
            <a:ext cx="2688336" cy="1920240"/>
          </a:xfrm>
          <a:prstGeom prst="rect">
            <a:avLst/>
          </a:prstGeom>
          <a:noFill/>
          <a:ln/>
        </p:spPr>
        <p:txBody>
          <a:bodyPr wrap="square" rtlCol="0"/>
          <a:lstStyle>
            <a:lvl1pPr indent="0" marL="0">
              <a:buNone/>
              <a:defRPr lang="en-US" sz="1900" dirty="0">
                <a:solidFill>
                  <a:srgbClr val="14161B"/>
                </a:solidFill>
                <a:latin typeface="Trade Gothic Next" pitchFamily="34" charset="0"/>
                <a:ea typeface="Trade Gothic Next" pitchFamily="34" charset="-122"/>
                <a:cs typeface="Trade Gothic Next" pitchFamily="34" charset="-120"/>
              </a:defRPr>
            </a:lvl1pPr>
          </a:lstStyle>
          <a:p>
            <a:pPr indent="0" marL="0">
              <a:buNone/>
            </a:pPr>
            <a:r>
              <a:rPr lang="en-US" sz="1900" dirty="0">
                <a:solidFill>
                  <a:srgbClr val="14161B"/>
                </a:solidFill>
                <a:latin typeface="Trade Gothic Next" pitchFamily="34" charset="0"/>
                <a:ea typeface="Trade Gothic Next" pitchFamily="34" charset="-122"/>
                <a:cs typeface="Trade Gothic Next" pitchFamily="34" charset="-120"/>
              </a:rPr>
              <a:t>The completed work,</a:t>
            </a:r>
            <a:endParaRPr lang="en-US" sz="1900" dirty="0"/>
          </a:p>
          <a:p>
            <a:pPr indent="0" marL="0">
              <a:buNone/>
            </a:pPr>
            <a:r>
              <a:rPr lang="en-US" sz="1900" dirty="0">
                <a:solidFill>
                  <a:srgbClr val="14161B"/>
                </a:solidFill>
                <a:latin typeface="Trade Gothic Next" pitchFamily="34" charset="0"/>
                <a:ea typeface="Trade Gothic Next" pitchFamily="34" charset="-122"/>
                <a:cs typeface="Trade Gothic Next" pitchFamily="34" charset="-120"/>
              </a:rPr>
              <a:t>step by step.</a:t>
            </a:r>
            <a:endParaRPr lang="en-US" sz="1900" dirty="0"/>
          </a:p>
        </p:txBody>
      </p:sp>
      <p:sp>
        <p:nvSpPr>
          <p:cNvPr id="16" name="Shape 7"/>
          <p:cNvSpPr/>
          <p:nvPr/>
        </p:nvSpPr>
        <p:spPr>
          <a:xfrm>
            <a:off x="685800" y="5138928"/>
            <a:ext cx="10820095" cy="566928"/>
          </a:xfrm>
          <a:prstGeom prst="rect">
            <a:avLst/>
          </a:prstGeom>
          <a:solidFill>
            <a:srgbClr val="14161B"/>
          </a:solidFill>
          <a:ln/>
        </p:spPr>
      </p:sp>
      <p:sp>
        <p:nvSpPr>
          <p:cNvPr id="17" name="Text 8"/>
          <p:cNvSpPr txBox="1"/>
          <p:nvPr/>
        </p:nvSpPr>
        <p:spPr>
          <a:xfrm>
            <a:off x="886968" y="5193792"/>
            <a:ext cx="1188720" cy="201168"/>
          </a:xfrm>
          <a:prstGeom prst="rect">
            <a:avLst/>
          </a:prstGeom>
          <a:noFill/>
          <a:ln/>
        </p:spPr>
        <p:txBody>
          <a:bodyPr wrap="square" lIns="0" tIns="0" rIns="0" bIns="0" rtlCol="0" anchor="ctr"/>
          <a:lstStyle/>
          <a:p>
            <a:pPr indent="0" marL="0">
              <a:buNone/>
            </a:pPr>
            <a:r>
              <a:rPr lang="en-US" sz="900" b="1" spc="150" kern="0" dirty="0">
                <a:solidFill>
                  <a:srgbClr val="A3E635"/>
                </a:solidFill>
                <a:latin typeface="Trade Gothic Next" pitchFamily="34" charset="0"/>
                <a:ea typeface="Trade Gothic Next" pitchFamily="34" charset="-122"/>
                <a:cs typeface="Trade Gothic Next" pitchFamily="34" charset="-120"/>
              </a:rPr>
              <a:t>MUST WRITE</a:t>
            </a:r>
            <a:endParaRPr lang="en-US" sz="900" dirty="0"/>
          </a:p>
        </p:txBody>
      </p:sp>
      <p:sp>
        <p:nvSpPr>
          <p:cNvPr id="18" name="Text 9"/>
          <p:cNvSpPr txBox="1"/>
          <p:nvPr>
            <p:ph idx="116" type="body" hasCustomPrompt="1"/>
          </p:nvPr>
        </p:nvSpPr>
        <p:spPr>
          <a:xfrm>
            <a:off x="2240280" y="5212080"/>
            <a:ext cx="8991295" cy="402336"/>
          </a:xfrm>
          <a:prstGeom prst="rect">
            <a:avLst/>
          </a:prstGeom>
          <a:noFill/>
          <a:ln/>
        </p:spPr>
        <p:txBody>
          <a:bodyPr wrap="square" rtlCol="0"/>
          <a:lstStyle>
            <a:lvl1pPr indent="0" marL="0">
              <a:buNone/>
              <a:defRPr lang="en-US" sz="1600" b="1" dirty="0">
                <a:solidFill>
                  <a:srgbClr val="EDF0E5"/>
                </a:solidFill>
                <a:latin typeface="Trade Gothic Next" pitchFamily="34" charset="0"/>
                <a:ea typeface="Trade Gothic Next" pitchFamily="34" charset="-122"/>
                <a:cs typeface="Trade Gothic Next" pitchFamily="34" charset="-120"/>
              </a:defRPr>
            </a:lvl1pPr>
          </a:lstStyle>
          <a:p>
            <a:pPr indent="0" marL="0">
              <a:buNone/>
            </a:pPr>
            <a:r>
              <a:rPr lang="en-US" sz="1600" b="1" dirty="0">
                <a:solidFill>
                  <a:srgbClr val="EDF0E5"/>
                </a:solidFill>
                <a:latin typeface="Trade Gothic Next" pitchFamily="34" charset="0"/>
                <a:ea typeface="Trade Gothic Next" pitchFamily="34" charset="-122"/>
                <a:cs typeface="Trade Gothic Next" pitchFamily="34" charset="-120"/>
              </a:rPr>
              <a:t>The one sentence students copy down.</a:t>
            </a:r>
            <a:endParaRPr lang="en-US" sz="1600" dirty="0"/>
          </a:p>
        </p:txBody>
      </p:sp>
      <p:sp>
        <p:nvSpPr>
          <p:cNvPr id="19" name="Text 9"/>
          <p:cNvSpPr txBox="1"/>
          <p:nvPr/>
        </p:nvSpPr>
        <p:spPr>
          <a:xfrm>
            <a:off x="685800" y="6382512"/>
            <a:ext cx="3657600" cy="237744"/>
          </a:xfrm>
          <a:prstGeom prst="rect">
            <a:avLst/>
          </a:prstGeom>
          <a:noFill/>
          <a:ln/>
        </p:spPr>
        <p:txBody>
          <a:bodyPr wrap="square" lIns="0" tIns="0" rIns="0" bIns="0" rtlCol="0" anchor="ctr"/>
          <a:lstStyle/>
          <a:p>
            <a:pPr indent="0" marL="0">
              <a:buNone/>
            </a:pPr>
            <a:r>
              <a:rPr lang="en-US" sz="1000" b="1" spc="140" kern="0" dirty="0">
                <a:solidFill>
                  <a:srgbClr val="2E3338"/>
                </a:solidFill>
                <a:latin typeface="Trade Gothic Next" pitchFamily="34" charset="0"/>
                <a:ea typeface="Trade Gothic Next" pitchFamily="34" charset="-122"/>
                <a:cs typeface="Trade Gothic Next" pitchFamily="34" charset="-120"/>
              </a:rPr>
              <a:t>SHULL SCIENCE</a:t>
            </a:r>
            <a:endParaRPr lang="en-US" sz="1000" dirty="0"/>
          </a:p>
        </p:txBody>
      </p:sp>
      <p:sp>
        <p:nvSpPr>
          <p:cNvPr id="20" name="Text 10"/>
          <p:cNvSpPr txBox="1"/>
          <p:nvPr>
            <p:ph idx="118" type="body" hasCustomPrompt="1"/>
          </p:nvPr>
        </p:nvSpPr>
        <p:spPr>
          <a:xfrm>
            <a:off x="8762695" y="6382512"/>
            <a:ext cx="2743200" cy="237744"/>
          </a:xfrm>
          <a:prstGeom prst="rect">
            <a:avLst/>
          </a:prstGeom>
          <a:noFill/>
          <a:ln/>
        </p:spPr>
        <p:txBody>
          <a:bodyPr wrap="square" rtlCol="0"/>
          <a:lstStyle>
            <a:lvl1pPr algn="r" indent="0" marL="0">
              <a:buNone/>
              <a:defRPr lang="en-US" sz="1000" b="1" spc="140" kern="0" dirty="0">
                <a:solidFill>
                  <a:srgbClr val="2E3338"/>
                </a:solidFill>
                <a:latin typeface="Trade Gothic Next" pitchFamily="34" charset="0"/>
                <a:ea typeface="Trade Gothic Next" pitchFamily="34" charset="-122"/>
                <a:cs typeface="Trade Gothic Next" pitchFamily="34" charset="-120"/>
              </a:defRPr>
            </a:lvl1pPr>
          </a:lstStyle>
          <a:p>
            <a:pPr algn="r" indent="0" marL="0">
              <a:buNone/>
            </a:pPr>
            <a:r>
              <a:rPr lang="en-US" sz="1000" b="1" spc="140" kern="0" dirty="0">
                <a:solidFill>
                  <a:srgbClr val="2E3338"/>
                </a:solidFill>
                <a:latin typeface="Trade Gothic Next" pitchFamily="34" charset="0"/>
                <a:ea typeface="Trade Gothic Next" pitchFamily="34" charset="-122"/>
                <a:cs typeface="Trade Gothic Next" pitchFamily="34" charset="-120"/>
              </a:rPr>
              <a:t>U00 • S0.0</a:t>
            </a:r>
            <a:endParaRPr lang="en-US" sz="1000"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11_GIVENS_EQUATION_ANSWER">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p:spPr>
      </p:sp>
      <p:sp>
        <p:nvSpPr>
          <p:cNvPr id="3" name="Text 1"/>
          <p:cNvSpPr txBox="1"/>
          <p:nvPr>
            <p:ph idx="101" type="body" hasCustomPrompt="1"/>
          </p:nvPr>
        </p:nvSpPr>
        <p:spPr>
          <a:xfrm>
            <a:off x="685800" y="384048"/>
            <a:ext cx="6400800" cy="237744"/>
          </a:xfrm>
          <a:prstGeom prst="rect">
            <a:avLst/>
          </a:prstGeom>
          <a:noFill/>
          <a:ln/>
        </p:spPr>
        <p:txBody>
          <a:bodyPr wrap="square" rtlCol="0"/>
          <a:lstStyle>
            <a:lvl1pPr indent="0" marL="0">
              <a:buNone/>
              <a:defRPr lang="en-US" sz="1100" b="1" spc="160" kern="0" dirty="0">
                <a:solidFill>
                  <a:srgbClr val="14161B"/>
                </a:solidFill>
                <a:latin typeface="Trade Gothic Next" pitchFamily="34" charset="0"/>
                <a:ea typeface="Trade Gothic Next" pitchFamily="34" charset="-122"/>
                <a:cs typeface="Trade Gothic Next" pitchFamily="34" charset="-120"/>
              </a:defRPr>
            </a:lvl1pPr>
          </a:lstStyle>
          <a:p>
            <a:pPr indent="0" marL="0">
              <a:buNone/>
            </a:pPr>
            <a:r>
              <a:rPr lang="en-US" sz="1100" b="1" spc="160" kern="0" dirty="0">
                <a:solidFill>
                  <a:srgbClr val="14161B"/>
                </a:solidFill>
                <a:latin typeface="Trade Gothic Next" pitchFamily="34" charset="0"/>
                <a:ea typeface="Trade Gothic Next" pitchFamily="34" charset="-122"/>
                <a:cs typeface="Trade Gothic Next" pitchFamily="34" charset="-120"/>
              </a:rPr>
              <a:t>UNIT 00  •  CHEMISTRY</a:t>
            </a:r>
            <a:endParaRPr lang="en-US" sz="1100" dirty="0"/>
          </a:p>
        </p:txBody>
      </p:sp>
      <p:sp>
        <p:nvSpPr>
          <p:cNvPr id="4" name="Shape 1"/>
          <p:cNvSpPr/>
          <p:nvPr/>
        </p:nvSpPr>
        <p:spPr>
          <a:xfrm>
            <a:off x="685800" y="676656"/>
            <a:ext cx="1371600" cy="0"/>
          </a:xfrm>
          <a:prstGeom prst="line">
            <a:avLst/>
          </a:prstGeom>
          <a:noFill/>
          <a:ln w="22225">
            <a:solidFill>
              <a:srgbClr val="A3E635"/>
            </a:solidFill>
            <a:prstDash val="solid"/>
          </a:ln>
        </p:spPr>
      </p:sp>
      <p:sp>
        <p:nvSpPr>
          <p:cNvPr id="5" name="Text 2"/>
          <p:cNvSpPr txBox="1"/>
          <p:nvPr>
            <p:ph idx="103" type="title" hasCustomPrompt="1"/>
          </p:nvPr>
        </p:nvSpPr>
        <p:spPr>
          <a:xfrm>
            <a:off x="685800" y="932688"/>
            <a:ext cx="10820095" cy="868680"/>
          </a:xfrm>
          <a:prstGeom prst="rect">
            <a:avLst/>
          </a:prstGeom>
          <a:noFill/>
          <a:ln/>
        </p:spPr>
        <p:txBody>
          <a:bodyPr wrap="square" rtlCol="0"/>
          <a:lstStyle>
            <a:lvl1pPr algn="l" indent="0" marL="0">
              <a:buNone/>
              <a:defRPr lang="en-US" sz="2800" b="1" dirty="0">
                <a:solidFill>
                  <a:srgbClr val="14161B"/>
                </a:solidFill>
                <a:latin typeface="Trade Gothic Next" pitchFamily="34" charset="0"/>
                <a:ea typeface="Trade Gothic Next" pitchFamily="34" charset="-122"/>
                <a:cs typeface="Trade Gothic Next" pitchFamily="34" charset="-120"/>
              </a:defRPr>
            </a:lvl1pPr>
          </a:lstStyle>
          <a:p>
            <a:pPr algn="l" indent="0" marL="0">
              <a:buNone/>
            </a:pPr>
            <a:r>
              <a:rPr lang="en-US" sz="2800" b="1" dirty="0">
                <a:solidFill>
                  <a:srgbClr val="14161B"/>
                </a:solidFill>
                <a:latin typeface="Trade Gothic Next" pitchFamily="34" charset="0"/>
                <a:ea typeface="Trade Gothic Next" pitchFamily="34" charset="-122"/>
                <a:cs typeface="Trade Gothic Next" pitchFamily="34" charset="-120"/>
              </a:rPr>
              <a:t>Slide Headline Goes Here</a:t>
            </a:r>
            <a:endParaRPr lang="en-US" sz="2800" dirty="0"/>
          </a:p>
        </p:txBody>
      </p:sp>
      <p:sp>
        <p:nvSpPr>
          <p:cNvPr id="6" name="Text 2"/>
          <p:cNvSpPr txBox="1"/>
          <p:nvPr>
            <p:ph idx="104" type="body" hasCustomPrompt="1"/>
          </p:nvPr>
        </p:nvSpPr>
        <p:spPr>
          <a:xfrm>
            <a:off x="685800" y="1847088"/>
            <a:ext cx="10820095" cy="384048"/>
          </a:xfrm>
          <a:prstGeom prst="rect">
            <a:avLst/>
          </a:prstGeom>
          <a:noFill/>
          <a:ln/>
        </p:spPr>
        <p:txBody>
          <a:bodyPr wrap="square" rtlCol="0"/>
          <a:lstStyle>
            <a:lvl1pPr indent="0" marL="0">
              <a:buNone/>
              <a:defRPr lang="en-US" sz="1700" dirty="0">
                <a:solidFill>
                  <a:srgbClr val="2E3338"/>
                </a:solidFill>
                <a:latin typeface="Trade Gothic Next" pitchFamily="34" charset="0"/>
                <a:ea typeface="Trade Gothic Next" pitchFamily="34" charset="-122"/>
                <a:cs typeface="Trade Gothic Next" pitchFamily="34" charset="-120"/>
              </a:defRPr>
            </a:lvl1pPr>
          </a:lstStyle>
          <a:p>
            <a:pPr indent="0" marL="0">
              <a:buNone/>
            </a:pPr>
            <a:r>
              <a:rPr lang="en-US" sz="1700" dirty="0">
                <a:solidFill>
                  <a:srgbClr val="2E3338"/>
                </a:solidFill>
                <a:latin typeface="Trade Gothic Next" pitchFamily="34" charset="0"/>
                <a:ea typeface="Trade Gothic Next" pitchFamily="34" charset="-122"/>
                <a:cs typeface="Trade Gothic Next" pitchFamily="34" charset="-120"/>
              </a:rPr>
              <a:t>One line that frames what students should look for.</a:t>
            </a:r>
            <a:endParaRPr lang="en-US" sz="1700" dirty="0"/>
          </a:p>
        </p:txBody>
      </p:sp>
      <p:sp>
        <p:nvSpPr>
          <p:cNvPr id="7" name="Shape 2"/>
          <p:cNvSpPr/>
          <p:nvPr/>
        </p:nvSpPr>
        <p:spPr>
          <a:xfrm>
            <a:off x="685800" y="2395728"/>
            <a:ext cx="4663440" cy="2624328"/>
          </a:xfrm>
          <a:prstGeom prst="rect">
            <a:avLst/>
          </a:prstGeom>
          <a:solidFill>
            <a:srgbClr val="A3E635"/>
          </a:solidFill>
          <a:ln/>
        </p:spPr>
      </p:sp>
      <p:sp>
        <p:nvSpPr>
          <p:cNvPr id="8" name="Shape 3"/>
          <p:cNvSpPr/>
          <p:nvPr/>
        </p:nvSpPr>
        <p:spPr>
          <a:xfrm>
            <a:off x="832104" y="2542032"/>
            <a:ext cx="4370832" cy="2331720"/>
          </a:xfrm>
          <a:prstGeom prst="rect">
            <a:avLst/>
          </a:prstGeom>
          <a:solidFill>
            <a:srgbClr val="EDF0E5"/>
          </a:solidFill>
          <a:ln w="12700">
            <a:solidFill>
              <a:srgbClr val="C8CDC2"/>
            </a:solidFill>
            <a:prstDash val="dash"/>
          </a:ln>
        </p:spPr>
      </p:sp>
      <p:sp>
        <p:nvSpPr>
          <p:cNvPr id="9" name="Text 4"/>
          <p:cNvSpPr txBox="1"/>
          <p:nvPr>
            <p:ph idx="107" hasCustomPrompt="1"/>
          </p:nvPr>
        </p:nvSpPr>
        <p:spPr>
          <a:xfrm>
            <a:off x="832104" y="2542032"/>
            <a:ext cx="4370832" cy="2331720"/>
          </a:xfrm>
          <a:prstGeom prst="rect">
            <a:avLst/>
          </a:prstGeom>
          <a:noFill/>
          <a:ln/>
        </p:spPr>
        <p:txBody>
          <a:bodyPr wrap="square" rtlCol="0"/>
          <a:lstStyle>
            <a:lvl1pPr algn="ctr" indent="0" marL="0">
              <a:buNone/>
              <a:defRPr lang="en-US" sz="1200" dirty="0">
                <a:solidFill>
                  <a:srgbClr val="2E3338"/>
                </a:solidFill>
                <a:latin typeface="Trade Gothic Next" pitchFamily="34" charset="0"/>
                <a:ea typeface="Trade Gothic Next" pitchFamily="34" charset="-122"/>
                <a:cs typeface="Trade Gothic Next" pitchFamily="34" charset="-120"/>
              </a:defRPr>
            </a:lvl1pPr>
          </a:lstStyle>
          <a:p>
            <a:pPr algn="ctr" indent="0" marL="0">
              <a:buNone/>
            </a:pPr>
            <a:r>
              <a:rPr lang="en-US" sz="1200" dirty="0">
                <a:solidFill>
                  <a:srgbClr val="2E3338"/>
                </a:solidFill>
                <a:latin typeface="Trade Gothic Next" pitchFamily="34" charset="0"/>
                <a:ea typeface="Trade Gothic Next" pitchFamily="34" charset="-122"/>
                <a:cs typeface="Trade Gothic Next" pitchFamily="34" charset="-120"/>
              </a:rPr>
              <a:t>SETUP IMAGE</a:t>
            </a:r>
            <a:endParaRPr lang="en-US" sz="1200" dirty="0"/>
          </a:p>
        </p:txBody>
      </p:sp>
      <p:sp>
        <p:nvSpPr>
          <p:cNvPr id="10" name="Shape 4"/>
          <p:cNvSpPr/>
          <p:nvPr/>
        </p:nvSpPr>
        <p:spPr>
          <a:xfrm>
            <a:off x="5577840" y="2395728"/>
            <a:ext cx="5925312" cy="960120"/>
          </a:xfrm>
          <a:prstGeom prst="rect">
            <a:avLst/>
          </a:prstGeom>
          <a:solidFill>
            <a:srgbClr val="2E3338"/>
          </a:solidFill>
          <a:ln/>
        </p:spPr>
      </p:sp>
      <p:sp>
        <p:nvSpPr>
          <p:cNvPr id="11" name="Text 5"/>
          <p:cNvSpPr txBox="1"/>
          <p:nvPr/>
        </p:nvSpPr>
        <p:spPr>
          <a:xfrm>
            <a:off x="5779008" y="2505456"/>
            <a:ext cx="1828800" cy="201168"/>
          </a:xfrm>
          <a:prstGeom prst="rect">
            <a:avLst/>
          </a:prstGeom>
          <a:noFill/>
          <a:ln/>
        </p:spPr>
        <p:txBody>
          <a:bodyPr wrap="square" lIns="0" tIns="0" rIns="0" bIns="0" rtlCol="0" anchor="ctr"/>
          <a:lstStyle/>
          <a:p>
            <a:pPr indent="0" marL="0">
              <a:buNone/>
            </a:pPr>
            <a:r>
              <a:rPr lang="en-US" sz="900" b="1" spc="140" kern="0" dirty="0">
                <a:solidFill>
                  <a:srgbClr val="A3E635"/>
                </a:solidFill>
                <a:latin typeface="Trade Gothic Next" pitchFamily="34" charset="0"/>
                <a:ea typeface="Trade Gothic Next" pitchFamily="34" charset="-122"/>
                <a:cs typeface="Trade Gothic Next" pitchFamily="34" charset="-120"/>
              </a:rPr>
              <a:t>PROBLEM</a:t>
            </a:r>
            <a:endParaRPr lang="en-US" sz="900" dirty="0"/>
          </a:p>
        </p:txBody>
      </p:sp>
      <p:sp>
        <p:nvSpPr>
          <p:cNvPr id="12" name="Text 6"/>
          <p:cNvSpPr txBox="1"/>
          <p:nvPr>
            <p:ph idx="110" type="body" hasCustomPrompt="1"/>
          </p:nvPr>
        </p:nvSpPr>
        <p:spPr>
          <a:xfrm>
            <a:off x="5779008" y="2743200"/>
            <a:ext cx="5522976" cy="502920"/>
          </a:xfrm>
          <a:prstGeom prst="rect">
            <a:avLst/>
          </a:prstGeom>
          <a:noFill/>
          <a:ln/>
        </p:spPr>
        <p:txBody>
          <a:bodyPr wrap="square" rtlCol="0"/>
          <a:lstStyle>
            <a:lvl1pPr indent="0" marL="0">
              <a:buNone/>
              <a:defRPr lang="en-US" sz="1600" dirty="0">
                <a:solidFill>
                  <a:srgbClr val="EDF0E5"/>
                </a:solidFill>
                <a:latin typeface="Trade Gothic Next" pitchFamily="34" charset="0"/>
                <a:ea typeface="Trade Gothic Next" pitchFamily="34" charset="-122"/>
                <a:cs typeface="Trade Gothic Next" pitchFamily="34" charset="-120"/>
              </a:defRPr>
            </a:lvl1pPr>
          </a:lstStyle>
          <a:p>
            <a:pPr indent="0" marL="0">
              <a:buNone/>
            </a:pPr>
            <a:r>
              <a:rPr lang="en-US" sz="1600" dirty="0">
                <a:solidFill>
                  <a:srgbClr val="EDF0E5"/>
                </a:solidFill>
                <a:latin typeface="Trade Gothic Next" pitchFamily="34" charset="0"/>
                <a:ea typeface="Trade Gothic Next" pitchFamily="34" charset="-122"/>
                <a:cs typeface="Trade Gothic Next" pitchFamily="34" charset="-120"/>
              </a:rPr>
              <a:t>State the problem in one sentence.</a:t>
            </a:r>
            <a:endParaRPr lang="en-US" sz="1600" dirty="0"/>
          </a:p>
        </p:txBody>
      </p:sp>
      <p:sp>
        <p:nvSpPr>
          <p:cNvPr id="13" name="Shape 6"/>
          <p:cNvSpPr/>
          <p:nvPr/>
        </p:nvSpPr>
        <p:spPr>
          <a:xfrm>
            <a:off x="5577840" y="3520440"/>
            <a:ext cx="2871216" cy="1499616"/>
          </a:xfrm>
          <a:prstGeom prst="rect">
            <a:avLst/>
          </a:prstGeom>
          <a:solidFill>
            <a:srgbClr val="EDF0E5"/>
          </a:solidFill>
          <a:ln w="12700">
            <a:solidFill>
              <a:srgbClr val="C8CDC2"/>
            </a:solidFill>
            <a:prstDash val="solid"/>
          </a:ln>
        </p:spPr>
      </p:sp>
      <p:sp>
        <p:nvSpPr>
          <p:cNvPr id="14" name="Text 7"/>
          <p:cNvSpPr txBox="1"/>
          <p:nvPr>
            <p:ph idx="112" type="body" hasCustomPrompt="1"/>
          </p:nvPr>
        </p:nvSpPr>
        <p:spPr>
          <a:xfrm>
            <a:off x="5779008" y="3685032"/>
            <a:ext cx="2468880" cy="219456"/>
          </a:xfrm>
          <a:prstGeom prst="rect">
            <a:avLst/>
          </a:prstGeom>
          <a:noFill/>
          <a:ln/>
        </p:spPr>
        <p:txBody>
          <a:bodyPr wrap="square" rtlCol="0"/>
          <a:lstStyle>
            <a:lvl1pPr indent="0" marL="0">
              <a:buNone/>
              <a:defRPr lang="en-US" sz="1200" b="1" spc="120" kern="0" dirty="0">
                <a:solidFill>
                  <a:srgbClr val="2E3338"/>
                </a:solidFill>
                <a:latin typeface="Trade Gothic Next" pitchFamily="34" charset="0"/>
                <a:ea typeface="Trade Gothic Next" pitchFamily="34" charset="-122"/>
                <a:cs typeface="Trade Gothic Next" pitchFamily="34" charset="-120"/>
              </a:defRPr>
            </a:lvl1pPr>
          </a:lstStyle>
          <a:p>
            <a:pPr indent="0" marL="0">
              <a:buNone/>
            </a:pPr>
            <a:r>
              <a:rPr lang="en-US" sz="1200" b="1" spc="120" kern="0" dirty="0">
                <a:solidFill>
                  <a:srgbClr val="2E3338"/>
                </a:solidFill>
                <a:latin typeface="Trade Gothic Next" pitchFamily="34" charset="0"/>
                <a:ea typeface="Trade Gothic Next" pitchFamily="34" charset="-122"/>
                <a:cs typeface="Trade Gothic Next" pitchFamily="34" charset="-120"/>
              </a:rPr>
              <a:t>GIVEN</a:t>
            </a:r>
            <a:endParaRPr lang="en-US" sz="1200" dirty="0"/>
          </a:p>
        </p:txBody>
      </p:sp>
      <p:sp>
        <p:nvSpPr>
          <p:cNvPr id="15" name="Text 7"/>
          <p:cNvSpPr txBox="1"/>
          <p:nvPr>
            <p:ph idx="113" type="body" hasCustomPrompt="1"/>
          </p:nvPr>
        </p:nvSpPr>
        <p:spPr>
          <a:xfrm>
            <a:off x="5779008" y="3977640"/>
            <a:ext cx="2468880" cy="841248"/>
          </a:xfrm>
          <a:prstGeom prst="rect">
            <a:avLst/>
          </a:prstGeom>
          <a:noFill/>
          <a:ln/>
        </p:spPr>
        <p:txBody>
          <a:bodyPr wrap="square" rtlCol="0"/>
          <a:lstStyle>
            <a:lvl1pPr indent="0" marL="0">
              <a:buNone/>
              <a:defRPr lang="en-US" sz="1600" dirty="0">
                <a:solidFill>
                  <a:srgbClr val="14161B"/>
                </a:solidFill>
                <a:latin typeface="Trade Gothic Next" pitchFamily="34" charset="0"/>
                <a:ea typeface="Trade Gothic Next" pitchFamily="34" charset="-122"/>
                <a:cs typeface="Trade Gothic Next" pitchFamily="34" charset="-120"/>
              </a:defRPr>
            </a:lvl1pPr>
          </a:lstStyle>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Values the problem supplies.</a:t>
            </a:r>
            <a:endParaRPr lang="en-US" sz="1600" dirty="0"/>
          </a:p>
        </p:txBody>
      </p:sp>
      <p:sp>
        <p:nvSpPr>
          <p:cNvPr id="16" name="Shape 7"/>
          <p:cNvSpPr/>
          <p:nvPr/>
        </p:nvSpPr>
        <p:spPr>
          <a:xfrm>
            <a:off x="8631936" y="3520440"/>
            <a:ext cx="2871216" cy="1499616"/>
          </a:xfrm>
          <a:prstGeom prst="rect">
            <a:avLst/>
          </a:prstGeom>
          <a:solidFill>
            <a:srgbClr val="EDF0E5"/>
          </a:solidFill>
          <a:ln w="12700">
            <a:solidFill>
              <a:srgbClr val="C8CDC2"/>
            </a:solidFill>
            <a:prstDash val="solid"/>
          </a:ln>
        </p:spPr>
      </p:sp>
      <p:sp>
        <p:nvSpPr>
          <p:cNvPr id="17" name="Text 8"/>
          <p:cNvSpPr txBox="1"/>
          <p:nvPr>
            <p:ph idx="115" type="body" hasCustomPrompt="1"/>
          </p:nvPr>
        </p:nvSpPr>
        <p:spPr>
          <a:xfrm>
            <a:off x="8833104" y="3685032"/>
            <a:ext cx="2468880" cy="219456"/>
          </a:xfrm>
          <a:prstGeom prst="rect">
            <a:avLst/>
          </a:prstGeom>
          <a:noFill/>
          <a:ln/>
        </p:spPr>
        <p:txBody>
          <a:bodyPr wrap="square" rtlCol="0"/>
          <a:lstStyle>
            <a:lvl1pPr indent="0" marL="0">
              <a:buNone/>
              <a:defRPr lang="en-US" sz="1200" b="1" spc="120" kern="0" dirty="0">
                <a:solidFill>
                  <a:srgbClr val="2E3338"/>
                </a:solidFill>
                <a:latin typeface="Trade Gothic Next" pitchFamily="34" charset="0"/>
                <a:ea typeface="Trade Gothic Next" pitchFamily="34" charset="-122"/>
                <a:cs typeface="Trade Gothic Next" pitchFamily="34" charset="-120"/>
              </a:defRPr>
            </a:lvl1pPr>
          </a:lstStyle>
          <a:p>
            <a:pPr indent="0" marL="0">
              <a:buNone/>
            </a:pPr>
            <a:r>
              <a:rPr lang="en-US" sz="1200" b="1" spc="120" kern="0" dirty="0">
                <a:solidFill>
                  <a:srgbClr val="2E3338"/>
                </a:solidFill>
                <a:latin typeface="Trade Gothic Next" pitchFamily="34" charset="0"/>
                <a:ea typeface="Trade Gothic Next" pitchFamily="34" charset="-122"/>
                <a:cs typeface="Trade Gothic Next" pitchFamily="34" charset="-120"/>
              </a:rPr>
              <a:t>EQUATION</a:t>
            </a:r>
            <a:endParaRPr lang="en-US" sz="1200" dirty="0"/>
          </a:p>
        </p:txBody>
      </p:sp>
      <p:sp>
        <p:nvSpPr>
          <p:cNvPr id="18" name="Text 8"/>
          <p:cNvSpPr txBox="1"/>
          <p:nvPr>
            <p:ph idx="116" type="body" hasCustomPrompt="1"/>
          </p:nvPr>
        </p:nvSpPr>
        <p:spPr>
          <a:xfrm>
            <a:off x="8833104" y="3977640"/>
            <a:ext cx="2468880" cy="841248"/>
          </a:xfrm>
          <a:prstGeom prst="rect">
            <a:avLst/>
          </a:prstGeom>
          <a:noFill/>
          <a:ln/>
        </p:spPr>
        <p:txBody>
          <a:bodyPr wrap="square" rtlCol="0"/>
          <a:lstStyle>
            <a:lvl1pPr indent="0" marL="0">
              <a:buNone/>
              <a:defRPr lang="en-US" sz="1600" dirty="0">
                <a:solidFill>
                  <a:srgbClr val="14161B"/>
                </a:solidFill>
                <a:latin typeface="Trade Gothic Next" pitchFamily="34" charset="0"/>
                <a:ea typeface="Trade Gothic Next" pitchFamily="34" charset="-122"/>
                <a:cs typeface="Trade Gothic Next" pitchFamily="34" charset="-120"/>
              </a:defRPr>
            </a:lvl1pPr>
          </a:lstStyle>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The relationship you will use.</a:t>
            </a:r>
            <a:endParaRPr lang="en-US" sz="1600" dirty="0"/>
          </a:p>
        </p:txBody>
      </p:sp>
      <p:sp>
        <p:nvSpPr>
          <p:cNvPr id="19" name="Shape 8"/>
          <p:cNvSpPr/>
          <p:nvPr/>
        </p:nvSpPr>
        <p:spPr>
          <a:xfrm>
            <a:off x="5577840" y="5193792"/>
            <a:ext cx="5925312" cy="777240"/>
          </a:xfrm>
          <a:prstGeom prst="rect">
            <a:avLst/>
          </a:prstGeom>
          <a:solidFill>
            <a:srgbClr val="EDF0E5"/>
          </a:solidFill>
          <a:ln w="19050">
            <a:solidFill>
              <a:srgbClr val="A3E635"/>
            </a:solidFill>
            <a:prstDash val="solid"/>
          </a:ln>
        </p:spPr>
      </p:sp>
      <p:sp>
        <p:nvSpPr>
          <p:cNvPr id="20" name="Text 9"/>
          <p:cNvSpPr txBox="1"/>
          <p:nvPr/>
        </p:nvSpPr>
        <p:spPr>
          <a:xfrm>
            <a:off x="5779008" y="5285232"/>
            <a:ext cx="1828800" cy="201168"/>
          </a:xfrm>
          <a:prstGeom prst="rect">
            <a:avLst/>
          </a:prstGeom>
          <a:noFill/>
          <a:ln/>
        </p:spPr>
        <p:txBody>
          <a:bodyPr wrap="square" lIns="0" tIns="0" rIns="0" bIns="0" rtlCol="0" anchor="ctr"/>
          <a:lstStyle/>
          <a:p>
            <a:pPr indent="0" marL="0">
              <a:buNone/>
            </a:pPr>
            <a:r>
              <a:rPr lang="en-US" sz="900" b="1" spc="140" kern="0" dirty="0">
                <a:solidFill>
                  <a:srgbClr val="2E3338"/>
                </a:solidFill>
                <a:latin typeface="Trade Gothic Next" pitchFamily="34" charset="0"/>
                <a:ea typeface="Trade Gothic Next" pitchFamily="34" charset="-122"/>
                <a:cs typeface="Trade Gothic Next" pitchFamily="34" charset="-120"/>
              </a:rPr>
              <a:t>ANSWER</a:t>
            </a:r>
            <a:endParaRPr lang="en-US" sz="900" dirty="0"/>
          </a:p>
        </p:txBody>
      </p:sp>
      <p:sp>
        <p:nvSpPr>
          <p:cNvPr id="21" name="Text 10"/>
          <p:cNvSpPr txBox="1"/>
          <p:nvPr>
            <p:ph idx="119" type="body" hasCustomPrompt="1"/>
          </p:nvPr>
        </p:nvSpPr>
        <p:spPr>
          <a:xfrm>
            <a:off x="5779008" y="5504688"/>
            <a:ext cx="5522976" cy="384048"/>
          </a:xfrm>
          <a:prstGeom prst="rect">
            <a:avLst/>
          </a:prstGeom>
          <a:noFill/>
          <a:ln/>
        </p:spPr>
        <p:txBody>
          <a:bodyPr wrap="square" rtlCol="0"/>
          <a:lstStyle>
            <a:lvl1pPr indent="0" marL="0">
              <a:buNone/>
              <a:defRPr lang="en-US" sz="2000" b="1" dirty="0">
                <a:solidFill>
                  <a:srgbClr val="14161B"/>
                </a:solidFill>
                <a:latin typeface="Trade Gothic Next" pitchFamily="34" charset="0"/>
                <a:ea typeface="Trade Gothic Next" pitchFamily="34" charset="-122"/>
                <a:cs typeface="Trade Gothic Next" pitchFamily="34" charset="-120"/>
              </a:defRPr>
            </a:lvl1pPr>
          </a:lstStyle>
          <a:p>
            <a:pPr indent="0" marL="0">
              <a:buNone/>
            </a:pPr>
            <a:r>
              <a:rPr lang="en-US" sz="2000" b="1" dirty="0">
                <a:solidFill>
                  <a:srgbClr val="14161B"/>
                </a:solidFill>
                <a:latin typeface="Trade Gothic Next" pitchFamily="34" charset="0"/>
                <a:ea typeface="Trade Gothic Next" pitchFamily="34" charset="-122"/>
                <a:cs typeface="Trade Gothic Next" pitchFamily="34" charset="-120"/>
              </a:rPr>
              <a:t>with units</a:t>
            </a:r>
            <a:endParaRPr lang="en-US" sz="2000" dirty="0"/>
          </a:p>
        </p:txBody>
      </p:sp>
      <p:sp>
        <p:nvSpPr>
          <p:cNvPr id="22" name="Text 10"/>
          <p:cNvSpPr txBox="1"/>
          <p:nvPr/>
        </p:nvSpPr>
        <p:spPr>
          <a:xfrm>
            <a:off x="685800" y="6382512"/>
            <a:ext cx="3657600" cy="237744"/>
          </a:xfrm>
          <a:prstGeom prst="rect">
            <a:avLst/>
          </a:prstGeom>
          <a:noFill/>
          <a:ln/>
        </p:spPr>
        <p:txBody>
          <a:bodyPr wrap="square" lIns="0" tIns="0" rIns="0" bIns="0" rtlCol="0" anchor="ctr"/>
          <a:lstStyle/>
          <a:p>
            <a:pPr indent="0" marL="0">
              <a:buNone/>
            </a:pPr>
            <a:r>
              <a:rPr lang="en-US" sz="1000" b="1" spc="140" kern="0" dirty="0">
                <a:solidFill>
                  <a:srgbClr val="2E3338"/>
                </a:solidFill>
                <a:latin typeface="Trade Gothic Next" pitchFamily="34" charset="0"/>
                <a:ea typeface="Trade Gothic Next" pitchFamily="34" charset="-122"/>
                <a:cs typeface="Trade Gothic Next" pitchFamily="34" charset="-120"/>
              </a:rPr>
              <a:t>SHULL SCIENCE</a:t>
            </a:r>
            <a:endParaRPr lang="en-US" sz="1000" dirty="0"/>
          </a:p>
        </p:txBody>
      </p:sp>
      <p:sp>
        <p:nvSpPr>
          <p:cNvPr id="23" name="Text 11"/>
          <p:cNvSpPr txBox="1"/>
          <p:nvPr>
            <p:ph idx="121" type="body" hasCustomPrompt="1"/>
          </p:nvPr>
        </p:nvSpPr>
        <p:spPr>
          <a:xfrm>
            <a:off x="8762695" y="6382512"/>
            <a:ext cx="2743200" cy="237744"/>
          </a:xfrm>
          <a:prstGeom prst="rect">
            <a:avLst/>
          </a:prstGeom>
          <a:noFill/>
          <a:ln/>
        </p:spPr>
        <p:txBody>
          <a:bodyPr wrap="square" rtlCol="0"/>
          <a:lstStyle>
            <a:lvl1pPr algn="r" indent="0" marL="0">
              <a:buNone/>
              <a:defRPr lang="en-US" sz="1000" b="1" spc="140" kern="0" dirty="0">
                <a:solidFill>
                  <a:srgbClr val="2E3338"/>
                </a:solidFill>
                <a:latin typeface="Trade Gothic Next" pitchFamily="34" charset="0"/>
                <a:ea typeface="Trade Gothic Next" pitchFamily="34" charset="-122"/>
                <a:cs typeface="Trade Gothic Next" pitchFamily="34" charset="-120"/>
              </a:defRPr>
            </a:lvl1pPr>
          </a:lstStyle>
          <a:p>
            <a:pPr algn="r" indent="0" marL="0">
              <a:buNone/>
            </a:pPr>
            <a:r>
              <a:rPr lang="en-US" sz="1000" b="1" spc="140" kern="0" dirty="0">
                <a:solidFill>
                  <a:srgbClr val="2E3338"/>
                </a:solidFill>
                <a:latin typeface="Trade Gothic Next" pitchFamily="34" charset="0"/>
                <a:ea typeface="Trade Gothic Next" pitchFamily="34" charset="-122"/>
                <a:cs typeface="Trade Gothic Next" pitchFamily="34" charset="-120"/>
              </a:rPr>
              <a:t>U00 • S0.0</a:t>
            </a:r>
            <a:endParaRPr lang="en-US" sz="1000"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12_DECK_INDEX">
    <p:bg>
      <p:bgPr>
        <a:solidFill>
          <a:srgbClr val="14161B"/>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4161B"/>
          </a:solidFill>
          <a:ln/>
        </p:spPr>
      </p:sp>
      <p:sp>
        <p:nvSpPr>
          <p:cNvPr id="3" name="Shape 1"/>
          <p:cNvSpPr/>
          <p:nvPr/>
        </p:nvSpPr>
        <p:spPr>
          <a:xfrm>
            <a:off x="0" y="0"/>
            <a:ext cx="164592" cy="6858000"/>
          </a:xfrm>
          <a:prstGeom prst="rect">
            <a:avLst/>
          </a:prstGeom>
          <a:solidFill>
            <a:srgbClr val="A3E635"/>
          </a:solidFill>
          <a:ln/>
        </p:spPr>
      </p:sp>
      <p:sp>
        <p:nvSpPr>
          <p:cNvPr id="4" name="Text 2"/>
          <p:cNvSpPr txBox="1"/>
          <p:nvPr>
            <p:ph idx="102" type="body" hasCustomPrompt="1"/>
          </p:nvPr>
        </p:nvSpPr>
        <p:spPr>
          <a:xfrm>
            <a:off x="685800" y="384048"/>
            <a:ext cx="6400800" cy="237744"/>
          </a:xfrm>
          <a:prstGeom prst="rect">
            <a:avLst/>
          </a:prstGeom>
          <a:noFill/>
          <a:ln/>
        </p:spPr>
        <p:txBody>
          <a:bodyPr wrap="square" rtlCol="0"/>
          <a:lstStyle>
            <a:lvl1pPr indent="0" marL="0">
              <a:buNone/>
              <a:defRPr lang="en-US" sz="1100" b="1" spc="160" kern="0" dirty="0">
                <a:solidFill>
                  <a:srgbClr val="EDF0E5"/>
                </a:solidFill>
                <a:latin typeface="Trade Gothic Next" pitchFamily="34" charset="0"/>
                <a:ea typeface="Trade Gothic Next" pitchFamily="34" charset="-122"/>
                <a:cs typeface="Trade Gothic Next" pitchFamily="34" charset="-120"/>
              </a:defRPr>
            </a:lvl1pPr>
          </a:lstStyle>
          <a:p>
            <a:pPr indent="0" marL="0">
              <a:buNone/>
            </a:pPr>
            <a:r>
              <a:rPr lang="en-US" sz="1100" b="1" spc="160" kern="0" dirty="0">
                <a:solidFill>
                  <a:srgbClr val="EDF0E5"/>
                </a:solidFill>
                <a:latin typeface="Trade Gothic Next" pitchFamily="34" charset="0"/>
                <a:ea typeface="Trade Gothic Next" pitchFamily="34" charset="-122"/>
                <a:cs typeface="Trade Gothic Next" pitchFamily="34" charset="-120"/>
              </a:rPr>
              <a:t>UNIT 00  •  CHEMISTRY</a:t>
            </a:r>
            <a:endParaRPr lang="en-US" sz="1100" dirty="0"/>
          </a:p>
        </p:txBody>
      </p:sp>
      <p:sp>
        <p:nvSpPr>
          <p:cNvPr id="5" name="Shape 2"/>
          <p:cNvSpPr/>
          <p:nvPr/>
        </p:nvSpPr>
        <p:spPr>
          <a:xfrm>
            <a:off x="685800" y="676656"/>
            <a:ext cx="1371600" cy="0"/>
          </a:xfrm>
          <a:prstGeom prst="line">
            <a:avLst/>
          </a:prstGeom>
          <a:noFill/>
          <a:ln w="22225">
            <a:solidFill>
              <a:srgbClr val="A3E635"/>
            </a:solidFill>
            <a:prstDash val="solid"/>
          </a:ln>
        </p:spPr>
      </p:sp>
      <p:sp>
        <p:nvSpPr>
          <p:cNvPr id="6" name="Text 3"/>
          <p:cNvSpPr txBox="1"/>
          <p:nvPr>
            <p:ph idx="104" type="title" hasCustomPrompt="1"/>
          </p:nvPr>
        </p:nvSpPr>
        <p:spPr>
          <a:xfrm>
            <a:off x="685800" y="1097280"/>
            <a:ext cx="3200400" cy="1280160"/>
          </a:xfrm>
          <a:prstGeom prst="rect">
            <a:avLst/>
          </a:prstGeom>
          <a:noFill/>
          <a:ln/>
        </p:spPr>
        <p:txBody>
          <a:bodyPr wrap="square" rtlCol="0"/>
          <a:lstStyle>
            <a:lvl1pPr algn="l" indent="0" marL="0">
              <a:lnSpc>
                <a:spcPct val="106000"/>
              </a:lnSpc>
              <a:buNone/>
              <a:defRPr lang="en-US" sz="3000" b="1" dirty="0">
                <a:solidFill>
                  <a:srgbClr val="EDF0E5"/>
                </a:solidFill>
                <a:latin typeface="Trade Gothic Next" pitchFamily="34" charset="0"/>
                <a:ea typeface="Trade Gothic Next" pitchFamily="34" charset="-122"/>
                <a:cs typeface="Trade Gothic Next" pitchFamily="34" charset="-120"/>
              </a:defRPr>
            </a:lvl1pPr>
          </a:lstStyle>
          <a:p>
            <a:pPr algn="l" indent="0" marL="0">
              <a:lnSpc>
                <a:spcPct val="106000"/>
              </a:lnSpc>
              <a:buNone/>
            </a:pPr>
            <a:r>
              <a:rPr lang="en-US" sz="3000" b="1" dirty="0">
                <a:solidFill>
                  <a:srgbClr val="EDF0E5"/>
                </a:solidFill>
                <a:latin typeface="Trade Gothic Next" pitchFamily="34" charset="0"/>
                <a:ea typeface="Trade Gothic Next" pitchFamily="34" charset="-122"/>
                <a:cs typeface="Trade Gothic Next" pitchFamily="34" charset="-120"/>
              </a:rPr>
              <a:t>Template Slide</a:t>
            </a:r>
            <a:endParaRPr lang="en-US" sz="3000" dirty="0"/>
          </a:p>
          <a:p>
            <a:pPr algn="l" indent="0" marL="0">
              <a:lnSpc>
                <a:spcPct val="106000"/>
              </a:lnSpc>
              <a:buNone/>
            </a:pPr>
            <a:r>
              <a:rPr lang="en-US" sz="3000" b="1" dirty="0">
                <a:solidFill>
                  <a:srgbClr val="EDF0E5"/>
                </a:solidFill>
                <a:latin typeface="Trade Gothic Next" pitchFamily="34" charset="0"/>
                <a:ea typeface="Trade Gothic Next" pitchFamily="34" charset="-122"/>
                <a:cs typeface="Trade Gothic Next" pitchFamily="34" charset="-120"/>
              </a:rPr>
              <a:t>Family</a:t>
            </a:r>
            <a:endParaRPr lang="en-US" sz="3000" dirty="0"/>
          </a:p>
        </p:txBody>
      </p:sp>
      <p:sp>
        <p:nvSpPr>
          <p:cNvPr id="7" name="Text 3"/>
          <p:cNvSpPr txBox="1"/>
          <p:nvPr>
            <p:ph idx="105" type="body" hasCustomPrompt="1"/>
          </p:nvPr>
        </p:nvSpPr>
        <p:spPr>
          <a:xfrm>
            <a:off x="685800" y="2514600"/>
            <a:ext cx="3200400" cy="1463040"/>
          </a:xfrm>
          <a:prstGeom prst="rect">
            <a:avLst/>
          </a:prstGeom>
          <a:noFill/>
          <a:ln/>
        </p:spPr>
        <p:txBody>
          <a:bodyPr wrap="square" rtlCol="0"/>
          <a:lstStyle>
            <a:lvl1pPr indent="0" marL="0">
              <a:buNone/>
              <a:defRPr lang="en-US" sz="1600" dirty="0">
                <a:solidFill>
                  <a:srgbClr val="BDB6AA"/>
                </a:solidFill>
                <a:latin typeface="Trade Gothic Next" pitchFamily="34" charset="0"/>
                <a:ea typeface="Trade Gothic Next" pitchFamily="34" charset="-122"/>
                <a:cs typeface="Trade Gothic Next" pitchFamily="34" charset="-120"/>
              </a:defRPr>
            </a:lvl1pPr>
          </a:lstStyle>
          <a:p>
            <a:pPr indent="0" marL="0">
              <a:buNone/>
            </a:pPr>
            <a:r>
              <a:rPr lang="en-US" sz="1600" dirty="0">
                <a:solidFill>
                  <a:srgbClr val="BDB6AA"/>
                </a:solidFill>
                <a:latin typeface="Trade Gothic Next" pitchFamily="34" charset="0"/>
                <a:ea typeface="Trade Gothic Next" pitchFamily="34" charset="-122"/>
                <a:cs typeface="Trade Gothic Next" pitchFamily="34" charset="-120"/>
              </a:rPr>
              <a:t>Twelve layouts shared by Chemistry, Physics, and Geology.</a:t>
            </a:r>
            <a:endParaRPr lang="en-US" sz="1600" dirty="0"/>
          </a:p>
          <a:p>
            <a:pPr indent="0" marL="0">
              <a:buNone/>
            </a:pPr>
            <a:endParaRPr lang="en-US" sz="1600" dirty="0"/>
          </a:p>
          <a:p>
            <a:pPr indent="0" marL="0">
              <a:buNone/>
            </a:pPr>
            <a:r>
              <a:rPr lang="en-US" sz="1600" dirty="0">
                <a:solidFill>
                  <a:srgbClr val="BDB6AA"/>
                </a:solidFill>
                <a:latin typeface="Trade Gothic Next" pitchFamily="34" charset="0"/>
                <a:ea typeface="Trade Gothic Next" pitchFamily="34" charset="-122"/>
                <a:cs typeface="Trade Gothic Next" pitchFamily="34" charset="-120"/>
              </a:rPr>
              <a:t>New slide → Layout → pick one. Never build from scratch.</a:t>
            </a:r>
            <a:endParaRPr lang="en-US" sz="1600" dirty="0"/>
          </a:p>
        </p:txBody>
      </p:sp>
      <p:sp>
        <p:nvSpPr>
          <p:cNvPr id="8" name="Shape 3"/>
          <p:cNvSpPr/>
          <p:nvPr/>
        </p:nvSpPr>
        <p:spPr>
          <a:xfrm>
            <a:off x="4434840" y="1097280"/>
            <a:ext cx="2148840" cy="932688"/>
          </a:xfrm>
          <a:prstGeom prst="rect">
            <a:avLst/>
          </a:prstGeom>
          <a:solidFill>
            <a:srgbClr val="2E3338"/>
          </a:solidFill>
          <a:ln/>
        </p:spPr>
      </p:sp>
      <p:sp>
        <p:nvSpPr>
          <p:cNvPr id="9" name="Text 4"/>
          <p:cNvSpPr txBox="1"/>
          <p:nvPr/>
        </p:nvSpPr>
        <p:spPr>
          <a:xfrm>
            <a:off x="4599432" y="1225296"/>
            <a:ext cx="457200" cy="219456"/>
          </a:xfrm>
          <a:prstGeom prst="rect">
            <a:avLst/>
          </a:prstGeom>
          <a:noFill/>
          <a:ln/>
        </p:spPr>
        <p:txBody>
          <a:bodyPr wrap="square" lIns="0" tIns="0" rIns="0" bIns="0" rtlCol="0" anchor="ctr"/>
          <a:lstStyle/>
          <a:p>
            <a:pPr indent="0" marL="0">
              <a:buNone/>
            </a:pPr>
            <a:r>
              <a:rPr lang="en-US" sz="1100" b="1" dirty="0">
                <a:solidFill>
                  <a:srgbClr val="BDB6AA"/>
                </a:solidFill>
                <a:latin typeface="Trade Gothic Next" pitchFamily="34" charset="0"/>
                <a:ea typeface="Trade Gothic Next" pitchFamily="34" charset="-122"/>
                <a:cs typeface="Trade Gothic Next" pitchFamily="34" charset="-120"/>
              </a:rPr>
              <a:t>01</a:t>
            </a:r>
            <a:endParaRPr lang="en-US" sz="1100" dirty="0"/>
          </a:p>
        </p:txBody>
      </p:sp>
      <p:sp>
        <p:nvSpPr>
          <p:cNvPr id="10" name="Text 5"/>
          <p:cNvSpPr txBox="1"/>
          <p:nvPr/>
        </p:nvSpPr>
        <p:spPr>
          <a:xfrm>
            <a:off x="5038344" y="1225296"/>
            <a:ext cx="1417320" cy="256032"/>
          </a:xfrm>
          <a:prstGeom prst="rect">
            <a:avLst/>
          </a:prstGeom>
          <a:noFill/>
          <a:ln/>
        </p:spPr>
        <p:txBody>
          <a:bodyPr wrap="square" lIns="0" tIns="0" rIns="0" bIns="0" rtlCol="0" anchor="ctr"/>
          <a:lstStyle/>
          <a:p>
            <a:pPr indent="0" marL="0">
              <a:buNone/>
            </a:pPr>
            <a:r>
              <a:rPr lang="en-US" sz="1200" b="1" dirty="0">
                <a:solidFill>
                  <a:srgbClr val="EDF0E5"/>
                </a:solidFill>
                <a:latin typeface="Trade Gothic Next" pitchFamily="34" charset="0"/>
                <a:ea typeface="Trade Gothic Next" pitchFamily="34" charset="-122"/>
                <a:cs typeface="Trade Gothic Next" pitchFamily="34" charset="-120"/>
              </a:rPr>
              <a:t>Unit Title</a:t>
            </a:r>
            <a:endParaRPr lang="en-US" sz="1200" dirty="0"/>
          </a:p>
        </p:txBody>
      </p:sp>
      <p:sp>
        <p:nvSpPr>
          <p:cNvPr id="11" name="Text 6"/>
          <p:cNvSpPr txBox="1"/>
          <p:nvPr/>
        </p:nvSpPr>
        <p:spPr>
          <a:xfrm>
            <a:off x="4599432" y="1572768"/>
            <a:ext cx="1847088" cy="347472"/>
          </a:xfrm>
          <a:prstGeom prst="rect">
            <a:avLst/>
          </a:prstGeom>
          <a:noFill/>
          <a:ln/>
        </p:spPr>
        <p:txBody>
          <a:bodyPr wrap="square" lIns="0" tIns="0" rIns="0" bIns="0" rtlCol="0" anchor="ctr"/>
          <a:lstStyle/>
          <a:p>
            <a:pPr indent="0" marL="0">
              <a:buNone/>
            </a:pPr>
            <a:r>
              <a:rPr lang="en-US" sz="1100" dirty="0">
                <a:solidFill>
                  <a:srgbClr val="BDB6AA"/>
                </a:solidFill>
                <a:latin typeface="Trade Gothic Next" pitchFamily="34" charset="0"/>
                <a:ea typeface="Trade Gothic Next" pitchFamily="34" charset="-122"/>
                <a:cs typeface="Trade Gothic Next" pitchFamily="34" charset="-120"/>
              </a:rPr>
              <a:t>opens a unit</a:t>
            </a:r>
            <a:endParaRPr lang="en-US" sz="1100" dirty="0"/>
          </a:p>
        </p:txBody>
      </p:sp>
      <p:sp>
        <p:nvSpPr>
          <p:cNvPr id="12" name="Shape 7"/>
          <p:cNvSpPr/>
          <p:nvPr/>
        </p:nvSpPr>
        <p:spPr>
          <a:xfrm>
            <a:off x="6766560" y="1097280"/>
            <a:ext cx="2148840" cy="932688"/>
          </a:xfrm>
          <a:prstGeom prst="rect">
            <a:avLst/>
          </a:prstGeom>
          <a:solidFill>
            <a:srgbClr val="2E3338"/>
          </a:solidFill>
          <a:ln/>
        </p:spPr>
      </p:sp>
      <p:sp>
        <p:nvSpPr>
          <p:cNvPr id="13" name="Text 8"/>
          <p:cNvSpPr txBox="1"/>
          <p:nvPr/>
        </p:nvSpPr>
        <p:spPr>
          <a:xfrm>
            <a:off x="6931152" y="1225296"/>
            <a:ext cx="457200" cy="219456"/>
          </a:xfrm>
          <a:prstGeom prst="rect">
            <a:avLst/>
          </a:prstGeom>
          <a:noFill/>
          <a:ln/>
        </p:spPr>
        <p:txBody>
          <a:bodyPr wrap="square" lIns="0" tIns="0" rIns="0" bIns="0" rtlCol="0" anchor="ctr"/>
          <a:lstStyle/>
          <a:p>
            <a:pPr indent="0" marL="0">
              <a:buNone/>
            </a:pPr>
            <a:r>
              <a:rPr lang="en-US" sz="1100" b="1" dirty="0">
                <a:solidFill>
                  <a:srgbClr val="BDB6AA"/>
                </a:solidFill>
                <a:latin typeface="Trade Gothic Next" pitchFamily="34" charset="0"/>
                <a:ea typeface="Trade Gothic Next" pitchFamily="34" charset="-122"/>
                <a:cs typeface="Trade Gothic Next" pitchFamily="34" charset="-120"/>
              </a:rPr>
              <a:t>02</a:t>
            </a:r>
            <a:endParaRPr lang="en-US" sz="1100" dirty="0"/>
          </a:p>
        </p:txBody>
      </p:sp>
      <p:sp>
        <p:nvSpPr>
          <p:cNvPr id="14" name="Text 9"/>
          <p:cNvSpPr txBox="1"/>
          <p:nvPr/>
        </p:nvSpPr>
        <p:spPr>
          <a:xfrm>
            <a:off x="7370064" y="1225296"/>
            <a:ext cx="1417320" cy="256032"/>
          </a:xfrm>
          <a:prstGeom prst="rect">
            <a:avLst/>
          </a:prstGeom>
          <a:noFill/>
          <a:ln/>
        </p:spPr>
        <p:txBody>
          <a:bodyPr wrap="square" lIns="0" tIns="0" rIns="0" bIns="0" rtlCol="0" anchor="ctr"/>
          <a:lstStyle/>
          <a:p>
            <a:pPr indent="0" marL="0">
              <a:buNone/>
            </a:pPr>
            <a:r>
              <a:rPr lang="en-US" sz="1200" b="1" dirty="0">
                <a:solidFill>
                  <a:srgbClr val="EDF0E5"/>
                </a:solidFill>
                <a:latin typeface="Trade Gothic Next" pitchFamily="34" charset="0"/>
                <a:ea typeface="Trade Gothic Next" pitchFamily="34" charset="-122"/>
                <a:cs typeface="Trade Gothic Next" pitchFamily="34" charset="-120"/>
              </a:rPr>
              <a:t>Section Title</a:t>
            </a:r>
            <a:endParaRPr lang="en-US" sz="1200" dirty="0"/>
          </a:p>
        </p:txBody>
      </p:sp>
      <p:sp>
        <p:nvSpPr>
          <p:cNvPr id="15" name="Text 10"/>
          <p:cNvSpPr txBox="1"/>
          <p:nvPr/>
        </p:nvSpPr>
        <p:spPr>
          <a:xfrm>
            <a:off x="6931152" y="1572768"/>
            <a:ext cx="1847088" cy="347472"/>
          </a:xfrm>
          <a:prstGeom prst="rect">
            <a:avLst/>
          </a:prstGeom>
          <a:noFill/>
          <a:ln/>
        </p:spPr>
        <p:txBody>
          <a:bodyPr wrap="square" lIns="0" tIns="0" rIns="0" bIns="0" rtlCol="0" anchor="ctr"/>
          <a:lstStyle/>
          <a:p>
            <a:pPr indent="0" marL="0">
              <a:buNone/>
            </a:pPr>
            <a:r>
              <a:rPr lang="en-US" sz="1100" dirty="0">
                <a:solidFill>
                  <a:srgbClr val="BDB6AA"/>
                </a:solidFill>
                <a:latin typeface="Trade Gothic Next" pitchFamily="34" charset="0"/>
                <a:ea typeface="Trade Gothic Next" pitchFamily="34" charset="-122"/>
                <a:cs typeface="Trade Gothic Next" pitchFamily="34" charset="-120"/>
              </a:rPr>
              <a:t>opens a section</a:t>
            </a:r>
            <a:endParaRPr lang="en-US" sz="1100" dirty="0"/>
          </a:p>
        </p:txBody>
      </p:sp>
      <p:sp>
        <p:nvSpPr>
          <p:cNvPr id="16" name="Shape 11"/>
          <p:cNvSpPr/>
          <p:nvPr/>
        </p:nvSpPr>
        <p:spPr>
          <a:xfrm>
            <a:off x="9098280" y="1097280"/>
            <a:ext cx="2148840" cy="932688"/>
          </a:xfrm>
          <a:prstGeom prst="rect">
            <a:avLst/>
          </a:prstGeom>
          <a:solidFill>
            <a:srgbClr val="2E3338"/>
          </a:solidFill>
          <a:ln/>
        </p:spPr>
      </p:sp>
      <p:sp>
        <p:nvSpPr>
          <p:cNvPr id="17" name="Text 12"/>
          <p:cNvSpPr txBox="1"/>
          <p:nvPr/>
        </p:nvSpPr>
        <p:spPr>
          <a:xfrm>
            <a:off x="9262872" y="1225296"/>
            <a:ext cx="457200" cy="219456"/>
          </a:xfrm>
          <a:prstGeom prst="rect">
            <a:avLst/>
          </a:prstGeom>
          <a:noFill/>
          <a:ln/>
        </p:spPr>
        <p:txBody>
          <a:bodyPr wrap="square" lIns="0" tIns="0" rIns="0" bIns="0" rtlCol="0" anchor="ctr"/>
          <a:lstStyle/>
          <a:p>
            <a:pPr indent="0" marL="0">
              <a:buNone/>
            </a:pPr>
            <a:r>
              <a:rPr lang="en-US" sz="1100" b="1" dirty="0">
                <a:solidFill>
                  <a:srgbClr val="BDB6AA"/>
                </a:solidFill>
                <a:latin typeface="Trade Gothic Next" pitchFamily="34" charset="0"/>
                <a:ea typeface="Trade Gothic Next" pitchFamily="34" charset="-122"/>
                <a:cs typeface="Trade Gothic Next" pitchFamily="34" charset="-120"/>
              </a:rPr>
              <a:t>03</a:t>
            </a:r>
            <a:endParaRPr lang="en-US" sz="1100" dirty="0"/>
          </a:p>
        </p:txBody>
      </p:sp>
      <p:sp>
        <p:nvSpPr>
          <p:cNvPr id="18" name="Text 13"/>
          <p:cNvSpPr txBox="1"/>
          <p:nvPr/>
        </p:nvSpPr>
        <p:spPr>
          <a:xfrm>
            <a:off x="9701784" y="1225296"/>
            <a:ext cx="1417320" cy="256032"/>
          </a:xfrm>
          <a:prstGeom prst="rect">
            <a:avLst/>
          </a:prstGeom>
          <a:noFill/>
          <a:ln/>
        </p:spPr>
        <p:txBody>
          <a:bodyPr wrap="square" lIns="0" tIns="0" rIns="0" bIns="0" rtlCol="0" anchor="ctr"/>
          <a:lstStyle/>
          <a:p>
            <a:pPr indent="0" marL="0">
              <a:buNone/>
            </a:pPr>
            <a:r>
              <a:rPr lang="en-US" sz="1200" b="1" dirty="0">
                <a:solidFill>
                  <a:srgbClr val="EDF0E5"/>
                </a:solidFill>
                <a:latin typeface="Trade Gothic Next" pitchFamily="34" charset="0"/>
                <a:ea typeface="Trade Gothic Next" pitchFamily="34" charset="-122"/>
                <a:cs typeface="Trade Gothic Next" pitchFamily="34" charset="-120"/>
              </a:rPr>
              <a:t>Grouped</a:t>
            </a:r>
            <a:endParaRPr lang="en-US" sz="1200" dirty="0"/>
          </a:p>
        </p:txBody>
      </p:sp>
      <p:sp>
        <p:nvSpPr>
          <p:cNvPr id="19" name="Text 14"/>
          <p:cNvSpPr txBox="1"/>
          <p:nvPr/>
        </p:nvSpPr>
        <p:spPr>
          <a:xfrm>
            <a:off x="9262872" y="1572768"/>
            <a:ext cx="1847088" cy="347472"/>
          </a:xfrm>
          <a:prstGeom prst="rect">
            <a:avLst/>
          </a:prstGeom>
          <a:noFill/>
          <a:ln/>
        </p:spPr>
        <p:txBody>
          <a:bodyPr wrap="square" lIns="0" tIns="0" rIns="0" bIns="0" rtlCol="0" anchor="ctr"/>
          <a:lstStyle/>
          <a:p>
            <a:pPr indent="0" marL="0">
              <a:buNone/>
            </a:pPr>
            <a:r>
              <a:rPr lang="en-US" sz="1100" dirty="0">
                <a:solidFill>
                  <a:srgbClr val="BDB6AA"/>
                </a:solidFill>
                <a:latin typeface="Trade Gothic Next" pitchFamily="34" charset="0"/>
                <a:ea typeface="Trade Gothic Next" pitchFamily="34" charset="-122"/>
                <a:cs typeface="Trade Gothic Next" pitchFamily="34" charset="-120"/>
              </a:rPr>
              <a:t>two contrasting ideas</a:t>
            </a:r>
            <a:endParaRPr lang="en-US" sz="1100" dirty="0"/>
          </a:p>
        </p:txBody>
      </p:sp>
      <p:sp>
        <p:nvSpPr>
          <p:cNvPr id="20" name="Shape 15"/>
          <p:cNvSpPr/>
          <p:nvPr/>
        </p:nvSpPr>
        <p:spPr>
          <a:xfrm>
            <a:off x="4434840" y="2212848"/>
            <a:ext cx="2148840" cy="932688"/>
          </a:xfrm>
          <a:prstGeom prst="rect">
            <a:avLst/>
          </a:prstGeom>
          <a:solidFill>
            <a:srgbClr val="2E3338"/>
          </a:solidFill>
          <a:ln/>
        </p:spPr>
      </p:sp>
      <p:sp>
        <p:nvSpPr>
          <p:cNvPr id="21" name="Text 16"/>
          <p:cNvSpPr txBox="1"/>
          <p:nvPr/>
        </p:nvSpPr>
        <p:spPr>
          <a:xfrm>
            <a:off x="4599432" y="2340864"/>
            <a:ext cx="457200" cy="219456"/>
          </a:xfrm>
          <a:prstGeom prst="rect">
            <a:avLst/>
          </a:prstGeom>
          <a:noFill/>
          <a:ln/>
        </p:spPr>
        <p:txBody>
          <a:bodyPr wrap="square" lIns="0" tIns="0" rIns="0" bIns="0" rtlCol="0" anchor="ctr"/>
          <a:lstStyle/>
          <a:p>
            <a:pPr indent="0" marL="0">
              <a:buNone/>
            </a:pPr>
            <a:r>
              <a:rPr lang="en-US" sz="1100" b="1" dirty="0">
                <a:solidFill>
                  <a:srgbClr val="BDB6AA"/>
                </a:solidFill>
                <a:latin typeface="Trade Gothic Next" pitchFamily="34" charset="0"/>
                <a:ea typeface="Trade Gothic Next" pitchFamily="34" charset="-122"/>
                <a:cs typeface="Trade Gothic Next" pitchFamily="34" charset="-120"/>
              </a:rPr>
              <a:t>04</a:t>
            </a:r>
            <a:endParaRPr lang="en-US" sz="1100" dirty="0"/>
          </a:p>
        </p:txBody>
      </p:sp>
      <p:sp>
        <p:nvSpPr>
          <p:cNvPr id="22" name="Text 17"/>
          <p:cNvSpPr txBox="1"/>
          <p:nvPr/>
        </p:nvSpPr>
        <p:spPr>
          <a:xfrm>
            <a:off x="5038344" y="2340864"/>
            <a:ext cx="1417320" cy="256032"/>
          </a:xfrm>
          <a:prstGeom prst="rect">
            <a:avLst/>
          </a:prstGeom>
          <a:noFill/>
          <a:ln/>
        </p:spPr>
        <p:txBody>
          <a:bodyPr wrap="square" lIns="0" tIns="0" rIns="0" bIns="0" rtlCol="0" anchor="ctr"/>
          <a:lstStyle/>
          <a:p>
            <a:pPr indent="0" marL="0">
              <a:buNone/>
            </a:pPr>
            <a:r>
              <a:rPr lang="en-US" sz="1200" b="1" dirty="0">
                <a:solidFill>
                  <a:srgbClr val="EDF0E5"/>
                </a:solidFill>
                <a:latin typeface="Trade Gothic Next" pitchFamily="34" charset="0"/>
                <a:ea typeface="Trade Gothic Next" pitchFamily="34" charset="-122"/>
                <a:cs typeface="Trade Gothic Next" pitchFamily="34" charset="-120"/>
              </a:rPr>
              <a:t>Divider</a:t>
            </a:r>
            <a:endParaRPr lang="en-US" sz="1200" dirty="0"/>
          </a:p>
        </p:txBody>
      </p:sp>
      <p:sp>
        <p:nvSpPr>
          <p:cNvPr id="23" name="Text 18"/>
          <p:cNvSpPr txBox="1"/>
          <p:nvPr/>
        </p:nvSpPr>
        <p:spPr>
          <a:xfrm>
            <a:off x="4599432" y="2688336"/>
            <a:ext cx="1847088" cy="347472"/>
          </a:xfrm>
          <a:prstGeom prst="rect">
            <a:avLst/>
          </a:prstGeom>
          <a:noFill/>
          <a:ln/>
        </p:spPr>
        <p:txBody>
          <a:bodyPr wrap="square" lIns="0" tIns="0" rIns="0" bIns="0" rtlCol="0" anchor="ctr"/>
          <a:lstStyle/>
          <a:p>
            <a:pPr indent="0" marL="0">
              <a:buNone/>
            </a:pPr>
            <a:r>
              <a:rPr lang="en-US" sz="1100" dirty="0">
                <a:solidFill>
                  <a:srgbClr val="BDB6AA"/>
                </a:solidFill>
                <a:latin typeface="Trade Gothic Next" pitchFamily="34" charset="0"/>
                <a:ea typeface="Trade Gothic Next" pitchFamily="34" charset="-122"/>
                <a:cs typeface="Trade Gothic Next" pitchFamily="34" charset="-120"/>
              </a:rPr>
              <a:t>visual reset</a:t>
            </a:r>
            <a:endParaRPr lang="en-US" sz="1100" dirty="0"/>
          </a:p>
        </p:txBody>
      </p:sp>
      <p:sp>
        <p:nvSpPr>
          <p:cNvPr id="24" name="Shape 19"/>
          <p:cNvSpPr/>
          <p:nvPr/>
        </p:nvSpPr>
        <p:spPr>
          <a:xfrm>
            <a:off x="6766560" y="2212848"/>
            <a:ext cx="2148840" cy="932688"/>
          </a:xfrm>
          <a:prstGeom prst="rect">
            <a:avLst/>
          </a:prstGeom>
          <a:solidFill>
            <a:srgbClr val="2E3338"/>
          </a:solidFill>
          <a:ln/>
        </p:spPr>
      </p:sp>
      <p:sp>
        <p:nvSpPr>
          <p:cNvPr id="25" name="Text 20"/>
          <p:cNvSpPr txBox="1"/>
          <p:nvPr/>
        </p:nvSpPr>
        <p:spPr>
          <a:xfrm>
            <a:off x="6931152" y="2340864"/>
            <a:ext cx="457200" cy="219456"/>
          </a:xfrm>
          <a:prstGeom prst="rect">
            <a:avLst/>
          </a:prstGeom>
          <a:noFill/>
          <a:ln/>
        </p:spPr>
        <p:txBody>
          <a:bodyPr wrap="square" lIns="0" tIns="0" rIns="0" bIns="0" rtlCol="0" anchor="ctr"/>
          <a:lstStyle/>
          <a:p>
            <a:pPr indent="0" marL="0">
              <a:buNone/>
            </a:pPr>
            <a:r>
              <a:rPr lang="en-US" sz="1100" b="1" dirty="0">
                <a:solidFill>
                  <a:srgbClr val="BDB6AA"/>
                </a:solidFill>
                <a:latin typeface="Trade Gothic Next" pitchFamily="34" charset="0"/>
                <a:ea typeface="Trade Gothic Next" pitchFamily="34" charset="-122"/>
                <a:cs typeface="Trade Gothic Next" pitchFamily="34" charset="-120"/>
              </a:rPr>
              <a:t>05</a:t>
            </a:r>
            <a:endParaRPr lang="en-US" sz="1100" dirty="0"/>
          </a:p>
        </p:txBody>
      </p:sp>
      <p:sp>
        <p:nvSpPr>
          <p:cNvPr id="26" name="Text 21"/>
          <p:cNvSpPr txBox="1"/>
          <p:nvPr/>
        </p:nvSpPr>
        <p:spPr>
          <a:xfrm>
            <a:off x="7370064" y="2340864"/>
            <a:ext cx="1417320" cy="256032"/>
          </a:xfrm>
          <a:prstGeom prst="rect">
            <a:avLst/>
          </a:prstGeom>
          <a:noFill/>
          <a:ln/>
        </p:spPr>
        <p:txBody>
          <a:bodyPr wrap="square" lIns="0" tIns="0" rIns="0" bIns="0" rtlCol="0" anchor="ctr"/>
          <a:lstStyle/>
          <a:p>
            <a:pPr indent="0" marL="0">
              <a:buNone/>
            </a:pPr>
            <a:r>
              <a:rPr lang="en-US" sz="1200" b="1" dirty="0">
                <a:solidFill>
                  <a:srgbClr val="EDF0E5"/>
                </a:solidFill>
                <a:latin typeface="Trade Gothic Next" pitchFamily="34" charset="0"/>
                <a:ea typeface="Trade Gothic Next" pitchFamily="34" charset="-122"/>
                <a:cs typeface="Trade Gothic Next" pitchFamily="34" charset="-120"/>
              </a:rPr>
              <a:t>Process</a:t>
            </a:r>
            <a:endParaRPr lang="en-US" sz="1200" dirty="0"/>
          </a:p>
        </p:txBody>
      </p:sp>
      <p:sp>
        <p:nvSpPr>
          <p:cNvPr id="27" name="Text 22"/>
          <p:cNvSpPr txBox="1"/>
          <p:nvPr/>
        </p:nvSpPr>
        <p:spPr>
          <a:xfrm>
            <a:off x="6931152" y="2688336"/>
            <a:ext cx="1847088" cy="347472"/>
          </a:xfrm>
          <a:prstGeom prst="rect">
            <a:avLst/>
          </a:prstGeom>
          <a:noFill/>
          <a:ln/>
        </p:spPr>
        <p:txBody>
          <a:bodyPr wrap="square" lIns="0" tIns="0" rIns="0" bIns="0" rtlCol="0" anchor="ctr"/>
          <a:lstStyle/>
          <a:p>
            <a:pPr indent="0" marL="0">
              <a:buNone/>
            </a:pPr>
            <a:r>
              <a:rPr lang="en-US" sz="1100" dirty="0">
                <a:solidFill>
                  <a:srgbClr val="BDB6AA"/>
                </a:solidFill>
                <a:latin typeface="Trade Gothic Next" pitchFamily="34" charset="0"/>
                <a:ea typeface="Trade Gothic Next" pitchFamily="34" charset="-122"/>
                <a:cs typeface="Trade Gothic Next" pitchFamily="34" charset="-120"/>
              </a:rPr>
              <a:t>four numbered steps</a:t>
            </a:r>
            <a:endParaRPr lang="en-US" sz="1100" dirty="0"/>
          </a:p>
        </p:txBody>
      </p:sp>
      <p:sp>
        <p:nvSpPr>
          <p:cNvPr id="28" name="Shape 23"/>
          <p:cNvSpPr/>
          <p:nvPr/>
        </p:nvSpPr>
        <p:spPr>
          <a:xfrm>
            <a:off x="9098280" y="2212848"/>
            <a:ext cx="2148840" cy="932688"/>
          </a:xfrm>
          <a:prstGeom prst="rect">
            <a:avLst/>
          </a:prstGeom>
          <a:solidFill>
            <a:srgbClr val="2E3338"/>
          </a:solidFill>
          <a:ln/>
        </p:spPr>
      </p:sp>
      <p:sp>
        <p:nvSpPr>
          <p:cNvPr id="29" name="Text 24"/>
          <p:cNvSpPr txBox="1"/>
          <p:nvPr/>
        </p:nvSpPr>
        <p:spPr>
          <a:xfrm>
            <a:off x="9262872" y="2340864"/>
            <a:ext cx="457200" cy="219456"/>
          </a:xfrm>
          <a:prstGeom prst="rect">
            <a:avLst/>
          </a:prstGeom>
          <a:noFill/>
          <a:ln/>
        </p:spPr>
        <p:txBody>
          <a:bodyPr wrap="square" lIns="0" tIns="0" rIns="0" bIns="0" rtlCol="0" anchor="ctr"/>
          <a:lstStyle/>
          <a:p>
            <a:pPr indent="0" marL="0">
              <a:buNone/>
            </a:pPr>
            <a:r>
              <a:rPr lang="en-US" sz="1100" b="1" dirty="0">
                <a:solidFill>
                  <a:srgbClr val="BDB6AA"/>
                </a:solidFill>
                <a:latin typeface="Trade Gothic Next" pitchFamily="34" charset="0"/>
                <a:ea typeface="Trade Gothic Next" pitchFamily="34" charset="-122"/>
                <a:cs typeface="Trade Gothic Next" pitchFamily="34" charset="-120"/>
              </a:rPr>
              <a:t>06</a:t>
            </a:r>
            <a:endParaRPr lang="en-US" sz="1100" dirty="0"/>
          </a:p>
        </p:txBody>
      </p:sp>
      <p:sp>
        <p:nvSpPr>
          <p:cNvPr id="30" name="Text 25"/>
          <p:cNvSpPr txBox="1"/>
          <p:nvPr/>
        </p:nvSpPr>
        <p:spPr>
          <a:xfrm>
            <a:off x="9701784" y="2340864"/>
            <a:ext cx="1417320" cy="256032"/>
          </a:xfrm>
          <a:prstGeom prst="rect">
            <a:avLst/>
          </a:prstGeom>
          <a:noFill/>
          <a:ln/>
        </p:spPr>
        <p:txBody>
          <a:bodyPr wrap="square" lIns="0" tIns="0" rIns="0" bIns="0" rtlCol="0" anchor="ctr"/>
          <a:lstStyle/>
          <a:p>
            <a:pPr indent="0" marL="0">
              <a:buNone/>
            </a:pPr>
            <a:r>
              <a:rPr lang="en-US" sz="1200" b="1" dirty="0">
                <a:solidFill>
                  <a:srgbClr val="EDF0E5"/>
                </a:solidFill>
                <a:latin typeface="Trade Gothic Next" pitchFamily="34" charset="0"/>
                <a:ea typeface="Trade Gothic Next" pitchFamily="34" charset="-122"/>
                <a:cs typeface="Trade Gothic Next" pitchFamily="34" charset="-120"/>
              </a:rPr>
              <a:t>Concept Image</a:t>
            </a:r>
            <a:endParaRPr lang="en-US" sz="1200" dirty="0"/>
          </a:p>
        </p:txBody>
      </p:sp>
      <p:sp>
        <p:nvSpPr>
          <p:cNvPr id="31" name="Text 26"/>
          <p:cNvSpPr txBox="1"/>
          <p:nvPr/>
        </p:nvSpPr>
        <p:spPr>
          <a:xfrm>
            <a:off x="9262872" y="2688336"/>
            <a:ext cx="1847088" cy="347472"/>
          </a:xfrm>
          <a:prstGeom prst="rect">
            <a:avLst/>
          </a:prstGeom>
          <a:noFill/>
          <a:ln/>
        </p:spPr>
        <p:txBody>
          <a:bodyPr wrap="square" lIns="0" tIns="0" rIns="0" bIns="0" rtlCol="0" anchor="ctr"/>
          <a:lstStyle/>
          <a:p>
            <a:pPr indent="0" marL="0">
              <a:buNone/>
            </a:pPr>
            <a:r>
              <a:rPr lang="en-US" sz="1100" dirty="0">
                <a:solidFill>
                  <a:srgbClr val="BDB6AA"/>
                </a:solidFill>
                <a:latin typeface="Trade Gothic Next" pitchFamily="34" charset="0"/>
                <a:ea typeface="Trade Gothic Next" pitchFamily="34" charset="-122"/>
                <a:cs typeface="Trade Gothic Next" pitchFamily="34" charset="-120"/>
              </a:rPr>
              <a:t>panel + key question</a:t>
            </a:r>
            <a:endParaRPr lang="en-US" sz="1100" dirty="0"/>
          </a:p>
        </p:txBody>
      </p:sp>
      <p:sp>
        <p:nvSpPr>
          <p:cNvPr id="32" name="Shape 27"/>
          <p:cNvSpPr/>
          <p:nvPr/>
        </p:nvSpPr>
        <p:spPr>
          <a:xfrm>
            <a:off x="4434840" y="3328416"/>
            <a:ext cx="2148840" cy="932688"/>
          </a:xfrm>
          <a:prstGeom prst="rect">
            <a:avLst/>
          </a:prstGeom>
          <a:solidFill>
            <a:srgbClr val="2E3338"/>
          </a:solidFill>
          <a:ln/>
        </p:spPr>
      </p:sp>
      <p:sp>
        <p:nvSpPr>
          <p:cNvPr id="33" name="Text 28"/>
          <p:cNvSpPr txBox="1"/>
          <p:nvPr/>
        </p:nvSpPr>
        <p:spPr>
          <a:xfrm>
            <a:off x="4599432" y="3456432"/>
            <a:ext cx="457200" cy="219456"/>
          </a:xfrm>
          <a:prstGeom prst="rect">
            <a:avLst/>
          </a:prstGeom>
          <a:noFill/>
          <a:ln/>
        </p:spPr>
        <p:txBody>
          <a:bodyPr wrap="square" lIns="0" tIns="0" rIns="0" bIns="0" rtlCol="0" anchor="ctr"/>
          <a:lstStyle/>
          <a:p>
            <a:pPr indent="0" marL="0">
              <a:buNone/>
            </a:pPr>
            <a:r>
              <a:rPr lang="en-US" sz="1100" b="1" dirty="0">
                <a:solidFill>
                  <a:srgbClr val="BDB6AA"/>
                </a:solidFill>
                <a:latin typeface="Trade Gothic Next" pitchFamily="34" charset="0"/>
                <a:ea typeface="Trade Gothic Next" pitchFamily="34" charset="-122"/>
                <a:cs typeface="Trade Gothic Next" pitchFamily="34" charset="-120"/>
              </a:rPr>
              <a:t>07</a:t>
            </a:r>
            <a:endParaRPr lang="en-US" sz="1100" dirty="0"/>
          </a:p>
        </p:txBody>
      </p:sp>
      <p:sp>
        <p:nvSpPr>
          <p:cNvPr id="34" name="Text 29"/>
          <p:cNvSpPr txBox="1"/>
          <p:nvPr/>
        </p:nvSpPr>
        <p:spPr>
          <a:xfrm>
            <a:off x="5038344" y="3456432"/>
            <a:ext cx="1417320" cy="256032"/>
          </a:xfrm>
          <a:prstGeom prst="rect">
            <a:avLst/>
          </a:prstGeom>
          <a:noFill/>
          <a:ln/>
        </p:spPr>
        <p:txBody>
          <a:bodyPr wrap="square" lIns="0" tIns="0" rIns="0" bIns="0" rtlCol="0" anchor="ctr"/>
          <a:lstStyle/>
          <a:p>
            <a:pPr indent="0" marL="0">
              <a:buNone/>
            </a:pPr>
            <a:r>
              <a:rPr lang="en-US" sz="1200" b="1" dirty="0">
                <a:solidFill>
                  <a:srgbClr val="EDF0E5"/>
                </a:solidFill>
                <a:latin typeface="Trade Gothic Next" pitchFamily="34" charset="0"/>
                <a:ea typeface="Trade Gothic Next" pitchFamily="34" charset="-122"/>
                <a:cs typeface="Trade Gothic Next" pitchFamily="34" charset="-120"/>
              </a:rPr>
              <a:t>Comparison</a:t>
            </a:r>
            <a:endParaRPr lang="en-US" sz="1200" dirty="0"/>
          </a:p>
        </p:txBody>
      </p:sp>
      <p:sp>
        <p:nvSpPr>
          <p:cNvPr id="35" name="Text 30"/>
          <p:cNvSpPr txBox="1"/>
          <p:nvPr/>
        </p:nvSpPr>
        <p:spPr>
          <a:xfrm>
            <a:off x="4599432" y="3803904"/>
            <a:ext cx="1847088" cy="347472"/>
          </a:xfrm>
          <a:prstGeom prst="rect">
            <a:avLst/>
          </a:prstGeom>
          <a:noFill/>
          <a:ln/>
        </p:spPr>
        <p:txBody>
          <a:bodyPr wrap="square" lIns="0" tIns="0" rIns="0" bIns="0" rtlCol="0" anchor="ctr"/>
          <a:lstStyle/>
          <a:p>
            <a:pPr indent="0" marL="0">
              <a:buNone/>
            </a:pPr>
            <a:r>
              <a:rPr lang="en-US" sz="1100" dirty="0">
                <a:solidFill>
                  <a:srgbClr val="BDB6AA"/>
                </a:solidFill>
                <a:latin typeface="Trade Gothic Next" pitchFamily="34" charset="0"/>
                <a:ea typeface="Trade Gothic Next" pitchFamily="34" charset="-122"/>
                <a:cs typeface="Trade Gothic Next" pitchFamily="34" charset="-120"/>
              </a:rPr>
              <a:t>three parallel items</a:t>
            </a:r>
            <a:endParaRPr lang="en-US" sz="1100" dirty="0"/>
          </a:p>
        </p:txBody>
      </p:sp>
      <p:sp>
        <p:nvSpPr>
          <p:cNvPr id="36" name="Shape 31"/>
          <p:cNvSpPr/>
          <p:nvPr/>
        </p:nvSpPr>
        <p:spPr>
          <a:xfrm>
            <a:off x="6766560" y="3328416"/>
            <a:ext cx="2148840" cy="932688"/>
          </a:xfrm>
          <a:prstGeom prst="rect">
            <a:avLst/>
          </a:prstGeom>
          <a:solidFill>
            <a:srgbClr val="2E3338"/>
          </a:solidFill>
          <a:ln/>
        </p:spPr>
      </p:sp>
      <p:sp>
        <p:nvSpPr>
          <p:cNvPr id="37" name="Text 32"/>
          <p:cNvSpPr txBox="1"/>
          <p:nvPr/>
        </p:nvSpPr>
        <p:spPr>
          <a:xfrm>
            <a:off x="6931152" y="3456432"/>
            <a:ext cx="457200" cy="219456"/>
          </a:xfrm>
          <a:prstGeom prst="rect">
            <a:avLst/>
          </a:prstGeom>
          <a:noFill/>
          <a:ln/>
        </p:spPr>
        <p:txBody>
          <a:bodyPr wrap="square" lIns="0" tIns="0" rIns="0" bIns="0" rtlCol="0" anchor="ctr"/>
          <a:lstStyle/>
          <a:p>
            <a:pPr indent="0" marL="0">
              <a:buNone/>
            </a:pPr>
            <a:r>
              <a:rPr lang="en-US" sz="1100" b="1" dirty="0">
                <a:solidFill>
                  <a:srgbClr val="BDB6AA"/>
                </a:solidFill>
                <a:latin typeface="Trade Gothic Next" pitchFamily="34" charset="0"/>
                <a:ea typeface="Trade Gothic Next" pitchFamily="34" charset="-122"/>
                <a:cs typeface="Trade Gothic Next" pitchFamily="34" charset="-120"/>
              </a:rPr>
              <a:t>08</a:t>
            </a:r>
            <a:endParaRPr lang="en-US" sz="1100" dirty="0"/>
          </a:p>
        </p:txBody>
      </p:sp>
      <p:sp>
        <p:nvSpPr>
          <p:cNvPr id="38" name="Text 33"/>
          <p:cNvSpPr txBox="1"/>
          <p:nvPr/>
        </p:nvSpPr>
        <p:spPr>
          <a:xfrm>
            <a:off x="7370064" y="3456432"/>
            <a:ext cx="1417320" cy="256032"/>
          </a:xfrm>
          <a:prstGeom prst="rect">
            <a:avLst/>
          </a:prstGeom>
          <a:noFill/>
          <a:ln/>
        </p:spPr>
        <p:txBody>
          <a:bodyPr wrap="square" lIns="0" tIns="0" rIns="0" bIns="0" rtlCol="0" anchor="ctr"/>
          <a:lstStyle/>
          <a:p>
            <a:pPr indent="0" marL="0">
              <a:buNone/>
            </a:pPr>
            <a:r>
              <a:rPr lang="en-US" sz="1200" b="1" dirty="0">
                <a:solidFill>
                  <a:srgbClr val="EDF0E5"/>
                </a:solidFill>
                <a:latin typeface="Trade Gothic Next" pitchFamily="34" charset="0"/>
                <a:ea typeface="Trade Gothic Next" pitchFamily="34" charset="-122"/>
                <a:cs typeface="Trade Gothic Next" pitchFamily="34" charset="-120"/>
              </a:rPr>
              <a:t>Diagram</a:t>
            </a:r>
            <a:endParaRPr lang="en-US" sz="1200" dirty="0"/>
          </a:p>
        </p:txBody>
      </p:sp>
      <p:sp>
        <p:nvSpPr>
          <p:cNvPr id="39" name="Text 34"/>
          <p:cNvSpPr txBox="1"/>
          <p:nvPr/>
        </p:nvSpPr>
        <p:spPr>
          <a:xfrm>
            <a:off x="6931152" y="3803904"/>
            <a:ext cx="1847088" cy="347472"/>
          </a:xfrm>
          <a:prstGeom prst="rect">
            <a:avLst/>
          </a:prstGeom>
          <a:noFill/>
          <a:ln/>
        </p:spPr>
        <p:txBody>
          <a:bodyPr wrap="square" lIns="0" tIns="0" rIns="0" bIns="0" rtlCol="0" anchor="ctr"/>
          <a:lstStyle/>
          <a:p>
            <a:pPr indent="0" marL="0">
              <a:buNone/>
            </a:pPr>
            <a:r>
              <a:rPr lang="en-US" sz="1100" dirty="0">
                <a:solidFill>
                  <a:srgbClr val="BDB6AA"/>
                </a:solidFill>
                <a:latin typeface="Trade Gothic Next" pitchFamily="34" charset="0"/>
                <a:ea typeface="Trade Gothic Next" pitchFamily="34" charset="-122"/>
                <a:cs typeface="Trade Gothic Next" pitchFamily="34" charset="-120"/>
              </a:rPr>
              <a:t>figure + annotation</a:t>
            </a:r>
            <a:endParaRPr lang="en-US" sz="1100" dirty="0"/>
          </a:p>
        </p:txBody>
      </p:sp>
      <p:sp>
        <p:nvSpPr>
          <p:cNvPr id="40" name="Shape 35"/>
          <p:cNvSpPr/>
          <p:nvPr/>
        </p:nvSpPr>
        <p:spPr>
          <a:xfrm>
            <a:off x="9098280" y="3328416"/>
            <a:ext cx="2148840" cy="932688"/>
          </a:xfrm>
          <a:prstGeom prst="rect">
            <a:avLst/>
          </a:prstGeom>
          <a:solidFill>
            <a:srgbClr val="2E3338"/>
          </a:solidFill>
          <a:ln/>
        </p:spPr>
      </p:sp>
      <p:sp>
        <p:nvSpPr>
          <p:cNvPr id="41" name="Text 36"/>
          <p:cNvSpPr txBox="1"/>
          <p:nvPr/>
        </p:nvSpPr>
        <p:spPr>
          <a:xfrm>
            <a:off x="9262872" y="3456432"/>
            <a:ext cx="457200" cy="219456"/>
          </a:xfrm>
          <a:prstGeom prst="rect">
            <a:avLst/>
          </a:prstGeom>
          <a:noFill/>
          <a:ln/>
        </p:spPr>
        <p:txBody>
          <a:bodyPr wrap="square" lIns="0" tIns="0" rIns="0" bIns="0" rtlCol="0" anchor="ctr"/>
          <a:lstStyle/>
          <a:p>
            <a:pPr indent="0" marL="0">
              <a:buNone/>
            </a:pPr>
            <a:r>
              <a:rPr lang="en-US" sz="1100" b="1" dirty="0">
                <a:solidFill>
                  <a:srgbClr val="BDB6AA"/>
                </a:solidFill>
                <a:latin typeface="Trade Gothic Next" pitchFamily="34" charset="0"/>
                <a:ea typeface="Trade Gothic Next" pitchFamily="34" charset="-122"/>
                <a:cs typeface="Trade Gothic Next" pitchFamily="34" charset="-120"/>
              </a:rPr>
              <a:t>09</a:t>
            </a:r>
            <a:endParaRPr lang="en-US" sz="1100" dirty="0"/>
          </a:p>
        </p:txBody>
      </p:sp>
      <p:sp>
        <p:nvSpPr>
          <p:cNvPr id="42" name="Text 37"/>
          <p:cNvSpPr txBox="1"/>
          <p:nvPr/>
        </p:nvSpPr>
        <p:spPr>
          <a:xfrm>
            <a:off x="9701784" y="3456432"/>
            <a:ext cx="1417320" cy="256032"/>
          </a:xfrm>
          <a:prstGeom prst="rect">
            <a:avLst/>
          </a:prstGeom>
          <a:noFill/>
          <a:ln/>
        </p:spPr>
        <p:txBody>
          <a:bodyPr wrap="square" lIns="0" tIns="0" rIns="0" bIns="0" rtlCol="0" anchor="ctr"/>
          <a:lstStyle/>
          <a:p>
            <a:pPr indent="0" marL="0">
              <a:buNone/>
            </a:pPr>
            <a:r>
              <a:rPr lang="en-US" sz="1200" b="1" dirty="0">
                <a:solidFill>
                  <a:srgbClr val="EDF0E5"/>
                </a:solidFill>
                <a:latin typeface="Trade Gothic Next" pitchFamily="34" charset="0"/>
                <a:ea typeface="Trade Gothic Next" pitchFamily="34" charset="-122"/>
                <a:cs typeface="Trade Gothic Next" pitchFamily="34" charset="-120"/>
              </a:rPr>
              <a:t>Example</a:t>
            </a:r>
            <a:endParaRPr lang="en-US" sz="1200" dirty="0"/>
          </a:p>
        </p:txBody>
      </p:sp>
      <p:sp>
        <p:nvSpPr>
          <p:cNvPr id="43" name="Text 38"/>
          <p:cNvSpPr txBox="1"/>
          <p:nvPr/>
        </p:nvSpPr>
        <p:spPr>
          <a:xfrm>
            <a:off x="9262872" y="3803904"/>
            <a:ext cx="1847088" cy="347472"/>
          </a:xfrm>
          <a:prstGeom prst="rect">
            <a:avLst/>
          </a:prstGeom>
          <a:noFill/>
          <a:ln/>
        </p:spPr>
        <p:txBody>
          <a:bodyPr wrap="square" lIns="0" tIns="0" rIns="0" bIns="0" rtlCol="0" anchor="ctr"/>
          <a:lstStyle/>
          <a:p>
            <a:pPr indent="0" marL="0">
              <a:buNone/>
            </a:pPr>
            <a:r>
              <a:rPr lang="en-US" sz="1100" dirty="0">
                <a:solidFill>
                  <a:srgbClr val="BDB6AA"/>
                </a:solidFill>
                <a:latin typeface="Trade Gothic Next" pitchFamily="34" charset="0"/>
                <a:ea typeface="Trade Gothic Next" pitchFamily="34" charset="-122"/>
                <a:cs typeface="Trade Gothic Next" pitchFamily="34" charset="-120"/>
              </a:rPr>
              <a:t>empty work area</a:t>
            </a:r>
            <a:endParaRPr lang="en-US" sz="1100" dirty="0"/>
          </a:p>
        </p:txBody>
      </p:sp>
      <p:sp>
        <p:nvSpPr>
          <p:cNvPr id="44" name="Shape 39"/>
          <p:cNvSpPr/>
          <p:nvPr/>
        </p:nvSpPr>
        <p:spPr>
          <a:xfrm>
            <a:off x="4434840" y="4443984"/>
            <a:ext cx="2148840" cy="932688"/>
          </a:xfrm>
          <a:prstGeom prst="rect">
            <a:avLst/>
          </a:prstGeom>
          <a:solidFill>
            <a:srgbClr val="2E3338"/>
          </a:solidFill>
          <a:ln/>
        </p:spPr>
      </p:sp>
      <p:sp>
        <p:nvSpPr>
          <p:cNvPr id="45" name="Text 40"/>
          <p:cNvSpPr txBox="1"/>
          <p:nvPr/>
        </p:nvSpPr>
        <p:spPr>
          <a:xfrm>
            <a:off x="4599432" y="4572000"/>
            <a:ext cx="457200" cy="219456"/>
          </a:xfrm>
          <a:prstGeom prst="rect">
            <a:avLst/>
          </a:prstGeom>
          <a:noFill/>
          <a:ln/>
        </p:spPr>
        <p:txBody>
          <a:bodyPr wrap="square" lIns="0" tIns="0" rIns="0" bIns="0" rtlCol="0" anchor="ctr"/>
          <a:lstStyle/>
          <a:p>
            <a:pPr indent="0" marL="0">
              <a:buNone/>
            </a:pPr>
            <a:r>
              <a:rPr lang="en-US" sz="1100" b="1" dirty="0">
                <a:solidFill>
                  <a:srgbClr val="BDB6AA"/>
                </a:solidFill>
                <a:latin typeface="Trade Gothic Next" pitchFamily="34" charset="0"/>
                <a:ea typeface="Trade Gothic Next" pitchFamily="34" charset="-122"/>
                <a:cs typeface="Trade Gothic Next" pitchFamily="34" charset="-120"/>
              </a:rPr>
              <a:t>10</a:t>
            </a:r>
            <a:endParaRPr lang="en-US" sz="1100" dirty="0"/>
          </a:p>
        </p:txBody>
      </p:sp>
      <p:sp>
        <p:nvSpPr>
          <p:cNvPr id="46" name="Text 41"/>
          <p:cNvSpPr txBox="1"/>
          <p:nvPr/>
        </p:nvSpPr>
        <p:spPr>
          <a:xfrm>
            <a:off x="5038344" y="4572000"/>
            <a:ext cx="1417320" cy="256032"/>
          </a:xfrm>
          <a:prstGeom prst="rect">
            <a:avLst/>
          </a:prstGeom>
          <a:noFill/>
          <a:ln/>
        </p:spPr>
        <p:txBody>
          <a:bodyPr wrap="square" lIns="0" tIns="0" rIns="0" bIns="0" rtlCol="0" anchor="ctr"/>
          <a:lstStyle/>
          <a:p>
            <a:pPr indent="0" marL="0">
              <a:buNone/>
            </a:pPr>
            <a:r>
              <a:rPr lang="en-US" sz="1200" b="1" dirty="0">
                <a:solidFill>
                  <a:srgbClr val="EDF0E5"/>
                </a:solidFill>
                <a:latin typeface="Trade Gothic Next" pitchFamily="34" charset="0"/>
                <a:ea typeface="Trade Gothic Next" pitchFamily="34" charset="-122"/>
                <a:cs typeface="Trade Gothic Next" pitchFamily="34" charset="-120"/>
              </a:rPr>
              <a:t>Solution</a:t>
            </a:r>
            <a:endParaRPr lang="en-US" sz="1200" dirty="0"/>
          </a:p>
        </p:txBody>
      </p:sp>
      <p:sp>
        <p:nvSpPr>
          <p:cNvPr id="47" name="Text 42"/>
          <p:cNvSpPr txBox="1"/>
          <p:nvPr/>
        </p:nvSpPr>
        <p:spPr>
          <a:xfrm>
            <a:off x="4599432" y="4919472"/>
            <a:ext cx="1847088" cy="347472"/>
          </a:xfrm>
          <a:prstGeom prst="rect">
            <a:avLst/>
          </a:prstGeom>
          <a:noFill/>
          <a:ln/>
        </p:spPr>
        <p:txBody>
          <a:bodyPr wrap="square" lIns="0" tIns="0" rIns="0" bIns="0" rtlCol="0" anchor="ctr"/>
          <a:lstStyle/>
          <a:p>
            <a:pPr indent="0" marL="0">
              <a:buNone/>
            </a:pPr>
            <a:r>
              <a:rPr lang="en-US" sz="1100" dirty="0">
                <a:solidFill>
                  <a:srgbClr val="BDB6AA"/>
                </a:solidFill>
                <a:latin typeface="Trade Gothic Next" pitchFamily="34" charset="0"/>
                <a:ea typeface="Trade Gothic Next" pitchFamily="34" charset="-122"/>
                <a:cs typeface="Trade Gothic Next" pitchFamily="34" charset="-120"/>
              </a:rPr>
              <a:t>pairs with 09</a:t>
            </a:r>
            <a:endParaRPr lang="en-US" sz="1100" dirty="0"/>
          </a:p>
        </p:txBody>
      </p:sp>
      <p:sp>
        <p:nvSpPr>
          <p:cNvPr id="48" name="Shape 43"/>
          <p:cNvSpPr/>
          <p:nvPr/>
        </p:nvSpPr>
        <p:spPr>
          <a:xfrm>
            <a:off x="6766560" y="4443984"/>
            <a:ext cx="2148840" cy="932688"/>
          </a:xfrm>
          <a:prstGeom prst="rect">
            <a:avLst/>
          </a:prstGeom>
          <a:solidFill>
            <a:srgbClr val="2E3338"/>
          </a:solidFill>
          <a:ln/>
        </p:spPr>
      </p:sp>
      <p:sp>
        <p:nvSpPr>
          <p:cNvPr id="49" name="Text 44"/>
          <p:cNvSpPr txBox="1"/>
          <p:nvPr/>
        </p:nvSpPr>
        <p:spPr>
          <a:xfrm>
            <a:off x="6931152" y="4572000"/>
            <a:ext cx="457200" cy="219456"/>
          </a:xfrm>
          <a:prstGeom prst="rect">
            <a:avLst/>
          </a:prstGeom>
          <a:noFill/>
          <a:ln/>
        </p:spPr>
        <p:txBody>
          <a:bodyPr wrap="square" lIns="0" tIns="0" rIns="0" bIns="0" rtlCol="0" anchor="ctr"/>
          <a:lstStyle/>
          <a:p>
            <a:pPr indent="0" marL="0">
              <a:buNone/>
            </a:pPr>
            <a:r>
              <a:rPr lang="en-US" sz="1100" b="1" dirty="0">
                <a:solidFill>
                  <a:srgbClr val="BDB6AA"/>
                </a:solidFill>
                <a:latin typeface="Trade Gothic Next" pitchFamily="34" charset="0"/>
                <a:ea typeface="Trade Gothic Next" pitchFamily="34" charset="-122"/>
                <a:cs typeface="Trade Gothic Next" pitchFamily="34" charset="-120"/>
              </a:rPr>
              <a:t>11</a:t>
            </a:r>
            <a:endParaRPr lang="en-US" sz="1100" dirty="0"/>
          </a:p>
        </p:txBody>
      </p:sp>
      <p:sp>
        <p:nvSpPr>
          <p:cNvPr id="50" name="Text 45"/>
          <p:cNvSpPr txBox="1"/>
          <p:nvPr/>
        </p:nvSpPr>
        <p:spPr>
          <a:xfrm>
            <a:off x="7370064" y="4572000"/>
            <a:ext cx="1417320" cy="256032"/>
          </a:xfrm>
          <a:prstGeom prst="rect">
            <a:avLst/>
          </a:prstGeom>
          <a:noFill/>
          <a:ln/>
        </p:spPr>
        <p:txBody>
          <a:bodyPr wrap="square" lIns="0" tIns="0" rIns="0" bIns="0" rtlCol="0" anchor="ctr"/>
          <a:lstStyle/>
          <a:p>
            <a:pPr indent="0" marL="0">
              <a:buNone/>
            </a:pPr>
            <a:r>
              <a:rPr lang="en-US" sz="1200" b="1" dirty="0">
                <a:solidFill>
                  <a:srgbClr val="EDF0E5"/>
                </a:solidFill>
                <a:latin typeface="Trade Gothic Next" pitchFamily="34" charset="0"/>
                <a:ea typeface="Trade Gothic Next" pitchFamily="34" charset="-122"/>
                <a:cs typeface="Trade Gothic Next" pitchFamily="34" charset="-120"/>
              </a:rPr>
              <a:t>Given/Eq/Ans</a:t>
            </a:r>
            <a:endParaRPr lang="en-US" sz="1200" dirty="0"/>
          </a:p>
        </p:txBody>
      </p:sp>
      <p:sp>
        <p:nvSpPr>
          <p:cNvPr id="51" name="Text 46"/>
          <p:cNvSpPr txBox="1"/>
          <p:nvPr/>
        </p:nvSpPr>
        <p:spPr>
          <a:xfrm>
            <a:off x="6931152" y="4919472"/>
            <a:ext cx="1847088" cy="347472"/>
          </a:xfrm>
          <a:prstGeom prst="rect">
            <a:avLst/>
          </a:prstGeom>
          <a:noFill/>
          <a:ln/>
        </p:spPr>
        <p:txBody>
          <a:bodyPr wrap="square" lIns="0" tIns="0" rIns="0" bIns="0" rtlCol="0" anchor="ctr"/>
          <a:lstStyle/>
          <a:p>
            <a:pPr indent="0" marL="0">
              <a:buNone/>
            </a:pPr>
            <a:r>
              <a:rPr lang="en-US" sz="1100" dirty="0">
                <a:solidFill>
                  <a:srgbClr val="BDB6AA"/>
                </a:solidFill>
                <a:latin typeface="Trade Gothic Next" pitchFamily="34" charset="0"/>
                <a:ea typeface="Trade Gothic Next" pitchFamily="34" charset="-122"/>
                <a:cs typeface="Trade Gothic Next" pitchFamily="34" charset="-120"/>
              </a:rPr>
              <a:t>any course</a:t>
            </a:r>
            <a:endParaRPr lang="en-US" sz="1100" dirty="0"/>
          </a:p>
        </p:txBody>
      </p:sp>
      <p:sp>
        <p:nvSpPr>
          <p:cNvPr id="52" name="Shape 47"/>
          <p:cNvSpPr/>
          <p:nvPr/>
        </p:nvSpPr>
        <p:spPr>
          <a:xfrm>
            <a:off x="9098280" y="4443984"/>
            <a:ext cx="2148840" cy="932688"/>
          </a:xfrm>
          <a:prstGeom prst="rect">
            <a:avLst/>
          </a:prstGeom>
          <a:solidFill>
            <a:srgbClr val="2E3338"/>
          </a:solidFill>
          <a:ln/>
        </p:spPr>
      </p:sp>
      <p:sp>
        <p:nvSpPr>
          <p:cNvPr id="53" name="Text 48"/>
          <p:cNvSpPr txBox="1"/>
          <p:nvPr/>
        </p:nvSpPr>
        <p:spPr>
          <a:xfrm>
            <a:off x="9262872" y="4572000"/>
            <a:ext cx="457200" cy="219456"/>
          </a:xfrm>
          <a:prstGeom prst="rect">
            <a:avLst/>
          </a:prstGeom>
          <a:noFill/>
          <a:ln/>
        </p:spPr>
        <p:txBody>
          <a:bodyPr wrap="square" lIns="0" tIns="0" rIns="0" bIns="0" rtlCol="0" anchor="ctr"/>
          <a:lstStyle/>
          <a:p>
            <a:pPr indent="0" marL="0">
              <a:buNone/>
            </a:pPr>
            <a:r>
              <a:rPr lang="en-US" sz="1100" b="1" dirty="0">
                <a:solidFill>
                  <a:srgbClr val="BDB6AA"/>
                </a:solidFill>
                <a:latin typeface="Trade Gothic Next" pitchFamily="34" charset="0"/>
                <a:ea typeface="Trade Gothic Next" pitchFamily="34" charset="-122"/>
                <a:cs typeface="Trade Gothic Next" pitchFamily="34" charset="-120"/>
              </a:rPr>
              <a:t>12</a:t>
            </a:r>
            <a:endParaRPr lang="en-US" sz="1100" dirty="0"/>
          </a:p>
        </p:txBody>
      </p:sp>
      <p:sp>
        <p:nvSpPr>
          <p:cNvPr id="54" name="Text 49"/>
          <p:cNvSpPr txBox="1"/>
          <p:nvPr/>
        </p:nvSpPr>
        <p:spPr>
          <a:xfrm>
            <a:off x="9701784" y="4572000"/>
            <a:ext cx="1417320" cy="256032"/>
          </a:xfrm>
          <a:prstGeom prst="rect">
            <a:avLst/>
          </a:prstGeom>
          <a:noFill/>
          <a:ln/>
        </p:spPr>
        <p:txBody>
          <a:bodyPr wrap="square" lIns="0" tIns="0" rIns="0" bIns="0" rtlCol="0" anchor="ctr"/>
          <a:lstStyle/>
          <a:p>
            <a:pPr indent="0" marL="0">
              <a:buNone/>
            </a:pPr>
            <a:r>
              <a:rPr lang="en-US" sz="1200" b="1" dirty="0">
                <a:solidFill>
                  <a:srgbClr val="EDF0E5"/>
                </a:solidFill>
                <a:latin typeface="Trade Gothic Next" pitchFamily="34" charset="0"/>
                <a:ea typeface="Trade Gothic Next" pitchFamily="34" charset="-122"/>
                <a:cs typeface="Trade Gothic Next" pitchFamily="34" charset="-120"/>
              </a:rPr>
              <a:t>Deck Index</a:t>
            </a:r>
            <a:endParaRPr lang="en-US" sz="1200" dirty="0"/>
          </a:p>
        </p:txBody>
      </p:sp>
      <p:sp>
        <p:nvSpPr>
          <p:cNvPr id="55" name="Text 50"/>
          <p:cNvSpPr txBox="1"/>
          <p:nvPr/>
        </p:nvSpPr>
        <p:spPr>
          <a:xfrm>
            <a:off x="9262872" y="4919472"/>
            <a:ext cx="1847088" cy="347472"/>
          </a:xfrm>
          <a:prstGeom prst="rect">
            <a:avLst/>
          </a:prstGeom>
          <a:noFill/>
          <a:ln/>
        </p:spPr>
        <p:txBody>
          <a:bodyPr wrap="square" lIns="0" tIns="0" rIns="0" bIns="0" rtlCol="0" anchor="ctr"/>
          <a:lstStyle/>
          <a:p>
            <a:pPr indent="0" marL="0">
              <a:buNone/>
            </a:pPr>
            <a:r>
              <a:rPr lang="en-US" sz="1100" dirty="0">
                <a:solidFill>
                  <a:srgbClr val="BDB6AA"/>
                </a:solidFill>
                <a:latin typeface="Trade Gothic Next" pitchFamily="34" charset="0"/>
                <a:ea typeface="Trade Gothic Next" pitchFamily="34" charset="-122"/>
                <a:cs typeface="Trade Gothic Next" pitchFamily="34" charset="-120"/>
              </a:rPr>
              <a:t>delete before class</a:t>
            </a:r>
            <a:endParaRPr lang="en-US" sz="1100" dirty="0"/>
          </a:p>
        </p:txBody>
      </p:sp>
      <p:sp>
        <p:nvSpPr>
          <p:cNvPr id="56" name="Text 51"/>
          <p:cNvSpPr txBox="1"/>
          <p:nvPr/>
        </p:nvSpPr>
        <p:spPr>
          <a:xfrm>
            <a:off x="685800" y="6382512"/>
            <a:ext cx="3657600" cy="237744"/>
          </a:xfrm>
          <a:prstGeom prst="rect">
            <a:avLst/>
          </a:prstGeom>
          <a:noFill/>
          <a:ln/>
        </p:spPr>
        <p:txBody>
          <a:bodyPr wrap="square" lIns="0" tIns="0" rIns="0" bIns="0" rtlCol="0" anchor="ctr"/>
          <a:lstStyle/>
          <a:p>
            <a:pPr indent="0" marL="0">
              <a:buNone/>
            </a:pPr>
            <a:r>
              <a:rPr lang="en-US" sz="1000" b="1" spc="140" kern="0" dirty="0">
                <a:solidFill>
                  <a:srgbClr val="BDB6AA"/>
                </a:solidFill>
                <a:latin typeface="Trade Gothic Next" pitchFamily="34" charset="0"/>
                <a:ea typeface="Trade Gothic Next" pitchFamily="34" charset="-122"/>
                <a:cs typeface="Trade Gothic Next" pitchFamily="34" charset="-120"/>
              </a:rPr>
              <a:t>SHULL SCIENCE</a:t>
            </a:r>
            <a:endParaRPr lang="en-US" sz="1000" dirty="0"/>
          </a:p>
        </p:txBody>
      </p:sp>
      <p:sp>
        <p:nvSpPr>
          <p:cNvPr id="57" name="Text 52"/>
          <p:cNvSpPr txBox="1"/>
          <p:nvPr>
            <p:ph idx="155" type="body" hasCustomPrompt="1"/>
          </p:nvPr>
        </p:nvSpPr>
        <p:spPr>
          <a:xfrm>
            <a:off x="8762695" y="6382512"/>
            <a:ext cx="2743200" cy="237744"/>
          </a:xfrm>
          <a:prstGeom prst="rect">
            <a:avLst/>
          </a:prstGeom>
          <a:noFill/>
          <a:ln/>
        </p:spPr>
        <p:txBody>
          <a:bodyPr wrap="square" rtlCol="0"/>
          <a:lstStyle>
            <a:lvl1pPr algn="r" indent="0" marL="0">
              <a:buNone/>
              <a:defRPr lang="en-US" sz="1000" b="1" spc="140" kern="0" dirty="0">
                <a:solidFill>
                  <a:srgbClr val="BDB6AA"/>
                </a:solidFill>
                <a:latin typeface="Trade Gothic Next" pitchFamily="34" charset="0"/>
                <a:ea typeface="Trade Gothic Next" pitchFamily="34" charset="-122"/>
                <a:cs typeface="Trade Gothic Next" pitchFamily="34" charset="-120"/>
              </a:defRPr>
            </a:lvl1pPr>
          </a:lstStyle>
          <a:p>
            <a:pPr algn="r" indent="0" marL="0">
              <a:buNone/>
            </a:pPr>
            <a:r>
              <a:rPr lang="en-US" sz="1000" b="1" spc="140" kern="0" dirty="0">
                <a:solidFill>
                  <a:srgbClr val="BDB6AA"/>
                </a:solidFill>
                <a:latin typeface="Trade Gothic Next" pitchFamily="34" charset="0"/>
                <a:ea typeface="Trade Gothic Next" pitchFamily="34" charset="-122"/>
                <a:cs typeface="Trade Gothic Next" pitchFamily="34" charset="-120"/>
              </a:rPr>
              <a:t>U00 • S0.0</a:t>
            </a:r>
            <a:endParaRPr lang="en-US" sz="1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9.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9.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9.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9.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9.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3"/>
          <p:cNvSpPr txBox="1"/>
          <p:nvPr>
            <p:ph idx="104" type="body" hasCustomPrompt="1"/>
          </p:nvPr>
        </p:nvSpPr>
        <p:spPr>
          <a:xfrm>
            <a:off x="777240" y="502920"/>
            <a:ext cx="2011680" cy="868680"/>
          </a:xfrm>
          <a:prstGeom prst="rect">
            <a:avLst/>
          </a:prstGeom>
          <a:noFill/>
          <a:ln/>
        </p:spPr>
        <p:txBody>
          <a:bodyPr wrap="square" lIns="0" tIns="0" rIns="0" bIns="0" rtlCol="0"/>
          <a:lstStyle/>
          <a:p>
            <a:pPr algn="l" indent="0" marL="0">
              <a:buNone/>
            </a:pPr>
            <a:r>
              <a:rPr lang="en-US" sz="4400" b="1" dirty="0">
                <a:solidFill>
                  <a:srgbClr val="14161B"/>
                </a:solidFill>
                <a:latin typeface="Trade Gothic Next" pitchFamily="34" charset="0"/>
                <a:ea typeface="Trade Gothic Next" pitchFamily="34" charset="-122"/>
                <a:cs typeface="Trade Gothic Next" pitchFamily="34" charset="-120"/>
              </a:rPr>
              <a:t>03</a:t>
            </a:r>
            <a:endParaRPr lang="en-US" sz="4400" dirty="0"/>
          </a:p>
        </p:txBody>
      </p:sp>
      <p:sp>
        <p:nvSpPr>
          <p:cNvPr id="3" name="Text 4"/>
          <p:cNvSpPr txBox="1"/>
          <p:nvPr>
            <p:ph idx="106" type="title" hasCustomPrompt="1"/>
          </p:nvPr>
        </p:nvSpPr>
        <p:spPr>
          <a:xfrm>
            <a:off x="777240" y="1847088"/>
            <a:ext cx="2834640" cy="1691640"/>
          </a:xfrm>
          <a:prstGeom prst="rect">
            <a:avLst/>
          </a:prstGeom>
          <a:noFill/>
          <a:ln/>
        </p:spPr>
        <p:txBody>
          <a:bodyPr wrap="square" lIns="0" tIns="0" rIns="0" bIns="0" rtlCol="0"/>
          <a:lstStyle/>
          <a:p>
            <a:pPr algn="l" indent="0" marL="0">
              <a:lnSpc>
                <a:spcPct val="106000"/>
              </a:lnSpc>
              <a:buNone/>
            </a:pPr>
            <a:r>
              <a:rPr lang="en-US" sz="2800" b="1" dirty="0">
                <a:solidFill>
                  <a:srgbClr val="14161B"/>
                </a:solidFill>
                <a:latin typeface="Trade Gothic Next" pitchFamily="34" charset="0"/>
                <a:ea typeface="Trade Gothic Next" pitchFamily="34" charset="-122"/>
                <a:cs typeface="Trade Gothic Next" pitchFamily="34" charset="-120"/>
              </a:rPr>
              <a:t>2.3</a:t>
            </a:r>
            <a:endParaRPr lang="en-US" sz="2800" dirty="0"/>
          </a:p>
          <a:p>
            <a:pPr algn="l" indent="0" marL="0">
              <a:lnSpc>
                <a:spcPct val="106000"/>
              </a:lnSpc>
              <a:buNone/>
            </a:pPr>
            <a:r>
              <a:rPr lang="en-US" sz="2800" b="1" dirty="0">
                <a:solidFill>
                  <a:srgbClr val="14161B"/>
                </a:solidFill>
                <a:latin typeface="Trade Gothic Next" pitchFamily="34" charset="0"/>
                <a:ea typeface="Trade Gothic Next" pitchFamily="34" charset="-122"/>
                <a:cs typeface="Trade Gothic Next" pitchFamily="34" charset="-120"/>
              </a:rPr>
              <a:t>Electron</a:t>
            </a:r>
            <a:endParaRPr lang="en-US" sz="2800" dirty="0"/>
          </a:p>
          <a:p>
            <a:pPr algn="l" indent="0" marL="0">
              <a:lnSpc>
                <a:spcPct val="106000"/>
              </a:lnSpc>
              <a:buNone/>
            </a:pPr>
            <a:r>
              <a:rPr lang="en-US" sz="2800" b="1" dirty="0">
                <a:solidFill>
                  <a:srgbClr val="14161B"/>
                </a:solidFill>
                <a:latin typeface="Trade Gothic Next" pitchFamily="34" charset="0"/>
                <a:ea typeface="Trade Gothic Next" pitchFamily="34" charset="-122"/>
                <a:cs typeface="Trade Gothic Next" pitchFamily="34" charset="-120"/>
              </a:rPr>
              <a:t>Configurations</a:t>
            </a:r>
            <a:endParaRPr lang="en-US" sz="2800" dirty="0"/>
          </a:p>
        </p:txBody>
      </p:sp>
      <p:sp>
        <p:nvSpPr>
          <p:cNvPr id="4" name="Text 4"/>
          <p:cNvSpPr txBox="1"/>
          <p:nvPr>
            <p:ph idx="107" type="body" hasCustomPrompt="1"/>
          </p:nvPr>
        </p:nvSpPr>
        <p:spPr>
          <a:xfrm>
            <a:off x="777240" y="3749040"/>
            <a:ext cx="2834640" cy="1097280"/>
          </a:xfrm>
          <a:prstGeom prst="rect">
            <a:avLst/>
          </a:prstGeom>
          <a:noFill/>
          <a:ln/>
        </p:spPr>
        <p:txBody>
          <a:bodyPr wrap="square" lIns="0" tIns="0" rIns="0" bIns="0" rtlCol="0"/>
          <a:lstStyle/>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Write configurations and orbital diagrams through krypton, and catch mistakes in them.</a:t>
            </a:r>
            <a:endParaRPr lang="en-US" sz="1600" dirty="0"/>
          </a:p>
        </p:txBody>
      </p:sp>
      <p:sp>
        <p:nvSpPr>
          <p:cNvPr id="5" name="Text 5"/>
          <p:cNvSpPr txBox="1"/>
          <p:nvPr>
            <p:ph idx="109" type="body" hasCustomPrompt="1"/>
          </p:nvPr>
        </p:nvSpPr>
        <p:spPr>
          <a:xfrm>
            <a:off x="8762695" y="6382512"/>
            <a:ext cx="2743200" cy="237744"/>
          </a:xfrm>
          <a:prstGeom prst="rect">
            <a:avLst/>
          </a:prstGeom>
          <a:noFill/>
          <a:ln/>
        </p:spPr>
        <p:txBody>
          <a:bodyPr wrap="square" lIns="0" tIns="0" rIns="0" bIns="0" rtlCol="0" anchor="ctr"/>
          <a:lstStyle/>
          <a:p>
            <a:pPr algn="r" indent="0" marL="0">
              <a:buNone/>
            </a:pPr>
            <a:r>
              <a:rPr lang="en-US" sz="1000" b="1" spc="140" kern="0" dirty="0">
                <a:solidFill>
                  <a:srgbClr val="BDB6AA"/>
                </a:solidFill>
                <a:latin typeface="Trade Gothic Next" pitchFamily="34" charset="0"/>
                <a:ea typeface="Trade Gothic Next" pitchFamily="34" charset="-122"/>
                <a:cs typeface="Trade Gothic Next" pitchFamily="34" charset="-120"/>
              </a:rPr>
              <a:t>U02 • S02.3</a:t>
            </a:r>
            <a:endParaRPr lang="en-US" sz="1000" dirty="0"/>
          </a:p>
        </p:txBody>
      </p:sp>
      <p:sp>
        <p:nvSpPr>
          <p:cNvPr id="7" name="Text 3"/>
          <p:cNvSpPr txBox="1"/>
          <p:nvPr>
            <p:ph idx="103" hasCustomPrompt="1"/>
          </p:nvPr>
        </p:nvSpPr>
        <p:spPr>
          <a:xfrm>
            <a:off x="4480560" y="777240"/>
            <a:ext cx="7086600" cy="3986784"/>
          </a:xfrm>
          <a:prstGeom prst="rect">
            <a:avLst/>
          </a:prstGeom>
          <a:noFill/>
          <a:ln/>
        </p:spPr>
        <p:txBody>
          <a:bodyPr wrap="square" lIns="0" tIns="0" rIns="0" bIns="0" rtlCol="0" anchor="ctr"/>
          <a:lstStyle/>
          <a:p>
            <a:pPr algn="ctr" indent="0" marL="0">
              <a:buNone/>
            </a:pP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5"/>
          <p:cNvSpPr txBox="1"/>
          <p:nvPr>
            <p:ph idx="107" type="title" hasCustomPrompt="1"/>
          </p:nvPr>
        </p:nvSpPr>
        <p:spPr>
          <a:xfrm>
            <a:off x="685800" y="1188720"/>
            <a:ext cx="4892040" cy="868680"/>
          </a:xfrm>
          <a:prstGeom prst="rect">
            <a:avLst/>
          </a:prstGeom>
          <a:noFill/>
          <a:ln/>
        </p:spPr>
        <p:txBody>
          <a:bodyPr wrap="square" lIns="0" tIns="0" rIns="0" bIns="0" rtlCol="0"/>
          <a:lstStyle/>
          <a:p>
            <a:pPr algn="l" indent="0" marL="0">
              <a:buNone/>
            </a:pPr>
            <a:r>
              <a:rPr lang="en-US" sz="2800" b="1" dirty="0">
                <a:solidFill>
                  <a:srgbClr val="EDF0E5"/>
                </a:solidFill>
                <a:latin typeface="Trade Gothic Next" pitchFamily="34" charset="0"/>
                <a:ea typeface="Trade Gothic Next" pitchFamily="34" charset="-122"/>
                <a:cs typeface="Trade Gothic Next" pitchFamily="34" charset="-120"/>
              </a:rPr>
              <a:t>Where Are Oxygen's Electrons?</a:t>
            </a:r>
            <a:endParaRPr lang="en-US" sz="2800" dirty="0"/>
          </a:p>
        </p:txBody>
      </p:sp>
      <p:sp>
        <p:nvSpPr>
          <p:cNvPr id="3" name="Text 5"/>
          <p:cNvSpPr txBox="1"/>
          <p:nvPr>
            <p:ph idx="108" type="body" hasCustomPrompt="1"/>
          </p:nvPr>
        </p:nvSpPr>
        <p:spPr>
          <a:xfrm>
            <a:off x="685800" y="2148840"/>
            <a:ext cx="4892040" cy="1005840"/>
          </a:xfrm>
          <a:prstGeom prst="rect">
            <a:avLst/>
          </a:prstGeom>
          <a:noFill/>
          <a:ln/>
        </p:spPr>
        <p:txBody>
          <a:bodyPr wrap="square" lIns="0" tIns="0" rIns="0" bIns="0" rtlCol="0"/>
          <a:lstStyle/>
          <a:p>
            <a:pPr indent="0" marL="0">
              <a:buNone/>
            </a:pPr>
            <a:r>
              <a:rPr lang="en-US" sz="1600" dirty="0">
                <a:solidFill>
                  <a:srgbClr val="BDB6AA"/>
                </a:solidFill>
                <a:latin typeface="Trade Gothic Next" pitchFamily="34" charset="0"/>
                <a:ea typeface="Trade Gothic Next" pitchFamily="34" charset="-122"/>
                <a:cs typeface="Trade Gothic Next" pitchFamily="34" charset="-120"/>
              </a:rPr>
              <a:t>The periodic table gives you the count: 8. Today you write where each one sits.</a:t>
            </a:r>
            <a:endParaRPr lang="en-US" sz="1600" dirty="0"/>
          </a:p>
        </p:txBody>
      </p:sp>
      <p:sp>
        <p:nvSpPr>
          <p:cNvPr id="4" name="Text 7"/>
          <p:cNvSpPr txBox="1"/>
          <p:nvPr>
            <p:ph idx="111" type="body" hasCustomPrompt="1"/>
          </p:nvPr>
        </p:nvSpPr>
        <p:spPr>
          <a:xfrm>
            <a:off x="886968" y="3950208"/>
            <a:ext cx="4489704" cy="566928"/>
          </a:xfrm>
          <a:prstGeom prst="rect">
            <a:avLst/>
          </a:prstGeom>
          <a:noFill/>
          <a:ln/>
        </p:spPr>
        <p:txBody>
          <a:bodyPr wrap="square" lIns="0" tIns="0" rIns="0" bIns="0" rtlCol="0"/>
          <a:lstStyle/>
          <a:p>
            <a:pPr indent="0" marL="0">
              <a:buNone/>
            </a:pPr>
            <a:r>
              <a:rPr lang="en-US" sz="1600" b="1" dirty="0">
                <a:solidFill>
                  <a:srgbClr val="EDF0E5"/>
                </a:solidFill>
                <a:latin typeface="Trade Gothic Next" pitchFamily="34" charset="0"/>
                <a:ea typeface="Trade Gothic Next" pitchFamily="34" charset="-122"/>
                <a:cs typeface="Trade Gothic Next" pitchFamily="34" charset="-120"/>
              </a:rPr>
              <a:t>Oxygen has 8 electrons. Do all 8 have the same energy?</a:t>
            </a:r>
            <a:endParaRPr lang="en-US" sz="1600" dirty="0"/>
          </a:p>
        </p:txBody>
      </p:sp>
      <p:sp>
        <p:nvSpPr>
          <p:cNvPr id="5" name="Text 4"/>
          <p:cNvSpPr txBox="1"/>
          <p:nvPr>
            <p:ph idx="105" type="body" hasCustomPrompt="1"/>
          </p:nvPr>
        </p:nvSpPr>
        <p:spPr>
          <a:xfrm>
            <a:off x="685800" y="384048"/>
            <a:ext cx="6400800" cy="237744"/>
          </a:xfrm>
          <a:prstGeom prst="rect">
            <a:avLst/>
          </a:prstGeom>
          <a:noFill/>
          <a:ln/>
        </p:spPr>
        <p:txBody>
          <a:bodyPr wrap="square" lIns="0" tIns="0" rIns="0" bIns="0" rtlCol="0" anchor="ctr"/>
          <a:lstStyle/>
          <a:p>
            <a:pPr indent="0" marL="0">
              <a:buNone/>
            </a:pPr>
            <a:r>
              <a:rPr lang="en-US" sz="1100" b="1" spc="160" kern="0" dirty="0">
                <a:solidFill>
                  <a:srgbClr val="EDF0E5"/>
                </a:solidFill>
                <a:latin typeface="Trade Gothic Next" pitchFamily="34" charset="0"/>
                <a:ea typeface="Trade Gothic Next" pitchFamily="34" charset="-122"/>
                <a:cs typeface="Trade Gothic Next" pitchFamily="34" charset="-120"/>
              </a:rPr>
              <a:t>UNIT 02  •  CHEMISTRY</a:t>
            </a:r>
            <a:endParaRPr lang="en-US" sz="1100" dirty="0"/>
          </a:p>
        </p:txBody>
      </p:sp>
      <p:sp>
        <p:nvSpPr>
          <p:cNvPr id="6" name="Text 8"/>
          <p:cNvSpPr txBox="1"/>
          <p:nvPr>
            <p:ph idx="113" type="body" hasCustomPrompt="1"/>
          </p:nvPr>
        </p:nvSpPr>
        <p:spPr>
          <a:xfrm>
            <a:off x="8762695" y="6382512"/>
            <a:ext cx="2743200" cy="237744"/>
          </a:xfrm>
          <a:prstGeom prst="rect">
            <a:avLst/>
          </a:prstGeom>
          <a:noFill/>
          <a:ln/>
        </p:spPr>
        <p:txBody>
          <a:bodyPr wrap="square" lIns="0" tIns="0" rIns="0" bIns="0" rtlCol="0" anchor="ctr"/>
          <a:lstStyle/>
          <a:p>
            <a:pPr algn="r" indent="0" marL="0">
              <a:buNone/>
            </a:pPr>
            <a:r>
              <a:rPr lang="en-US" sz="1000" b="1" spc="140" kern="0" dirty="0">
                <a:solidFill>
                  <a:srgbClr val="BDB6AA"/>
                </a:solidFill>
                <a:latin typeface="Trade Gothic Next" pitchFamily="34" charset="0"/>
                <a:ea typeface="Trade Gothic Next" pitchFamily="34" charset="-122"/>
                <a:cs typeface="Trade Gothic Next" pitchFamily="34" charset="-120"/>
              </a:rPr>
              <a:t>U02 • S02.3</a:t>
            </a:r>
            <a:endParaRPr lang="en-US" sz="1000" dirty="0"/>
          </a:p>
        </p:txBody>
      </p:sp>
      <p:sp>
        <p:nvSpPr>
          <p:cNvPr id="8" name="Text 4"/>
          <p:cNvSpPr txBox="1"/>
          <p:nvPr>
            <p:ph idx="104" hasCustomPrompt="1"/>
          </p:nvPr>
        </p:nvSpPr>
        <p:spPr>
          <a:xfrm>
            <a:off x="6355080" y="1298448"/>
            <a:ext cx="4983480" cy="2798064"/>
          </a:xfrm>
          <a:prstGeom prst="rect">
            <a:avLst/>
          </a:prstGeom>
          <a:noFill/>
          <a:ln/>
        </p:spPr>
        <p:txBody>
          <a:bodyPr wrap="square" lIns="0" tIns="0" rIns="0" bIns="0" rtlCol="0" anchor="ctr"/>
          <a:lstStyle/>
          <a:p>
            <a:pPr algn="ctr" indent="0" marL="0">
              <a:buNone/>
            </a:pP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
          <p:cNvSpPr txBox="1"/>
          <p:nvPr>
            <p:ph idx="103" type="title" hasCustomPrompt="1"/>
          </p:nvPr>
        </p:nvSpPr>
        <p:spPr>
          <a:xfrm>
            <a:off x="685800" y="932688"/>
            <a:ext cx="7360920" cy="868680"/>
          </a:xfrm>
          <a:prstGeom prst="rect">
            <a:avLst/>
          </a:prstGeom>
          <a:noFill/>
          <a:ln/>
        </p:spPr>
        <p:txBody>
          <a:bodyPr wrap="square" lIns="0" tIns="0" rIns="0" bIns="0" rtlCol="0" anchor="t"/>
          <a:lstStyle/>
          <a:p>
            <a:pPr algn="l" indent="0" marL="0">
              <a:buNone/>
            </a:pPr>
            <a:r>
              <a:rPr lang="en-US" sz="2800" b="1" dirty="0">
                <a:solidFill>
                  <a:srgbClr val="14161B"/>
                </a:solidFill>
                <a:latin typeface="Trade Gothic Next" pitchFamily="34" charset="0"/>
                <a:ea typeface="Trade Gothic Next" pitchFamily="34" charset="-122"/>
                <a:cs typeface="Trade Gothic Next" pitchFamily="34" charset="-120"/>
              </a:rPr>
              <a:t>Reading an Electron Configuration</a:t>
            </a:r>
            <a:endParaRPr lang="en-US" sz="2800" dirty="0"/>
          </a:p>
        </p:txBody>
      </p:sp>
      <p:sp>
        <p:nvSpPr>
          <p:cNvPr id="3" name="Text 2"/>
          <p:cNvSpPr txBox="1"/>
          <p:nvPr>
            <p:ph idx="104" type="body" hasCustomPrompt="1"/>
          </p:nvPr>
        </p:nvSpPr>
        <p:spPr>
          <a:xfrm>
            <a:off x="685800" y="1847088"/>
            <a:ext cx="7360920" cy="384048"/>
          </a:xfrm>
          <a:prstGeom prst="rect">
            <a:avLst/>
          </a:prstGeom>
          <a:noFill/>
          <a:ln/>
        </p:spPr>
        <p:txBody>
          <a:bodyPr wrap="square" lIns="0" tIns="0" rIns="0" bIns="0" rtlCol="0"/>
          <a:lstStyle/>
          <a:p>
            <a:pPr indent="0" marL="0">
              <a:buNone/>
            </a:pPr>
            <a:r>
              <a:rPr lang="en-US" sz="1700" dirty="0">
                <a:solidFill>
                  <a:srgbClr val="2E3338"/>
                </a:solidFill>
                <a:latin typeface="Trade Gothic Next" pitchFamily="34" charset="0"/>
                <a:ea typeface="Trade Gothic Next" pitchFamily="34" charset="-122"/>
                <a:cs typeface="Trade Gothic Next" pitchFamily="34" charset="-120"/>
              </a:rPr>
              <a:t>Take 2p</a:t>
            </a:r>
            <a:pPr indent="0" marL="0">
              <a:buNone/>
            </a:pPr>
            <a:r>
              <a:rPr lang="en-US" sz="1700" baseline="30000" dirty="0">
                <a:solidFill>
                  <a:srgbClr val="2E3338"/>
                </a:solidFill>
                <a:latin typeface="Trade Gothic Next" pitchFamily="34" charset="0"/>
                <a:ea typeface="Trade Gothic Next" pitchFamily="34" charset="-122"/>
                <a:cs typeface="Trade Gothic Next" pitchFamily="34" charset="-120"/>
              </a:rPr>
              <a:t>4</a:t>
            </a:r>
            <a:pPr indent="0" marL="0">
              <a:buNone/>
            </a:pPr>
            <a:r>
              <a:rPr lang="en-US" sz="1700" dirty="0">
                <a:solidFill>
                  <a:srgbClr val="2E3338"/>
                </a:solidFill>
                <a:latin typeface="Trade Gothic Next" pitchFamily="34" charset="0"/>
                <a:ea typeface="Trade Gothic Next" pitchFamily="34" charset="-122"/>
                <a:cs typeface="Trade Gothic Next" pitchFamily="34" charset="-120"/>
              </a:rPr>
              <a:t> apart one piece at a time.</a:t>
            </a:r>
            <a:endParaRPr lang="en-US" sz="1700" dirty="0"/>
          </a:p>
        </p:txBody>
      </p:sp>
      <p:sp>
        <p:nvSpPr>
          <p:cNvPr id="4" name="Text 5"/>
          <p:cNvSpPr txBox="1"/>
          <p:nvPr>
            <p:ph idx="109" type="body" hasCustomPrompt="1"/>
          </p:nvPr>
        </p:nvSpPr>
        <p:spPr>
          <a:xfrm>
            <a:off x="886968" y="2953512"/>
            <a:ext cx="2999232" cy="219456"/>
          </a:xfrm>
          <a:prstGeom prst="rect">
            <a:avLst/>
          </a:prstGeom>
          <a:noFill/>
          <a:ln/>
        </p:spPr>
        <p:txBody>
          <a:bodyPr wrap="square" lIns="0" tIns="0" rIns="0" bIns="0" rtlCol="0"/>
          <a:lstStyle/>
          <a:p>
            <a:pPr indent="0" marL="0">
              <a:buNone/>
            </a:pPr>
            <a:r>
              <a:rPr lang="en-US" sz="1200" b="1" spc="120" kern="0" dirty="0">
                <a:solidFill>
                  <a:srgbClr val="2E3338"/>
                </a:solidFill>
                <a:latin typeface="Trade Gothic Next" pitchFamily="34" charset="0"/>
                <a:ea typeface="Trade Gothic Next" pitchFamily="34" charset="-122"/>
                <a:cs typeface="Trade Gothic Next" pitchFamily="34" charset="-120"/>
              </a:rPr>
              <a:t>ENERGY LEVEL</a:t>
            </a:r>
            <a:endParaRPr lang="en-US" sz="1200" dirty="0"/>
          </a:p>
        </p:txBody>
      </p:sp>
      <p:sp>
        <p:nvSpPr>
          <p:cNvPr id="5" name="Text 5"/>
          <p:cNvSpPr txBox="1"/>
          <p:nvPr>
            <p:ph idx="110" type="body" hasCustomPrompt="1"/>
          </p:nvPr>
        </p:nvSpPr>
        <p:spPr>
          <a:xfrm>
            <a:off x="886968" y="3246120"/>
            <a:ext cx="2999232" cy="1673352"/>
          </a:xfrm>
          <a:prstGeom prst="rect">
            <a:avLst/>
          </a:prstGeom>
          <a:noFill/>
          <a:ln/>
        </p:spPr>
        <p:txBody>
          <a:bodyPr wrap="square" lIns="0" tIns="0" rIns="0" bIns="0" rtlCol="0"/>
          <a:lstStyle/>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2p</a:t>
            </a:r>
            <a:pPr indent="0" marL="0">
              <a:buNone/>
            </a:pPr>
            <a:r>
              <a:rPr lang="en-US" sz="1600" baseline="30000" dirty="0">
                <a:solidFill>
                  <a:srgbClr val="14161B"/>
                </a:solidFill>
                <a:latin typeface="Trade Gothic Next" pitchFamily="34" charset="0"/>
                <a:ea typeface="Trade Gothic Next" pitchFamily="34" charset="-122"/>
                <a:cs typeface="Trade Gothic Next" pitchFamily="34" charset="-120"/>
              </a:rPr>
              <a:t>4</a:t>
            </a:r>
            <a:endParaRPr lang="en-US" sz="1600" dirty="0"/>
          </a:p>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The big number in front is the level: 2.</a:t>
            </a:r>
            <a:endParaRPr lang="en-US" sz="1600" dirty="0"/>
          </a:p>
        </p:txBody>
      </p:sp>
      <p:sp>
        <p:nvSpPr>
          <p:cNvPr id="6" name="Text 6"/>
          <p:cNvSpPr txBox="1"/>
          <p:nvPr>
            <p:ph idx="112" type="body" hasCustomPrompt="1"/>
          </p:nvPr>
        </p:nvSpPr>
        <p:spPr>
          <a:xfrm>
            <a:off x="4498848" y="2953512"/>
            <a:ext cx="2999232" cy="219456"/>
          </a:xfrm>
          <a:prstGeom prst="rect">
            <a:avLst/>
          </a:prstGeom>
          <a:noFill/>
          <a:ln/>
        </p:spPr>
        <p:txBody>
          <a:bodyPr wrap="square" lIns="0" tIns="0" rIns="0" bIns="0" rtlCol="0"/>
          <a:lstStyle/>
          <a:p>
            <a:pPr indent="0" marL="0">
              <a:buNone/>
            </a:pPr>
            <a:r>
              <a:rPr lang="en-US" sz="1200" b="1" spc="120" kern="0" dirty="0">
                <a:solidFill>
                  <a:srgbClr val="2E3338"/>
                </a:solidFill>
                <a:latin typeface="Trade Gothic Next" pitchFamily="34" charset="0"/>
                <a:ea typeface="Trade Gothic Next" pitchFamily="34" charset="-122"/>
                <a:cs typeface="Trade Gothic Next" pitchFamily="34" charset="-120"/>
              </a:rPr>
              <a:t>SUBLEVEL</a:t>
            </a:r>
            <a:endParaRPr lang="en-US" sz="1200" dirty="0"/>
          </a:p>
        </p:txBody>
      </p:sp>
      <p:sp>
        <p:nvSpPr>
          <p:cNvPr id="7" name="Text 6"/>
          <p:cNvSpPr txBox="1"/>
          <p:nvPr>
            <p:ph idx="113" type="body" hasCustomPrompt="1"/>
          </p:nvPr>
        </p:nvSpPr>
        <p:spPr>
          <a:xfrm>
            <a:off x="4498848" y="3246120"/>
            <a:ext cx="2999232" cy="1673352"/>
          </a:xfrm>
          <a:prstGeom prst="rect">
            <a:avLst/>
          </a:prstGeom>
          <a:noFill/>
          <a:ln/>
        </p:spPr>
        <p:txBody>
          <a:bodyPr wrap="square" lIns="0" tIns="0" rIns="0" bIns="0" rtlCol="0"/>
          <a:lstStyle/>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2p</a:t>
            </a:r>
            <a:pPr indent="0" marL="0">
              <a:buNone/>
            </a:pPr>
            <a:r>
              <a:rPr lang="en-US" sz="1600" baseline="30000" dirty="0">
                <a:solidFill>
                  <a:srgbClr val="14161B"/>
                </a:solidFill>
                <a:latin typeface="Trade Gothic Next" pitchFamily="34" charset="0"/>
                <a:ea typeface="Trade Gothic Next" pitchFamily="34" charset="-122"/>
                <a:cs typeface="Trade Gothic Next" pitchFamily="34" charset="-120"/>
              </a:rPr>
              <a:t>4</a:t>
            </a:r>
            <a:endParaRPr lang="en-US" sz="1600" dirty="0"/>
          </a:p>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The letter is the sublevel: p.</a:t>
            </a:r>
            <a:endParaRPr lang="en-US" sz="1600" dirty="0"/>
          </a:p>
        </p:txBody>
      </p:sp>
      <p:sp>
        <p:nvSpPr>
          <p:cNvPr id="8" name="Text 7"/>
          <p:cNvSpPr txBox="1"/>
          <p:nvPr>
            <p:ph idx="115" type="body" hasCustomPrompt="1"/>
          </p:nvPr>
        </p:nvSpPr>
        <p:spPr>
          <a:xfrm>
            <a:off x="8110728" y="2953512"/>
            <a:ext cx="2999232" cy="219456"/>
          </a:xfrm>
          <a:prstGeom prst="rect">
            <a:avLst/>
          </a:prstGeom>
          <a:noFill/>
          <a:ln/>
        </p:spPr>
        <p:txBody>
          <a:bodyPr wrap="square" lIns="0" tIns="0" rIns="0" bIns="0" rtlCol="0"/>
          <a:lstStyle/>
          <a:p>
            <a:pPr indent="0" marL="0">
              <a:buNone/>
            </a:pPr>
            <a:r>
              <a:rPr lang="en-US" sz="1200" b="1" spc="120" kern="0" dirty="0">
                <a:solidFill>
                  <a:srgbClr val="2E3338"/>
                </a:solidFill>
                <a:latin typeface="Trade Gothic Next" pitchFamily="34" charset="0"/>
                <a:ea typeface="Trade Gothic Next" pitchFamily="34" charset="-122"/>
                <a:cs typeface="Trade Gothic Next" pitchFamily="34" charset="-120"/>
              </a:rPr>
              <a:t>ELECTRONS</a:t>
            </a:r>
            <a:endParaRPr lang="en-US" sz="1200" dirty="0"/>
          </a:p>
        </p:txBody>
      </p:sp>
      <p:sp>
        <p:nvSpPr>
          <p:cNvPr id="9" name="Text 7"/>
          <p:cNvSpPr txBox="1"/>
          <p:nvPr>
            <p:ph idx="116" type="body" hasCustomPrompt="1"/>
          </p:nvPr>
        </p:nvSpPr>
        <p:spPr>
          <a:xfrm>
            <a:off x="8110728" y="3246120"/>
            <a:ext cx="2999232" cy="1673352"/>
          </a:xfrm>
          <a:prstGeom prst="rect">
            <a:avLst/>
          </a:prstGeom>
          <a:noFill/>
          <a:ln/>
        </p:spPr>
        <p:txBody>
          <a:bodyPr wrap="square" lIns="0" tIns="0" rIns="0" bIns="0" rtlCol="0"/>
          <a:lstStyle/>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2p</a:t>
            </a:r>
            <a:pPr indent="0" marL="0">
              <a:buNone/>
            </a:pPr>
            <a:r>
              <a:rPr lang="en-US" sz="1600" baseline="30000" dirty="0">
                <a:solidFill>
                  <a:srgbClr val="14161B"/>
                </a:solidFill>
                <a:latin typeface="Trade Gothic Next" pitchFamily="34" charset="0"/>
                <a:ea typeface="Trade Gothic Next" pitchFamily="34" charset="-122"/>
                <a:cs typeface="Trade Gothic Next" pitchFamily="34" charset="-120"/>
              </a:rPr>
              <a:t>4</a:t>
            </a:r>
            <a:endParaRPr lang="en-US" sz="1600" dirty="0"/>
          </a:p>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The raised number is the electron count: 4.</a:t>
            </a:r>
            <a:endParaRPr lang="en-US" sz="1600" dirty="0"/>
          </a:p>
        </p:txBody>
      </p:sp>
      <p:sp>
        <p:nvSpPr>
          <p:cNvPr id="10" name="Text 9"/>
          <p:cNvSpPr txBox="1"/>
          <p:nvPr>
            <p:ph idx="119" type="body" hasCustomPrompt="1"/>
          </p:nvPr>
        </p:nvSpPr>
        <p:spPr>
          <a:xfrm>
            <a:off x="2240280" y="5486400"/>
            <a:ext cx="8991295" cy="402336"/>
          </a:xfrm>
          <a:prstGeom prst="rect">
            <a:avLst/>
          </a:prstGeom>
          <a:noFill/>
          <a:ln/>
        </p:spPr>
        <p:txBody>
          <a:bodyPr wrap="square" lIns="0" tIns="0" rIns="0" bIns="0" rtlCol="0" anchor="ctr"/>
          <a:lstStyle/>
          <a:p>
            <a:pPr indent="0" marL="0">
              <a:buNone/>
            </a:pPr>
            <a:r>
              <a:rPr lang="en-US" sz="1600" b="1" dirty="0">
                <a:solidFill>
                  <a:srgbClr val="EDF0E5"/>
                </a:solidFill>
                <a:latin typeface="Trade Gothic Next" pitchFamily="34" charset="0"/>
                <a:ea typeface="Trade Gothic Next" pitchFamily="34" charset="-122"/>
                <a:cs typeface="Trade Gothic Next" pitchFamily="34" charset="-120"/>
              </a:rPr>
              <a:t>A configuration lists where the electrons sit. Ground state means the lowest-energy arrangement.</a:t>
            </a:r>
            <a:endParaRPr lang="en-US" sz="1600" dirty="0"/>
          </a:p>
        </p:txBody>
      </p:sp>
      <p:sp>
        <p:nvSpPr>
          <p:cNvPr id="11" name="Text 1"/>
          <p:cNvSpPr txBox="1"/>
          <p:nvPr>
            <p:ph idx="101" type="body" hasCustomPrompt="1"/>
          </p:nvPr>
        </p:nvSpPr>
        <p:spPr>
          <a:xfrm>
            <a:off x="685800" y="384048"/>
            <a:ext cx="6400800" cy="237744"/>
          </a:xfrm>
          <a:prstGeom prst="rect">
            <a:avLst/>
          </a:prstGeom>
          <a:noFill/>
          <a:ln/>
        </p:spPr>
        <p:txBody>
          <a:bodyPr wrap="square" lIns="0" tIns="0" rIns="0" bIns="0" rtlCol="0" anchor="ctr"/>
          <a:lstStyle/>
          <a:p>
            <a:pPr indent="0" marL="0">
              <a:buNone/>
            </a:pPr>
            <a:r>
              <a:rPr lang="en-US" sz="1100" b="1" spc="160" kern="0" dirty="0">
                <a:solidFill>
                  <a:srgbClr val="14161B"/>
                </a:solidFill>
                <a:latin typeface="Trade Gothic Next" pitchFamily="34" charset="0"/>
                <a:ea typeface="Trade Gothic Next" pitchFamily="34" charset="-122"/>
                <a:cs typeface="Trade Gothic Next" pitchFamily="34" charset="-120"/>
              </a:rPr>
              <a:t>UNIT 02  •  CHEMISTRY</a:t>
            </a:r>
            <a:endParaRPr lang="en-US" sz="1100" dirty="0"/>
          </a:p>
        </p:txBody>
      </p:sp>
      <p:sp>
        <p:nvSpPr>
          <p:cNvPr id="12" name="Text 10"/>
          <p:cNvSpPr txBox="1"/>
          <p:nvPr>
            <p:ph idx="121" type="body" hasCustomPrompt="1"/>
          </p:nvPr>
        </p:nvSpPr>
        <p:spPr>
          <a:xfrm>
            <a:off x="8762695" y="6382512"/>
            <a:ext cx="2743200" cy="237744"/>
          </a:xfrm>
          <a:prstGeom prst="rect">
            <a:avLst/>
          </a:prstGeom>
          <a:noFill/>
          <a:ln/>
        </p:spPr>
        <p:txBody>
          <a:bodyPr wrap="square" lIns="0" tIns="0" rIns="0" bIns="0" rtlCol="0" anchor="ctr"/>
          <a:lstStyle/>
          <a:p>
            <a:pPr algn="r" indent="0" marL="0">
              <a:buNone/>
            </a:pPr>
            <a:r>
              <a:rPr lang="en-US" sz="1000" b="1" spc="140" kern="0" dirty="0">
                <a:solidFill>
                  <a:srgbClr val="2E3338"/>
                </a:solidFill>
                <a:latin typeface="Trade Gothic Next" pitchFamily="34" charset="0"/>
                <a:ea typeface="Trade Gothic Next" pitchFamily="34" charset="-122"/>
                <a:cs typeface="Trade Gothic Next" pitchFamily="34" charset="-120"/>
              </a:rPr>
              <a:t>U02 • S02.3</a:t>
            </a:r>
            <a:endParaRPr lang="en-US" sz="1000" dirty="0"/>
          </a:p>
        </p:txBody>
      </p:sp>
      <p:sp>
        <p:nvSpPr>
          <p:cNvPr id="14" name="Text 4"/>
          <p:cNvSpPr txBox="1"/>
          <p:nvPr>
            <p:ph idx="107" hasCustomPrompt="1"/>
          </p:nvPr>
        </p:nvSpPr>
        <p:spPr>
          <a:xfrm>
            <a:off x="8641080" y="1088136"/>
            <a:ext cx="2633472" cy="1481328"/>
          </a:xfrm>
          <a:prstGeom prst="rect">
            <a:avLst/>
          </a:prstGeom>
          <a:noFill/>
          <a:ln/>
        </p:spPr>
        <p:txBody>
          <a:bodyPr wrap="square" lIns="0" tIns="0" rIns="0" bIns="0" rtlCol="0" anchor="ctr"/>
          <a:lstStyle/>
          <a:p>
            <a:pPr algn="ctr" indent="0" marL="0">
              <a:buNone/>
            </a:pP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Filling-order chart: sublevels 1s through 7p in rows by level, with diagonal arrows linking them in the order 1s 2s 2p 3s 3p 4s 3d 4p 5s 4d 5p; 4s and 3d are outlined because 4s fills before 3d.">    </p:cNvPr>
          <p:cNvPicPr>
            <a:picLocks noChangeAspect="1"/>
          </p:cNvPicPr>
          <p:nvPr/>
        </p:nvPicPr>
        <p:blipFill>
          <a:blip r:embed="rId1"/>
          <a:stretch>
            <a:fillRect/>
          </a:stretch>
        </p:blipFill>
        <p:spPr>
          <a:xfrm>
            <a:off x="914400" y="2651760"/>
            <a:ext cx="4617720" cy="2743200"/>
          </a:xfrm>
          <a:prstGeom prst="rect">
            <a:avLst/>
          </a:prstGeom>
        </p:spPr>
      </p:pic>
      <p:sp>
        <p:nvSpPr>
          <p:cNvPr id="3" name="Text 2"/>
          <p:cNvSpPr txBox="1"/>
          <p:nvPr>
            <p:ph idx="103" type="title" hasCustomPrompt="1"/>
          </p:nvPr>
        </p:nvSpPr>
        <p:spPr>
          <a:xfrm>
            <a:off x="685800" y="932688"/>
            <a:ext cx="10820095" cy="868680"/>
          </a:xfrm>
          <a:prstGeom prst="rect">
            <a:avLst/>
          </a:prstGeom>
          <a:noFill/>
          <a:ln/>
        </p:spPr>
        <p:txBody>
          <a:bodyPr wrap="square" lIns="0" tIns="0" rIns="0" bIns="0" rtlCol="0" anchor="t"/>
          <a:lstStyle/>
          <a:p>
            <a:pPr algn="l" indent="0" marL="0">
              <a:buNone/>
            </a:pPr>
            <a:r>
              <a:rPr lang="en-US" sz="2800" b="1" dirty="0">
                <a:solidFill>
                  <a:srgbClr val="14161B"/>
                </a:solidFill>
                <a:latin typeface="Trade Gothic Next" pitchFamily="34" charset="0"/>
                <a:ea typeface="Trade Gothic Next" pitchFamily="34" charset="-122"/>
                <a:cs typeface="Trade Gothic Next" pitchFamily="34" charset="-120"/>
              </a:rPr>
              <a:t>The Order Electrons Fill In</a:t>
            </a:r>
            <a:endParaRPr lang="en-US" sz="2800" dirty="0"/>
          </a:p>
        </p:txBody>
      </p:sp>
      <p:sp>
        <p:nvSpPr>
          <p:cNvPr id="4" name="Text 2"/>
          <p:cNvSpPr txBox="1"/>
          <p:nvPr>
            <p:ph idx="104" type="body" hasCustomPrompt="1"/>
          </p:nvPr>
        </p:nvSpPr>
        <p:spPr>
          <a:xfrm>
            <a:off x="685800" y="1847088"/>
            <a:ext cx="10820095" cy="384048"/>
          </a:xfrm>
          <a:prstGeom prst="rect">
            <a:avLst/>
          </a:prstGeom>
          <a:noFill/>
          <a:ln/>
        </p:spPr>
        <p:txBody>
          <a:bodyPr wrap="square" lIns="0" tIns="0" rIns="0" bIns="0" rtlCol="0"/>
          <a:lstStyle/>
          <a:p>
            <a:pPr indent="0" marL="0">
              <a:buNone/>
            </a:pPr>
            <a:r>
              <a:rPr lang="en-US" sz="1700" dirty="0">
                <a:solidFill>
                  <a:srgbClr val="2E3338"/>
                </a:solidFill>
                <a:latin typeface="Trade Gothic Next" pitchFamily="34" charset="0"/>
                <a:ea typeface="Trade Gothic Next" pitchFamily="34" charset="-122"/>
                <a:cs typeface="Trade Gothic Next" pitchFamily="34" charset="-120"/>
              </a:rPr>
              <a:t>Read each arrow from top right to bottom left, then start the next arrow.</a:t>
            </a:r>
            <a:endParaRPr lang="en-US" sz="1700" dirty="0"/>
          </a:p>
        </p:txBody>
      </p:sp>
      <p:sp>
        <p:nvSpPr>
          <p:cNvPr id="5" name="Text 4"/>
          <p:cNvSpPr txBox="1"/>
          <p:nvPr>
            <p:ph idx="108" type="body" hasCustomPrompt="1"/>
          </p:nvPr>
        </p:nvSpPr>
        <p:spPr>
          <a:xfrm>
            <a:off x="6327648" y="2560320"/>
            <a:ext cx="5129784" cy="219456"/>
          </a:xfrm>
          <a:prstGeom prst="rect">
            <a:avLst/>
          </a:prstGeom>
          <a:noFill/>
          <a:ln/>
        </p:spPr>
        <p:txBody>
          <a:bodyPr wrap="square" lIns="0" tIns="0" rIns="0" bIns="0" rtlCol="0"/>
          <a:lstStyle/>
          <a:p>
            <a:pPr indent="0" marL="0">
              <a:buNone/>
            </a:pPr>
            <a:r>
              <a:rPr lang="en-US" sz="1200" b="1" spc="120" kern="0" dirty="0">
                <a:solidFill>
                  <a:srgbClr val="2E3338"/>
                </a:solidFill>
                <a:latin typeface="Trade Gothic Next" pitchFamily="34" charset="0"/>
                <a:ea typeface="Trade Gothic Next" pitchFamily="34" charset="-122"/>
                <a:cs typeface="Trade Gothic Next" pitchFamily="34" charset="-120"/>
              </a:rPr>
              <a:t>AUFBAU PRINCIPLE</a:t>
            </a:r>
            <a:endParaRPr lang="en-US" sz="1200" dirty="0"/>
          </a:p>
        </p:txBody>
      </p:sp>
      <p:sp>
        <p:nvSpPr>
          <p:cNvPr id="6" name="Text 4"/>
          <p:cNvSpPr txBox="1"/>
          <p:nvPr>
            <p:ph idx="109" type="body" hasCustomPrompt="1"/>
          </p:nvPr>
        </p:nvSpPr>
        <p:spPr>
          <a:xfrm>
            <a:off x="6327648" y="2852928"/>
            <a:ext cx="5129784" cy="329184"/>
          </a:xfrm>
          <a:prstGeom prst="rect">
            <a:avLst/>
          </a:prstGeom>
          <a:noFill/>
          <a:ln/>
        </p:spPr>
        <p:txBody>
          <a:bodyPr wrap="square" lIns="0" tIns="0" rIns="0" bIns="0" rtlCol="0"/>
          <a:lstStyle/>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The lowest-energy open orbital fills first.</a:t>
            </a:r>
            <a:endParaRPr lang="en-US" sz="1600" dirty="0"/>
          </a:p>
        </p:txBody>
      </p:sp>
      <p:sp>
        <p:nvSpPr>
          <p:cNvPr id="7" name="Text 5"/>
          <p:cNvSpPr txBox="1"/>
          <p:nvPr>
            <p:ph idx="111" type="body" hasCustomPrompt="1"/>
          </p:nvPr>
        </p:nvSpPr>
        <p:spPr>
          <a:xfrm>
            <a:off x="6327648" y="3694176"/>
            <a:ext cx="5129784" cy="219456"/>
          </a:xfrm>
          <a:prstGeom prst="rect">
            <a:avLst/>
          </a:prstGeom>
          <a:noFill/>
          <a:ln/>
        </p:spPr>
        <p:txBody>
          <a:bodyPr wrap="square" lIns="0" tIns="0" rIns="0" bIns="0" rtlCol="0"/>
          <a:lstStyle/>
          <a:p>
            <a:pPr indent="0" marL="0">
              <a:buNone/>
            </a:pPr>
            <a:r>
              <a:rPr lang="en-US" sz="1200" b="1" spc="120" kern="0" dirty="0">
                <a:solidFill>
                  <a:srgbClr val="2E3338"/>
                </a:solidFill>
                <a:latin typeface="Trade Gothic Next" pitchFamily="34" charset="0"/>
                <a:ea typeface="Trade Gothic Next" pitchFamily="34" charset="-122"/>
                <a:cs typeface="Trade Gothic Next" pitchFamily="34" charset="-120"/>
              </a:rPr>
              <a:t>THE ORDER</a:t>
            </a:r>
            <a:endParaRPr lang="en-US" sz="1200" dirty="0"/>
          </a:p>
        </p:txBody>
      </p:sp>
      <p:sp>
        <p:nvSpPr>
          <p:cNvPr id="8" name="Text 5"/>
          <p:cNvSpPr txBox="1"/>
          <p:nvPr>
            <p:ph idx="112" type="body" hasCustomPrompt="1"/>
          </p:nvPr>
        </p:nvSpPr>
        <p:spPr>
          <a:xfrm>
            <a:off x="6327648" y="3986784"/>
            <a:ext cx="5129784" cy="329184"/>
          </a:xfrm>
          <a:prstGeom prst="rect">
            <a:avLst/>
          </a:prstGeom>
          <a:noFill/>
          <a:ln/>
        </p:spPr>
        <p:txBody>
          <a:bodyPr wrap="square" lIns="0" tIns="0" rIns="0" bIns="0" rtlCol="0"/>
          <a:lstStyle/>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1s 2s 2p 3s 3p 4s 3d 4p 5s 4d 5p</a:t>
            </a:r>
            <a:endParaRPr lang="en-US" sz="1600" dirty="0"/>
          </a:p>
        </p:txBody>
      </p:sp>
      <p:sp>
        <p:nvSpPr>
          <p:cNvPr id="9" name="Text 6"/>
          <p:cNvSpPr txBox="1"/>
          <p:nvPr>
            <p:ph idx="114" type="body" hasCustomPrompt="1"/>
          </p:nvPr>
        </p:nvSpPr>
        <p:spPr>
          <a:xfrm>
            <a:off x="6327648" y="4828032"/>
            <a:ext cx="5129784" cy="219456"/>
          </a:xfrm>
          <a:prstGeom prst="rect">
            <a:avLst/>
          </a:prstGeom>
          <a:noFill/>
          <a:ln/>
        </p:spPr>
        <p:txBody>
          <a:bodyPr wrap="square" lIns="0" tIns="0" rIns="0" bIns="0" rtlCol="0"/>
          <a:lstStyle/>
          <a:p>
            <a:pPr indent="0" marL="0">
              <a:buNone/>
            </a:pPr>
            <a:r>
              <a:rPr lang="en-US" sz="1200" b="1" spc="120" kern="0" dirty="0">
                <a:solidFill>
                  <a:srgbClr val="2E3338"/>
                </a:solidFill>
                <a:latin typeface="Trade Gothic Next" pitchFamily="34" charset="0"/>
                <a:ea typeface="Trade Gothic Next" pitchFamily="34" charset="-122"/>
                <a:cs typeface="Trade Gothic Next" pitchFamily="34" charset="-120"/>
              </a:rPr>
              <a:t>HEAVY BOXES</a:t>
            </a:r>
            <a:endParaRPr lang="en-US" sz="1200" dirty="0"/>
          </a:p>
        </p:txBody>
      </p:sp>
      <p:sp>
        <p:nvSpPr>
          <p:cNvPr id="10" name="Text 6"/>
          <p:cNvSpPr txBox="1"/>
          <p:nvPr>
            <p:ph idx="115" type="body" hasCustomPrompt="1"/>
          </p:nvPr>
        </p:nvSpPr>
        <p:spPr>
          <a:xfrm>
            <a:off x="6327648" y="5120640"/>
            <a:ext cx="5129784" cy="320040"/>
          </a:xfrm>
          <a:prstGeom prst="rect">
            <a:avLst/>
          </a:prstGeom>
          <a:noFill/>
          <a:ln/>
        </p:spPr>
        <p:txBody>
          <a:bodyPr wrap="square" lIns="0" tIns="0" rIns="0" bIns="0" rtlCol="0"/>
          <a:lstStyle/>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4s fills before 3d, in K and Ca.</a:t>
            </a:r>
            <a:endParaRPr lang="en-US" sz="1600" dirty="0"/>
          </a:p>
        </p:txBody>
      </p:sp>
      <p:sp>
        <p:nvSpPr>
          <p:cNvPr id="11" name="Text 1"/>
          <p:cNvSpPr txBox="1"/>
          <p:nvPr>
            <p:ph idx="101" type="body" hasCustomPrompt="1"/>
          </p:nvPr>
        </p:nvSpPr>
        <p:spPr>
          <a:xfrm>
            <a:off x="685800" y="384048"/>
            <a:ext cx="6400800" cy="237744"/>
          </a:xfrm>
          <a:prstGeom prst="rect">
            <a:avLst/>
          </a:prstGeom>
          <a:noFill/>
          <a:ln/>
        </p:spPr>
        <p:txBody>
          <a:bodyPr wrap="square" lIns="0" tIns="0" rIns="0" bIns="0" rtlCol="0" anchor="ctr"/>
          <a:lstStyle/>
          <a:p>
            <a:pPr indent="0" marL="0">
              <a:buNone/>
            </a:pPr>
            <a:r>
              <a:rPr lang="en-US" sz="1100" b="1" spc="160" kern="0" dirty="0">
                <a:solidFill>
                  <a:srgbClr val="14161B"/>
                </a:solidFill>
                <a:latin typeface="Trade Gothic Next" pitchFamily="34" charset="0"/>
                <a:ea typeface="Trade Gothic Next" pitchFamily="34" charset="-122"/>
                <a:cs typeface="Trade Gothic Next" pitchFamily="34" charset="-120"/>
              </a:rPr>
              <a:t>UNIT 02  •  CHEMISTRY</a:t>
            </a:r>
            <a:endParaRPr lang="en-US" sz="1100" dirty="0"/>
          </a:p>
        </p:txBody>
      </p:sp>
      <p:sp>
        <p:nvSpPr>
          <p:cNvPr id="12" name="Text 7"/>
          <p:cNvSpPr txBox="1"/>
          <p:nvPr>
            <p:ph idx="117" type="body" hasCustomPrompt="1"/>
          </p:nvPr>
        </p:nvSpPr>
        <p:spPr>
          <a:xfrm>
            <a:off x="8762695" y="6382512"/>
            <a:ext cx="2743200" cy="237744"/>
          </a:xfrm>
          <a:prstGeom prst="rect">
            <a:avLst/>
          </a:prstGeom>
          <a:noFill/>
          <a:ln/>
        </p:spPr>
        <p:txBody>
          <a:bodyPr wrap="square" lIns="0" tIns="0" rIns="0" bIns="0" rtlCol="0" anchor="ctr"/>
          <a:lstStyle/>
          <a:p>
            <a:pPr algn="r" indent="0" marL="0">
              <a:buNone/>
            </a:pPr>
            <a:r>
              <a:rPr lang="en-US" sz="1000" b="1" spc="140" kern="0" dirty="0">
                <a:solidFill>
                  <a:srgbClr val="2E3338"/>
                </a:solidFill>
                <a:latin typeface="Trade Gothic Next" pitchFamily="34" charset="0"/>
                <a:ea typeface="Trade Gothic Next" pitchFamily="34" charset="-122"/>
                <a:cs typeface="Trade Gothic Next" pitchFamily="34" charset="-120"/>
              </a:rPr>
              <a:t>U02 • S02.3</a:t>
            </a:r>
            <a:endParaRPr lang="en-US" sz="1000" dirty="0"/>
          </a:p>
        </p:txBody>
      </p:sp>
      <p:sp>
        <p:nvSpPr>
          <p:cNvPr id="14" name="Text 3"/>
          <p:cNvSpPr txBox="1"/>
          <p:nvPr>
            <p:ph idx="106" type="body" hasCustomPrompt="1"/>
          </p:nvPr>
        </p:nvSpPr>
        <p:spPr>
          <a:xfrm>
            <a:off x="914400" y="2651760"/>
            <a:ext cx="4617720" cy="2743200"/>
          </a:xfrm>
          <a:prstGeom prst="rect">
            <a:avLst/>
          </a:prstGeom>
          <a:noFill/>
          <a:ln/>
        </p:spPr>
        <p:txBody>
          <a:bodyPr wrap="square" lIns="0" tIns="0" rIns="0" bIns="0" rtlCol="0" anchor="ctr"/>
          <a:lstStyle/>
          <a:p>
            <a:pPr algn="ctr" indent="0" marL="0">
              <a:buNone/>
            </a:pPr>
            <a:endParaRPr 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auli exclusion principle: one orbital box with an up arrow and a down arrow is correct; a box with two up arrows is marked wrong.">    </p:cNvPr>
          <p:cNvPicPr>
            <a:picLocks noChangeAspect="1"/>
          </p:cNvPicPr>
          <p:nvPr/>
        </p:nvPicPr>
        <p:blipFill>
          <a:blip r:embed="rId1"/>
          <a:stretch>
            <a:fillRect/>
          </a:stretch>
        </p:blipFill>
        <p:spPr>
          <a:xfrm>
            <a:off x="914400" y="2651760"/>
            <a:ext cx="4617720" cy="2743200"/>
          </a:xfrm>
          <a:prstGeom prst="rect">
            <a:avLst/>
          </a:prstGeom>
        </p:spPr>
      </p:pic>
      <p:sp>
        <p:nvSpPr>
          <p:cNvPr id="3" name="Text 2"/>
          <p:cNvSpPr txBox="1"/>
          <p:nvPr>
            <p:ph idx="103" type="title" hasCustomPrompt="1"/>
          </p:nvPr>
        </p:nvSpPr>
        <p:spPr>
          <a:xfrm>
            <a:off x="685800" y="932688"/>
            <a:ext cx="10820095" cy="868680"/>
          </a:xfrm>
          <a:prstGeom prst="rect">
            <a:avLst/>
          </a:prstGeom>
          <a:noFill/>
          <a:ln/>
        </p:spPr>
        <p:txBody>
          <a:bodyPr wrap="square" lIns="0" tIns="0" rIns="0" bIns="0" rtlCol="0" anchor="t"/>
          <a:lstStyle/>
          <a:p>
            <a:pPr algn="l" indent="0" marL="0">
              <a:buNone/>
            </a:pPr>
            <a:r>
              <a:rPr lang="en-US" sz="2800" b="1" dirty="0">
                <a:solidFill>
                  <a:srgbClr val="14161B"/>
                </a:solidFill>
                <a:latin typeface="Trade Gothic Next" pitchFamily="34" charset="0"/>
                <a:ea typeface="Trade Gothic Next" pitchFamily="34" charset="-122"/>
                <a:cs typeface="Trade Gothic Next" pitchFamily="34" charset="-120"/>
              </a:rPr>
              <a:t>Pauli: Two per Orbital, Opposite Spins</a:t>
            </a:r>
            <a:endParaRPr lang="en-US" sz="2800" dirty="0"/>
          </a:p>
        </p:txBody>
      </p:sp>
      <p:sp>
        <p:nvSpPr>
          <p:cNvPr id="4" name="Text 2"/>
          <p:cNvSpPr txBox="1"/>
          <p:nvPr>
            <p:ph idx="104" type="body" hasCustomPrompt="1"/>
          </p:nvPr>
        </p:nvSpPr>
        <p:spPr>
          <a:xfrm>
            <a:off x="685800" y="1847088"/>
            <a:ext cx="10820095" cy="384048"/>
          </a:xfrm>
          <a:prstGeom prst="rect">
            <a:avLst/>
          </a:prstGeom>
          <a:noFill/>
          <a:ln/>
        </p:spPr>
        <p:txBody>
          <a:bodyPr wrap="square" lIns="0" tIns="0" rIns="0" bIns="0" rtlCol="0"/>
          <a:lstStyle/>
          <a:p>
            <a:pPr indent="0" marL="0">
              <a:buNone/>
            </a:pPr>
            <a:r>
              <a:rPr lang="en-US" sz="1700" dirty="0">
                <a:solidFill>
                  <a:srgbClr val="2E3338"/>
                </a:solidFill>
                <a:latin typeface="Trade Gothic Next" pitchFamily="34" charset="0"/>
                <a:ea typeface="Trade Gothic Next" pitchFamily="34" charset="-122"/>
                <a:cs typeface="Trade Gothic Next" pitchFamily="34" charset="-120"/>
              </a:rPr>
              <a:t>Up and down arrows are spin labels, not electrons orbiting opposite ways.</a:t>
            </a:r>
            <a:endParaRPr lang="en-US" sz="1700" dirty="0"/>
          </a:p>
        </p:txBody>
      </p:sp>
      <p:sp>
        <p:nvSpPr>
          <p:cNvPr id="5" name="Text 4"/>
          <p:cNvSpPr txBox="1"/>
          <p:nvPr>
            <p:ph idx="108" type="body" hasCustomPrompt="1"/>
          </p:nvPr>
        </p:nvSpPr>
        <p:spPr>
          <a:xfrm>
            <a:off x="6327648" y="2560320"/>
            <a:ext cx="5129784" cy="219456"/>
          </a:xfrm>
          <a:prstGeom prst="rect">
            <a:avLst/>
          </a:prstGeom>
          <a:noFill/>
          <a:ln/>
        </p:spPr>
        <p:txBody>
          <a:bodyPr wrap="square" lIns="0" tIns="0" rIns="0" bIns="0" rtlCol="0"/>
          <a:lstStyle/>
          <a:p>
            <a:pPr indent="0" marL="0">
              <a:buNone/>
            </a:pPr>
            <a:r>
              <a:rPr lang="en-US" sz="1200" b="1" spc="120" kern="0" dirty="0">
                <a:solidFill>
                  <a:srgbClr val="2E3338"/>
                </a:solidFill>
                <a:latin typeface="Trade Gothic Next" pitchFamily="34" charset="0"/>
                <a:ea typeface="Trade Gothic Next" pitchFamily="34" charset="-122"/>
                <a:cs typeface="Trade Gothic Next" pitchFamily="34" charset="-120"/>
              </a:rPr>
              <a:t>PAULI EXCLUSION PRINCIPLE</a:t>
            </a:r>
            <a:endParaRPr lang="en-US" sz="1200" dirty="0"/>
          </a:p>
        </p:txBody>
      </p:sp>
      <p:sp>
        <p:nvSpPr>
          <p:cNvPr id="6" name="Text 4"/>
          <p:cNvSpPr txBox="1"/>
          <p:nvPr>
            <p:ph idx="109" type="body" hasCustomPrompt="1"/>
          </p:nvPr>
        </p:nvSpPr>
        <p:spPr>
          <a:xfrm>
            <a:off x="6327648" y="2852928"/>
            <a:ext cx="5129784" cy="329184"/>
          </a:xfrm>
          <a:prstGeom prst="rect">
            <a:avLst/>
          </a:prstGeom>
          <a:noFill/>
          <a:ln/>
        </p:spPr>
        <p:txBody>
          <a:bodyPr wrap="square" lIns="0" tIns="0" rIns="0" bIns="0" rtlCol="0"/>
          <a:lstStyle/>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One orbital holds at most 2 electrons.</a:t>
            </a:r>
            <a:endParaRPr lang="en-US" sz="1600" dirty="0"/>
          </a:p>
        </p:txBody>
      </p:sp>
      <p:sp>
        <p:nvSpPr>
          <p:cNvPr id="7" name="Text 5"/>
          <p:cNvSpPr txBox="1"/>
          <p:nvPr>
            <p:ph idx="111" type="body" hasCustomPrompt="1"/>
          </p:nvPr>
        </p:nvSpPr>
        <p:spPr>
          <a:xfrm>
            <a:off x="6327648" y="3694176"/>
            <a:ext cx="5129784" cy="219456"/>
          </a:xfrm>
          <a:prstGeom prst="rect">
            <a:avLst/>
          </a:prstGeom>
          <a:noFill/>
          <a:ln/>
        </p:spPr>
        <p:txBody>
          <a:bodyPr wrap="square" lIns="0" tIns="0" rIns="0" bIns="0" rtlCol="0"/>
          <a:lstStyle/>
          <a:p>
            <a:pPr indent="0" marL="0">
              <a:buNone/>
            </a:pPr>
            <a:r>
              <a:rPr lang="en-US" sz="1200" b="1" spc="120" kern="0" dirty="0">
                <a:solidFill>
                  <a:srgbClr val="2E3338"/>
                </a:solidFill>
                <a:latin typeface="Trade Gothic Next" pitchFamily="34" charset="0"/>
                <a:ea typeface="Trade Gothic Next" pitchFamily="34" charset="-122"/>
                <a:cs typeface="Trade Gothic Next" pitchFamily="34" charset="-120"/>
              </a:rPr>
              <a:t>THE SPINS</a:t>
            </a:r>
            <a:endParaRPr lang="en-US" sz="1200" dirty="0"/>
          </a:p>
        </p:txBody>
      </p:sp>
      <p:sp>
        <p:nvSpPr>
          <p:cNvPr id="8" name="Text 5"/>
          <p:cNvSpPr txBox="1"/>
          <p:nvPr>
            <p:ph idx="112" type="body" hasCustomPrompt="1"/>
          </p:nvPr>
        </p:nvSpPr>
        <p:spPr>
          <a:xfrm>
            <a:off x="6327648" y="3986784"/>
            <a:ext cx="5129784" cy="329184"/>
          </a:xfrm>
          <a:prstGeom prst="rect">
            <a:avLst/>
          </a:prstGeom>
          <a:noFill/>
          <a:ln/>
        </p:spPr>
        <p:txBody>
          <a:bodyPr wrap="square" lIns="0" tIns="0" rIns="0" bIns="0" rtlCol="0"/>
          <a:lstStyle/>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If there are two, their spins are opposite.</a:t>
            </a:r>
            <a:endParaRPr lang="en-US" sz="1600" dirty="0"/>
          </a:p>
        </p:txBody>
      </p:sp>
      <p:sp>
        <p:nvSpPr>
          <p:cNvPr id="9" name="Text 6"/>
          <p:cNvSpPr txBox="1"/>
          <p:nvPr>
            <p:ph idx="114" type="body" hasCustomPrompt="1"/>
          </p:nvPr>
        </p:nvSpPr>
        <p:spPr>
          <a:xfrm>
            <a:off x="6327648" y="4828032"/>
            <a:ext cx="5129784" cy="219456"/>
          </a:xfrm>
          <a:prstGeom prst="rect">
            <a:avLst/>
          </a:prstGeom>
          <a:noFill/>
          <a:ln/>
        </p:spPr>
        <p:txBody>
          <a:bodyPr wrap="square" lIns="0" tIns="0" rIns="0" bIns="0" rtlCol="0"/>
          <a:lstStyle/>
          <a:p>
            <a:pPr indent="0" marL="0">
              <a:buNone/>
            </a:pPr>
            <a:r>
              <a:rPr lang="en-US" sz="1200" b="1" spc="120" kern="0" dirty="0">
                <a:solidFill>
                  <a:srgbClr val="2E3338"/>
                </a:solidFill>
                <a:latin typeface="Trade Gothic Next" pitchFamily="34" charset="0"/>
                <a:ea typeface="Trade Gothic Next" pitchFamily="34" charset="-122"/>
                <a:cs typeface="Trade Gothic Next" pitchFamily="34" charset="-120"/>
              </a:rPr>
              <a:t>COMMON MIX-UP</a:t>
            </a:r>
            <a:endParaRPr lang="en-US" sz="1200" dirty="0"/>
          </a:p>
        </p:txBody>
      </p:sp>
      <p:sp>
        <p:nvSpPr>
          <p:cNvPr id="10" name="Text 6"/>
          <p:cNvSpPr txBox="1"/>
          <p:nvPr>
            <p:ph idx="115" type="body" hasCustomPrompt="1"/>
          </p:nvPr>
        </p:nvSpPr>
        <p:spPr>
          <a:xfrm>
            <a:off x="6327648" y="5120640"/>
            <a:ext cx="5129784" cy="320040"/>
          </a:xfrm>
          <a:prstGeom prst="rect">
            <a:avLst/>
          </a:prstGeom>
          <a:noFill/>
          <a:ln/>
        </p:spPr>
        <p:txBody>
          <a:bodyPr wrap="square" lIns="0" tIns="0" rIns="0" bIns="0" rtlCol="0"/>
          <a:lstStyle/>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Two per orbital, not two per sublevel.</a:t>
            </a:r>
            <a:endParaRPr lang="en-US" sz="1600" dirty="0"/>
          </a:p>
        </p:txBody>
      </p:sp>
      <p:sp>
        <p:nvSpPr>
          <p:cNvPr id="11" name="Text 1"/>
          <p:cNvSpPr txBox="1"/>
          <p:nvPr>
            <p:ph idx="101" type="body" hasCustomPrompt="1"/>
          </p:nvPr>
        </p:nvSpPr>
        <p:spPr>
          <a:xfrm>
            <a:off x="685800" y="384048"/>
            <a:ext cx="6400800" cy="237744"/>
          </a:xfrm>
          <a:prstGeom prst="rect">
            <a:avLst/>
          </a:prstGeom>
          <a:noFill/>
          <a:ln/>
        </p:spPr>
        <p:txBody>
          <a:bodyPr wrap="square" lIns="0" tIns="0" rIns="0" bIns="0" rtlCol="0" anchor="ctr"/>
          <a:lstStyle/>
          <a:p>
            <a:pPr indent="0" marL="0">
              <a:buNone/>
            </a:pPr>
            <a:r>
              <a:rPr lang="en-US" sz="1100" b="1" spc="160" kern="0" dirty="0">
                <a:solidFill>
                  <a:srgbClr val="14161B"/>
                </a:solidFill>
                <a:latin typeface="Trade Gothic Next" pitchFamily="34" charset="0"/>
                <a:ea typeface="Trade Gothic Next" pitchFamily="34" charset="-122"/>
                <a:cs typeface="Trade Gothic Next" pitchFamily="34" charset="-120"/>
              </a:rPr>
              <a:t>UNIT 02  •  CHEMISTRY</a:t>
            </a:r>
            <a:endParaRPr lang="en-US" sz="1100" dirty="0"/>
          </a:p>
        </p:txBody>
      </p:sp>
      <p:sp>
        <p:nvSpPr>
          <p:cNvPr id="12" name="Text 7"/>
          <p:cNvSpPr txBox="1"/>
          <p:nvPr>
            <p:ph idx="117" type="body" hasCustomPrompt="1"/>
          </p:nvPr>
        </p:nvSpPr>
        <p:spPr>
          <a:xfrm>
            <a:off x="8762695" y="6382512"/>
            <a:ext cx="2743200" cy="237744"/>
          </a:xfrm>
          <a:prstGeom prst="rect">
            <a:avLst/>
          </a:prstGeom>
          <a:noFill/>
          <a:ln/>
        </p:spPr>
        <p:txBody>
          <a:bodyPr wrap="square" lIns="0" tIns="0" rIns="0" bIns="0" rtlCol="0" anchor="ctr"/>
          <a:lstStyle/>
          <a:p>
            <a:pPr algn="r" indent="0" marL="0">
              <a:buNone/>
            </a:pPr>
            <a:r>
              <a:rPr lang="en-US" sz="1000" b="1" spc="140" kern="0" dirty="0">
                <a:solidFill>
                  <a:srgbClr val="2E3338"/>
                </a:solidFill>
                <a:latin typeface="Trade Gothic Next" pitchFamily="34" charset="0"/>
                <a:ea typeface="Trade Gothic Next" pitchFamily="34" charset="-122"/>
                <a:cs typeface="Trade Gothic Next" pitchFamily="34" charset="-120"/>
              </a:rPr>
              <a:t>U02 • S02.3</a:t>
            </a:r>
            <a:endParaRPr lang="en-US" sz="1000" dirty="0"/>
          </a:p>
        </p:txBody>
      </p:sp>
      <p:sp>
        <p:nvSpPr>
          <p:cNvPr id="14" name="Text 3"/>
          <p:cNvSpPr txBox="1"/>
          <p:nvPr>
            <p:ph idx="106" type="body" hasCustomPrompt="1"/>
          </p:nvPr>
        </p:nvSpPr>
        <p:spPr>
          <a:xfrm>
            <a:off x="914400" y="2651760"/>
            <a:ext cx="4617720" cy="2743200"/>
          </a:xfrm>
          <a:prstGeom prst="rect">
            <a:avLst/>
          </a:prstGeom>
          <a:noFill/>
          <a:ln/>
        </p:spPr>
        <p:txBody>
          <a:bodyPr wrap="square" lIns="0" tIns="0" rIns="0" bIns="0" rtlCol="0" anchor="ctr"/>
          <a:lstStyle/>
          <a:p>
            <a:pPr algn="ctr" indent="0" marL="0">
              <a:buNone/>
            </a:pPr>
            <a:endParaRPr 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Hund's rule with nitrogen's 2p boxes: up, up, up in three boxes is correct; one pair, one single and one empty box is marked wrong.">    </p:cNvPr>
          <p:cNvPicPr>
            <a:picLocks noChangeAspect="1"/>
          </p:cNvPicPr>
          <p:nvPr/>
        </p:nvPicPr>
        <p:blipFill>
          <a:blip r:embed="rId1"/>
          <a:stretch>
            <a:fillRect/>
          </a:stretch>
        </p:blipFill>
        <p:spPr>
          <a:xfrm>
            <a:off x="914400" y="2651760"/>
            <a:ext cx="4617720" cy="2743200"/>
          </a:xfrm>
          <a:prstGeom prst="rect">
            <a:avLst/>
          </a:prstGeom>
        </p:spPr>
      </p:pic>
      <p:sp>
        <p:nvSpPr>
          <p:cNvPr id="3" name="Text 2"/>
          <p:cNvSpPr txBox="1"/>
          <p:nvPr>
            <p:ph idx="103" type="title" hasCustomPrompt="1"/>
          </p:nvPr>
        </p:nvSpPr>
        <p:spPr>
          <a:xfrm>
            <a:off x="685800" y="932688"/>
            <a:ext cx="10820095" cy="868680"/>
          </a:xfrm>
          <a:prstGeom prst="rect">
            <a:avLst/>
          </a:prstGeom>
          <a:noFill/>
          <a:ln/>
        </p:spPr>
        <p:txBody>
          <a:bodyPr wrap="square" lIns="0" tIns="0" rIns="0" bIns="0" rtlCol="0" anchor="t"/>
          <a:lstStyle/>
          <a:p>
            <a:pPr algn="l" indent="0" marL="0">
              <a:buNone/>
            </a:pPr>
            <a:r>
              <a:rPr lang="en-US" sz="2800" b="1" dirty="0">
                <a:solidFill>
                  <a:srgbClr val="14161B"/>
                </a:solidFill>
                <a:latin typeface="Trade Gothic Next" pitchFamily="34" charset="0"/>
                <a:ea typeface="Trade Gothic Next" pitchFamily="34" charset="-122"/>
                <a:cs typeface="Trade Gothic Next" pitchFamily="34" charset="-120"/>
              </a:rPr>
              <a:t>Hund's Rule: Singles Before Pairs</a:t>
            </a:r>
            <a:endParaRPr lang="en-US" sz="2800" dirty="0"/>
          </a:p>
        </p:txBody>
      </p:sp>
      <p:sp>
        <p:nvSpPr>
          <p:cNvPr id="4" name="Text 2"/>
          <p:cNvSpPr txBox="1"/>
          <p:nvPr>
            <p:ph idx="104" type="body" hasCustomPrompt="1"/>
          </p:nvPr>
        </p:nvSpPr>
        <p:spPr>
          <a:xfrm>
            <a:off x="685800" y="1847088"/>
            <a:ext cx="10820095" cy="384048"/>
          </a:xfrm>
          <a:prstGeom prst="rect">
            <a:avLst/>
          </a:prstGeom>
          <a:noFill/>
          <a:ln/>
        </p:spPr>
        <p:txBody>
          <a:bodyPr wrap="square" lIns="0" tIns="0" rIns="0" bIns="0" rtlCol="0"/>
          <a:lstStyle/>
          <a:p>
            <a:pPr indent="0" marL="0">
              <a:buNone/>
            </a:pPr>
            <a:r>
              <a:rPr lang="en-US" sz="1700" dirty="0">
                <a:solidFill>
                  <a:srgbClr val="2E3338"/>
                </a:solidFill>
                <a:latin typeface="Trade Gothic Next" pitchFamily="34" charset="0"/>
                <a:ea typeface="Trade Gothic Next" pitchFamily="34" charset="-122"/>
                <a:cs typeface="Trade Gothic Next" pitchFamily="34" charset="-120"/>
              </a:rPr>
              <a:t>Equal-energy orbitals, like the three 2p boxes, each get one electron first.</a:t>
            </a:r>
            <a:endParaRPr lang="en-US" sz="1700" dirty="0"/>
          </a:p>
        </p:txBody>
      </p:sp>
      <p:sp>
        <p:nvSpPr>
          <p:cNvPr id="5" name="Text 4"/>
          <p:cNvSpPr txBox="1"/>
          <p:nvPr>
            <p:ph idx="108" type="body" hasCustomPrompt="1"/>
          </p:nvPr>
        </p:nvSpPr>
        <p:spPr>
          <a:xfrm>
            <a:off x="6327648" y="2560320"/>
            <a:ext cx="5129784" cy="219456"/>
          </a:xfrm>
          <a:prstGeom prst="rect">
            <a:avLst/>
          </a:prstGeom>
          <a:noFill/>
          <a:ln/>
        </p:spPr>
        <p:txBody>
          <a:bodyPr wrap="square" lIns="0" tIns="0" rIns="0" bIns="0" rtlCol="0"/>
          <a:lstStyle/>
          <a:p>
            <a:pPr indent="0" marL="0">
              <a:buNone/>
            </a:pPr>
            <a:r>
              <a:rPr lang="en-US" sz="1200" b="1" spc="120" kern="0" dirty="0">
                <a:solidFill>
                  <a:srgbClr val="2E3338"/>
                </a:solidFill>
                <a:latin typeface="Trade Gothic Next" pitchFamily="34" charset="0"/>
                <a:ea typeface="Trade Gothic Next" pitchFamily="34" charset="-122"/>
                <a:cs typeface="Trade Gothic Next" pitchFamily="34" charset="-120"/>
              </a:rPr>
              <a:t>HUND'S RULE</a:t>
            </a:r>
            <a:endParaRPr lang="en-US" sz="1200" dirty="0"/>
          </a:p>
        </p:txBody>
      </p:sp>
      <p:sp>
        <p:nvSpPr>
          <p:cNvPr id="6" name="Text 4"/>
          <p:cNvSpPr txBox="1"/>
          <p:nvPr>
            <p:ph idx="109" type="body" hasCustomPrompt="1"/>
          </p:nvPr>
        </p:nvSpPr>
        <p:spPr>
          <a:xfrm>
            <a:off x="6327648" y="2852928"/>
            <a:ext cx="5129784" cy="329184"/>
          </a:xfrm>
          <a:prstGeom prst="rect">
            <a:avLst/>
          </a:prstGeom>
          <a:noFill/>
          <a:ln/>
        </p:spPr>
        <p:txBody>
          <a:bodyPr wrap="square" lIns="0" tIns="0" rIns="0" bIns="0" rtlCol="0"/>
          <a:lstStyle/>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Singles first, all pointing the same way.</a:t>
            </a:r>
            <a:endParaRPr lang="en-US" sz="1600" dirty="0"/>
          </a:p>
        </p:txBody>
      </p:sp>
      <p:sp>
        <p:nvSpPr>
          <p:cNvPr id="7" name="Text 5"/>
          <p:cNvSpPr txBox="1"/>
          <p:nvPr>
            <p:ph idx="111" type="body" hasCustomPrompt="1"/>
          </p:nvPr>
        </p:nvSpPr>
        <p:spPr>
          <a:xfrm>
            <a:off x="6327648" y="3694176"/>
            <a:ext cx="5129784" cy="219456"/>
          </a:xfrm>
          <a:prstGeom prst="rect">
            <a:avLst/>
          </a:prstGeom>
          <a:noFill/>
          <a:ln/>
        </p:spPr>
        <p:txBody>
          <a:bodyPr wrap="square" lIns="0" tIns="0" rIns="0" bIns="0" rtlCol="0"/>
          <a:lstStyle/>
          <a:p>
            <a:pPr indent="0" marL="0">
              <a:buNone/>
            </a:pPr>
            <a:r>
              <a:rPr lang="en-US" sz="1200" b="1" spc="120" kern="0" dirty="0">
                <a:solidFill>
                  <a:srgbClr val="2E3338"/>
                </a:solidFill>
                <a:latin typeface="Trade Gothic Next" pitchFamily="34" charset="0"/>
                <a:ea typeface="Trade Gothic Next" pitchFamily="34" charset="-122"/>
                <a:cs typeface="Trade Gothic Next" pitchFamily="34" charset="-120"/>
              </a:rPr>
              <a:t>NITROGEN</a:t>
            </a:r>
            <a:endParaRPr lang="en-US" sz="1200" dirty="0"/>
          </a:p>
        </p:txBody>
      </p:sp>
      <p:sp>
        <p:nvSpPr>
          <p:cNvPr id="8" name="Text 5"/>
          <p:cNvSpPr txBox="1"/>
          <p:nvPr>
            <p:ph idx="112" type="body" hasCustomPrompt="1"/>
          </p:nvPr>
        </p:nvSpPr>
        <p:spPr>
          <a:xfrm>
            <a:off x="6327648" y="3986784"/>
            <a:ext cx="5129784" cy="329184"/>
          </a:xfrm>
          <a:prstGeom prst="rect">
            <a:avLst/>
          </a:prstGeom>
          <a:noFill/>
          <a:ln/>
        </p:spPr>
        <p:txBody>
          <a:bodyPr wrap="square" lIns="0" tIns="0" rIns="0" bIns="0" rtlCol="0"/>
          <a:lstStyle/>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Its 2p</a:t>
            </a:r>
            <a:pPr indent="0" marL="0">
              <a:buNone/>
            </a:pPr>
            <a:r>
              <a:rPr lang="en-US" sz="1600" baseline="30000" dirty="0">
                <a:solidFill>
                  <a:srgbClr val="14161B"/>
                </a:solidFill>
                <a:latin typeface="Trade Gothic Next" pitchFamily="34" charset="0"/>
                <a:ea typeface="Trade Gothic Next" pitchFamily="34" charset="-122"/>
                <a:cs typeface="Trade Gothic Next" pitchFamily="34" charset="-120"/>
              </a:rPr>
              <a:t>3</a:t>
            </a:r>
            <a:pPr indent="0" marL="0">
              <a:buNone/>
            </a:pPr>
            <a:r>
              <a:rPr lang="en-US" sz="1600" dirty="0">
                <a:solidFill>
                  <a:srgbClr val="14161B"/>
                </a:solidFill>
                <a:latin typeface="Trade Gothic Next" pitchFamily="34" charset="0"/>
                <a:ea typeface="Trade Gothic Next" pitchFamily="34" charset="-122"/>
                <a:cs typeface="Trade Gothic Next" pitchFamily="34" charset="-120"/>
              </a:rPr>
              <a:t> is three single electrons: 3 unpaired.</a:t>
            </a:r>
            <a:endParaRPr lang="en-US" sz="1600" dirty="0"/>
          </a:p>
        </p:txBody>
      </p:sp>
      <p:sp>
        <p:nvSpPr>
          <p:cNvPr id="9" name="Text 6"/>
          <p:cNvSpPr txBox="1"/>
          <p:nvPr>
            <p:ph idx="114" type="body" hasCustomPrompt="1"/>
          </p:nvPr>
        </p:nvSpPr>
        <p:spPr>
          <a:xfrm>
            <a:off x="6327648" y="4828032"/>
            <a:ext cx="5129784" cy="219456"/>
          </a:xfrm>
          <a:prstGeom prst="rect">
            <a:avLst/>
          </a:prstGeom>
          <a:noFill/>
          <a:ln/>
        </p:spPr>
        <p:txBody>
          <a:bodyPr wrap="square" lIns="0" tIns="0" rIns="0" bIns="0" rtlCol="0"/>
          <a:lstStyle/>
          <a:p>
            <a:pPr indent="0" marL="0">
              <a:buNone/>
            </a:pPr>
            <a:r>
              <a:rPr lang="en-US" sz="1200" b="1" spc="120" kern="0" dirty="0">
                <a:solidFill>
                  <a:srgbClr val="2E3338"/>
                </a:solidFill>
                <a:latin typeface="Trade Gothic Next" pitchFamily="34" charset="0"/>
                <a:ea typeface="Trade Gothic Next" pitchFamily="34" charset="-122"/>
                <a:cs typeface="Trade Gothic Next" pitchFamily="34" charset="-120"/>
              </a:rPr>
              <a:t>THE TERM</a:t>
            </a:r>
            <a:endParaRPr lang="en-US" sz="1200" dirty="0"/>
          </a:p>
        </p:txBody>
      </p:sp>
      <p:sp>
        <p:nvSpPr>
          <p:cNvPr id="10" name="Text 6"/>
          <p:cNvSpPr txBox="1"/>
          <p:nvPr>
            <p:ph idx="115" type="body" hasCustomPrompt="1"/>
          </p:nvPr>
        </p:nvSpPr>
        <p:spPr>
          <a:xfrm>
            <a:off x="6327648" y="5120640"/>
            <a:ext cx="5129784" cy="320040"/>
          </a:xfrm>
          <a:prstGeom prst="rect">
            <a:avLst/>
          </a:prstGeom>
          <a:noFill/>
          <a:ln/>
        </p:spPr>
        <p:txBody>
          <a:bodyPr wrap="square" lIns="0" tIns="0" rIns="0" bIns="0" rtlCol="0"/>
          <a:lstStyle/>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Equal-energy orbitals are called degenerate.</a:t>
            </a:r>
            <a:endParaRPr lang="en-US" sz="1600" dirty="0"/>
          </a:p>
        </p:txBody>
      </p:sp>
      <p:sp>
        <p:nvSpPr>
          <p:cNvPr id="11" name="Text 1"/>
          <p:cNvSpPr txBox="1"/>
          <p:nvPr>
            <p:ph idx="101" type="body" hasCustomPrompt="1"/>
          </p:nvPr>
        </p:nvSpPr>
        <p:spPr>
          <a:xfrm>
            <a:off x="685800" y="384048"/>
            <a:ext cx="6400800" cy="237744"/>
          </a:xfrm>
          <a:prstGeom prst="rect">
            <a:avLst/>
          </a:prstGeom>
          <a:noFill/>
          <a:ln/>
        </p:spPr>
        <p:txBody>
          <a:bodyPr wrap="square" lIns="0" tIns="0" rIns="0" bIns="0" rtlCol="0" anchor="ctr"/>
          <a:lstStyle/>
          <a:p>
            <a:pPr indent="0" marL="0">
              <a:buNone/>
            </a:pPr>
            <a:r>
              <a:rPr lang="en-US" sz="1100" b="1" spc="160" kern="0" dirty="0">
                <a:solidFill>
                  <a:srgbClr val="14161B"/>
                </a:solidFill>
                <a:latin typeface="Trade Gothic Next" pitchFamily="34" charset="0"/>
                <a:ea typeface="Trade Gothic Next" pitchFamily="34" charset="-122"/>
                <a:cs typeface="Trade Gothic Next" pitchFamily="34" charset="-120"/>
              </a:rPr>
              <a:t>UNIT 02  •  CHEMISTRY</a:t>
            </a:r>
            <a:endParaRPr lang="en-US" sz="1100" dirty="0"/>
          </a:p>
        </p:txBody>
      </p:sp>
      <p:sp>
        <p:nvSpPr>
          <p:cNvPr id="12" name="Text 7"/>
          <p:cNvSpPr txBox="1"/>
          <p:nvPr>
            <p:ph idx="117" type="body" hasCustomPrompt="1"/>
          </p:nvPr>
        </p:nvSpPr>
        <p:spPr>
          <a:xfrm>
            <a:off x="8762695" y="6382512"/>
            <a:ext cx="2743200" cy="237744"/>
          </a:xfrm>
          <a:prstGeom prst="rect">
            <a:avLst/>
          </a:prstGeom>
          <a:noFill/>
          <a:ln/>
        </p:spPr>
        <p:txBody>
          <a:bodyPr wrap="square" lIns="0" tIns="0" rIns="0" bIns="0" rtlCol="0" anchor="ctr"/>
          <a:lstStyle/>
          <a:p>
            <a:pPr algn="r" indent="0" marL="0">
              <a:buNone/>
            </a:pPr>
            <a:r>
              <a:rPr lang="en-US" sz="1000" b="1" spc="140" kern="0" dirty="0">
                <a:solidFill>
                  <a:srgbClr val="2E3338"/>
                </a:solidFill>
                <a:latin typeface="Trade Gothic Next" pitchFamily="34" charset="0"/>
                <a:ea typeface="Trade Gothic Next" pitchFamily="34" charset="-122"/>
                <a:cs typeface="Trade Gothic Next" pitchFamily="34" charset="-120"/>
              </a:rPr>
              <a:t>U02 • S02.3</a:t>
            </a:r>
            <a:endParaRPr lang="en-US" sz="1000" dirty="0"/>
          </a:p>
        </p:txBody>
      </p:sp>
      <p:sp>
        <p:nvSpPr>
          <p:cNvPr id="14" name="Text 3"/>
          <p:cNvSpPr txBox="1"/>
          <p:nvPr>
            <p:ph idx="106" type="body" hasCustomPrompt="1"/>
          </p:nvPr>
        </p:nvSpPr>
        <p:spPr>
          <a:xfrm>
            <a:off x="914400" y="2651760"/>
            <a:ext cx="4617720" cy="2743200"/>
          </a:xfrm>
          <a:prstGeom prst="rect">
            <a:avLst/>
          </a:prstGeom>
          <a:noFill/>
          <a:ln/>
        </p:spPr>
        <p:txBody>
          <a:bodyPr wrap="square" lIns="0" tIns="0" rIns="0" bIns="0" rtlCol="0" anchor="ctr"/>
          <a:lstStyle/>
          <a:p>
            <a:pPr algn="ctr" indent="0" marL="0">
              <a:buNone/>
            </a:pPr>
            <a:endParaRPr lang="en-US"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
          <p:cNvSpPr txBox="1"/>
          <p:nvPr>
            <p:ph idx="103" type="title" hasCustomPrompt="1"/>
          </p:nvPr>
        </p:nvSpPr>
        <p:spPr>
          <a:xfrm>
            <a:off x="685800" y="932688"/>
            <a:ext cx="10820095" cy="868680"/>
          </a:xfrm>
          <a:prstGeom prst="rect">
            <a:avLst/>
          </a:prstGeom>
          <a:noFill/>
          <a:ln/>
        </p:spPr>
        <p:txBody>
          <a:bodyPr wrap="square" lIns="0" tIns="0" rIns="0" bIns="0" rtlCol="0" anchor="t"/>
          <a:lstStyle/>
          <a:p>
            <a:pPr algn="l" indent="0" marL="0">
              <a:buNone/>
            </a:pPr>
            <a:r>
              <a:rPr lang="en-US" sz="2800" b="1" dirty="0">
                <a:solidFill>
                  <a:srgbClr val="14161B"/>
                </a:solidFill>
                <a:latin typeface="Trade Gothic Next" pitchFamily="34" charset="0"/>
                <a:ea typeface="Trade Gothic Next" pitchFamily="34" charset="-122"/>
                <a:cs typeface="Trade Gothic Next" pitchFamily="34" charset="-120"/>
              </a:rPr>
              <a:t>Reading an Orbital Diagram</a:t>
            </a:r>
            <a:endParaRPr lang="en-US" sz="2800" dirty="0"/>
          </a:p>
        </p:txBody>
      </p:sp>
      <p:sp>
        <p:nvSpPr>
          <p:cNvPr id="3" name="Text 2"/>
          <p:cNvSpPr txBox="1"/>
          <p:nvPr>
            <p:ph idx="104" type="body" hasCustomPrompt="1"/>
          </p:nvPr>
        </p:nvSpPr>
        <p:spPr>
          <a:xfrm>
            <a:off x="685800" y="1847088"/>
            <a:ext cx="10820095" cy="384048"/>
          </a:xfrm>
          <a:prstGeom prst="rect">
            <a:avLst/>
          </a:prstGeom>
          <a:noFill/>
          <a:ln/>
        </p:spPr>
        <p:txBody>
          <a:bodyPr wrap="square" lIns="0" tIns="0" rIns="0" bIns="0" rtlCol="0"/>
          <a:lstStyle/>
          <a:p>
            <a:pPr indent="0" marL="0">
              <a:buNone/>
            </a:pPr>
            <a:r>
              <a:rPr lang="en-US" sz="1700" dirty="0">
                <a:solidFill>
                  <a:srgbClr val="2E3338"/>
                </a:solidFill>
                <a:latin typeface="Trade Gothic Next" pitchFamily="34" charset="0"/>
                <a:ea typeface="Trade Gothic Next" pitchFamily="34" charset="-122"/>
                <a:cs typeface="Trade Gothic Next" pitchFamily="34" charset="-120"/>
              </a:rPr>
              <a:t>One box per orbital. Nitrogen has 7 electrons, so 7 arrows.</a:t>
            </a:r>
            <a:endParaRPr lang="en-US" sz="1700" dirty="0"/>
          </a:p>
        </p:txBody>
      </p:sp>
      <p:sp>
        <p:nvSpPr>
          <p:cNvPr id="4" name="Text 4"/>
          <p:cNvSpPr txBox="1"/>
          <p:nvPr>
            <p:ph idx="108" type="body" hasCustomPrompt="1"/>
          </p:nvPr>
        </p:nvSpPr>
        <p:spPr>
          <a:xfrm>
            <a:off x="6327648" y="2560320"/>
            <a:ext cx="5129784" cy="219456"/>
          </a:xfrm>
          <a:prstGeom prst="rect">
            <a:avLst/>
          </a:prstGeom>
          <a:noFill/>
          <a:ln/>
        </p:spPr>
        <p:txBody>
          <a:bodyPr wrap="square" lIns="0" tIns="0" rIns="0" bIns="0" rtlCol="0"/>
          <a:lstStyle/>
          <a:p>
            <a:pPr indent="0" marL="0">
              <a:buNone/>
            </a:pPr>
            <a:r>
              <a:rPr lang="en-US" sz="1200" b="1" spc="120" kern="0" dirty="0">
                <a:solidFill>
                  <a:srgbClr val="2E3338"/>
                </a:solidFill>
                <a:latin typeface="Trade Gothic Next" pitchFamily="34" charset="0"/>
                <a:ea typeface="Trade Gothic Next" pitchFamily="34" charset="-122"/>
                <a:cs typeface="Trade Gothic Next" pitchFamily="34" charset="-120"/>
              </a:rPr>
              <a:t>BOXES</a:t>
            </a:r>
            <a:endParaRPr lang="en-US" sz="1200" dirty="0"/>
          </a:p>
        </p:txBody>
      </p:sp>
      <p:sp>
        <p:nvSpPr>
          <p:cNvPr id="5" name="Text 4"/>
          <p:cNvSpPr txBox="1"/>
          <p:nvPr>
            <p:ph idx="109" type="body" hasCustomPrompt="1"/>
          </p:nvPr>
        </p:nvSpPr>
        <p:spPr>
          <a:xfrm>
            <a:off x="6327648" y="2852928"/>
            <a:ext cx="5129784" cy="329184"/>
          </a:xfrm>
          <a:prstGeom prst="rect">
            <a:avLst/>
          </a:prstGeom>
          <a:noFill/>
          <a:ln/>
        </p:spPr>
        <p:txBody>
          <a:bodyPr wrap="square" lIns="0" tIns="0" rIns="0" bIns="0" rtlCol="0"/>
          <a:lstStyle/>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1s and 2s have 1 box each. 2p has 3.</a:t>
            </a:r>
            <a:endParaRPr lang="en-US" sz="1600" dirty="0"/>
          </a:p>
        </p:txBody>
      </p:sp>
      <p:sp>
        <p:nvSpPr>
          <p:cNvPr id="6" name="Text 5"/>
          <p:cNvSpPr txBox="1"/>
          <p:nvPr>
            <p:ph idx="111" type="body" hasCustomPrompt="1"/>
          </p:nvPr>
        </p:nvSpPr>
        <p:spPr>
          <a:xfrm>
            <a:off x="6327648" y="3694176"/>
            <a:ext cx="5129784" cy="219456"/>
          </a:xfrm>
          <a:prstGeom prst="rect">
            <a:avLst/>
          </a:prstGeom>
          <a:noFill/>
          <a:ln/>
        </p:spPr>
        <p:txBody>
          <a:bodyPr wrap="square" lIns="0" tIns="0" rIns="0" bIns="0" rtlCol="0"/>
          <a:lstStyle/>
          <a:p>
            <a:pPr indent="0" marL="0">
              <a:buNone/>
            </a:pPr>
            <a:r>
              <a:rPr lang="en-US" sz="1200" b="1" spc="120" kern="0" dirty="0">
                <a:solidFill>
                  <a:srgbClr val="2E3338"/>
                </a:solidFill>
                <a:latin typeface="Trade Gothic Next" pitchFamily="34" charset="0"/>
                <a:ea typeface="Trade Gothic Next" pitchFamily="34" charset="-122"/>
                <a:cs typeface="Trade Gothic Next" pitchFamily="34" charset="-120"/>
              </a:rPr>
              <a:t>ARROWS</a:t>
            </a:r>
            <a:endParaRPr lang="en-US" sz="1200" dirty="0"/>
          </a:p>
        </p:txBody>
      </p:sp>
      <p:sp>
        <p:nvSpPr>
          <p:cNvPr id="7" name="Text 5"/>
          <p:cNvSpPr txBox="1"/>
          <p:nvPr>
            <p:ph idx="112" type="body" hasCustomPrompt="1"/>
          </p:nvPr>
        </p:nvSpPr>
        <p:spPr>
          <a:xfrm>
            <a:off x="6327648" y="3986784"/>
            <a:ext cx="5129784" cy="329184"/>
          </a:xfrm>
          <a:prstGeom prst="rect">
            <a:avLst/>
          </a:prstGeom>
          <a:noFill/>
          <a:ln/>
        </p:spPr>
        <p:txBody>
          <a:bodyPr wrap="square" lIns="0" tIns="0" rIns="0" bIns="0" rtlCol="0"/>
          <a:lstStyle/>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Draw the up arrow first in every box.</a:t>
            </a:r>
            <a:endParaRPr lang="en-US" sz="1600" dirty="0"/>
          </a:p>
        </p:txBody>
      </p:sp>
      <p:sp>
        <p:nvSpPr>
          <p:cNvPr id="8" name="Text 6"/>
          <p:cNvSpPr txBox="1"/>
          <p:nvPr>
            <p:ph idx="114" type="body" hasCustomPrompt="1"/>
          </p:nvPr>
        </p:nvSpPr>
        <p:spPr>
          <a:xfrm>
            <a:off x="6327648" y="4828032"/>
            <a:ext cx="5129784" cy="219456"/>
          </a:xfrm>
          <a:prstGeom prst="rect">
            <a:avLst/>
          </a:prstGeom>
          <a:noFill/>
          <a:ln/>
        </p:spPr>
        <p:txBody>
          <a:bodyPr wrap="square" lIns="0" tIns="0" rIns="0" bIns="0" rtlCol="0"/>
          <a:lstStyle/>
          <a:p>
            <a:pPr indent="0" marL="0">
              <a:buNone/>
            </a:pPr>
            <a:r>
              <a:rPr lang="en-US" sz="1200" b="1" spc="120" kern="0" dirty="0">
                <a:solidFill>
                  <a:srgbClr val="2E3338"/>
                </a:solidFill>
                <a:latin typeface="Trade Gothic Next" pitchFamily="34" charset="0"/>
                <a:ea typeface="Trade Gothic Next" pitchFamily="34" charset="-122"/>
                <a:cs typeface="Trade Gothic Next" pitchFamily="34" charset="-120"/>
              </a:rPr>
              <a:t>THE LABEL UNDER EACH GROUP</a:t>
            </a:r>
            <a:endParaRPr lang="en-US" sz="1200" dirty="0"/>
          </a:p>
        </p:txBody>
      </p:sp>
      <p:sp>
        <p:nvSpPr>
          <p:cNvPr id="9" name="Text 6"/>
          <p:cNvSpPr txBox="1"/>
          <p:nvPr>
            <p:ph idx="115" type="body" hasCustomPrompt="1"/>
          </p:nvPr>
        </p:nvSpPr>
        <p:spPr>
          <a:xfrm>
            <a:off x="6327648" y="5120640"/>
            <a:ext cx="5129784" cy="320040"/>
          </a:xfrm>
          <a:prstGeom prst="rect">
            <a:avLst/>
          </a:prstGeom>
          <a:noFill/>
          <a:ln/>
        </p:spPr>
        <p:txBody>
          <a:bodyPr wrap="square" lIns="0" tIns="0" rIns="0" bIns="0" rtlCol="0"/>
          <a:lstStyle/>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The raised number counts the arrows.</a:t>
            </a:r>
            <a:endParaRPr lang="en-US" sz="1600" dirty="0"/>
          </a:p>
        </p:txBody>
      </p:sp>
      <p:sp>
        <p:nvSpPr>
          <p:cNvPr id="10" name="Text 1"/>
          <p:cNvSpPr txBox="1"/>
          <p:nvPr>
            <p:ph idx="101" type="body" hasCustomPrompt="1"/>
          </p:nvPr>
        </p:nvSpPr>
        <p:spPr>
          <a:xfrm>
            <a:off x="685800" y="384048"/>
            <a:ext cx="6400800" cy="237744"/>
          </a:xfrm>
          <a:prstGeom prst="rect">
            <a:avLst/>
          </a:prstGeom>
          <a:noFill/>
          <a:ln/>
        </p:spPr>
        <p:txBody>
          <a:bodyPr wrap="square" lIns="0" tIns="0" rIns="0" bIns="0" rtlCol="0" anchor="ctr"/>
          <a:lstStyle/>
          <a:p>
            <a:pPr indent="0" marL="0">
              <a:buNone/>
            </a:pPr>
            <a:r>
              <a:rPr lang="en-US" sz="1100" b="1" spc="160" kern="0" dirty="0">
                <a:solidFill>
                  <a:srgbClr val="14161B"/>
                </a:solidFill>
                <a:latin typeface="Trade Gothic Next" pitchFamily="34" charset="0"/>
                <a:ea typeface="Trade Gothic Next" pitchFamily="34" charset="-122"/>
                <a:cs typeface="Trade Gothic Next" pitchFamily="34" charset="-120"/>
              </a:rPr>
              <a:t>UNIT 02  •  CHEMISTRY</a:t>
            </a:r>
            <a:endParaRPr lang="en-US" sz="1100" dirty="0"/>
          </a:p>
        </p:txBody>
      </p:sp>
      <p:sp>
        <p:nvSpPr>
          <p:cNvPr id="11" name="Text 7"/>
          <p:cNvSpPr txBox="1"/>
          <p:nvPr>
            <p:ph idx="117" type="body" hasCustomPrompt="1"/>
          </p:nvPr>
        </p:nvSpPr>
        <p:spPr>
          <a:xfrm>
            <a:off x="8762695" y="6382512"/>
            <a:ext cx="2743200" cy="237744"/>
          </a:xfrm>
          <a:prstGeom prst="rect">
            <a:avLst/>
          </a:prstGeom>
          <a:noFill/>
          <a:ln/>
        </p:spPr>
        <p:txBody>
          <a:bodyPr wrap="square" lIns="0" tIns="0" rIns="0" bIns="0" rtlCol="0" anchor="ctr"/>
          <a:lstStyle/>
          <a:p>
            <a:pPr algn="r" indent="0" marL="0">
              <a:buNone/>
            </a:pPr>
            <a:r>
              <a:rPr lang="en-US" sz="1000" b="1" spc="140" kern="0" dirty="0">
                <a:solidFill>
                  <a:srgbClr val="2E3338"/>
                </a:solidFill>
                <a:latin typeface="Trade Gothic Next" pitchFamily="34" charset="0"/>
                <a:ea typeface="Trade Gothic Next" pitchFamily="34" charset="-122"/>
                <a:cs typeface="Trade Gothic Next" pitchFamily="34" charset="-120"/>
              </a:rPr>
              <a:t>U02 • S02.3</a:t>
            </a:r>
            <a:endParaRPr lang="en-US" sz="1000" dirty="0"/>
          </a:p>
        </p:txBody>
      </p:sp>
      <p:sp>
        <p:nvSpPr>
          <p:cNvPr id="13" name="Text 3"/>
          <p:cNvSpPr txBox="1"/>
          <p:nvPr>
            <p:ph idx="106" type="body" hasCustomPrompt="1"/>
          </p:nvPr>
        </p:nvSpPr>
        <p:spPr>
          <a:xfrm>
            <a:off x="914400" y="2651760"/>
            <a:ext cx="4617720" cy="2743200"/>
          </a:xfrm>
          <a:prstGeom prst="rect">
            <a:avLst/>
          </a:prstGeom>
          <a:noFill/>
          <a:ln/>
        </p:spPr>
        <p:txBody>
          <a:bodyPr wrap="square" lIns="0" tIns="0" rIns="0" bIns="0" rtlCol="0" anchor="ctr"/>
          <a:lstStyle/>
          <a:p>
            <a:pPr algn="ctr" indent="0" marL="0">
              <a:buNone/>
            </a:pPr>
            <a:endParaRPr lang="en-US" sz="2000" dirty="0"/>
          </a:p>
        </p:txBody>
      </p:sp>
      <p:sp>
        <p:nvSpPr>
          <p:cNvPr id="14" name="BUILD backdrop"/>
          <p:cNvSpPr/>
          <p:nvPr/>
        </p:nvSpPr>
        <p:spPr>
          <a:xfrm>
            <a:off x="914400" y="2651760"/>
            <a:ext cx="4617720" cy="2743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12" name="BUILD boxes and labels" descr="Orbital diagram of nitrogen. 1s: one box, one pair. 2s: one box, one pair. 2p: three boxes, three single up arrows."/>
          <p:cNvGrpSpPr/>
          <p:nvPr/>
        </p:nvGrpSpPr>
        <p:grpSpPr>
          <a:xfrm>
            <a:off x="1024127" y="2894076"/>
            <a:ext cx="4398265" cy="1380744"/>
            <a:chOff x="1024127" y="2894076"/>
            <a:chExt cx="4398265" cy="1380744"/>
          </a:xfrm>
        </p:grpSpPr>
        <p:sp>
          <p:nvSpPr>
            <p:cNvPr id="15" name="BUILD title"/>
            <p:cNvSpPr txBox="1"/>
            <p:nvPr/>
          </p:nvSpPr>
          <p:spPr>
            <a:xfrm>
              <a:off x="1024128" y="2894076"/>
              <a:ext cx="4398264" cy="274320"/>
            </a:xfrm>
            <a:prstGeom prst="rect">
              <a:avLst/>
            </a:prstGeom>
            <a:noFill/>
          </p:spPr>
          <p:txBody>
            <a:bodyPr wrap="square" lIns="0" rIns="0" tIns="0" bIns="0" anchor="ctr">
              <a:spAutoFit/>
            </a:bodyPr>
            <a:lstStyle/>
            <a:p>
              <a:pPr algn="ctr"/>
              <a:r>
                <a:rPr sz="1800" b="1">
                  <a:solidFill>
                    <a:srgbClr val="14161B"/>
                  </a:solidFill>
                  <a:latin typeface="Trade Gothic Next"/>
                </a:rPr>
                <a:t>NITROGEN  Z = 7</a:t>
              </a:r>
            </a:p>
          </p:txBody>
        </p:sp>
        <p:sp>
          <p:nvSpPr>
            <p:cNvPr id="16" name="BUILD box 1s 1"/>
            <p:cNvSpPr/>
            <p:nvPr/>
          </p:nvSpPr>
          <p:spPr>
            <a:xfrm>
              <a:off x="1024127" y="3204972"/>
              <a:ext cx="758952" cy="758952"/>
            </a:xfrm>
            <a:prstGeom prst="rect">
              <a:avLst/>
            </a:prstGeom>
            <a:solidFill>
              <a:srgbClr val="FFFFFF"/>
            </a:solidFill>
            <a:ln w="28575">
              <a:solidFill>
                <a:srgbClr val="1416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UILD label 1s"/>
            <p:cNvSpPr txBox="1"/>
            <p:nvPr/>
          </p:nvSpPr>
          <p:spPr>
            <a:xfrm>
              <a:off x="1229689" y="4000500"/>
              <a:ext cx="281642" cy="274320"/>
            </a:xfrm>
            <a:prstGeom prst="rect">
              <a:avLst/>
            </a:prstGeom>
            <a:noFill/>
          </p:spPr>
          <p:txBody>
            <a:bodyPr wrap="none" lIns="0" rIns="0" tIns="0" bIns="0" anchor="ctr">
              <a:spAutoFit/>
            </a:bodyPr>
            <a:lstStyle/>
            <a:p>
              <a:pPr algn="l"/>
              <a:r>
                <a:rPr sz="1800" b="1">
                  <a:solidFill>
                    <a:srgbClr val="14161B"/>
                  </a:solidFill>
                  <a:latin typeface="Trade Gothic Next"/>
                </a:rPr>
                <a:t>1s</a:t>
              </a:r>
            </a:p>
          </p:txBody>
        </p:sp>
        <p:sp>
          <p:nvSpPr>
            <p:cNvPr id="18" name="BUILD box 2s 1"/>
            <p:cNvSpPr/>
            <p:nvPr/>
          </p:nvSpPr>
          <p:spPr>
            <a:xfrm>
              <a:off x="2039111" y="3204972"/>
              <a:ext cx="758952" cy="758952"/>
            </a:xfrm>
            <a:prstGeom prst="rect">
              <a:avLst/>
            </a:prstGeom>
            <a:solidFill>
              <a:srgbClr val="FFFFFF"/>
            </a:solidFill>
            <a:ln w="28575">
              <a:solidFill>
                <a:srgbClr val="1416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BUILD label 2s"/>
            <p:cNvSpPr txBox="1"/>
            <p:nvPr/>
          </p:nvSpPr>
          <p:spPr>
            <a:xfrm>
              <a:off x="2244673" y="4000500"/>
              <a:ext cx="281642" cy="274320"/>
            </a:xfrm>
            <a:prstGeom prst="rect">
              <a:avLst/>
            </a:prstGeom>
            <a:noFill/>
          </p:spPr>
          <p:txBody>
            <a:bodyPr wrap="none" lIns="0" rIns="0" tIns="0" bIns="0" anchor="ctr">
              <a:spAutoFit/>
            </a:bodyPr>
            <a:lstStyle/>
            <a:p>
              <a:pPr algn="l"/>
              <a:r>
                <a:rPr sz="1800" b="1">
                  <a:solidFill>
                    <a:srgbClr val="14161B"/>
                  </a:solidFill>
                  <a:latin typeface="Trade Gothic Next"/>
                </a:rPr>
                <a:t>2s</a:t>
              </a:r>
            </a:p>
          </p:txBody>
        </p:sp>
        <p:sp>
          <p:nvSpPr>
            <p:cNvPr id="20" name="BUILD box 2p 1"/>
            <p:cNvSpPr/>
            <p:nvPr/>
          </p:nvSpPr>
          <p:spPr>
            <a:xfrm>
              <a:off x="3054096" y="3204972"/>
              <a:ext cx="758952" cy="758952"/>
            </a:xfrm>
            <a:prstGeom prst="rect">
              <a:avLst/>
            </a:prstGeom>
            <a:solidFill>
              <a:srgbClr val="FFFFFF"/>
            </a:solidFill>
            <a:ln w="28575">
              <a:solidFill>
                <a:srgbClr val="1416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UILD box 2p 2"/>
            <p:cNvSpPr/>
            <p:nvPr/>
          </p:nvSpPr>
          <p:spPr>
            <a:xfrm>
              <a:off x="3858768" y="3204972"/>
              <a:ext cx="758952" cy="758952"/>
            </a:xfrm>
            <a:prstGeom prst="rect">
              <a:avLst/>
            </a:prstGeom>
            <a:solidFill>
              <a:srgbClr val="FFFFFF"/>
            </a:solidFill>
            <a:ln w="28575">
              <a:solidFill>
                <a:srgbClr val="1416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BUILD box 2p 3"/>
            <p:cNvSpPr/>
            <p:nvPr/>
          </p:nvSpPr>
          <p:spPr>
            <a:xfrm>
              <a:off x="4663440" y="3204972"/>
              <a:ext cx="758952" cy="758952"/>
            </a:xfrm>
            <a:prstGeom prst="rect">
              <a:avLst/>
            </a:prstGeom>
            <a:solidFill>
              <a:srgbClr val="FFFFFF"/>
            </a:solidFill>
            <a:ln w="28575">
              <a:solidFill>
                <a:srgbClr val="1416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BUILD label 2p"/>
            <p:cNvSpPr txBox="1"/>
            <p:nvPr/>
          </p:nvSpPr>
          <p:spPr>
            <a:xfrm>
              <a:off x="4058391" y="4000500"/>
              <a:ext cx="293518" cy="274320"/>
            </a:xfrm>
            <a:prstGeom prst="rect">
              <a:avLst/>
            </a:prstGeom>
            <a:noFill/>
          </p:spPr>
          <p:txBody>
            <a:bodyPr wrap="none" lIns="0" rIns="0" tIns="0" bIns="0" anchor="ctr">
              <a:spAutoFit/>
            </a:bodyPr>
            <a:lstStyle/>
            <a:p>
              <a:pPr algn="l"/>
              <a:r>
                <a:rPr sz="1800" b="1">
                  <a:solidFill>
                    <a:srgbClr val="14161B"/>
                  </a:solidFill>
                  <a:latin typeface="Trade Gothic Next"/>
                </a:rPr>
                <a:t>2p</a:t>
              </a:r>
            </a:p>
          </p:txBody>
        </p:sp>
      </p:grpSp>
      <p:sp>
        <p:nvSpPr>
          <p:cNvPr id="24" name="BUILD arrow 1s box1 up" descr="">
            <a:extLst>
              <a:ext uri="{C183D7F6-B498-43B3-948B-1728B52AA6E4}">
                <adec:decorative xmlns:adec="http://schemas.microsoft.com/office/drawing/2017/decorative" val="1"/>
              </a:ext>
            </a:extLst>
          </p:cNvPr>
          <p:cNvSpPr/>
          <p:nvPr/>
        </p:nvSpPr>
        <p:spPr>
          <a:xfrm>
            <a:off x="1156944" y="3349172"/>
            <a:ext cx="189738" cy="470550"/>
          </a:xfrm>
          <a:prstGeom prst="upArrow">
            <a:avLst>
              <a:gd name="adj1" fmla="val 34000"/>
              <a:gd name="adj2" fmla="val 70000"/>
            </a:avLst>
          </a:prstGeom>
          <a:solidFill>
            <a:srgbClr val="1416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UILD arrow 1s box1 down" descr="">
            <a:extLst>
              <a:ext uri="{C183D7F6-B498-43B3-948B-1728B52AA6E4}">
                <adec:decorative xmlns:adec="http://schemas.microsoft.com/office/drawing/2017/decorative" val="1"/>
              </a:ext>
            </a:extLst>
          </p:cNvPr>
          <p:cNvSpPr/>
          <p:nvPr/>
        </p:nvSpPr>
        <p:spPr>
          <a:xfrm>
            <a:off x="1460525" y="3349172"/>
            <a:ext cx="189738" cy="470550"/>
          </a:xfrm>
          <a:prstGeom prst="downArrow">
            <a:avLst>
              <a:gd name="adj1" fmla="val 34000"/>
              <a:gd name="adj2" fmla="val 70000"/>
            </a:avLst>
          </a:prstGeom>
          <a:solidFill>
            <a:srgbClr val="1416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BUILD arrow 2s box1 up" descr="">
            <a:extLst>
              <a:ext uri="{C183D7F6-B498-43B3-948B-1728B52AA6E4}">
                <adec:decorative xmlns:adec="http://schemas.microsoft.com/office/drawing/2017/decorative" val="1"/>
              </a:ext>
            </a:extLst>
          </p:cNvPr>
          <p:cNvSpPr/>
          <p:nvPr/>
        </p:nvSpPr>
        <p:spPr>
          <a:xfrm>
            <a:off x="2171928" y="3349172"/>
            <a:ext cx="189738" cy="470550"/>
          </a:xfrm>
          <a:prstGeom prst="upArrow">
            <a:avLst>
              <a:gd name="adj1" fmla="val 34000"/>
              <a:gd name="adj2" fmla="val 70000"/>
            </a:avLst>
          </a:prstGeom>
          <a:solidFill>
            <a:srgbClr val="1416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BUILD arrow 2s box1 down" descr="">
            <a:extLst>
              <a:ext uri="{C183D7F6-B498-43B3-948B-1728B52AA6E4}">
                <adec:decorative xmlns:adec="http://schemas.microsoft.com/office/drawing/2017/decorative" val="1"/>
              </a:ext>
            </a:extLst>
          </p:cNvPr>
          <p:cNvSpPr/>
          <p:nvPr/>
        </p:nvSpPr>
        <p:spPr>
          <a:xfrm>
            <a:off x="2475509" y="3349172"/>
            <a:ext cx="189738" cy="470550"/>
          </a:xfrm>
          <a:prstGeom prst="downArrow">
            <a:avLst>
              <a:gd name="adj1" fmla="val 34000"/>
              <a:gd name="adj2" fmla="val 70000"/>
            </a:avLst>
          </a:prstGeom>
          <a:solidFill>
            <a:srgbClr val="1416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BUILD arrow 2p box1 up" descr="">
            <a:extLst>
              <a:ext uri="{C183D7F6-B498-43B3-948B-1728B52AA6E4}">
                <adec:decorative xmlns:adec="http://schemas.microsoft.com/office/drawing/2017/decorative" val="1"/>
              </a:ext>
            </a:extLst>
          </p:cNvPr>
          <p:cNvSpPr/>
          <p:nvPr/>
        </p:nvSpPr>
        <p:spPr>
          <a:xfrm>
            <a:off x="3186912" y="3349172"/>
            <a:ext cx="189738" cy="470550"/>
          </a:xfrm>
          <a:prstGeom prst="upArrow">
            <a:avLst>
              <a:gd name="adj1" fmla="val 34000"/>
              <a:gd name="adj2" fmla="val 70000"/>
            </a:avLst>
          </a:prstGeom>
          <a:solidFill>
            <a:srgbClr val="1416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BUILD arrow 2p box2 up" descr="">
            <a:extLst>
              <a:ext uri="{C183D7F6-B498-43B3-948B-1728B52AA6E4}">
                <adec:decorative xmlns:adec="http://schemas.microsoft.com/office/drawing/2017/decorative" val="1"/>
              </a:ext>
            </a:extLst>
          </p:cNvPr>
          <p:cNvSpPr/>
          <p:nvPr/>
        </p:nvSpPr>
        <p:spPr>
          <a:xfrm>
            <a:off x="3991584" y="3349172"/>
            <a:ext cx="189738" cy="470550"/>
          </a:xfrm>
          <a:prstGeom prst="upArrow">
            <a:avLst>
              <a:gd name="adj1" fmla="val 34000"/>
              <a:gd name="adj2" fmla="val 70000"/>
            </a:avLst>
          </a:prstGeom>
          <a:solidFill>
            <a:srgbClr val="1416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BUILD arrow 2p box3 up" descr="">
            <a:extLst>
              <a:ext uri="{C183D7F6-B498-43B3-948B-1728B52AA6E4}">
                <adec:decorative xmlns:adec="http://schemas.microsoft.com/office/drawing/2017/decorative" val="1"/>
              </a:ext>
            </a:extLst>
          </p:cNvPr>
          <p:cNvSpPr/>
          <p:nvPr/>
        </p:nvSpPr>
        <p:spPr>
          <a:xfrm>
            <a:off x="4796256" y="3349172"/>
            <a:ext cx="189738" cy="470550"/>
          </a:xfrm>
          <a:prstGeom prst="upArrow">
            <a:avLst>
              <a:gd name="adj1" fmla="val 34000"/>
              <a:gd name="adj2" fmla="val 70000"/>
            </a:avLst>
          </a:prstGeom>
          <a:solidFill>
            <a:srgbClr val="1416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BUILD count 1s"/>
          <p:cNvSpPr txBox="1"/>
          <p:nvPr/>
        </p:nvSpPr>
        <p:spPr>
          <a:xfrm>
            <a:off x="1456467" y="4000500"/>
            <a:ext cx="194202" cy="274320"/>
          </a:xfrm>
          <a:prstGeom prst="rect">
            <a:avLst/>
          </a:prstGeom>
          <a:noFill/>
        </p:spPr>
        <p:txBody>
          <a:bodyPr wrap="none" lIns="0" rIns="0" tIns="0" bIns="0" anchor="ctr">
            <a:spAutoFit/>
          </a:bodyPr>
          <a:lstStyle/>
          <a:p>
            <a:pPr algn="l"/>
            <a:r>
              <a:rPr sz="1800" b="1" baseline="30000">
                <a:solidFill>
                  <a:srgbClr val="14161B"/>
                </a:solidFill>
                <a:latin typeface="Trade Gothic Next"/>
              </a:rPr>
              <a:t>2</a:t>
            </a:r>
          </a:p>
        </p:txBody>
      </p:sp>
      <p:sp>
        <p:nvSpPr>
          <p:cNvPr id="32" name="BUILD count 2s"/>
          <p:cNvSpPr txBox="1"/>
          <p:nvPr/>
        </p:nvSpPr>
        <p:spPr>
          <a:xfrm>
            <a:off x="2471451" y="4000500"/>
            <a:ext cx="194202" cy="274320"/>
          </a:xfrm>
          <a:prstGeom prst="rect">
            <a:avLst/>
          </a:prstGeom>
          <a:noFill/>
        </p:spPr>
        <p:txBody>
          <a:bodyPr wrap="none" lIns="0" rIns="0" tIns="0" bIns="0" anchor="ctr">
            <a:spAutoFit/>
          </a:bodyPr>
          <a:lstStyle/>
          <a:p>
            <a:pPr algn="l"/>
            <a:r>
              <a:rPr sz="1800" b="1" baseline="30000">
                <a:solidFill>
                  <a:srgbClr val="14161B"/>
                </a:solidFill>
                <a:latin typeface="Trade Gothic Next"/>
              </a:rPr>
              <a:t>2</a:t>
            </a:r>
          </a:p>
        </p:txBody>
      </p:sp>
      <p:sp>
        <p:nvSpPr>
          <p:cNvPr id="33" name="BUILD count 2p"/>
          <p:cNvSpPr txBox="1"/>
          <p:nvPr/>
        </p:nvSpPr>
        <p:spPr>
          <a:xfrm>
            <a:off x="4297046" y="4000500"/>
            <a:ext cx="194202" cy="274320"/>
          </a:xfrm>
          <a:prstGeom prst="rect">
            <a:avLst/>
          </a:prstGeom>
          <a:noFill/>
        </p:spPr>
        <p:txBody>
          <a:bodyPr wrap="none" lIns="0" rIns="0" tIns="0" bIns="0" anchor="ctr">
            <a:spAutoFit/>
          </a:bodyPr>
          <a:lstStyle/>
          <a:p>
            <a:pPr algn="l"/>
            <a:r>
              <a:rPr sz="1800" b="1" baseline="30000">
                <a:solidFill>
                  <a:srgbClr val="14161B"/>
                </a:solidFill>
                <a:latin typeface="Trade Gothic Next"/>
              </a:rPr>
              <a:t>3</a:t>
            </a:r>
          </a:p>
        </p:txBody>
      </p:sp>
      <p:sp>
        <p:nvSpPr>
          <p:cNvPr id="34" name="BUILD caption"/>
          <p:cNvSpPr txBox="1"/>
          <p:nvPr/>
        </p:nvSpPr>
        <p:spPr>
          <a:xfrm>
            <a:off x="1024128" y="4311396"/>
            <a:ext cx="4398264" cy="256032"/>
          </a:xfrm>
          <a:prstGeom prst="rect">
            <a:avLst/>
          </a:prstGeom>
          <a:noFill/>
        </p:spPr>
        <p:txBody>
          <a:bodyPr wrap="square" lIns="0" rIns="0" tIns="0" bIns="0" anchor="ctr">
            <a:spAutoFit/>
          </a:bodyPr>
          <a:lstStyle/>
          <a:p>
            <a:pPr algn="ctr"/>
            <a:r>
              <a:rPr sz="1600" b="1">
                <a:solidFill>
                  <a:srgbClr val="4D730E"/>
                </a:solidFill>
                <a:latin typeface="Trade Gothic Next"/>
              </a:rPr>
              <a:t>Pauli: pair with opposite spin</a:t>
            </a:r>
          </a:p>
        </p:txBody>
      </p:sp>
      <p:sp>
        <p:nvSpPr>
          <p:cNvPr id="35" name="BUILD caption"/>
          <p:cNvSpPr txBox="1"/>
          <p:nvPr/>
        </p:nvSpPr>
        <p:spPr>
          <a:xfrm>
            <a:off x="1024128" y="4567428"/>
            <a:ext cx="4398264" cy="256032"/>
          </a:xfrm>
          <a:prstGeom prst="rect">
            <a:avLst/>
          </a:prstGeom>
          <a:noFill/>
        </p:spPr>
        <p:txBody>
          <a:bodyPr wrap="square" lIns="0" rIns="0" tIns="0" bIns="0" anchor="ctr">
            <a:spAutoFit/>
          </a:bodyPr>
          <a:lstStyle/>
          <a:p>
            <a:pPr algn="ctr"/>
            <a:r>
              <a:rPr sz="1600" b="1">
                <a:solidFill>
                  <a:srgbClr val="4D730E"/>
                </a:solidFill>
                <a:latin typeface="Trade Gothic Next"/>
              </a:rPr>
              <a:t>Hund: one up arrow in each box first</a:t>
            </a:r>
          </a:p>
        </p:txBody>
      </p:sp>
      <p:sp>
        <p:nvSpPr>
          <p:cNvPr id="36" name="BUILD sum"/>
          <p:cNvSpPr txBox="1"/>
          <p:nvPr/>
        </p:nvSpPr>
        <p:spPr>
          <a:xfrm>
            <a:off x="1024128" y="4860036"/>
            <a:ext cx="4398264" cy="292608"/>
          </a:xfrm>
          <a:prstGeom prst="rect">
            <a:avLst/>
          </a:prstGeom>
          <a:noFill/>
        </p:spPr>
        <p:txBody>
          <a:bodyPr wrap="square" lIns="0" rIns="0" tIns="0" bIns="0" anchor="ctr">
            <a:spAutoFit/>
          </a:bodyPr>
          <a:lstStyle/>
          <a:p>
            <a:pPr algn="ctr"/>
            <a:r>
              <a:rPr sz="1800" b="1">
                <a:solidFill>
                  <a:srgbClr val="14161B"/>
                </a:solidFill>
                <a:latin typeface="Trade Gothic Next"/>
              </a:rPr>
              <a:t>2 + 2 + 3 = 7</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24"/>
                                        </p:tgtEl>
                                        <p:attrNameLst>
                                          <p:attrName>style.visibility</p:attrName>
                                        </p:attrNameLst>
                                      </p:cBhvr>
                                      <p:to>
                                        <p:strVal val="visible"/>
                                      </p:to>
                                    </p:set>
                                    <p:animEffect transition="in" filter="fade">
                                      <p:cBhvr>
                                        <p:cTn id="13" dur="400"/>
                                        <p:tgtEl>
                                          <p:spTgt spid="24"/>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25"/>
                                        </p:tgtEl>
                                        <p:attrNameLst>
                                          <p:attrName>style.visibility</p:attrName>
                                        </p:attrNameLst>
                                      </p:cBhvr>
                                      <p:to>
                                        <p:strVal val="visible"/>
                                      </p:to>
                                    </p:set>
                                    <p:animEffect transition="in" filter="fade">
                                      <p:cBhvr>
                                        <p:cTn id="18" dur="400"/>
                                        <p:tgtEl>
                                          <p:spTgt spid="2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1"/>
                                        </p:tgtEl>
                                        <p:attrNameLst>
                                          <p:attrName>style.visibility</p:attrName>
                                        </p:attrNameLst>
                                      </p:cBhvr>
                                      <p:to>
                                        <p:strVal val="visible"/>
                                      </p:to>
                                    </p:set>
                                    <p:animEffect transition="in" filter="fade">
                                      <p:cBhvr>
                                        <p:cTn id="21" dur="400"/>
                                        <p:tgtEl>
                                          <p:spTgt spid="31"/>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4"/>
                                        </p:tgtEl>
                                        <p:attrNameLst>
                                          <p:attrName>style.visibility</p:attrName>
                                        </p:attrNameLst>
                                      </p:cBhvr>
                                      <p:to>
                                        <p:strVal val="visible"/>
                                      </p:to>
                                    </p:set>
                                    <p:animEffect transition="in" filter="fade">
                                      <p:cBhvr>
                                        <p:cTn id="24" dur="400"/>
                                        <p:tgtEl>
                                          <p:spTgt spid="34"/>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27"/>
                                        </p:tgtEl>
                                        <p:attrNameLst>
                                          <p:attrName>style.visibility</p:attrName>
                                        </p:attrNameLst>
                                      </p:cBhvr>
                                      <p:to>
                                        <p:strVal val="visible"/>
                                      </p:to>
                                    </p:set>
                                    <p:animEffect transition="in" filter="fade">
                                      <p:cBhvr>
                                        <p:cTn id="34" dur="400"/>
                                        <p:tgtEl>
                                          <p:spTgt spid="27"/>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2"/>
                                        </p:tgtEl>
                                        <p:attrNameLst>
                                          <p:attrName>style.visibility</p:attrName>
                                        </p:attrNameLst>
                                      </p:cBhvr>
                                      <p:to>
                                        <p:strVal val="visible"/>
                                      </p:to>
                                    </p:set>
                                    <p:animEffect transition="in" filter="fade">
                                      <p:cBhvr>
                                        <p:cTn id="37" dur="400"/>
                                        <p:tgtEl>
                                          <p:spTgt spid="32"/>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28"/>
                                        </p:tgtEl>
                                        <p:attrNameLst>
                                          <p:attrName>style.visibility</p:attrName>
                                        </p:attrNameLst>
                                      </p:cBhvr>
                                      <p:to>
                                        <p:strVal val="visible"/>
                                      </p:to>
                                    </p:set>
                                    <p:animEffect transition="in" filter="fade">
                                      <p:cBhvr>
                                        <p:cTn id="42" dur="400"/>
                                        <p:tgtEl>
                                          <p:spTgt spid="28"/>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35"/>
                                        </p:tgtEl>
                                        <p:attrNameLst>
                                          <p:attrName>style.visibility</p:attrName>
                                        </p:attrNameLst>
                                      </p:cBhvr>
                                      <p:to>
                                        <p:strVal val="visible"/>
                                      </p:to>
                                    </p:set>
                                    <p:animEffect transition="in" filter="fade">
                                      <p:cBhvr>
                                        <p:cTn id="45" dur="400"/>
                                        <p:tgtEl>
                                          <p:spTgt spid="35"/>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29"/>
                                        </p:tgtEl>
                                        <p:attrNameLst>
                                          <p:attrName>style.visibility</p:attrName>
                                        </p:attrNameLst>
                                      </p:cBhvr>
                                      <p:to>
                                        <p:strVal val="visible"/>
                                      </p:to>
                                    </p:set>
                                    <p:animEffect transition="in" filter="fade">
                                      <p:cBhvr>
                                        <p:cTn id="50" dur="400"/>
                                        <p:tgtEl>
                                          <p:spTgt spid="29"/>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30"/>
                                        </p:tgtEl>
                                        <p:attrNameLst>
                                          <p:attrName>style.visibility</p:attrName>
                                        </p:attrNameLst>
                                      </p:cBhvr>
                                      <p:to>
                                        <p:strVal val="visible"/>
                                      </p:to>
                                    </p:set>
                                    <p:animEffect transition="in" filter="fade">
                                      <p:cBhvr>
                                        <p:cTn id="55" dur="400"/>
                                        <p:tgtEl>
                                          <p:spTgt spid="30"/>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33"/>
                                        </p:tgtEl>
                                        <p:attrNameLst>
                                          <p:attrName>style.visibility</p:attrName>
                                        </p:attrNameLst>
                                      </p:cBhvr>
                                      <p:to>
                                        <p:strVal val="visible"/>
                                      </p:to>
                                    </p:set>
                                    <p:animEffect transition="in" filter="fade">
                                      <p:cBhvr>
                                        <p:cTn id="58" dur="400"/>
                                        <p:tgtEl>
                                          <p:spTgt spid="33"/>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36"/>
                                        </p:tgtEl>
                                        <p:attrNameLst>
                                          <p:attrName>style.visibility</p:attrName>
                                        </p:attrNameLst>
                                      </p:cBhvr>
                                      <p:to>
                                        <p:strVal val="visible"/>
                                      </p:to>
                                    </p:set>
                                    <p:animEffect transition="in" filter="fade">
                                      <p:cBhvr>
                                        <p:cTn id="61" dur="4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5" grpId="0" animBg="1"/>
      <p:bldP spid="31" grpId="0"/>
      <p:bldP spid="34" grpId="0"/>
      <p:bldP spid="26" grpId="0" animBg="1"/>
      <p:bldP spid="27" grpId="0" animBg="1"/>
      <p:bldP spid="32" grpId="0"/>
      <p:bldP spid="28" grpId="0" animBg="1"/>
      <p:bldP spid="35" grpId="0"/>
      <p:bldP spid="29" grpId="0" animBg="1"/>
      <p:bldP spid="30" grpId="0" animBg="1"/>
      <p:bldP spid="33" grpId="0"/>
      <p:bldP spid="36" grpId="0"/>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
          <p:cNvSpPr txBox="1"/>
          <p:nvPr>
            <p:ph idx="103" type="title" hasCustomPrompt="1"/>
          </p:nvPr>
        </p:nvSpPr>
        <p:spPr>
          <a:xfrm>
            <a:off x="685800" y="932688"/>
            <a:ext cx="10820095" cy="868680"/>
          </a:xfrm>
          <a:prstGeom prst="rect">
            <a:avLst/>
          </a:prstGeom>
          <a:noFill/>
          <a:ln/>
        </p:spPr>
        <p:txBody>
          <a:bodyPr wrap="square" lIns="0" tIns="0" rIns="0" bIns="0" rtlCol="0" anchor="t"/>
          <a:lstStyle/>
          <a:p>
            <a:pPr algn="l" indent="0" marL="0">
              <a:buNone/>
            </a:pPr>
            <a:r>
              <a:rPr lang="en-US" sz="2800" b="1" dirty="0">
                <a:solidFill>
                  <a:srgbClr val="14161B"/>
                </a:solidFill>
                <a:latin typeface="Trade Gothic Next" pitchFamily="34" charset="0"/>
                <a:ea typeface="Trade Gothic Next" pitchFamily="34" charset="-122"/>
                <a:cs typeface="Trade Gothic Next" pitchFamily="34" charset="-120"/>
              </a:rPr>
              <a:t>Filling Oxygen's 2p Boxes</a:t>
            </a:r>
            <a:endParaRPr lang="en-US" sz="2800" dirty="0"/>
          </a:p>
        </p:txBody>
      </p:sp>
      <p:sp>
        <p:nvSpPr>
          <p:cNvPr id="3" name="Text 2"/>
          <p:cNvSpPr txBox="1"/>
          <p:nvPr>
            <p:ph idx="104" type="body" hasCustomPrompt="1"/>
          </p:nvPr>
        </p:nvSpPr>
        <p:spPr>
          <a:xfrm>
            <a:off x="685800" y="1847088"/>
            <a:ext cx="10820095" cy="384048"/>
          </a:xfrm>
          <a:prstGeom prst="rect">
            <a:avLst/>
          </a:prstGeom>
          <a:noFill/>
          <a:ln/>
        </p:spPr>
        <p:txBody>
          <a:bodyPr wrap="square" lIns="0" tIns="0" rIns="0" bIns="0" rtlCol="0"/>
          <a:lstStyle/>
          <a:p>
            <a:pPr indent="0" marL="0">
              <a:buNone/>
            </a:pPr>
            <a:r>
              <a:rPr lang="en-US" sz="1700" dirty="0">
                <a:solidFill>
                  <a:srgbClr val="2E3338"/>
                </a:solidFill>
                <a:latin typeface="Trade Gothic Next" pitchFamily="34" charset="0"/>
                <a:ea typeface="Trade Gothic Next" pitchFamily="34" charset="-122"/>
                <a:cs typeface="Trade Gothic Next" pitchFamily="34" charset="-120"/>
              </a:rPr>
              <a:t>Four electrons, three boxes. Watch the order of the arrows.</a:t>
            </a:r>
            <a:endParaRPr lang="en-US" sz="1700" dirty="0"/>
          </a:p>
        </p:txBody>
      </p:sp>
      <p:sp>
        <p:nvSpPr>
          <p:cNvPr id="4" name="Text 4"/>
          <p:cNvSpPr txBox="1"/>
          <p:nvPr>
            <p:ph idx="108" type="body" hasCustomPrompt="1"/>
          </p:nvPr>
        </p:nvSpPr>
        <p:spPr>
          <a:xfrm>
            <a:off x="6327648" y="2560320"/>
            <a:ext cx="5129784" cy="219456"/>
          </a:xfrm>
          <a:prstGeom prst="rect">
            <a:avLst/>
          </a:prstGeom>
          <a:noFill/>
          <a:ln/>
        </p:spPr>
        <p:txBody>
          <a:bodyPr wrap="square" lIns="0" tIns="0" rIns="0" bIns="0" rtlCol="0"/>
          <a:lstStyle/>
          <a:p>
            <a:pPr indent="0" marL="0">
              <a:buNone/>
            </a:pPr>
            <a:r>
              <a:rPr lang="en-US" sz="1200" b="1" spc="120" kern="0" dirty="0">
                <a:solidFill>
                  <a:srgbClr val="2E3338"/>
                </a:solidFill>
                <a:latin typeface="Trade Gothic Next" pitchFamily="34" charset="0"/>
                <a:ea typeface="Trade Gothic Next" pitchFamily="34" charset="-122"/>
                <a:cs typeface="Trade Gothic Next" pitchFamily="34" charset="-120"/>
              </a:rPr>
              <a:t>THE BOXES</a:t>
            </a:r>
            <a:endParaRPr lang="en-US" sz="1200" dirty="0"/>
          </a:p>
        </p:txBody>
      </p:sp>
      <p:sp>
        <p:nvSpPr>
          <p:cNvPr id="5" name="Text 4"/>
          <p:cNvSpPr txBox="1"/>
          <p:nvPr>
            <p:ph idx="109" type="body" hasCustomPrompt="1"/>
          </p:nvPr>
        </p:nvSpPr>
        <p:spPr>
          <a:xfrm>
            <a:off x="6327648" y="2852928"/>
            <a:ext cx="5129784" cy="329184"/>
          </a:xfrm>
          <a:prstGeom prst="rect">
            <a:avLst/>
          </a:prstGeom>
          <a:noFill/>
          <a:ln/>
        </p:spPr>
        <p:txBody>
          <a:bodyPr wrap="square" lIns="0" tIns="0" rIns="0" bIns="0" rtlCol="0"/>
          <a:lstStyle/>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The 2p sublevel has 3 boxes. Oxygen puts 4 electrons in them.</a:t>
            </a:r>
            <a:endParaRPr lang="en-US" sz="1600" dirty="0"/>
          </a:p>
        </p:txBody>
      </p:sp>
      <p:sp>
        <p:nvSpPr>
          <p:cNvPr id="6" name="Text 5"/>
          <p:cNvSpPr txBox="1"/>
          <p:nvPr>
            <p:ph idx="111" type="body" hasCustomPrompt="1"/>
          </p:nvPr>
        </p:nvSpPr>
        <p:spPr>
          <a:xfrm>
            <a:off x="6327648" y="3694176"/>
            <a:ext cx="5129784" cy="219456"/>
          </a:xfrm>
          <a:prstGeom prst="rect">
            <a:avLst/>
          </a:prstGeom>
          <a:noFill/>
          <a:ln/>
        </p:spPr>
        <p:txBody>
          <a:bodyPr wrap="square" lIns="0" tIns="0" rIns="0" bIns="0" rtlCol="0"/>
          <a:lstStyle/>
          <a:p>
            <a:pPr indent="0" marL="0">
              <a:buNone/>
            </a:pPr>
            <a:r>
              <a:rPr lang="en-US" sz="1200" b="1" spc="120" kern="0" dirty="0">
                <a:solidFill>
                  <a:srgbClr val="2E3338"/>
                </a:solidFill>
                <a:latin typeface="Trade Gothic Next" pitchFamily="34" charset="0"/>
                <a:ea typeface="Trade Gothic Next" pitchFamily="34" charset="-122"/>
                <a:cs typeface="Trade Gothic Next" pitchFamily="34" charset="-120"/>
              </a:rPr>
              <a:t>HUND'S RULE</a:t>
            </a:r>
            <a:endParaRPr lang="en-US" sz="1200" dirty="0"/>
          </a:p>
        </p:txBody>
      </p:sp>
      <p:sp>
        <p:nvSpPr>
          <p:cNvPr id="7" name="Text 5"/>
          <p:cNvSpPr txBox="1"/>
          <p:nvPr>
            <p:ph idx="112" type="body" hasCustomPrompt="1"/>
          </p:nvPr>
        </p:nvSpPr>
        <p:spPr>
          <a:xfrm>
            <a:off x="6327648" y="3986784"/>
            <a:ext cx="5129784" cy="329184"/>
          </a:xfrm>
          <a:prstGeom prst="rect">
            <a:avLst/>
          </a:prstGeom>
          <a:noFill/>
          <a:ln/>
        </p:spPr>
        <p:txBody>
          <a:bodyPr wrap="square" lIns="0" tIns="0" rIns="0" bIns="0" rtlCol="0"/>
          <a:lstStyle/>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One up arrow in each box first.</a:t>
            </a:r>
            <a:endParaRPr lang="en-US" sz="1600" dirty="0"/>
          </a:p>
        </p:txBody>
      </p:sp>
      <p:sp>
        <p:nvSpPr>
          <p:cNvPr id="8" name="Text 6"/>
          <p:cNvSpPr txBox="1"/>
          <p:nvPr>
            <p:ph idx="114" type="body" hasCustomPrompt="1"/>
          </p:nvPr>
        </p:nvSpPr>
        <p:spPr>
          <a:xfrm>
            <a:off x="6327648" y="4828032"/>
            <a:ext cx="5129784" cy="219456"/>
          </a:xfrm>
          <a:prstGeom prst="rect">
            <a:avLst/>
          </a:prstGeom>
          <a:noFill/>
          <a:ln/>
        </p:spPr>
        <p:txBody>
          <a:bodyPr wrap="square" lIns="0" tIns="0" rIns="0" bIns="0" rtlCol="0"/>
          <a:lstStyle/>
          <a:p>
            <a:pPr indent="0" marL="0">
              <a:buNone/>
            </a:pPr>
            <a:r>
              <a:rPr lang="en-US" sz="1200" b="1" spc="120" kern="0" dirty="0">
                <a:solidFill>
                  <a:srgbClr val="2E3338"/>
                </a:solidFill>
                <a:latin typeface="Trade Gothic Next" pitchFamily="34" charset="0"/>
                <a:ea typeface="Trade Gothic Next" pitchFamily="34" charset="-122"/>
                <a:cs typeface="Trade Gothic Next" pitchFamily="34" charset="-120"/>
              </a:rPr>
              <a:t>PAULI EXCLUSION PRINCIPLE</a:t>
            </a:r>
            <a:endParaRPr lang="en-US" sz="1200" dirty="0"/>
          </a:p>
        </p:txBody>
      </p:sp>
      <p:sp>
        <p:nvSpPr>
          <p:cNvPr id="9" name="Text 6"/>
          <p:cNvSpPr txBox="1"/>
          <p:nvPr>
            <p:ph idx="115" type="body" hasCustomPrompt="1"/>
          </p:nvPr>
        </p:nvSpPr>
        <p:spPr>
          <a:xfrm>
            <a:off x="6327648" y="5120640"/>
            <a:ext cx="5129784" cy="320040"/>
          </a:xfrm>
          <a:prstGeom prst="rect">
            <a:avLst/>
          </a:prstGeom>
          <a:noFill/>
          <a:ln/>
        </p:spPr>
        <p:txBody>
          <a:bodyPr wrap="square" lIns="0" tIns="0" rIns="0" bIns="0" rtlCol="0"/>
          <a:lstStyle/>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The fourth arrow pairs up, pointing the opposite way.</a:t>
            </a:r>
            <a:endParaRPr lang="en-US" sz="1600" dirty="0"/>
          </a:p>
        </p:txBody>
      </p:sp>
      <p:sp>
        <p:nvSpPr>
          <p:cNvPr id="10" name="Text 1"/>
          <p:cNvSpPr txBox="1"/>
          <p:nvPr>
            <p:ph idx="101" type="body" hasCustomPrompt="1"/>
          </p:nvPr>
        </p:nvSpPr>
        <p:spPr>
          <a:xfrm>
            <a:off x="685800" y="384048"/>
            <a:ext cx="6400800" cy="237744"/>
          </a:xfrm>
          <a:prstGeom prst="rect">
            <a:avLst/>
          </a:prstGeom>
          <a:noFill/>
          <a:ln/>
        </p:spPr>
        <p:txBody>
          <a:bodyPr wrap="square" lIns="0" tIns="0" rIns="0" bIns="0" rtlCol="0" anchor="ctr"/>
          <a:lstStyle/>
          <a:p>
            <a:pPr indent="0" marL="0">
              <a:buNone/>
            </a:pPr>
            <a:r>
              <a:rPr lang="en-US" sz="1100" b="1" spc="160" kern="0" dirty="0">
                <a:solidFill>
                  <a:srgbClr val="14161B"/>
                </a:solidFill>
                <a:latin typeface="Trade Gothic Next" pitchFamily="34" charset="0"/>
                <a:ea typeface="Trade Gothic Next" pitchFamily="34" charset="-122"/>
                <a:cs typeface="Trade Gothic Next" pitchFamily="34" charset="-120"/>
              </a:rPr>
              <a:t>UNIT 02  •  CHEMISTRY</a:t>
            </a:r>
            <a:endParaRPr lang="en-US" sz="1100" dirty="0"/>
          </a:p>
        </p:txBody>
      </p:sp>
      <p:sp>
        <p:nvSpPr>
          <p:cNvPr id="11" name="Text 7"/>
          <p:cNvSpPr txBox="1"/>
          <p:nvPr>
            <p:ph idx="117" type="body" hasCustomPrompt="1"/>
          </p:nvPr>
        </p:nvSpPr>
        <p:spPr>
          <a:xfrm>
            <a:off x="8762695" y="6382512"/>
            <a:ext cx="2743200" cy="237744"/>
          </a:xfrm>
          <a:prstGeom prst="rect">
            <a:avLst/>
          </a:prstGeom>
          <a:noFill/>
          <a:ln/>
        </p:spPr>
        <p:txBody>
          <a:bodyPr wrap="square" lIns="0" tIns="0" rIns="0" bIns="0" rtlCol="0" anchor="ctr"/>
          <a:lstStyle/>
          <a:p>
            <a:pPr algn="r" indent="0" marL="0">
              <a:buNone/>
            </a:pPr>
            <a:r>
              <a:rPr lang="en-US" sz="1000" b="1" spc="140" kern="0" dirty="0">
                <a:solidFill>
                  <a:srgbClr val="2E3338"/>
                </a:solidFill>
                <a:latin typeface="Trade Gothic Next" pitchFamily="34" charset="0"/>
                <a:ea typeface="Trade Gothic Next" pitchFamily="34" charset="-122"/>
                <a:cs typeface="Trade Gothic Next" pitchFamily="34" charset="-120"/>
              </a:rPr>
              <a:t>U02 • S02.3</a:t>
            </a:r>
            <a:endParaRPr lang="en-US" sz="1000" dirty="0"/>
          </a:p>
        </p:txBody>
      </p:sp>
      <p:sp>
        <p:nvSpPr>
          <p:cNvPr id="13" name="Text 3"/>
          <p:cNvSpPr txBox="1"/>
          <p:nvPr>
            <p:ph idx="106" type="body" hasCustomPrompt="1"/>
          </p:nvPr>
        </p:nvSpPr>
        <p:spPr>
          <a:xfrm>
            <a:off x="914400" y="2651760"/>
            <a:ext cx="4617720" cy="2743200"/>
          </a:xfrm>
          <a:prstGeom prst="rect">
            <a:avLst/>
          </a:prstGeom>
          <a:noFill/>
          <a:ln/>
        </p:spPr>
        <p:txBody>
          <a:bodyPr wrap="square" lIns="0" tIns="0" rIns="0" bIns="0" rtlCol="0" anchor="ctr"/>
          <a:lstStyle/>
          <a:p>
            <a:pPr algn="ctr" indent="0" marL="0">
              <a:buNone/>
            </a:pPr>
            <a:endParaRPr lang="en-US" sz="2000" dirty="0"/>
          </a:p>
        </p:txBody>
      </p:sp>
      <p:sp>
        <p:nvSpPr>
          <p:cNvPr id="14" name="BUILD backdrop"/>
          <p:cNvSpPr/>
          <p:nvPr/>
        </p:nvSpPr>
        <p:spPr>
          <a:xfrm>
            <a:off x="914400" y="2651760"/>
            <a:ext cx="4617720" cy="2743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12" name="BUILD boxes and labels" descr="Orbital diagram of oxygen. 2p: three boxes, one pair and two single up arrows."/>
          <p:cNvGrpSpPr/>
          <p:nvPr/>
        </p:nvGrpSpPr>
        <p:grpSpPr>
          <a:xfrm>
            <a:off x="1024128" y="2816352"/>
            <a:ext cx="4398264" cy="1536192"/>
            <a:chOff x="1024128" y="2816352"/>
            <a:chExt cx="4398264" cy="1536192"/>
          </a:xfrm>
        </p:grpSpPr>
        <p:sp>
          <p:nvSpPr>
            <p:cNvPr id="15" name="BUILD title"/>
            <p:cNvSpPr txBox="1"/>
            <p:nvPr/>
          </p:nvSpPr>
          <p:spPr>
            <a:xfrm>
              <a:off x="1024128" y="2816352"/>
              <a:ext cx="4398264" cy="274320"/>
            </a:xfrm>
            <a:prstGeom prst="rect">
              <a:avLst/>
            </a:prstGeom>
            <a:noFill/>
          </p:spPr>
          <p:txBody>
            <a:bodyPr wrap="square" lIns="0" rIns="0" tIns="0" bIns="0" anchor="ctr">
              <a:spAutoFit/>
            </a:bodyPr>
            <a:lstStyle/>
            <a:p>
              <a:pPr algn="ctr"/>
              <a:r>
                <a:rPr sz="1800" b="1">
                  <a:solidFill>
                    <a:srgbClr val="14161B"/>
                  </a:solidFill>
                  <a:latin typeface="Trade Gothic Next"/>
                </a:rPr>
                <a:t>OXYGEN  2p SUBLEVEL</a:t>
              </a:r>
            </a:p>
          </p:txBody>
        </p:sp>
        <p:sp>
          <p:nvSpPr>
            <p:cNvPr id="16" name="BUILD box 2p 1"/>
            <p:cNvSpPr/>
            <p:nvPr/>
          </p:nvSpPr>
          <p:spPr>
            <a:xfrm>
              <a:off x="1805939" y="3127248"/>
              <a:ext cx="914400" cy="914400"/>
            </a:xfrm>
            <a:prstGeom prst="rect">
              <a:avLst/>
            </a:prstGeom>
            <a:solidFill>
              <a:srgbClr val="FFFFFF"/>
            </a:solidFill>
            <a:ln w="28575">
              <a:solidFill>
                <a:srgbClr val="1416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UILD box 2p 2"/>
            <p:cNvSpPr/>
            <p:nvPr/>
          </p:nvSpPr>
          <p:spPr>
            <a:xfrm>
              <a:off x="2766060" y="3127248"/>
              <a:ext cx="914400" cy="914400"/>
            </a:xfrm>
            <a:prstGeom prst="rect">
              <a:avLst/>
            </a:prstGeom>
            <a:solidFill>
              <a:srgbClr val="FFFFFF"/>
            </a:solidFill>
            <a:ln w="28575">
              <a:solidFill>
                <a:srgbClr val="1416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UILD box 2p 3"/>
            <p:cNvSpPr/>
            <p:nvPr/>
          </p:nvSpPr>
          <p:spPr>
            <a:xfrm>
              <a:off x="3726180" y="3127248"/>
              <a:ext cx="914400" cy="914400"/>
            </a:xfrm>
            <a:prstGeom prst="rect">
              <a:avLst/>
            </a:prstGeom>
            <a:solidFill>
              <a:srgbClr val="FFFFFF"/>
            </a:solidFill>
            <a:ln w="28575">
              <a:solidFill>
                <a:srgbClr val="1416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BUILD label 2p"/>
            <p:cNvSpPr txBox="1"/>
            <p:nvPr/>
          </p:nvSpPr>
          <p:spPr>
            <a:xfrm>
              <a:off x="3043335" y="4078224"/>
              <a:ext cx="293518" cy="274320"/>
            </a:xfrm>
            <a:prstGeom prst="rect">
              <a:avLst/>
            </a:prstGeom>
            <a:noFill/>
          </p:spPr>
          <p:txBody>
            <a:bodyPr wrap="none" lIns="0" rIns="0" tIns="0" bIns="0" anchor="ctr">
              <a:spAutoFit/>
            </a:bodyPr>
            <a:lstStyle/>
            <a:p>
              <a:pPr algn="l"/>
              <a:r>
                <a:rPr sz="1800" b="1">
                  <a:solidFill>
                    <a:srgbClr val="14161B"/>
                  </a:solidFill>
                  <a:latin typeface="Trade Gothic Next"/>
                </a:rPr>
                <a:t>2p</a:t>
              </a:r>
            </a:p>
          </p:txBody>
        </p:sp>
      </p:grpSp>
      <p:sp>
        <p:nvSpPr>
          <p:cNvPr id="20" name="BUILD arrow 2p box1 up" descr="">
            <a:extLst>
              <a:ext uri="{C183D7F6-B498-43B3-948B-1728B52AA6E4}">
                <adec:decorative xmlns:adec="http://schemas.microsoft.com/office/drawing/2017/decorative" val="1"/>
              </a:ext>
            </a:extLst>
          </p:cNvPr>
          <p:cNvSpPr/>
          <p:nvPr/>
        </p:nvSpPr>
        <p:spPr>
          <a:xfrm>
            <a:off x="1965960" y="3300984"/>
            <a:ext cx="228600" cy="566928"/>
          </a:xfrm>
          <a:prstGeom prst="upArrow">
            <a:avLst>
              <a:gd name="adj1" fmla="val 34000"/>
              <a:gd name="adj2" fmla="val 70000"/>
            </a:avLst>
          </a:prstGeom>
          <a:solidFill>
            <a:srgbClr val="1416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UILD arrow 2p box2 up" descr="">
            <a:extLst>
              <a:ext uri="{C183D7F6-B498-43B3-948B-1728B52AA6E4}">
                <adec:decorative xmlns:adec="http://schemas.microsoft.com/office/drawing/2017/decorative" val="1"/>
              </a:ext>
            </a:extLst>
          </p:cNvPr>
          <p:cNvSpPr/>
          <p:nvPr/>
        </p:nvSpPr>
        <p:spPr>
          <a:xfrm>
            <a:off x="2926079" y="3300984"/>
            <a:ext cx="228600" cy="566928"/>
          </a:xfrm>
          <a:prstGeom prst="upArrow">
            <a:avLst>
              <a:gd name="adj1" fmla="val 34000"/>
              <a:gd name="adj2" fmla="val 70000"/>
            </a:avLst>
          </a:prstGeom>
          <a:solidFill>
            <a:srgbClr val="1416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BUILD arrow 2p box3 up" descr="">
            <a:extLst>
              <a:ext uri="{C183D7F6-B498-43B3-948B-1728B52AA6E4}">
                <adec:decorative xmlns:adec="http://schemas.microsoft.com/office/drawing/2017/decorative" val="1"/>
              </a:ext>
            </a:extLst>
          </p:cNvPr>
          <p:cNvSpPr/>
          <p:nvPr/>
        </p:nvSpPr>
        <p:spPr>
          <a:xfrm>
            <a:off x="3886200" y="3300984"/>
            <a:ext cx="228600" cy="566928"/>
          </a:xfrm>
          <a:prstGeom prst="upArrow">
            <a:avLst>
              <a:gd name="adj1" fmla="val 34000"/>
              <a:gd name="adj2" fmla="val 70000"/>
            </a:avLst>
          </a:prstGeom>
          <a:solidFill>
            <a:srgbClr val="1416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BUILD arrow 2p box1 down" descr="">
            <a:extLst>
              <a:ext uri="{C183D7F6-B498-43B3-948B-1728B52AA6E4}">
                <adec:decorative xmlns:adec="http://schemas.microsoft.com/office/drawing/2017/decorative" val="1"/>
              </a:ext>
            </a:extLst>
          </p:cNvPr>
          <p:cNvSpPr/>
          <p:nvPr/>
        </p:nvSpPr>
        <p:spPr>
          <a:xfrm>
            <a:off x="2331720" y="3300984"/>
            <a:ext cx="228600" cy="566928"/>
          </a:xfrm>
          <a:prstGeom prst="downArrow">
            <a:avLst>
              <a:gd name="adj1" fmla="val 34000"/>
              <a:gd name="adj2" fmla="val 70000"/>
            </a:avLst>
          </a:prstGeom>
          <a:solidFill>
            <a:srgbClr val="1416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BUILD count 2p"/>
          <p:cNvSpPr txBox="1"/>
          <p:nvPr/>
        </p:nvSpPr>
        <p:spPr>
          <a:xfrm>
            <a:off x="3281990" y="4078224"/>
            <a:ext cx="194346" cy="274320"/>
          </a:xfrm>
          <a:prstGeom prst="rect">
            <a:avLst/>
          </a:prstGeom>
          <a:noFill/>
        </p:spPr>
        <p:txBody>
          <a:bodyPr wrap="none" lIns="0" rIns="0" tIns="0" bIns="0" anchor="ctr">
            <a:spAutoFit/>
          </a:bodyPr>
          <a:lstStyle/>
          <a:p>
            <a:pPr algn="l"/>
            <a:r>
              <a:rPr sz="1800" b="1" baseline="30000">
                <a:solidFill>
                  <a:srgbClr val="14161B"/>
                </a:solidFill>
                <a:latin typeface="Trade Gothic Next"/>
              </a:rPr>
              <a:t>4</a:t>
            </a:r>
          </a:p>
        </p:txBody>
      </p:sp>
      <p:sp>
        <p:nvSpPr>
          <p:cNvPr id="25" name="BUILD caption"/>
          <p:cNvSpPr txBox="1"/>
          <p:nvPr/>
        </p:nvSpPr>
        <p:spPr>
          <a:xfrm>
            <a:off x="1024128" y="4389120"/>
            <a:ext cx="4398264" cy="256032"/>
          </a:xfrm>
          <a:prstGeom prst="rect">
            <a:avLst/>
          </a:prstGeom>
          <a:noFill/>
        </p:spPr>
        <p:txBody>
          <a:bodyPr wrap="square" lIns="0" rIns="0" tIns="0" bIns="0" anchor="ctr">
            <a:spAutoFit/>
          </a:bodyPr>
          <a:lstStyle/>
          <a:p>
            <a:pPr algn="ctr"/>
            <a:r>
              <a:rPr sz="1600" b="1">
                <a:solidFill>
                  <a:srgbClr val="4D730E"/>
                </a:solidFill>
                <a:latin typeface="Trade Gothic Next"/>
              </a:rPr>
              <a:t>Hund: one up arrow in each box first</a:t>
            </a:r>
          </a:p>
        </p:txBody>
      </p:sp>
      <p:sp>
        <p:nvSpPr>
          <p:cNvPr id="26" name="BUILD caption"/>
          <p:cNvSpPr txBox="1"/>
          <p:nvPr/>
        </p:nvSpPr>
        <p:spPr>
          <a:xfrm>
            <a:off x="1024128" y="4645152"/>
            <a:ext cx="4398264" cy="256032"/>
          </a:xfrm>
          <a:prstGeom prst="rect">
            <a:avLst/>
          </a:prstGeom>
          <a:noFill/>
        </p:spPr>
        <p:txBody>
          <a:bodyPr wrap="square" lIns="0" rIns="0" tIns="0" bIns="0" anchor="ctr">
            <a:spAutoFit/>
          </a:bodyPr>
          <a:lstStyle/>
          <a:p>
            <a:pPr algn="ctr"/>
            <a:r>
              <a:rPr sz="1600" b="1">
                <a:solidFill>
                  <a:srgbClr val="4D730E"/>
                </a:solidFill>
                <a:latin typeface="Trade Gothic Next"/>
              </a:rPr>
              <a:t>Pauli: pair with opposite spin</a:t>
            </a:r>
          </a:p>
        </p:txBody>
      </p:sp>
      <p:sp>
        <p:nvSpPr>
          <p:cNvPr id="27" name="BUILD sum"/>
          <p:cNvSpPr txBox="1"/>
          <p:nvPr/>
        </p:nvSpPr>
        <p:spPr>
          <a:xfrm>
            <a:off x="1024128" y="4937759"/>
            <a:ext cx="4398264" cy="292608"/>
          </a:xfrm>
          <a:prstGeom prst="rect">
            <a:avLst/>
          </a:prstGeom>
          <a:noFill/>
        </p:spPr>
        <p:txBody>
          <a:bodyPr wrap="square" lIns="0" rIns="0" tIns="0" bIns="0" anchor="ctr">
            <a:spAutoFit/>
          </a:bodyPr>
          <a:lstStyle/>
          <a:p>
            <a:pPr algn="ctr"/>
            <a:r>
              <a:rPr sz="1800" b="1">
                <a:solidFill>
                  <a:srgbClr val="14161B"/>
                </a:solidFill>
                <a:latin typeface="Trade Gothic Next"/>
              </a:rPr>
              <a:t>4 arrows = 4 electrons in 2p</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fade">
                                      <p:cBhvr>
                                        <p:cTn id="13" dur="400"/>
                                        <p:tgtEl>
                                          <p:spTgt spid="2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5"/>
                                        </p:tgtEl>
                                        <p:attrNameLst>
                                          <p:attrName>style.visibility</p:attrName>
                                        </p:attrNameLst>
                                      </p:cBhvr>
                                      <p:to>
                                        <p:strVal val="visible"/>
                                      </p:to>
                                    </p:set>
                                    <p:animEffect transition="in" filter="fade">
                                      <p:cBhvr>
                                        <p:cTn id="16" dur="400"/>
                                        <p:tgtEl>
                                          <p:spTgt spid="25"/>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21"/>
                                        </p:tgtEl>
                                        <p:attrNameLst>
                                          <p:attrName>style.visibility</p:attrName>
                                        </p:attrNameLst>
                                      </p:cBhvr>
                                      <p:to>
                                        <p:strVal val="visible"/>
                                      </p:to>
                                    </p:set>
                                    <p:animEffect transition="in" filter="fade">
                                      <p:cBhvr>
                                        <p:cTn id="21" dur="400"/>
                                        <p:tgtEl>
                                          <p:spTgt spid="21"/>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22"/>
                                        </p:tgtEl>
                                        <p:attrNameLst>
                                          <p:attrName>style.visibility</p:attrName>
                                        </p:attrNameLst>
                                      </p:cBhvr>
                                      <p:to>
                                        <p:strVal val="visible"/>
                                      </p:to>
                                    </p:set>
                                    <p:animEffect transition="in" filter="fade">
                                      <p:cBhvr>
                                        <p:cTn id="26" dur="400"/>
                                        <p:tgtEl>
                                          <p:spTgt spid="22"/>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23"/>
                                        </p:tgtEl>
                                        <p:attrNameLst>
                                          <p:attrName>style.visibility</p:attrName>
                                        </p:attrNameLst>
                                      </p:cBhvr>
                                      <p:to>
                                        <p:strVal val="visible"/>
                                      </p:to>
                                    </p:set>
                                    <p:animEffect transition="in" filter="fade">
                                      <p:cBhvr>
                                        <p:cTn id="31" dur="400"/>
                                        <p:tgtEl>
                                          <p:spTgt spid="23"/>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4"/>
                                        </p:tgtEl>
                                        <p:attrNameLst>
                                          <p:attrName>style.visibility</p:attrName>
                                        </p:attrNameLst>
                                      </p:cBhvr>
                                      <p:to>
                                        <p:strVal val="visible"/>
                                      </p:to>
                                    </p:set>
                                    <p:animEffect transition="in" filter="fade">
                                      <p:cBhvr>
                                        <p:cTn id="34" dur="400"/>
                                        <p:tgtEl>
                                          <p:spTgt spid="24"/>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6"/>
                                        </p:tgtEl>
                                        <p:attrNameLst>
                                          <p:attrName>style.visibility</p:attrName>
                                        </p:attrNameLst>
                                      </p:cBhvr>
                                      <p:to>
                                        <p:strVal val="visible"/>
                                      </p:to>
                                    </p:set>
                                    <p:animEffect transition="in" filter="fade">
                                      <p:cBhvr>
                                        <p:cTn id="37" dur="400"/>
                                        <p:tgtEl>
                                          <p:spTgt spid="26"/>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7"/>
                                        </p:tgtEl>
                                        <p:attrNameLst>
                                          <p:attrName>style.visibility</p:attrName>
                                        </p:attrNameLst>
                                      </p:cBhvr>
                                      <p:to>
                                        <p:strVal val="visible"/>
                                      </p:to>
                                    </p:set>
                                    <p:animEffect transition="in" filter="fade">
                                      <p:cBhvr>
                                        <p:cTn id="40" dur="4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5" grpId="0"/>
      <p:bldP spid="21" grpId="0" animBg="1"/>
      <p:bldP spid="22" grpId="0" animBg="1"/>
      <p:bldP spid="23" grpId="0" animBg="1"/>
      <p:bldP spid="24" grpId="0"/>
      <p:bldP spid="26" grpId="0"/>
      <p:bldP spid="27" grpId="0"/>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
          <p:cNvSpPr txBox="1"/>
          <p:nvPr>
            <p:ph idx="103" type="title" hasCustomPrompt="1"/>
          </p:nvPr>
        </p:nvSpPr>
        <p:spPr>
          <a:xfrm>
            <a:off x="685800" y="932688"/>
            <a:ext cx="10820095" cy="868680"/>
          </a:xfrm>
          <a:prstGeom prst="rect">
            <a:avLst/>
          </a:prstGeom>
          <a:noFill/>
          <a:ln/>
        </p:spPr>
        <p:txBody>
          <a:bodyPr wrap="square" lIns="0" tIns="0" rIns="0" bIns="0" rtlCol="0" anchor="t"/>
          <a:lstStyle/>
          <a:p>
            <a:pPr algn="l" indent="0" marL="0">
              <a:buNone/>
            </a:pPr>
            <a:r>
              <a:rPr lang="en-US" sz="2800" b="1" dirty="0">
                <a:solidFill>
                  <a:srgbClr val="14161B"/>
                </a:solidFill>
                <a:latin typeface="Trade Gothic Next" pitchFamily="34" charset="0"/>
                <a:ea typeface="Trade Gothic Next" pitchFamily="34" charset="-122"/>
                <a:cs typeface="Trade Gothic Next" pitchFamily="34" charset="-120"/>
              </a:rPr>
              <a:t>Writing a Configuration</a:t>
            </a:r>
            <a:endParaRPr lang="en-US" sz="2800" dirty="0"/>
          </a:p>
        </p:txBody>
      </p:sp>
      <p:sp>
        <p:nvSpPr>
          <p:cNvPr id="3" name="Text 2"/>
          <p:cNvSpPr txBox="1"/>
          <p:nvPr>
            <p:ph idx="104" type="body" hasCustomPrompt="1"/>
          </p:nvPr>
        </p:nvSpPr>
        <p:spPr>
          <a:xfrm>
            <a:off x="685800" y="1847088"/>
            <a:ext cx="10820095" cy="384048"/>
          </a:xfrm>
          <a:prstGeom prst="rect">
            <a:avLst/>
          </a:prstGeom>
          <a:noFill/>
          <a:ln/>
        </p:spPr>
        <p:txBody>
          <a:bodyPr wrap="square" lIns="0" tIns="0" rIns="0" bIns="0" rtlCol="0"/>
          <a:lstStyle/>
          <a:p>
            <a:pPr indent="0" marL="0">
              <a:buNone/>
            </a:pPr>
            <a:r>
              <a:rPr lang="en-US" sz="1700" dirty="0">
                <a:solidFill>
                  <a:srgbClr val="2E3338"/>
                </a:solidFill>
                <a:latin typeface="Trade Gothic Next" pitchFamily="34" charset="0"/>
                <a:ea typeface="Trade Gothic Next" pitchFamily="34" charset="-122"/>
                <a:cs typeface="Trade Gothic Next" pitchFamily="34" charset="-120"/>
              </a:rPr>
              <a:t>The same four steps, for every element.</a:t>
            </a:r>
            <a:endParaRPr lang="en-US" sz="1700" dirty="0"/>
          </a:p>
        </p:txBody>
      </p:sp>
      <p:sp>
        <p:nvSpPr>
          <p:cNvPr id="4" name="Text 6"/>
          <p:cNvSpPr txBox="1"/>
          <p:nvPr>
            <p:ph idx="110" type="body" hasCustomPrompt="1"/>
          </p:nvPr>
        </p:nvSpPr>
        <p:spPr>
          <a:xfrm>
            <a:off x="1234440" y="4754880"/>
            <a:ext cx="1920240" cy="274320"/>
          </a:xfrm>
          <a:prstGeom prst="rect">
            <a:avLst/>
          </a:prstGeom>
          <a:noFill/>
          <a:ln/>
        </p:spPr>
        <p:txBody>
          <a:bodyPr wrap="square" lIns="0" tIns="0" rIns="0" bIns="0" rtlCol="0" anchor="ctr"/>
          <a:lstStyle/>
          <a:p>
            <a:pPr indent="0" marL="0">
              <a:buNone/>
            </a:pPr>
            <a:r>
              <a:rPr lang="en-US" sz="1200" b="1" dirty="0">
                <a:solidFill>
                  <a:srgbClr val="14161B"/>
                </a:solidFill>
                <a:latin typeface="Trade Gothic Next" pitchFamily="34" charset="0"/>
                <a:ea typeface="Trade Gothic Next" pitchFamily="34" charset="-122"/>
                <a:cs typeface="Trade Gothic Next" pitchFamily="34" charset="-120"/>
              </a:rPr>
              <a:t>Find Z</a:t>
            </a:r>
            <a:endParaRPr lang="en-US" sz="1200" dirty="0"/>
          </a:p>
        </p:txBody>
      </p:sp>
      <p:sp>
        <p:nvSpPr>
          <p:cNvPr id="5" name="Text 6"/>
          <p:cNvSpPr txBox="1"/>
          <p:nvPr>
            <p:ph idx="111" type="body" hasCustomPrompt="1"/>
          </p:nvPr>
        </p:nvSpPr>
        <p:spPr>
          <a:xfrm>
            <a:off x="832104" y="5120640"/>
            <a:ext cx="2322576" cy="566928"/>
          </a:xfrm>
          <a:prstGeom prst="rect">
            <a:avLst/>
          </a:prstGeom>
          <a:noFill/>
          <a:ln/>
        </p:spPr>
        <p:txBody>
          <a:bodyPr wrap="square" lIns="0" tIns="0" rIns="0" bIns="0" rtlCol="0"/>
          <a:lstStyle/>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Atomic number is the electron count.</a:t>
            </a:r>
            <a:endParaRPr lang="en-US" sz="1600" dirty="0"/>
          </a:p>
        </p:txBody>
      </p:sp>
      <p:sp>
        <p:nvSpPr>
          <p:cNvPr id="6" name="Text 8"/>
          <p:cNvSpPr txBox="1"/>
          <p:nvPr>
            <p:ph idx="114" type="body" hasCustomPrompt="1"/>
          </p:nvPr>
        </p:nvSpPr>
        <p:spPr>
          <a:xfrm>
            <a:off x="3995928" y="4754880"/>
            <a:ext cx="1920240" cy="274320"/>
          </a:xfrm>
          <a:prstGeom prst="rect">
            <a:avLst/>
          </a:prstGeom>
          <a:noFill/>
          <a:ln/>
        </p:spPr>
        <p:txBody>
          <a:bodyPr wrap="square" lIns="0" tIns="0" rIns="0" bIns="0" rtlCol="0" anchor="ctr"/>
          <a:lstStyle/>
          <a:p>
            <a:pPr indent="0" marL="0">
              <a:buNone/>
            </a:pPr>
            <a:r>
              <a:rPr lang="en-US" sz="1200" b="1" dirty="0">
                <a:solidFill>
                  <a:srgbClr val="14161B"/>
                </a:solidFill>
                <a:latin typeface="Trade Gothic Next" pitchFamily="34" charset="0"/>
                <a:ea typeface="Trade Gothic Next" pitchFamily="34" charset="-122"/>
                <a:cs typeface="Trade Gothic Next" pitchFamily="34" charset="-120"/>
              </a:rPr>
              <a:t>Fill in order</a:t>
            </a:r>
            <a:endParaRPr lang="en-US" sz="1200" dirty="0"/>
          </a:p>
        </p:txBody>
      </p:sp>
      <p:sp>
        <p:nvSpPr>
          <p:cNvPr id="7" name="Text 8"/>
          <p:cNvSpPr txBox="1"/>
          <p:nvPr>
            <p:ph idx="115" type="body" hasCustomPrompt="1"/>
          </p:nvPr>
        </p:nvSpPr>
        <p:spPr>
          <a:xfrm>
            <a:off x="3593592" y="5120640"/>
            <a:ext cx="2322576" cy="566928"/>
          </a:xfrm>
          <a:prstGeom prst="rect">
            <a:avLst/>
          </a:prstGeom>
          <a:noFill/>
          <a:ln/>
        </p:spPr>
        <p:txBody>
          <a:bodyPr wrap="square" lIns="0" tIns="0" rIns="0" bIns="0" rtlCol="0"/>
          <a:lstStyle/>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Follow the chart, lowest first.</a:t>
            </a:r>
            <a:endParaRPr lang="en-US" sz="1600" dirty="0"/>
          </a:p>
        </p:txBody>
      </p:sp>
      <p:sp>
        <p:nvSpPr>
          <p:cNvPr id="8" name="Text 10"/>
          <p:cNvSpPr txBox="1"/>
          <p:nvPr>
            <p:ph idx="118" type="body" hasCustomPrompt="1"/>
          </p:nvPr>
        </p:nvSpPr>
        <p:spPr>
          <a:xfrm>
            <a:off x="6757416" y="4754880"/>
            <a:ext cx="1920240" cy="274320"/>
          </a:xfrm>
          <a:prstGeom prst="rect">
            <a:avLst/>
          </a:prstGeom>
          <a:noFill/>
          <a:ln/>
        </p:spPr>
        <p:txBody>
          <a:bodyPr wrap="square" lIns="0" tIns="0" rIns="0" bIns="0" rtlCol="0" anchor="ctr"/>
          <a:lstStyle/>
          <a:p>
            <a:pPr indent="0" marL="0">
              <a:buNone/>
            </a:pPr>
            <a:r>
              <a:rPr lang="en-US" sz="1200" b="1" dirty="0">
                <a:solidFill>
                  <a:srgbClr val="14161B"/>
                </a:solidFill>
                <a:latin typeface="Trade Gothic Next" pitchFamily="34" charset="0"/>
                <a:ea typeface="Trade Gothic Next" pitchFamily="34" charset="-122"/>
                <a:cs typeface="Trade Gothic Next" pitchFamily="34" charset="-120"/>
              </a:rPr>
              <a:t>Respect the caps</a:t>
            </a:r>
            <a:endParaRPr lang="en-US" sz="1200" dirty="0"/>
          </a:p>
        </p:txBody>
      </p:sp>
      <p:sp>
        <p:nvSpPr>
          <p:cNvPr id="9" name="Text 10"/>
          <p:cNvSpPr txBox="1"/>
          <p:nvPr>
            <p:ph idx="119" type="body" hasCustomPrompt="1"/>
          </p:nvPr>
        </p:nvSpPr>
        <p:spPr>
          <a:xfrm>
            <a:off x="6355080" y="5120640"/>
            <a:ext cx="2322576" cy="566928"/>
          </a:xfrm>
          <a:prstGeom prst="rect">
            <a:avLst/>
          </a:prstGeom>
          <a:noFill/>
          <a:ln/>
        </p:spPr>
        <p:txBody>
          <a:bodyPr wrap="square" lIns="0" tIns="0" rIns="0" bIns="0" rtlCol="0"/>
          <a:lstStyle/>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s holds 2, p 6, d 10, f 14.</a:t>
            </a:r>
            <a:endParaRPr lang="en-US" sz="1600" dirty="0"/>
          </a:p>
        </p:txBody>
      </p:sp>
      <p:sp>
        <p:nvSpPr>
          <p:cNvPr id="10" name="Text 12"/>
          <p:cNvSpPr txBox="1"/>
          <p:nvPr>
            <p:ph idx="122" type="body" hasCustomPrompt="1"/>
          </p:nvPr>
        </p:nvSpPr>
        <p:spPr>
          <a:xfrm>
            <a:off x="9518904" y="4754880"/>
            <a:ext cx="1920240" cy="274320"/>
          </a:xfrm>
          <a:prstGeom prst="rect">
            <a:avLst/>
          </a:prstGeom>
          <a:noFill/>
          <a:ln/>
        </p:spPr>
        <p:txBody>
          <a:bodyPr wrap="square" lIns="0" tIns="0" rIns="0" bIns="0" rtlCol="0" anchor="ctr"/>
          <a:lstStyle/>
          <a:p>
            <a:pPr indent="0" marL="0">
              <a:buNone/>
            </a:pPr>
            <a:r>
              <a:rPr lang="en-US" sz="1200" b="1" dirty="0">
                <a:solidFill>
                  <a:srgbClr val="14161B"/>
                </a:solidFill>
                <a:latin typeface="Trade Gothic Next" pitchFamily="34" charset="0"/>
                <a:ea typeface="Trade Gothic Next" pitchFamily="34" charset="-122"/>
                <a:cs typeface="Trade Gothic Next" pitchFamily="34" charset="-120"/>
              </a:rPr>
              <a:t>Add it up</a:t>
            </a:r>
            <a:endParaRPr lang="en-US" sz="1200" dirty="0"/>
          </a:p>
        </p:txBody>
      </p:sp>
      <p:sp>
        <p:nvSpPr>
          <p:cNvPr id="11" name="Text 12"/>
          <p:cNvSpPr txBox="1"/>
          <p:nvPr>
            <p:ph idx="123" type="body" hasCustomPrompt="1"/>
          </p:nvPr>
        </p:nvSpPr>
        <p:spPr>
          <a:xfrm>
            <a:off x="9116568" y="5120640"/>
            <a:ext cx="2322576" cy="566928"/>
          </a:xfrm>
          <a:prstGeom prst="rect">
            <a:avLst/>
          </a:prstGeom>
          <a:noFill/>
          <a:ln/>
        </p:spPr>
        <p:txBody>
          <a:bodyPr wrap="square" lIns="0" tIns="0" rIns="0" bIns="0" rtlCol="0"/>
          <a:lstStyle/>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The raised numbers must total Z.</a:t>
            </a:r>
            <a:endParaRPr lang="en-US" sz="1600" dirty="0"/>
          </a:p>
        </p:txBody>
      </p:sp>
      <p:sp>
        <p:nvSpPr>
          <p:cNvPr id="12" name="Text 1"/>
          <p:cNvSpPr txBox="1"/>
          <p:nvPr>
            <p:ph idx="101" type="body" hasCustomPrompt="1"/>
          </p:nvPr>
        </p:nvSpPr>
        <p:spPr>
          <a:xfrm>
            <a:off x="685800" y="384048"/>
            <a:ext cx="6400800" cy="237744"/>
          </a:xfrm>
          <a:prstGeom prst="rect">
            <a:avLst/>
          </a:prstGeom>
          <a:noFill/>
          <a:ln/>
        </p:spPr>
        <p:txBody>
          <a:bodyPr wrap="square" lIns="0" tIns="0" rIns="0" bIns="0" rtlCol="0" anchor="ctr"/>
          <a:lstStyle/>
          <a:p>
            <a:pPr indent="0" marL="0">
              <a:buNone/>
            </a:pPr>
            <a:r>
              <a:rPr lang="en-US" sz="1100" b="1" spc="160" kern="0" dirty="0">
                <a:solidFill>
                  <a:srgbClr val="14161B"/>
                </a:solidFill>
                <a:latin typeface="Trade Gothic Next" pitchFamily="34" charset="0"/>
                <a:ea typeface="Trade Gothic Next" pitchFamily="34" charset="-122"/>
                <a:cs typeface="Trade Gothic Next" pitchFamily="34" charset="-120"/>
              </a:rPr>
              <a:t>UNIT 02  •  CHEMISTRY</a:t>
            </a:r>
            <a:endParaRPr lang="en-US" sz="1100" dirty="0"/>
          </a:p>
        </p:txBody>
      </p:sp>
      <p:sp>
        <p:nvSpPr>
          <p:cNvPr id="13" name="Text 13"/>
          <p:cNvSpPr txBox="1"/>
          <p:nvPr>
            <p:ph idx="125" type="body" hasCustomPrompt="1"/>
          </p:nvPr>
        </p:nvSpPr>
        <p:spPr>
          <a:xfrm>
            <a:off x="8762695" y="6382512"/>
            <a:ext cx="2743200" cy="237744"/>
          </a:xfrm>
          <a:prstGeom prst="rect">
            <a:avLst/>
          </a:prstGeom>
          <a:noFill/>
          <a:ln/>
        </p:spPr>
        <p:txBody>
          <a:bodyPr wrap="square" lIns="0" tIns="0" rIns="0" bIns="0" rtlCol="0" anchor="ctr"/>
          <a:lstStyle/>
          <a:p>
            <a:pPr algn="r" indent="0" marL="0">
              <a:buNone/>
            </a:pPr>
            <a:r>
              <a:rPr lang="en-US" sz="1000" b="1" spc="140" kern="0" dirty="0">
                <a:solidFill>
                  <a:srgbClr val="2E3338"/>
                </a:solidFill>
                <a:latin typeface="Trade Gothic Next" pitchFamily="34" charset="0"/>
                <a:ea typeface="Trade Gothic Next" pitchFamily="34" charset="-122"/>
                <a:cs typeface="Trade Gothic Next" pitchFamily="34" charset="-120"/>
              </a:rPr>
              <a:t>U02 • S02.3</a:t>
            </a:r>
            <a:endParaRPr lang="en-US" sz="1000" dirty="0"/>
          </a:p>
        </p:txBody>
      </p:sp>
      <p:sp>
        <p:nvSpPr>
          <p:cNvPr id="15" name="Text 4"/>
          <p:cNvSpPr txBox="1"/>
          <p:nvPr>
            <p:ph idx="107" hasCustomPrompt="1"/>
          </p:nvPr>
        </p:nvSpPr>
        <p:spPr>
          <a:xfrm>
            <a:off x="3246120" y="2487168"/>
            <a:ext cx="5669280" cy="1828800"/>
          </a:xfrm>
          <a:prstGeom prst="rect">
            <a:avLst/>
          </a:prstGeom>
          <a:noFill/>
          <a:ln/>
        </p:spPr>
        <p:txBody>
          <a:bodyPr wrap="square" lIns="0" tIns="0" rIns="0" bIns="0" rtlCol="0" anchor="ctr"/>
          <a:lstStyle/>
          <a:p>
            <a:pPr algn="ctr" indent="0" marL="0">
              <a:buNone/>
            </a:pP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
          <p:cNvSpPr txBox="1"/>
          <p:nvPr>
            <p:ph idx="103" type="title" hasCustomPrompt="1"/>
          </p:nvPr>
        </p:nvSpPr>
        <p:spPr>
          <a:xfrm>
            <a:off x="685800" y="932688"/>
            <a:ext cx="7863840" cy="868680"/>
          </a:xfrm>
          <a:prstGeom prst="rect">
            <a:avLst/>
          </a:prstGeom>
          <a:noFill/>
          <a:ln/>
        </p:spPr>
        <p:txBody>
          <a:bodyPr wrap="square" lIns="0" tIns="0" rIns="0" bIns="0" rtlCol="0" anchor="t"/>
          <a:lstStyle/>
          <a:p>
            <a:pPr algn="l" indent="0" marL="0">
              <a:buNone/>
            </a:pPr>
            <a:r>
              <a:rPr lang="en-US" sz="2800" b="1" dirty="0">
                <a:solidFill>
                  <a:srgbClr val="14161B"/>
                </a:solidFill>
                <a:latin typeface="Trade Gothic Next" pitchFamily="34" charset="0"/>
                <a:ea typeface="Trade Gothic Next" pitchFamily="34" charset="-122"/>
                <a:cs typeface="Trade Gothic Next" pitchFamily="34" charset="-120"/>
              </a:rPr>
              <a:t>Example: Oxygen</a:t>
            </a:r>
            <a:endParaRPr lang="en-US" sz="2800" dirty="0"/>
          </a:p>
        </p:txBody>
      </p:sp>
      <p:sp>
        <p:nvSpPr>
          <p:cNvPr id="3" name="Text 2"/>
          <p:cNvSpPr txBox="1"/>
          <p:nvPr>
            <p:ph idx="104" type="body" hasCustomPrompt="1"/>
          </p:nvPr>
        </p:nvSpPr>
        <p:spPr>
          <a:xfrm>
            <a:off x="685800" y="1847088"/>
            <a:ext cx="7863840" cy="384048"/>
          </a:xfrm>
          <a:prstGeom prst="rect">
            <a:avLst/>
          </a:prstGeom>
          <a:noFill/>
          <a:ln/>
        </p:spPr>
        <p:txBody>
          <a:bodyPr wrap="square" lIns="0" tIns="0" rIns="0" bIns="0" rtlCol="0"/>
          <a:lstStyle/>
          <a:p>
            <a:pPr indent="0" marL="0">
              <a:buNone/>
            </a:pPr>
            <a:r>
              <a:rPr lang="en-US" sz="1700" dirty="0">
                <a:solidFill>
                  <a:srgbClr val="2E3338"/>
                </a:solidFill>
                <a:latin typeface="Trade Gothic Next" pitchFamily="34" charset="0"/>
                <a:ea typeface="Trade Gothic Next" pitchFamily="34" charset="-122"/>
                <a:cs typeface="Trade Gothic Next" pitchFamily="34" charset="-120"/>
              </a:rPr>
              <a:t>Copy the setup, not just the answer.</a:t>
            </a:r>
            <a:endParaRPr lang="en-US" sz="1700" dirty="0"/>
          </a:p>
        </p:txBody>
      </p:sp>
      <p:sp>
        <p:nvSpPr>
          <p:cNvPr id="4" name="Text 6"/>
          <p:cNvSpPr txBox="1"/>
          <p:nvPr>
            <p:ph idx="110" type="body" hasCustomPrompt="1"/>
          </p:nvPr>
        </p:nvSpPr>
        <p:spPr>
          <a:xfrm>
            <a:off x="886968" y="2798064"/>
            <a:ext cx="4992624" cy="548640"/>
          </a:xfrm>
          <a:prstGeom prst="rect">
            <a:avLst/>
          </a:prstGeom>
          <a:noFill/>
          <a:ln/>
        </p:spPr>
        <p:txBody>
          <a:bodyPr wrap="square" lIns="0" tIns="0" rIns="0" bIns="0" rtlCol="0"/>
          <a:lstStyle/>
          <a:p>
            <a:pPr indent="0" marL="0">
              <a:buNone/>
            </a:pPr>
            <a:r>
              <a:rPr lang="en-US" sz="1600" dirty="0">
                <a:solidFill>
                  <a:srgbClr val="EDF0E5"/>
                </a:solidFill>
                <a:latin typeface="Trade Gothic Next" pitchFamily="34" charset="0"/>
                <a:ea typeface="Trade Gothic Next" pitchFamily="34" charset="-122"/>
                <a:cs typeface="Trade Gothic Next" pitchFamily="34" charset="-120"/>
              </a:rPr>
              <a:t>Write the longhand configuration and the orbital diagram for oxygen.</a:t>
            </a:r>
            <a:endParaRPr lang="en-US" sz="1600" dirty="0"/>
          </a:p>
        </p:txBody>
      </p:sp>
      <p:sp>
        <p:nvSpPr>
          <p:cNvPr id="5" name="Text 7"/>
          <p:cNvSpPr txBox="1"/>
          <p:nvPr>
            <p:ph idx="112" type="body" hasCustomPrompt="1"/>
          </p:nvPr>
        </p:nvSpPr>
        <p:spPr>
          <a:xfrm>
            <a:off x="886968" y="3776472"/>
            <a:ext cx="2203704" cy="219456"/>
          </a:xfrm>
          <a:prstGeom prst="rect">
            <a:avLst/>
          </a:prstGeom>
          <a:noFill/>
          <a:ln/>
        </p:spPr>
        <p:txBody>
          <a:bodyPr wrap="square" lIns="0" tIns="0" rIns="0" bIns="0" rtlCol="0"/>
          <a:lstStyle/>
          <a:p>
            <a:pPr indent="0" marL="0">
              <a:buNone/>
            </a:pPr>
            <a:r>
              <a:rPr lang="en-US" sz="1200" b="1" spc="120" kern="0" dirty="0">
                <a:solidFill>
                  <a:srgbClr val="2E3338"/>
                </a:solidFill>
                <a:latin typeface="Trade Gothic Next" pitchFamily="34" charset="0"/>
                <a:ea typeface="Trade Gothic Next" pitchFamily="34" charset="-122"/>
                <a:cs typeface="Trade Gothic Next" pitchFamily="34" charset="-120"/>
              </a:rPr>
              <a:t>GIVEN</a:t>
            </a:r>
            <a:endParaRPr lang="en-US" sz="1200" dirty="0"/>
          </a:p>
        </p:txBody>
      </p:sp>
      <p:sp>
        <p:nvSpPr>
          <p:cNvPr id="6" name="Text 7"/>
          <p:cNvSpPr txBox="1"/>
          <p:nvPr>
            <p:ph idx="113" type="body" hasCustomPrompt="1"/>
          </p:nvPr>
        </p:nvSpPr>
        <p:spPr>
          <a:xfrm>
            <a:off x="886968" y="4069080"/>
            <a:ext cx="2203704" cy="1078992"/>
          </a:xfrm>
          <a:prstGeom prst="rect">
            <a:avLst/>
          </a:prstGeom>
          <a:noFill/>
          <a:ln/>
        </p:spPr>
        <p:txBody>
          <a:bodyPr wrap="square" lIns="0" tIns="0" rIns="0" bIns="0" rtlCol="0"/>
          <a:lstStyle/>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Oxygen, Z = 8</a:t>
            </a:r>
            <a:endParaRPr lang="en-US" sz="1600" dirty="0"/>
          </a:p>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Neutral atom</a:t>
            </a:r>
            <a:endParaRPr lang="en-US" sz="1600" dirty="0"/>
          </a:p>
        </p:txBody>
      </p:sp>
      <p:sp>
        <p:nvSpPr>
          <p:cNvPr id="7" name="Text 8"/>
          <p:cNvSpPr txBox="1"/>
          <p:nvPr>
            <p:ph idx="115" type="body" hasCustomPrompt="1"/>
          </p:nvPr>
        </p:nvSpPr>
        <p:spPr>
          <a:xfrm>
            <a:off x="3675888" y="3776472"/>
            <a:ext cx="2203704" cy="219456"/>
          </a:xfrm>
          <a:prstGeom prst="rect">
            <a:avLst/>
          </a:prstGeom>
          <a:noFill/>
          <a:ln/>
        </p:spPr>
        <p:txBody>
          <a:bodyPr wrap="square" lIns="0" tIns="0" rIns="0" bIns="0" rtlCol="0"/>
          <a:lstStyle/>
          <a:p>
            <a:pPr indent="0" marL="0">
              <a:buNone/>
            </a:pPr>
            <a:r>
              <a:rPr lang="en-US" sz="1200" b="1" spc="120" kern="0" dirty="0">
                <a:solidFill>
                  <a:srgbClr val="2E3338"/>
                </a:solidFill>
                <a:latin typeface="Trade Gothic Next" pitchFamily="34" charset="0"/>
                <a:ea typeface="Trade Gothic Next" pitchFamily="34" charset="-122"/>
                <a:cs typeface="Trade Gothic Next" pitchFamily="34" charset="-120"/>
              </a:rPr>
              <a:t>NEED</a:t>
            </a:r>
            <a:endParaRPr lang="en-US" sz="1200" dirty="0"/>
          </a:p>
        </p:txBody>
      </p:sp>
      <p:sp>
        <p:nvSpPr>
          <p:cNvPr id="8" name="Text 8"/>
          <p:cNvSpPr txBox="1"/>
          <p:nvPr>
            <p:ph idx="116" type="body" hasCustomPrompt="1"/>
          </p:nvPr>
        </p:nvSpPr>
        <p:spPr>
          <a:xfrm>
            <a:off x="3675888" y="4069080"/>
            <a:ext cx="2203704" cy="1078992"/>
          </a:xfrm>
          <a:prstGeom prst="rect">
            <a:avLst/>
          </a:prstGeom>
          <a:noFill/>
          <a:ln/>
        </p:spPr>
        <p:txBody>
          <a:bodyPr wrap="square" lIns="0" tIns="0" rIns="0" bIns="0" rtlCol="0"/>
          <a:lstStyle/>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Longhand configuration</a:t>
            </a:r>
            <a:endParaRPr lang="en-US" sz="1600" dirty="0"/>
          </a:p>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Orbital diagram</a:t>
            </a:r>
            <a:endParaRPr lang="en-US" sz="1600" dirty="0"/>
          </a:p>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Unpaired electrons</a:t>
            </a:r>
            <a:endParaRPr lang="en-US" sz="1600" dirty="0"/>
          </a:p>
        </p:txBody>
      </p:sp>
      <p:sp>
        <p:nvSpPr>
          <p:cNvPr id="9" name="Text 10"/>
          <p:cNvSpPr txBox="1"/>
          <p:nvPr>
            <p:ph idx="119" type="body" hasCustomPrompt="1"/>
          </p:nvPr>
        </p:nvSpPr>
        <p:spPr>
          <a:xfrm>
            <a:off x="6464808" y="2880360"/>
            <a:ext cx="4837176" cy="2286000"/>
          </a:xfrm>
          <a:prstGeom prst="rect">
            <a:avLst/>
          </a:prstGeom>
          <a:noFill/>
          <a:ln/>
        </p:spPr>
        <p:txBody>
          <a:bodyPr wrap="square" lIns="0" tIns="0" rIns="0" bIns="0" rtlCol="0"/>
          <a:lstStyle/>
          <a:p>
            <a:pPr indent="0" marL="0">
              <a:buNone/>
            </a:pPr>
            <a:endParaRPr lang="en-US" sz="1900" dirty="0"/>
          </a:p>
        </p:txBody>
      </p:sp>
      <p:sp>
        <p:nvSpPr>
          <p:cNvPr id="10" name="Text 12"/>
          <p:cNvSpPr txBox="1"/>
          <p:nvPr>
            <p:ph idx="122" type="body" hasCustomPrompt="1"/>
          </p:nvPr>
        </p:nvSpPr>
        <p:spPr>
          <a:xfrm>
            <a:off x="2240280" y="5605272"/>
            <a:ext cx="8991295" cy="402336"/>
          </a:xfrm>
          <a:prstGeom prst="rect">
            <a:avLst/>
          </a:prstGeom>
          <a:noFill/>
          <a:ln/>
        </p:spPr>
        <p:txBody>
          <a:bodyPr wrap="square" lIns="0" tIns="0" rIns="0" bIns="0" rtlCol="0" anchor="ctr"/>
          <a:lstStyle/>
          <a:p>
            <a:pPr indent="0" marL="0">
              <a:buNone/>
            </a:pPr>
            <a:r>
              <a:rPr lang="en-US" sz="1600" b="1" dirty="0">
                <a:solidFill>
                  <a:srgbClr val="EDF0E5"/>
                </a:solidFill>
                <a:latin typeface="Trade Gothic Next" pitchFamily="34" charset="0"/>
                <a:ea typeface="Trade Gothic Next" pitchFamily="34" charset="-122"/>
                <a:cs typeface="Trade Gothic Next" pitchFamily="34" charset="-120"/>
              </a:rPr>
              <a:t>Always check that the raised numbers add up to Z.</a:t>
            </a:r>
            <a:endParaRPr lang="en-US" sz="1600" dirty="0"/>
          </a:p>
        </p:txBody>
      </p:sp>
      <p:sp>
        <p:nvSpPr>
          <p:cNvPr id="11" name="Text 1"/>
          <p:cNvSpPr txBox="1"/>
          <p:nvPr>
            <p:ph idx="101" type="body" hasCustomPrompt="1"/>
          </p:nvPr>
        </p:nvSpPr>
        <p:spPr>
          <a:xfrm>
            <a:off x="685800" y="384048"/>
            <a:ext cx="6400800" cy="237744"/>
          </a:xfrm>
          <a:prstGeom prst="rect">
            <a:avLst/>
          </a:prstGeom>
          <a:noFill/>
          <a:ln/>
        </p:spPr>
        <p:txBody>
          <a:bodyPr wrap="square" lIns="0" tIns="0" rIns="0" bIns="0" rtlCol="0" anchor="ctr"/>
          <a:lstStyle/>
          <a:p>
            <a:pPr indent="0" marL="0">
              <a:buNone/>
            </a:pPr>
            <a:r>
              <a:rPr lang="en-US" sz="1100" b="1" spc="160" kern="0" dirty="0">
                <a:solidFill>
                  <a:srgbClr val="14161B"/>
                </a:solidFill>
                <a:latin typeface="Trade Gothic Next" pitchFamily="34" charset="0"/>
                <a:ea typeface="Trade Gothic Next" pitchFamily="34" charset="-122"/>
                <a:cs typeface="Trade Gothic Next" pitchFamily="34" charset="-120"/>
              </a:rPr>
              <a:t>UNIT 02  •  CHEMISTRY</a:t>
            </a:r>
            <a:endParaRPr lang="en-US" sz="1100" dirty="0"/>
          </a:p>
        </p:txBody>
      </p:sp>
      <p:sp>
        <p:nvSpPr>
          <p:cNvPr id="12" name="Text 13"/>
          <p:cNvSpPr txBox="1"/>
          <p:nvPr>
            <p:ph idx="124" type="body" hasCustomPrompt="1"/>
          </p:nvPr>
        </p:nvSpPr>
        <p:spPr>
          <a:xfrm>
            <a:off x="8762695" y="6382512"/>
            <a:ext cx="2743200" cy="237744"/>
          </a:xfrm>
          <a:prstGeom prst="rect">
            <a:avLst/>
          </a:prstGeom>
          <a:noFill/>
          <a:ln/>
        </p:spPr>
        <p:txBody>
          <a:bodyPr wrap="square" lIns="0" tIns="0" rIns="0" bIns="0" rtlCol="0" anchor="ctr"/>
          <a:lstStyle/>
          <a:p>
            <a:pPr algn="r" indent="0" marL="0">
              <a:buNone/>
            </a:pPr>
            <a:r>
              <a:rPr lang="en-US" sz="1000" b="1" spc="140" kern="0" dirty="0">
                <a:solidFill>
                  <a:srgbClr val="2E3338"/>
                </a:solidFill>
                <a:latin typeface="Trade Gothic Next" pitchFamily="34" charset="0"/>
                <a:ea typeface="Trade Gothic Next" pitchFamily="34" charset="-122"/>
                <a:cs typeface="Trade Gothic Next" pitchFamily="34" charset="-120"/>
              </a:rPr>
              <a:t>U02 • S02.3</a:t>
            </a:r>
            <a:endParaRPr lang="en-US" sz="1000" dirty="0"/>
          </a:p>
        </p:txBody>
      </p:sp>
      <p:sp>
        <p:nvSpPr>
          <p:cNvPr id="14" name="Text 4"/>
          <p:cNvSpPr txBox="1"/>
          <p:nvPr>
            <p:ph idx="107" hasCustomPrompt="1"/>
          </p:nvPr>
        </p:nvSpPr>
        <p:spPr>
          <a:xfrm>
            <a:off x="9262872" y="1088136"/>
            <a:ext cx="1901952" cy="1069848"/>
          </a:xfrm>
          <a:prstGeom prst="rect">
            <a:avLst/>
          </a:prstGeom>
          <a:noFill/>
          <a:ln/>
        </p:spPr>
        <p:txBody>
          <a:bodyPr wrap="square" lIns="0" tIns="0" rIns="0" bIns="0" rtlCol="0" anchor="ctr"/>
          <a:lstStyle/>
          <a:p>
            <a:pPr algn="ctr" indent="0" marL="0">
              <a:buNone/>
            </a:pP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2"/>
          <p:cNvSpPr txBox="1"/>
          <p:nvPr>
            <p:ph idx="103" type="title" hasCustomPrompt="1"/>
          </p:nvPr>
        </p:nvSpPr>
        <p:spPr>
          <a:xfrm>
            <a:off x="685800" y="932688"/>
            <a:ext cx="10820095" cy="868680"/>
          </a:xfrm>
          <a:prstGeom prst="rect">
            <a:avLst/>
          </a:prstGeom>
          <a:noFill/>
          <a:ln/>
        </p:spPr>
        <p:txBody>
          <a:bodyPr wrap="square" lIns="0" tIns="0" rIns="0" bIns="0" rtlCol="0" anchor="t"/>
          <a:lstStyle/>
          <a:p>
            <a:pPr algn="l" indent="0" marL="0">
              <a:buNone/>
            </a:pPr>
            <a:r>
              <a:rPr lang="en-US" sz="2800" b="1" dirty="0">
                <a:solidFill>
                  <a:srgbClr val="14161B"/>
                </a:solidFill>
                <a:latin typeface="Trade Gothic Next" pitchFamily="34" charset="0"/>
                <a:ea typeface="Trade Gothic Next" pitchFamily="34" charset="-122"/>
                <a:cs typeface="Trade Gothic Next" pitchFamily="34" charset="-120"/>
              </a:rPr>
              <a:t>Oxygen, Worked</a:t>
            </a:r>
            <a:endParaRPr lang="en-US" sz="2800" dirty="0"/>
          </a:p>
        </p:txBody>
      </p:sp>
      <p:sp>
        <p:nvSpPr>
          <p:cNvPr id="3" name="Text 2"/>
          <p:cNvSpPr txBox="1"/>
          <p:nvPr>
            <p:ph idx="104" type="body" hasCustomPrompt="1"/>
          </p:nvPr>
        </p:nvSpPr>
        <p:spPr>
          <a:xfrm>
            <a:off x="685800" y="1847088"/>
            <a:ext cx="10820095" cy="384048"/>
          </a:xfrm>
          <a:prstGeom prst="rect">
            <a:avLst/>
          </a:prstGeom>
          <a:noFill/>
          <a:ln/>
        </p:spPr>
        <p:txBody>
          <a:bodyPr wrap="square" lIns="0" tIns="0" rIns="0" bIns="0" rtlCol="0"/>
          <a:lstStyle/>
          <a:p>
            <a:pPr indent="0" marL="0">
              <a:buNone/>
            </a:pPr>
            <a:r>
              <a:rPr lang="en-US" sz="1700" dirty="0">
                <a:solidFill>
                  <a:srgbClr val="2E3338"/>
                </a:solidFill>
                <a:latin typeface="Trade Gothic Next" pitchFamily="34" charset="0"/>
                <a:ea typeface="Trade Gothic Next" pitchFamily="34" charset="-122"/>
                <a:cs typeface="Trade Gothic Next" pitchFamily="34" charset="-120"/>
              </a:rPr>
              <a:t>Order first. Then singles before pairs in the 2p boxes.</a:t>
            </a:r>
            <a:endParaRPr lang="en-US" sz="1700" dirty="0"/>
          </a:p>
        </p:txBody>
      </p:sp>
      <p:sp>
        <p:nvSpPr>
          <p:cNvPr id="4" name="Text 5"/>
          <p:cNvSpPr txBox="1"/>
          <p:nvPr>
            <p:ph idx="109" type="body" hasCustomPrompt="1"/>
          </p:nvPr>
        </p:nvSpPr>
        <p:spPr>
          <a:xfrm>
            <a:off x="5276088" y="2560320"/>
            <a:ext cx="2752344" cy="219456"/>
          </a:xfrm>
          <a:prstGeom prst="rect">
            <a:avLst/>
          </a:prstGeom>
          <a:noFill/>
          <a:ln/>
        </p:spPr>
        <p:txBody>
          <a:bodyPr wrap="square" lIns="0" tIns="0" rIns="0" bIns="0" rtlCol="0"/>
          <a:lstStyle/>
          <a:p>
            <a:pPr indent="0" marL="0">
              <a:buNone/>
            </a:pPr>
            <a:r>
              <a:rPr lang="en-US" sz="1200" b="1" spc="120" kern="0" dirty="0">
                <a:solidFill>
                  <a:srgbClr val="2E3338"/>
                </a:solidFill>
                <a:latin typeface="Trade Gothic Next" pitchFamily="34" charset="0"/>
                <a:ea typeface="Trade Gothic Next" pitchFamily="34" charset="-122"/>
                <a:cs typeface="Trade Gothic Next" pitchFamily="34" charset="-120"/>
              </a:rPr>
              <a:t>SETUP</a:t>
            </a:r>
            <a:endParaRPr lang="en-US" sz="1200" dirty="0"/>
          </a:p>
        </p:txBody>
      </p:sp>
      <p:sp>
        <p:nvSpPr>
          <p:cNvPr id="5" name="Text 5"/>
          <p:cNvSpPr txBox="1"/>
          <p:nvPr>
            <p:ph idx="110" type="body" hasCustomPrompt="1"/>
          </p:nvPr>
        </p:nvSpPr>
        <p:spPr>
          <a:xfrm>
            <a:off x="5276088" y="2852928"/>
            <a:ext cx="2752344" cy="1901952"/>
          </a:xfrm>
          <a:prstGeom prst="rect">
            <a:avLst/>
          </a:prstGeom>
          <a:noFill/>
          <a:ln/>
        </p:spPr>
        <p:txBody>
          <a:bodyPr wrap="square" lIns="0" tIns="0" rIns="0" bIns="0" rtlCol="0"/>
          <a:lstStyle/>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Z = 8 electrons</a:t>
            </a:r>
            <a:endParaRPr lang="en-US" sz="1600" dirty="0"/>
          </a:p>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Fill 1s, then 2s, then 2p</a:t>
            </a:r>
            <a:endParaRPr lang="en-US" sz="1600" dirty="0"/>
          </a:p>
        </p:txBody>
      </p:sp>
      <p:sp>
        <p:nvSpPr>
          <p:cNvPr id="6" name="Text 7"/>
          <p:cNvSpPr txBox="1"/>
          <p:nvPr>
            <p:ph idx="113" type="body" hasCustomPrompt="1"/>
          </p:nvPr>
        </p:nvSpPr>
        <p:spPr>
          <a:xfrm>
            <a:off x="8613648" y="2871216"/>
            <a:ext cx="2688336" cy="1920240"/>
          </a:xfrm>
          <a:prstGeom prst="rect">
            <a:avLst/>
          </a:prstGeom>
          <a:noFill/>
          <a:ln/>
        </p:spPr>
        <p:txBody>
          <a:bodyPr wrap="square" lIns="0" tIns="0" rIns="0" bIns="0" rtlCol="0"/>
          <a:lstStyle/>
          <a:p>
            <a:pPr indent="0" marL="0">
              <a:buNone/>
            </a:pPr>
            <a:r>
              <a:rPr lang="en-US" sz="1900" dirty="0">
                <a:solidFill>
                  <a:srgbClr val="14161B"/>
                </a:solidFill>
                <a:latin typeface="Trade Gothic Next" pitchFamily="34" charset="0"/>
                <a:ea typeface="Trade Gothic Next" pitchFamily="34" charset="-122"/>
                <a:cs typeface="Trade Gothic Next" pitchFamily="34" charset="-120"/>
              </a:rPr>
              <a:t>1s</a:t>
            </a:r>
            <a:pPr indent="0" marL="0">
              <a:buNone/>
            </a:pPr>
            <a:r>
              <a:rPr lang="en-US" sz="1900" baseline="30000" dirty="0">
                <a:solidFill>
                  <a:srgbClr val="14161B"/>
                </a:solidFill>
                <a:latin typeface="Trade Gothic Next" pitchFamily="34" charset="0"/>
                <a:ea typeface="Trade Gothic Next" pitchFamily="34" charset="-122"/>
                <a:cs typeface="Trade Gothic Next" pitchFamily="34" charset="-120"/>
              </a:rPr>
              <a:t>2</a:t>
            </a:r>
            <a:pPr indent="0" marL="0">
              <a:buNone/>
            </a:pPr>
            <a:r>
              <a:rPr lang="en-US" sz="1900" dirty="0">
                <a:solidFill>
                  <a:srgbClr val="14161B"/>
                </a:solidFill>
                <a:latin typeface="Trade Gothic Next" pitchFamily="34" charset="0"/>
                <a:ea typeface="Trade Gothic Next" pitchFamily="34" charset="-122"/>
                <a:cs typeface="Trade Gothic Next" pitchFamily="34" charset="-120"/>
              </a:rPr>
              <a:t> 2s</a:t>
            </a:r>
            <a:pPr indent="0" marL="0">
              <a:buNone/>
            </a:pPr>
            <a:r>
              <a:rPr lang="en-US" sz="1900" baseline="30000" dirty="0">
                <a:solidFill>
                  <a:srgbClr val="14161B"/>
                </a:solidFill>
                <a:latin typeface="Trade Gothic Next" pitchFamily="34" charset="0"/>
                <a:ea typeface="Trade Gothic Next" pitchFamily="34" charset="-122"/>
                <a:cs typeface="Trade Gothic Next" pitchFamily="34" charset="-120"/>
              </a:rPr>
              <a:t>2</a:t>
            </a:r>
            <a:pPr indent="0" marL="0">
              <a:buNone/>
            </a:pPr>
            <a:r>
              <a:rPr lang="en-US" sz="1900" dirty="0">
                <a:solidFill>
                  <a:srgbClr val="14161B"/>
                </a:solidFill>
                <a:latin typeface="Trade Gothic Next" pitchFamily="34" charset="0"/>
                <a:ea typeface="Trade Gothic Next" pitchFamily="34" charset="-122"/>
                <a:cs typeface="Trade Gothic Next" pitchFamily="34" charset="-120"/>
              </a:rPr>
              <a:t> 2p</a:t>
            </a:r>
            <a:pPr indent="0" marL="0">
              <a:buNone/>
            </a:pPr>
            <a:r>
              <a:rPr lang="en-US" sz="1900" baseline="30000" dirty="0">
                <a:solidFill>
                  <a:srgbClr val="14161B"/>
                </a:solidFill>
                <a:latin typeface="Trade Gothic Next" pitchFamily="34" charset="0"/>
                <a:ea typeface="Trade Gothic Next" pitchFamily="34" charset="-122"/>
                <a:cs typeface="Trade Gothic Next" pitchFamily="34" charset="-120"/>
              </a:rPr>
              <a:t>4</a:t>
            </a:r>
            <a:endParaRPr lang="en-US" sz="1900" dirty="0"/>
          </a:p>
          <a:p>
            <a:pPr indent="0" marL="0">
              <a:buNone/>
            </a:pPr>
            <a:r>
              <a:rPr lang="en-US" sz="1900" dirty="0">
                <a:solidFill>
                  <a:srgbClr val="14161B"/>
                </a:solidFill>
                <a:latin typeface="Trade Gothic Next" pitchFamily="34" charset="0"/>
                <a:ea typeface="Trade Gothic Next" pitchFamily="34" charset="-122"/>
                <a:cs typeface="Trade Gothic Next" pitchFamily="34" charset="-120"/>
              </a:rPr>
              <a:t>2 + 2 + 4 = 8</a:t>
            </a:r>
            <a:endParaRPr lang="en-US" sz="1900" dirty="0"/>
          </a:p>
          <a:p>
            <a:pPr indent="0" marL="0">
              <a:buNone/>
            </a:pPr>
            <a:r>
              <a:rPr lang="en-US" sz="1900" dirty="0">
                <a:solidFill>
                  <a:srgbClr val="14161B"/>
                </a:solidFill>
                <a:latin typeface="Trade Gothic Next" pitchFamily="34" charset="0"/>
                <a:ea typeface="Trade Gothic Next" pitchFamily="34" charset="-122"/>
                <a:cs typeface="Trade Gothic Next" pitchFamily="34" charset="-120"/>
              </a:rPr>
              <a:t>Unpaired: 2</a:t>
            </a:r>
            <a:endParaRPr lang="en-US" sz="1900" dirty="0"/>
          </a:p>
        </p:txBody>
      </p:sp>
      <p:sp>
        <p:nvSpPr>
          <p:cNvPr id="7" name="Text 9"/>
          <p:cNvSpPr txBox="1"/>
          <p:nvPr>
            <p:ph idx="116" type="body" hasCustomPrompt="1"/>
          </p:nvPr>
        </p:nvSpPr>
        <p:spPr>
          <a:xfrm>
            <a:off x="2240280" y="5212080"/>
            <a:ext cx="8991295" cy="402336"/>
          </a:xfrm>
          <a:prstGeom prst="rect">
            <a:avLst/>
          </a:prstGeom>
          <a:noFill/>
          <a:ln/>
        </p:spPr>
        <p:txBody>
          <a:bodyPr wrap="square" lIns="0" tIns="0" rIns="0" bIns="0" rtlCol="0" anchor="ctr"/>
          <a:lstStyle/>
          <a:p>
            <a:pPr indent="0" marL="0">
              <a:buNone/>
            </a:pPr>
            <a:r>
              <a:rPr lang="en-US" sz="1600" b="1" dirty="0">
                <a:solidFill>
                  <a:srgbClr val="EDF0E5"/>
                </a:solidFill>
                <a:latin typeface="Trade Gothic Next" pitchFamily="34" charset="0"/>
                <a:ea typeface="Trade Gothic Next" pitchFamily="34" charset="-122"/>
                <a:cs typeface="Trade Gothic Next" pitchFamily="34" charset="-120"/>
              </a:rPr>
              <a:t>Oxygen is 1s</a:t>
            </a:r>
            <a:pPr indent="0" marL="0">
              <a:buNone/>
            </a:pPr>
            <a:r>
              <a:rPr lang="en-US" sz="1600" b="1" baseline="30000" dirty="0">
                <a:solidFill>
                  <a:srgbClr val="EDF0E5"/>
                </a:solidFill>
                <a:latin typeface="Trade Gothic Next" pitchFamily="34" charset="0"/>
                <a:ea typeface="Trade Gothic Next" pitchFamily="34" charset="-122"/>
                <a:cs typeface="Trade Gothic Next" pitchFamily="34" charset="-120"/>
              </a:rPr>
              <a:t>2</a:t>
            </a:r>
            <a:pPr indent="0" marL="0">
              <a:buNone/>
            </a:pPr>
            <a:r>
              <a:rPr lang="en-US" sz="1600" b="1" dirty="0">
                <a:solidFill>
                  <a:srgbClr val="EDF0E5"/>
                </a:solidFill>
                <a:latin typeface="Trade Gothic Next" pitchFamily="34" charset="0"/>
                <a:ea typeface="Trade Gothic Next" pitchFamily="34" charset="-122"/>
                <a:cs typeface="Trade Gothic Next" pitchFamily="34" charset="-120"/>
              </a:rPr>
              <a:t> 2s</a:t>
            </a:r>
            <a:pPr indent="0" marL="0">
              <a:buNone/>
            </a:pPr>
            <a:r>
              <a:rPr lang="en-US" sz="1600" b="1" baseline="30000" dirty="0">
                <a:solidFill>
                  <a:srgbClr val="EDF0E5"/>
                </a:solidFill>
                <a:latin typeface="Trade Gothic Next" pitchFamily="34" charset="0"/>
                <a:ea typeface="Trade Gothic Next" pitchFamily="34" charset="-122"/>
                <a:cs typeface="Trade Gothic Next" pitchFamily="34" charset="-120"/>
              </a:rPr>
              <a:t>2</a:t>
            </a:r>
            <a:pPr indent="0" marL="0">
              <a:buNone/>
            </a:pPr>
            <a:r>
              <a:rPr lang="en-US" sz="1600" b="1" dirty="0">
                <a:solidFill>
                  <a:srgbClr val="EDF0E5"/>
                </a:solidFill>
                <a:latin typeface="Trade Gothic Next" pitchFamily="34" charset="0"/>
                <a:ea typeface="Trade Gothic Next" pitchFamily="34" charset="-122"/>
                <a:cs typeface="Trade Gothic Next" pitchFamily="34" charset="-120"/>
              </a:rPr>
              <a:t> 2p</a:t>
            </a:r>
            <a:pPr indent="0" marL="0">
              <a:buNone/>
            </a:pPr>
            <a:r>
              <a:rPr lang="en-US" sz="1600" b="1" baseline="30000" dirty="0">
                <a:solidFill>
                  <a:srgbClr val="EDF0E5"/>
                </a:solidFill>
                <a:latin typeface="Trade Gothic Next" pitchFamily="34" charset="0"/>
                <a:ea typeface="Trade Gothic Next" pitchFamily="34" charset="-122"/>
                <a:cs typeface="Trade Gothic Next" pitchFamily="34" charset="-120"/>
              </a:rPr>
              <a:t>4</a:t>
            </a:r>
            <a:pPr indent="0" marL="0">
              <a:buNone/>
            </a:pPr>
            <a:r>
              <a:rPr lang="en-US" sz="1600" b="1" dirty="0">
                <a:solidFill>
                  <a:srgbClr val="EDF0E5"/>
                </a:solidFill>
                <a:latin typeface="Trade Gothic Next" pitchFamily="34" charset="0"/>
                <a:ea typeface="Trade Gothic Next" pitchFamily="34" charset="-122"/>
                <a:cs typeface="Trade Gothic Next" pitchFamily="34" charset="-120"/>
              </a:rPr>
              <a:t>, with 2 unpaired electrons.</a:t>
            </a:r>
            <a:endParaRPr lang="en-US" sz="1600" dirty="0"/>
          </a:p>
        </p:txBody>
      </p:sp>
      <p:sp>
        <p:nvSpPr>
          <p:cNvPr id="8" name="Text 1"/>
          <p:cNvSpPr txBox="1"/>
          <p:nvPr>
            <p:ph idx="101" type="body" hasCustomPrompt="1"/>
          </p:nvPr>
        </p:nvSpPr>
        <p:spPr>
          <a:xfrm>
            <a:off x="685800" y="384048"/>
            <a:ext cx="6400800" cy="237744"/>
          </a:xfrm>
          <a:prstGeom prst="rect">
            <a:avLst/>
          </a:prstGeom>
          <a:noFill/>
          <a:ln/>
        </p:spPr>
        <p:txBody>
          <a:bodyPr wrap="square" lIns="0" tIns="0" rIns="0" bIns="0" rtlCol="0" anchor="ctr"/>
          <a:lstStyle/>
          <a:p>
            <a:pPr indent="0" marL="0">
              <a:buNone/>
            </a:pPr>
            <a:r>
              <a:rPr lang="en-US" sz="1100" b="1" spc="160" kern="0" dirty="0">
                <a:solidFill>
                  <a:srgbClr val="14161B"/>
                </a:solidFill>
                <a:latin typeface="Trade Gothic Next" pitchFamily="34" charset="0"/>
                <a:ea typeface="Trade Gothic Next" pitchFamily="34" charset="-122"/>
                <a:cs typeface="Trade Gothic Next" pitchFamily="34" charset="-120"/>
              </a:rPr>
              <a:t>UNIT 02  •  CHEMISTRY</a:t>
            </a:r>
            <a:endParaRPr lang="en-US" sz="1100" dirty="0"/>
          </a:p>
        </p:txBody>
      </p:sp>
      <p:sp>
        <p:nvSpPr>
          <p:cNvPr id="9" name="Text 10"/>
          <p:cNvSpPr txBox="1"/>
          <p:nvPr>
            <p:ph idx="118" type="body" hasCustomPrompt="1"/>
          </p:nvPr>
        </p:nvSpPr>
        <p:spPr>
          <a:xfrm>
            <a:off x="8762695" y="6382512"/>
            <a:ext cx="2743200" cy="237744"/>
          </a:xfrm>
          <a:prstGeom prst="rect">
            <a:avLst/>
          </a:prstGeom>
          <a:noFill/>
          <a:ln/>
        </p:spPr>
        <p:txBody>
          <a:bodyPr wrap="square" lIns="0" tIns="0" rIns="0" bIns="0" rtlCol="0" anchor="ctr"/>
          <a:lstStyle/>
          <a:p>
            <a:pPr algn="r" indent="0" marL="0">
              <a:buNone/>
            </a:pPr>
            <a:r>
              <a:rPr lang="en-US" sz="1000" b="1" spc="140" kern="0" dirty="0">
                <a:solidFill>
                  <a:srgbClr val="2E3338"/>
                </a:solidFill>
                <a:latin typeface="Trade Gothic Next" pitchFamily="34" charset="0"/>
                <a:ea typeface="Trade Gothic Next" pitchFamily="34" charset="-122"/>
                <a:cs typeface="Trade Gothic Next" pitchFamily="34" charset="-120"/>
              </a:rPr>
              <a:t>U02 • S02.3</a:t>
            </a:r>
            <a:endParaRPr lang="en-US" sz="1000" dirty="0"/>
          </a:p>
        </p:txBody>
      </p:sp>
      <p:sp>
        <p:nvSpPr>
          <p:cNvPr id="11" name="Text 4"/>
          <p:cNvSpPr txBox="1"/>
          <p:nvPr>
            <p:ph idx="107" hasCustomPrompt="1"/>
          </p:nvPr>
        </p:nvSpPr>
        <p:spPr>
          <a:xfrm>
            <a:off x="832104" y="2542032"/>
            <a:ext cx="3867912" cy="2267712"/>
          </a:xfrm>
          <a:prstGeom prst="rect">
            <a:avLst/>
          </a:prstGeom>
          <a:noFill/>
          <a:ln/>
        </p:spPr>
        <p:txBody>
          <a:bodyPr wrap="square" lIns="0" tIns="0" rIns="0" bIns="0" rtlCol="0" anchor="ctr"/>
          <a:lstStyle/>
          <a:p>
            <a:pPr algn="ctr" indent="0" marL="0">
              <a:buNone/>
            </a:pPr>
            <a:endParaRPr lang="en-US" sz="1200" dirty="0"/>
          </a:p>
        </p:txBody>
      </p:sp>
      <p:sp>
        <p:nvSpPr>
          <p:cNvPr id="12" name="BUILD backdrop"/>
          <p:cNvSpPr/>
          <p:nvPr/>
        </p:nvSpPr>
        <p:spPr>
          <a:xfrm>
            <a:off x="832104" y="2542032"/>
            <a:ext cx="3867912" cy="226771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10" name="BUILD boxes and labels" descr="Orbital diagram of oxygen. 1s: one box, one pair. 2s: one box, one pair. 2p: three boxes, one pair and two single up arrows."/>
          <p:cNvGrpSpPr/>
          <p:nvPr/>
        </p:nvGrpSpPr>
        <p:grpSpPr>
          <a:xfrm>
            <a:off x="941832" y="2651759"/>
            <a:ext cx="3648456" cy="1170432"/>
            <a:chOff x="941832" y="2651759"/>
            <a:chExt cx="3648456" cy="1170432"/>
          </a:xfrm>
        </p:grpSpPr>
        <p:sp>
          <p:nvSpPr>
            <p:cNvPr id="13" name="BUILD title"/>
            <p:cNvSpPr txBox="1"/>
            <p:nvPr/>
          </p:nvSpPr>
          <p:spPr>
            <a:xfrm>
              <a:off x="941832" y="2651759"/>
              <a:ext cx="3648456" cy="274320"/>
            </a:xfrm>
            <a:prstGeom prst="rect">
              <a:avLst/>
            </a:prstGeom>
            <a:noFill/>
          </p:spPr>
          <p:txBody>
            <a:bodyPr wrap="square" lIns="0" rIns="0" tIns="0" bIns="0" anchor="ctr">
              <a:spAutoFit/>
            </a:bodyPr>
            <a:lstStyle/>
            <a:p>
              <a:pPr algn="ctr"/>
              <a:r>
                <a:rPr sz="1800" b="1">
                  <a:solidFill>
                    <a:srgbClr val="14161B"/>
                  </a:solidFill>
                  <a:latin typeface="Trade Gothic Next"/>
                </a:rPr>
                <a:t>OXYGEN  Z = 8</a:t>
              </a:r>
            </a:p>
          </p:txBody>
        </p:sp>
        <p:sp>
          <p:nvSpPr>
            <p:cNvPr id="14" name="BUILD box 1s 1"/>
            <p:cNvSpPr/>
            <p:nvPr/>
          </p:nvSpPr>
          <p:spPr>
            <a:xfrm>
              <a:off x="1092708" y="2962655"/>
              <a:ext cx="548640" cy="548640"/>
            </a:xfrm>
            <a:prstGeom prst="rect">
              <a:avLst/>
            </a:prstGeom>
            <a:solidFill>
              <a:srgbClr val="FFFFFF"/>
            </a:solidFill>
            <a:ln w="28575">
              <a:solidFill>
                <a:srgbClr val="1416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BUILD label 1s"/>
            <p:cNvSpPr txBox="1"/>
            <p:nvPr/>
          </p:nvSpPr>
          <p:spPr>
            <a:xfrm>
              <a:off x="1193113" y="3547871"/>
              <a:ext cx="281642" cy="274320"/>
            </a:xfrm>
            <a:prstGeom prst="rect">
              <a:avLst/>
            </a:prstGeom>
            <a:noFill/>
          </p:spPr>
          <p:txBody>
            <a:bodyPr wrap="none" lIns="0" rIns="0" tIns="0" bIns="0" anchor="ctr">
              <a:spAutoFit/>
            </a:bodyPr>
            <a:lstStyle/>
            <a:p>
              <a:pPr algn="l"/>
              <a:r>
                <a:rPr sz="1800" b="1">
                  <a:solidFill>
                    <a:srgbClr val="14161B"/>
                  </a:solidFill>
                  <a:latin typeface="Trade Gothic Next"/>
                </a:rPr>
                <a:t>1s</a:t>
              </a:r>
            </a:p>
          </p:txBody>
        </p:sp>
        <p:sp>
          <p:nvSpPr>
            <p:cNvPr id="16" name="BUILD box 2s 1"/>
            <p:cNvSpPr/>
            <p:nvPr/>
          </p:nvSpPr>
          <p:spPr>
            <a:xfrm>
              <a:off x="1897380" y="2962655"/>
              <a:ext cx="548640" cy="548640"/>
            </a:xfrm>
            <a:prstGeom prst="rect">
              <a:avLst/>
            </a:prstGeom>
            <a:solidFill>
              <a:srgbClr val="FFFFFF"/>
            </a:solidFill>
            <a:ln w="28575">
              <a:solidFill>
                <a:srgbClr val="1416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UILD label 2s"/>
            <p:cNvSpPr txBox="1"/>
            <p:nvPr/>
          </p:nvSpPr>
          <p:spPr>
            <a:xfrm>
              <a:off x="1997785" y="3547871"/>
              <a:ext cx="281642" cy="274320"/>
            </a:xfrm>
            <a:prstGeom prst="rect">
              <a:avLst/>
            </a:prstGeom>
            <a:noFill/>
          </p:spPr>
          <p:txBody>
            <a:bodyPr wrap="none" lIns="0" rIns="0" tIns="0" bIns="0" anchor="ctr">
              <a:spAutoFit/>
            </a:bodyPr>
            <a:lstStyle/>
            <a:p>
              <a:pPr algn="l"/>
              <a:r>
                <a:rPr sz="1800" b="1">
                  <a:solidFill>
                    <a:srgbClr val="14161B"/>
                  </a:solidFill>
                  <a:latin typeface="Trade Gothic Next"/>
                </a:rPr>
                <a:t>2s</a:t>
              </a:r>
            </a:p>
          </p:txBody>
        </p:sp>
        <p:sp>
          <p:nvSpPr>
            <p:cNvPr id="18" name="BUILD box 2p 1"/>
            <p:cNvSpPr/>
            <p:nvPr/>
          </p:nvSpPr>
          <p:spPr>
            <a:xfrm>
              <a:off x="2702052" y="2962655"/>
              <a:ext cx="548640" cy="548640"/>
            </a:xfrm>
            <a:prstGeom prst="rect">
              <a:avLst/>
            </a:prstGeom>
            <a:solidFill>
              <a:srgbClr val="FFFFFF"/>
            </a:solidFill>
            <a:ln w="28575">
              <a:solidFill>
                <a:srgbClr val="1416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BUILD box 2p 2"/>
            <p:cNvSpPr/>
            <p:nvPr/>
          </p:nvSpPr>
          <p:spPr>
            <a:xfrm>
              <a:off x="3296412" y="2962655"/>
              <a:ext cx="548640" cy="548640"/>
            </a:xfrm>
            <a:prstGeom prst="rect">
              <a:avLst/>
            </a:prstGeom>
            <a:solidFill>
              <a:srgbClr val="FFFFFF"/>
            </a:solidFill>
            <a:ln w="28575">
              <a:solidFill>
                <a:srgbClr val="1416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BUILD box 2p 3"/>
            <p:cNvSpPr/>
            <p:nvPr/>
          </p:nvSpPr>
          <p:spPr>
            <a:xfrm>
              <a:off x="3890772" y="2962655"/>
              <a:ext cx="548640" cy="548640"/>
            </a:xfrm>
            <a:prstGeom prst="rect">
              <a:avLst/>
            </a:prstGeom>
            <a:solidFill>
              <a:srgbClr val="FFFFFF"/>
            </a:solidFill>
            <a:ln w="28575">
              <a:solidFill>
                <a:srgbClr val="1416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UILD label 2p"/>
            <p:cNvSpPr txBox="1"/>
            <p:nvPr/>
          </p:nvSpPr>
          <p:spPr>
            <a:xfrm>
              <a:off x="3390807" y="3547871"/>
              <a:ext cx="293518" cy="274320"/>
            </a:xfrm>
            <a:prstGeom prst="rect">
              <a:avLst/>
            </a:prstGeom>
            <a:noFill/>
          </p:spPr>
          <p:txBody>
            <a:bodyPr wrap="none" lIns="0" rIns="0" tIns="0" bIns="0" anchor="ctr">
              <a:spAutoFit/>
            </a:bodyPr>
            <a:lstStyle/>
            <a:p>
              <a:pPr algn="l"/>
              <a:r>
                <a:rPr sz="1800" b="1">
                  <a:solidFill>
                    <a:srgbClr val="14161B"/>
                  </a:solidFill>
                  <a:latin typeface="Trade Gothic Next"/>
                </a:rPr>
                <a:t>2p</a:t>
              </a:r>
            </a:p>
          </p:txBody>
        </p:sp>
      </p:grpSp>
      <p:sp>
        <p:nvSpPr>
          <p:cNvPr id="22" name="BUILD arrow 1s box1 up" descr="">
            <a:extLst>
              <a:ext uri="{C183D7F6-B498-43B3-948B-1728B52AA6E4}">
                <adec:decorative xmlns:adec="http://schemas.microsoft.com/office/drawing/2017/decorative" val="1"/>
              </a:ext>
            </a:extLst>
          </p:cNvPr>
          <p:cNvSpPr/>
          <p:nvPr/>
        </p:nvSpPr>
        <p:spPr>
          <a:xfrm>
            <a:off x="1188720" y="3066897"/>
            <a:ext cx="137160" cy="340156"/>
          </a:xfrm>
          <a:prstGeom prst="upArrow">
            <a:avLst>
              <a:gd name="adj1" fmla="val 34000"/>
              <a:gd name="adj2" fmla="val 70000"/>
            </a:avLst>
          </a:prstGeom>
          <a:solidFill>
            <a:srgbClr val="1416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BUILD arrow 1s box1 down" descr="">
            <a:extLst>
              <a:ext uri="{C183D7F6-B498-43B3-948B-1728B52AA6E4}">
                <adec:decorative xmlns:adec="http://schemas.microsoft.com/office/drawing/2017/decorative" val="1"/>
              </a:ext>
            </a:extLst>
          </p:cNvPr>
          <p:cNvSpPr/>
          <p:nvPr/>
        </p:nvSpPr>
        <p:spPr>
          <a:xfrm>
            <a:off x="1408176" y="3066897"/>
            <a:ext cx="137160" cy="340156"/>
          </a:xfrm>
          <a:prstGeom prst="downArrow">
            <a:avLst>
              <a:gd name="adj1" fmla="val 34000"/>
              <a:gd name="adj2" fmla="val 70000"/>
            </a:avLst>
          </a:prstGeom>
          <a:solidFill>
            <a:srgbClr val="1416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BUILD arrow 2s box1 up" descr="">
            <a:extLst>
              <a:ext uri="{C183D7F6-B498-43B3-948B-1728B52AA6E4}">
                <adec:decorative xmlns:adec="http://schemas.microsoft.com/office/drawing/2017/decorative" val="1"/>
              </a:ext>
            </a:extLst>
          </p:cNvPr>
          <p:cNvSpPr/>
          <p:nvPr/>
        </p:nvSpPr>
        <p:spPr>
          <a:xfrm>
            <a:off x="1993392" y="3066897"/>
            <a:ext cx="137160" cy="340156"/>
          </a:xfrm>
          <a:prstGeom prst="upArrow">
            <a:avLst>
              <a:gd name="adj1" fmla="val 34000"/>
              <a:gd name="adj2" fmla="val 70000"/>
            </a:avLst>
          </a:prstGeom>
          <a:solidFill>
            <a:srgbClr val="1416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UILD arrow 2s box1 down" descr="">
            <a:extLst>
              <a:ext uri="{C183D7F6-B498-43B3-948B-1728B52AA6E4}">
                <adec:decorative xmlns:adec="http://schemas.microsoft.com/office/drawing/2017/decorative" val="1"/>
              </a:ext>
            </a:extLst>
          </p:cNvPr>
          <p:cNvSpPr/>
          <p:nvPr/>
        </p:nvSpPr>
        <p:spPr>
          <a:xfrm>
            <a:off x="2212848" y="3066897"/>
            <a:ext cx="137160" cy="340156"/>
          </a:xfrm>
          <a:prstGeom prst="downArrow">
            <a:avLst>
              <a:gd name="adj1" fmla="val 34000"/>
              <a:gd name="adj2" fmla="val 70000"/>
            </a:avLst>
          </a:prstGeom>
          <a:solidFill>
            <a:srgbClr val="1416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BUILD arrow 2p box1 up" descr="">
            <a:extLst>
              <a:ext uri="{C183D7F6-B498-43B3-948B-1728B52AA6E4}">
                <adec:decorative xmlns:adec="http://schemas.microsoft.com/office/drawing/2017/decorative" val="1"/>
              </a:ext>
            </a:extLst>
          </p:cNvPr>
          <p:cNvSpPr/>
          <p:nvPr/>
        </p:nvSpPr>
        <p:spPr>
          <a:xfrm>
            <a:off x="2798064" y="3066897"/>
            <a:ext cx="137160" cy="340156"/>
          </a:xfrm>
          <a:prstGeom prst="upArrow">
            <a:avLst>
              <a:gd name="adj1" fmla="val 34000"/>
              <a:gd name="adj2" fmla="val 70000"/>
            </a:avLst>
          </a:prstGeom>
          <a:solidFill>
            <a:srgbClr val="1416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BUILD arrow 2p box2 up" descr="">
            <a:extLst>
              <a:ext uri="{C183D7F6-B498-43B3-948B-1728B52AA6E4}">
                <adec:decorative xmlns:adec="http://schemas.microsoft.com/office/drawing/2017/decorative" val="1"/>
              </a:ext>
            </a:extLst>
          </p:cNvPr>
          <p:cNvSpPr/>
          <p:nvPr/>
        </p:nvSpPr>
        <p:spPr>
          <a:xfrm>
            <a:off x="3392424" y="3066897"/>
            <a:ext cx="137160" cy="340156"/>
          </a:xfrm>
          <a:prstGeom prst="upArrow">
            <a:avLst>
              <a:gd name="adj1" fmla="val 34000"/>
              <a:gd name="adj2" fmla="val 70000"/>
            </a:avLst>
          </a:prstGeom>
          <a:solidFill>
            <a:srgbClr val="1416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BUILD arrow 2p box3 up" descr="">
            <a:extLst>
              <a:ext uri="{C183D7F6-B498-43B3-948B-1728B52AA6E4}">
                <adec:decorative xmlns:adec="http://schemas.microsoft.com/office/drawing/2017/decorative" val="1"/>
              </a:ext>
            </a:extLst>
          </p:cNvPr>
          <p:cNvSpPr/>
          <p:nvPr/>
        </p:nvSpPr>
        <p:spPr>
          <a:xfrm>
            <a:off x="3986783" y="3066897"/>
            <a:ext cx="137160" cy="340156"/>
          </a:xfrm>
          <a:prstGeom prst="upArrow">
            <a:avLst>
              <a:gd name="adj1" fmla="val 34000"/>
              <a:gd name="adj2" fmla="val 70000"/>
            </a:avLst>
          </a:prstGeom>
          <a:solidFill>
            <a:srgbClr val="1416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BUILD arrow 2p box1 down" descr="">
            <a:extLst>
              <a:ext uri="{C183D7F6-B498-43B3-948B-1728B52AA6E4}">
                <adec:decorative xmlns:adec="http://schemas.microsoft.com/office/drawing/2017/decorative" val="1"/>
              </a:ext>
            </a:extLst>
          </p:cNvPr>
          <p:cNvSpPr/>
          <p:nvPr/>
        </p:nvSpPr>
        <p:spPr>
          <a:xfrm>
            <a:off x="3017520" y="3066897"/>
            <a:ext cx="137160" cy="340156"/>
          </a:xfrm>
          <a:prstGeom prst="downArrow">
            <a:avLst>
              <a:gd name="adj1" fmla="val 34000"/>
              <a:gd name="adj2" fmla="val 70000"/>
            </a:avLst>
          </a:prstGeom>
          <a:solidFill>
            <a:srgbClr val="1416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BUILD count 1s"/>
          <p:cNvSpPr txBox="1"/>
          <p:nvPr/>
        </p:nvSpPr>
        <p:spPr>
          <a:xfrm>
            <a:off x="1419891" y="3547871"/>
            <a:ext cx="194202" cy="274320"/>
          </a:xfrm>
          <a:prstGeom prst="rect">
            <a:avLst/>
          </a:prstGeom>
          <a:noFill/>
        </p:spPr>
        <p:txBody>
          <a:bodyPr wrap="none" lIns="0" rIns="0" tIns="0" bIns="0" anchor="ctr">
            <a:spAutoFit/>
          </a:bodyPr>
          <a:lstStyle/>
          <a:p>
            <a:pPr algn="l"/>
            <a:r>
              <a:rPr sz="1800" b="1" baseline="30000">
                <a:solidFill>
                  <a:srgbClr val="14161B"/>
                </a:solidFill>
                <a:latin typeface="Trade Gothic Next"/>
              </a:rPr>
              <a:t>2</a:t>
            </a:r>
          </a:p>
        </p:txBody>
      </p:sp>
      <p:sp>
        <p:nvSpPr>
          <p:cNvPr id="31" name="BUILD count 2s"/>
          <p:cNvSpPr txBox="1"/>
          <p:nvPr/>
        </p:nvSpPr>
        <p:spPr>
          <a:xfrm>
            <a:off x="2224563" y="3547871"/>
            <a:ext cx="194202" cy="274320"/>
          </a:xfrm>
          <a:prstGeom prst="rect">
            <a:avLst/>
          </a:prstGeom>
          <a:noFill/>
        </p:spPr>
        <p:txBody>
          <a:bodyPr wrap="none" lIns="0" rIns="0" tIns="0" bIns="0" anchor="ctr">
            <a:spAutoFit/>
          </a:bodyPr>
          <a:lstStyle/>
          <a:p>
            <a:pPr algn="l"/>
            <a:r>
              <a:rPr sz="1800" b="1" baseline="30000">
                <a:solidFill>
                  <a:srgbClr val="14161B"/>
                </a:solidFill>
                <a:latin typeface="Trade Gothic Next"/>
              </a:rPr>
              <a:t>2</a:t>
            </a:r>
          </a:p>
        </p:txBody>
      </p:sp>
      <p:sp>
        <p:nvSpPr>
          <p:cNvPr id="32" name="BUILD count 2p"/>
          <p:cNvSpPr txBox="1"/>
          <p:nvPr/>
        </p:nvSpPr>
        <p:spPr>
          <a:xfrm>
            <a:off x="3629462" y="3547871"/>
            <a:ext cx="194346" cy="274320"/>
          </a:xfrm>
          <a:prstGeom prst="rect">
            <a:avLst/>
          </a:prstGeom>
          <a:noFill/>
        </p:spPr>
        <p:txBody>
          <a:bodyPr wrap="none" lIns="0" rIns="0" tIns="0" bIns="0" anchor="ctr">
            <a:spAutoFit/>
          </a:bodyPr>
          <a:lstStyle/>
          <a:p>
            <a:pPr algn="l"/>
            <a:r>
              <a:rPr sz="1800" b="1" baseline="30000">
                <a:solidFill>
                  <a:srgbClr val="14161B"/>
                </a:solidFill>
                <a:latin typeface="Trade Gothic Next"/>
              </a:rPr>
              <a:t>4</a:t>
            </a:r>
          </a:p>
        </p:txBody>
      </p:sp>
      <p:sp>
        <p:nvSpPr>
          <p:cNvPr id="33" name="BUILD caption"/>
          <p:cNvSpPr txBox="1"/>
          <p:nvPr/>
        </p:nvSpPr>
        <p:spPr>
          <a:xfrm>
            <a:off x="941832" y="3858768"/>
            <a:ext cx="3648456" cy="256032"/>
          </a:xfrm>
          <a:prstGeom prst="rect">
            <a:avLst/>
          </a:prstGeom>
          <a:noFill/>
        </p:spPr>
        <p:txBody>
          <a:bodyPr wrap="square" lIns="0" rIns="0" tIns="0" bIns="0" anchor="ctr">
            <a:spAutoFit/>
          </a:bodyPr>
          <a:lstStyle/>
          <a:p>
            <a:pPr algn="ctr"/>
            <a:r>
              <a:rPr sz="1600" b="1">
                <a:solidFill>
                  <a:srgbClr val="4D730E"/>
                </a:solidFill>
                <a:latin typeface="Trade Gothic Next"/>
              </a:rPr>
              <a:t>Pauli: opposite spins</a:t>
            </a:r>
          </a:p>
        </p:txBody>
      </p:sp>
      <p:sp>
        <p:nvSpPr>
          <p:cNvPr id="34" name="BUILD caption"/>
          <p:cNvSpPr txBox="1"/>
          <p:nvPr/>
        </p:nvSpPr>
        <p:spPr>
          <a:xfrm>
            <a:off x="941832" y="4114800"/>
            <a:ext cx="3648456" cy="256032"/>
          </a:xfrm>
          <a:prstGeom prst="rect">
            <a:avLst/>
          </a:prstGeom>
          <a:noFill/>
        </p:spPr>
        <p:txBody>
          <a:bodyPr wrap="square" lIns="0" rIns="0" tIns="0" bIns="0" anchor="ctr">
            <a:spAutoFit/>
          </a:bodyPr>
          <a:lstStyle/>
          <a:p>
            <a:pPr algn="ctr"/>
            <a:r>
              <a:rPr sz="1600" b="1">
                <a:solidFill>
                  <a:srgbClr val="4D730E"/>
                </a:solidFill>
                <a:latin typeface="Trade Gothic Next"/>
              </a:rPr>
              <a:t>Hund: singles first</a:t>
            </a:r>
          </a:p>
        </p:txBody>
      </p:sp>
      <p:sp>
        <p:nvSpPr>
          <p:cNvPr id="35" name="BUILD sum"/>
          <p:cNvSpPr txBox="1"/>
          <p:nvPr/>
        </p:nvSpPr>
        <p:spPr>
          <a:xfrm>
            <a:off x="941832" y="4407407"/>
            <a:ext cx="3648456" cy="292608"/>
          </a:xfrm>
          <a:prstGeom prst="rect">
            <a:avLst/>
          </a:prstGeom>
          <a:noFill/>
        </p:spPr>
        <p:txBody>
          <a:bodyPr wrap="square" lIns="0" rIns="0" tIns="0" bIns="0" anchor="ctr">
            <a:spAutoFit/>
          </a:bodyPr>
          <a:lstStyle/>
          <a:p>
            <a:pPr algn="ctr"/>
            <a:r>
              <a:rPr sz="1800" b="1">
                <a:solidFill>
                  <a:srgbClr val="14161B"/>
                </a:solidFill>
                <a:latin typeface="Trade Gothic Next"/>
              </a:rPr>
              <a:t>2 + 2 + 4 = 8</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22"/>
                                        </p:tgtEl>
                                        <p:attrNameLst>
                                          <p:attrName>style.visibility</p:attrName>
                                        </p:attrNameLst>
                                      </p:cBhvr>
                                      <p:to>
                                        <p:strVal val="visible"/>
                                      </p:to>
                                    </p:set>
                                    <p:animEffect transition="in" filter="fade">
                                      <p:cBhvr>
                                        <p:cTn id="13" dur="400"/>
                                        <p:tgtEl>
                                          <p:spTgt spid="22"/>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23"/>
                                        </p:tgtEl>
                                        <p:attrNameLst>
                                          <p:attrName>style.visibility</p:attrName>
                                        </p:attrNameLst>
                                      </p:cBhvr>
                                      <p:to>
                                        <p:strVal val="visible"/>
                                      </p:to>
                                    </p:set>
                                    <p:animEffect transition="in" filter="fade">
                                      <p:cBhvr>
                                        <p:cTn id="18" dur="400"/>
                                        <p:tgtEl>
                                          <p:spTgt spid="23"/>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
                                        </p:tgtEl>
                                        <p:attrNameLst>
                                          <p:attrName>style.visibility</p:attrName>
                                        </p:attrNameLst>
                                      </p:cBhvr>
                                      <p:to>
                                        <p:strVal val="visible"/>
                                      </p:to>
                                    </p:set>
                                    <p:animEffect transition="in" filter="fade">
                                      <p:cBhvr>
                                        <p:cTn id="21" dur="400"/>
                                        <p:tgtEl>
                                          <p:spTgt spid="30"/>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3"/>
                                        </p:tgtEl>
                                        <p:attrNameLst>
                                          <p:attrName>style.visibility</p:attrName>
                                        </p:attrNameLst>
                                      </p:cBhvr>
                                      <p:to>
                                        <p:strVal val="visible"/>
                                      </p:to>
                                    </p:set>
                                    <p:animEffect transition="in" filter="fade">
                                      <p:cBhvr>
                                        <p:cTn id="24" dur="400"/>
                                        <p:tgtEl>
                                          <p:spTgt spid="33"/>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24"/>
                                        </p:tgtEl>
                                        <p:attrNameLst>
                                          <p:attrName>style.visibility</p:attrName>
                                        </p:attrNameLst>
                                      </p:cBhvr>
                                      <p:to>
                                        <p:strVal val="visible"/>
                                      </p:to>
                                    </p:set>
                                    <p:animEffect transition="in" filter="fade">
                                      <p:cBhvr>
                                        <p:cTn id="29" dur="400"/>
                                        <p:tgtEl>
                                          <p:spTgt spid="24"/>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25"/>
                                        </p:tgtEl>
                                        <p:attrNameLst>
                                          <p:attrName>style.visibility</p:attrName>
                                        </p:attrNameLst>
                                      </p:cBhvr>
                                      <p:to>
                                        <p:strVal val="visible"/>
                                      </p:to>
                                    </p:set>
                                    <p:animEffect transition="in" filter="fade">
                                      <p:cBhvr>
                                        <p:cTn id="34" dur="400"/>
                                        <p:tgtEl>
                                          <p:spTgt spid="25"/>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1"/>
                                        </p:tgtEl>
                                        <p:attrNameLst>
                                          <p:attrName>style.visibility</p:attrName>
                                        </p:attrNameLst>
                                      </p:cBhvr>
                                      <p:to>
                                        <p:strVal val="visible"/>
                                      </p:to>
                                    </p:set>
                                    <p:animEffect transition="in" filter="fade">
                                      <p:cBhvr>
                                        <p:cTn id="37" dur="400"/>
                                        <p:tgtEl>
                                          <p:spTgt spid="31"/>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26"/>
                                        </p:tgtEl>
                                        <p:attrNameLst>
                                          <p:attrName>style.visibility</p:attrName>
                                        </p:attrNameLst>
                                      </p:cBhvr>
                                      <p:to>
                                        <p:strVal val="visible"/>
                                      </p:to>
                                    </p:set>
                                    <p:animEffect transition="in" filter="fade">
                                      <p:cBhvr>
                                        <p:cTn id="42" dur="400"/>
                                        <p:tgtEl>
                                          <p:spTgt spid="26"/>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34"/>
                                        </p:tgtEl>
                                        <p:attrNameLst>
                                          <p:attrName>style.visibility</p:attrName>
                                        </p:attrNameLst>
                                      </p:cBhvr>
                                      <p:to>
                                        <p:strVal val="visible"/>
                                      </p:to>
                                    </p:set>
                                    <p:animEffect transition="in" filter="fade">
                                      <p:cBhvr>
                                        <p:cTn id="45" dur="400"/>
                                        <p:tgtEl>
                                          <p:spTgt spid="34"/>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27"/>
                                        </p:tgtEl>
                                        <p:attrNameLst>
                                          <p:attrName>style.visibility</p:attrName>
                                        </p:attrNameLst>
                                      </p:cBhvr>
                                      <p:to>
                                        <p:strVal val="visible"/>
                                      </p:to>
                                    </p:set>
                                    <p:animEffect transition="in" filter="fade">
                                      <p:cBhvr>
                                        <p:cTn id="50" dur="400"/>
                                        <p:tgtEl>
                                          <p:spTgt spid="27"/>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28"/>
                                        </p:tgtEl>
                                        <p:attrNameLst>
                                          <p:attrName>style.visibility</p:attrName>
                                        </p:attrNameLst>
                                      </p:cBhvr>
                                      <p:to>
                                        <p:strVal val="visible"/>
                                      </p:to>
                                    </p:set>
                                    <p:animEffect transition="in" filter="fade">
                                      <p:cBhvr>
                                        <p:cTn id="55" dur="400"/>
                                        <p:tgtEl>
                                          <p:spTgt spid="28"/>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29"/>
                                        </p:tgtEl>
                                        <p:attrNameLst>
                                          <p:attrName>style.visibility</p:attrName>
                                        </p:attrNameLst>
                                      </p:cBhvr>
                                      <p:to>
                                        <p:strVal val="visible"/>
                                      </p:to>
                                    </p:set>
                                    <p:animEffect transition="in" filter="fade">
                                      <p:cBhvr>
                                        <p:cTn id="60" dur="400"/>
                                        <p:tgtEl>
                                          <p:spTgt spid="29"/>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32"/>
                                        </p:tgtEl>
                                        <p:attrNameLst>
                                          <p:attrName>style.visibility</p:attrName>
                                        </p:attrNameLst>
                                      </p:cBhvr>
                                      <p:to>
                                        <p:strVal val="visible"/>
                                      </p:to>
                                    </p:set>
                                    <p:animEffect transition="in" filter="fade">
                                      <p:cBhvr>
                                        <p:cTn id="63" dur="400"/>
                                        <p:tgtEl>
                                          <p:spTgt spid="3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35"/>
                                        </p:tgtEl>
                                        <p:attrNameLst>
                                          <p:attrName>style.visibility</p:attrName>
                                        </p:attrNameLst>
                                      </p:cBhvr>
                                      <p:to>
                                        <p:strVal val="visible"/>
                                      </p:to>
                                    </p:set>
                                    <p:animEffect transition="in" filter="fade">
                                      <p:cBhvr>
                                        <p:cTn id="66"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P spid="30" grpId="0"/>
      <p:bldP spid="33" grpId="0"/>
      <p:bldP spid="24" grpId="0" animBg="1"/>
      <p:bldP spid="25" grpId="0" animBg="1"/>
      <p:bldP spid="31" grpId="0"/>
      <p:bldP spid="26" grpId="0" animBg="1"/>
      <p:bldP spid="34" grpId="0"/>
      <p:bldP spid="27" grpId="0" animBg="1"/>
      <p:bldP spid="28" grpId="0" animBg="1"/>
      <p:bldP spid="29" grpId="0" animBg="1"/>
      <p:bldP spid="32" grpId="0"/>
      <p:bldP spid="35" grpId="0"/>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2"/>
          <p:cNvSpPr txBox="1"/>
          <p:nvPr>
            <p:ph idx="103" type="title" hasCustomPrompt="1"/>
          </p:nvPr>
        </p:nvSpPr>
        <p:spPr>
          <a:xfrm>
            <a:off x="685800" y="932688"/>
            <a:ext cx="7863840" cy="868680"/>
          </a:xfrm>
          <a:prstGeom prst="rect">
            <a:avLst/>
          </a:prstGeom>
          <a:noFill/>
          <a:ln/>
        </p:spPr>
        <p:txBody>
          <a:bodyPr wrap="square" lIns="0" tIns="0" rIns="0" bIns="0" rtlCol="0" anchor="t"/>
          <a:lstStyle/>
          <a:p>
            <a:pPr algn="l" indent="0" marL="0">
              <a:buNone/>
            </a:pPr>
            <a:r>
              <a:rPr lang="en-US" sz="2800" b="1" dirty="0">
                <a:solidFill>
                  <a:srgbClr val="14161B"/>
                </a:solidFill>
                <a:latin typeface="Trade Gothic Next" pitchFamily="34" charset="0"/>
                <a:ea typeface="Trade Gothic Next" pitchFamily="34" charset="-122"/>
                <a:cs typeface="Trade Gothic Next" pitchFamily="34" charset="-120"/>
              </a:rPr>
              <a:t>Example: Iron</a:t>
            </a:r>
            <a:endParaRPr lang="en-US" sz="2800" dirty="0"/>
          </a:p>
        </p:txBody>
      </p:sp>
      <p:sp>
        <p:nvSpPr>
          <p:cNvPr id="3" name="Text 2"/>
          <p:cNvSpPr txBox="1"/>
          <p:nvPr>
            <p:ph idx="104" type="body" hasCustomPrompt="1"/>
          </p:nvPr>
        </p:nvSpPr>
        <p:spPr>
          <a:xfrm>
            <a:off x="685800" y="1847088"/>
            <a:ext cx="7863840" cy="384048"/>
          </a:xfrm>
          <a:prstGeom prst="rect">
            <a:avLst/>
          </a:prstGeom>
          <a:noFill/>
          <a:ln/>
        </p:spPr>
        <p:txBody>
          <a:bodyPr wrap="square" lIns="0" tIns="0" rIns="0" bIns="0" rtlCol="0"/>
          <a:lstStyle/>
          <a:p>
            <a:pPr indent="0" marL="0">
              <a:buNone/>
            </a:pPr>
            <a:r>
              <a:rPr lang="en-US" sz="1700" dirty="0">
                <a:solidFill>
                  <a:srgbClr val="2E3338"/>
                </a:solidFill>
                <a:latin typeface="Trade Gothic Next" pitchFamily="34" charset="0"/>
                <a:ea typeface="Trade Gothic Next" pitchFamily="34" charset="-122"/>
                <a:cs typeface="Trade Gothic Next" pitchFamily="34" charset="-120"/>
              </a:rPr>
              <a:t>Configuration, orbital diagram, and the unpaired count.</a:t>
            </a:r>
            <a:endParaRPr lang="en-US" sz="1700" dirty="0"/>
          </a:p>
        </p:txBody>
      </p:sp>
      <p:sp>
        <p:nvSpPr>
          <p:cNvPr id="4" name="Text 6"/>
          <p:cNvSpPr txBox="1"/>
          <p:nvPr>
            <p:ph idx="110" type="body" hasCustomPrompt="1"/>
          </p:nvPr>
        </p:nvSpPr>
        <p:spPr>
          <a:xfrm>
            <a:off x="886968" y="2798064"/>
            <a:ext cx="4992624" cy="548640"/>
          </a:xfrm>
          <a:prstGeom prst="rect">
            <a:avLst/>
          </a:prstGeom>
          <a:noFill/>
          <a:ln/>
        </p:spPr>
        <p:txBody>
          <a:bodyPr wrap="square" lIns="0" tIns="0" rIns="0" bIns="0" rtlCol="0"/>
          <a:lstStyle/>
          <a:p>
            <a:pPr indent="0" marL="0">
              <a:buNone/>
            </a:pPr>
            <a:r>
              <a:rPr lang="en-US" sz="1600" dirty="0">
                <a:solidFill>
                  <a:srgbClr val="EDF0E5"/>
                </a:solidFill>
                <a:latin typeface="Trade Gothic Next" pitchFamily="34" charset="0"/>
                <a:ea typeface="Trade Gothic Next" pitchFamily="34" charset="-122"/>
                <a:cs typeface="Trade Gothic Next" pitchFamily="34" charset="-120"/>
              </a:rPr>
              <a:t>Write the configuration for iron and draw its 4s and 3d orbital diagram. How many unpaired electrons?</a:t>
            </a:r>
            <a:endParaRPr lang="en-US" sz="1600" dirty="0"/>
          </a:p>
        </p:txBody>
      </p:sp>
      <p:sp>
        <p:nvSpPr>
          <p:cNvPr id="5" name="Text 7"/>
          <p:cNvSpPr txBox="1"/>
          <p:nvPr>
            <p:ph idx="112" type="body" hasCustomPrompt="1"/>
          </p:nvPr>
        </p:nvSpPr>
        <p:spPr>
          <a:xfrm>
            <a:off x="886968" y="3776472"/>
            <a:ext cx="2203704" cy="219456"/>
          </a:xfrm>
          <a:prstGeom prst="rect">
            <a:avLst/>
          </a:prstGeom>
          <a:noFill/>
          <a:ln/>
        </p:spPr>
        <p:txBody>
          <a:bodyPr wrap="square" lIns="0" tIns="0" rIns="0" bIns="0" rtlCol="0"/>
          <a:lstStyle/>
          <a:p>
            <a:pPr indent="0" marL="0">
              <a:buNone/>
            </a:pPr>
            <a:r>
              <a:rPr lang="en-US" sz="1200" b="1" spc="120" kern="0" dirty="0">
                <a:solidFill>
                  <a:srgbClr val="2E3338"/>
                </a:solidFill>
                <a:latin typeface="Trade Gothic Next" pitchFamily="34" charset="0"/>
                <a:ea typeface="Trade Gothic Next" pitchFamily="34" charset="-122"/>
                <a:cs typeface="Trade Gothic Next" pitchFamily="34" charset="-120"/>
              </a:rPr>
              <a:t>GIVEN</a:t>
            </a:r>
            <a:endParaRPr lang="en-US" sz="1200" dirty="0"/>
          </a:p>
        </p:txBody>
      </p:sp>
      <p:sp>
        <p:nvSpPr>
          <p:cNvPr id="6" name="Text 7"/>
          <p:cNvSpPr txBox="1"/>
          <p:nvPr>
            <p:ph idx="113" type="body" hasCustomPrompt="1"/>
          </p:nvPr>
        </p:nvSpPr>
        <p:spPr>
          <a:xfrm>
            <a:off x="886968" y="4069080"/>
            <a:ext cx="2203704" cy="1078992"/>
          </a:xfrm>
          <a:prstGeom prst="rect">
            <a:avLst/>
          </a:prstGeom>
          <a:noFill/>
          <a:ln/>
        </p:spPr>
        <p:txBody>
          <a:bodyPr wrap="square" lIns="0" tIns="0" rIns="0" bIns="0" rtlCol="0"/>
          <a:lstStyle/>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Iron, Z = 26</a:t>
            </a:r>
            <a:endParaRPr lang="en-US" sz="1600" dirty="0"/>
          </a:p>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Neutral atom</a:t>
            </a:r>
            <a:endParaRPr lang="en-US" sz="1600" dirty="0"/>
          </a:p>
        </p:txBody>
      </p:sp>
      <p:sp>
        <p:nvSpPr>
          <p:cNvPr id="7" name="Text 8"/>
          <p:cNvSpPr txBox="1"/>
          <p:nvPr>
            <p:ph idx="115" type="body" hasCustomPrompt="1"/>
          </p:nvPr>
        </p:nvSpPr>
        <p:spPr>
          <a:xfrm>
            <a:off x="3675888" y="3776472"/>
            <a:ext cx="2203704" cy="219456"/>
          </a:xfrm>
          <a:prstGeom prst="rect">
            <a:avLst/>
          </a:prstGeom>
          <a:noFill/>
          <a:ln/>
        </p:spPr>
        <p:txBody>
          <a:bodyPr wrap="square" lIns="0" tIns="0" rIns="0" bIns="0" rtlCol="0"/>
          <a:lstStyle/>
          <a:p>
            <a:pPr indent="0" marL="0">
              <a:buNone/>
            </a:pPr>
            <a:r>
              <a:rPr lang="en-US" sz="1200" b="1" spc="120" kern="0" dirty="0">
                <a:solidFill>
                  <a:srgbClr val="2E3338"/>
                </a:solidFill>
                <a:latin typeface="Trade Gothic Next" pitchFamily="34" charset="0"/>
                <a:ea typeface="Trade Gothic Next" pitchFamily="34" charset="-122"/>
                <a:cs typeface="Trade Gothic Next" pitchFamily="34" charset="-120"/>
              </a:rPr>
              <a:t>NEED</a:t>
            </a:r>
            <a:endParaRPr lang="en-US" sz="1200" dirty="0"/>
          </a:p>
        </p:txBody>
      </p:sp>
      <p:sp>
        <p:nvSpPr>
          <p:cNvPr id="8" name="Text 8"/>
          <p:cNvSpPr txBox="1"/>
          <p:nvPr>
            <p:ph idx="116" type="body" hasCustomPrompt="1"/>
          </p:nvPr>
        </p:nvSpPr>
        <p:spPr>
          <a:xfrm>
            <a:off x="3675888" y="4069080"/>
            <a:ext cx="2203704" cy="1078992"/>
          </a:xfrm>
          <a:prstGeom prst="rect">
            <a:avLst/>
          </a:prstGeom>
          <a:noFill/>
          <a:ln/>
        </p:spPr>
        <p:txBody>
          <a:bodyPr wrap="square" lIns="0" tIns="0" rIns="0" bIns="0" rtlCol="0"/>
          <a:lstStyle/>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Longhand configuration</a:t>
            </a:r>
            <a:endParaRPr lang="en-US" sz="1600" dirty="0"/>
          </a:p>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Orbital diagram</a:t>
            </a:r>
            <a:endParaRPr lang="en-US" sz="1600" dirty="0"/>
          </a:p>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Unpaired electrons</a:t>
            </a:r>
            <a:endParaRPr lang="en-US" sz="1600" dirty="0"/>
          </a:p>
        </p:txBody>
      </p:sp>
      <p:sp>
        <p:nvSpPr>
          <p:cNvPr id="9" name="Text 10"/>
          <p:cNvSpPr txBox="1"/>
          <p:nvPr>
            <p:ph idx="119" type="body" hasCustomPrompt="1"/>
          </p:nvPr>
        </p:nvSpPr>
        <p:spPr>
          <a:xfrm>
            <a:off x="6464808" y="2880360"/>
            <a:ext cx="4837176" cy="2286000"/>
          </a:xfrm>
          <a:prstGeom prst="rect">
            <a:avLst/>
          </a:prstGeom>
          <a:noFill/>
          <a:ln/>
        </p:spPr>
        <p:txBody>
          <a:bodyPr wrap="square" lIns="0" tIns="0" rIns="0" bIns="0" rtlCol="0"/>
          <a:lstStyle/>
          <a:p>
            <a:pPr indent="0" marL="0">
              <a:buNone/>
            </a:pPr>
            <a:endParaRPr lang="en-US" sz="1900" dirty="0"/>
          </a:p>
        </p:txBody>
      </p:sp>
      <p:sp>
        <p:nvSpPr>
          <p:cNvPr id="10" name="Text 12"/>
          <p:cNvSpPr txBox="1"/>
          <p:nvPr>
            <p:ph idx="122" type="body" hasCustomPrompt="1"/>
          </p:nvPr>
        </p:nvSpPr>
        <p:spPr>
          <a:xfrm>
            <a:off x="2240280" y="5605272"/>
            <a:ext cx="8991295" cy="402336"/>
          </a:xfrm>
          <a:prstGeom prst="rect">
            <a:avLst/>
          </a:prstGeom>
          <a:noFill/>
          <a:ln/>
        </p:spPr>
        <p:txBody>
          <a:bodyPr wrap="square" lIns="0" tIns="0" rIns="0" bIns="0" rtlCol="0" anchor="ctr"/>
          <a:lstStyle/>
          <a:p>
            <a:pPr indent="0" marL="0">
              <a:buNone/>
            </a:pPr>
            <a:r>
              <a:rPr lang="en-US" sz="1600" b="1" dirty="0">
                <a:solidFill>
                  <a:srgbClr val="EDF0E5"/>
                </a:solidFill>
                <a:latin typeface="Trade Gothic Next" pitchFamily="34" charset="0"/>
                <a:ea typeface="Trade Gothic Next" pitchFamily="34" charset="-122"/>
                <a:cs typeface="Trade Gothic Next" pitchFamily="34" charset="-120"/>
              </a:rPr>
              <a:t>Fill 4s before 3d. We write 4s ahead of 3d.</a:t>
            </a:r>
            <a:endParaRPr lang="en-US" sz="1600" dirty="0"/>
          </a:p>
        </p:txBody>
      </p:sp>
      <p:sp>
        <p:nvSpPr>
          <p:cNvPr id="11" name="Text 1"/>
          <p:cNvSpPr txBox="1"/>
          <p:nvPr>
            <p:ph idx="101" type="body" hasCustomPrompt="1"/>
          </p:nvPr>
        </p:nvSpPr>
        <p:spPr>
          <a:xfrm>
            <a:off x="685800" y="384048"/>
            <a:ext cx="6400800" cy="237744"/>
          </a:xfrm>
          <a:prstGeom prst="rect">
            <a:avLst/>
          </a:prstGeom>
          <a:noFill/>
          <a:ln/>
        </p:spPr>
        <p:txBody>
          <a:bodyPr wrap="square" lIns="0" tIns="0" rIns="0" bIns="0" rtlCol="0" anchor="ctr"/>
          <a:lstStyle/>
          <a:p>
            <a:pPr indent="0" marL="0">
              <a:buNone/>
            </a:pPr>
            <a:r>
              <a:rPr lang="en-US" sz="1100" b="1" spc="160" kern="0" dirty="0">
                <a:solidFill>
                  <a:srgbClr val="14161B"/>
                </a:solidFill>
                <a:latin typeface="Trade Gothic Next" pitchFamily="34" charset="0"/>
                <a:ea typeface="Trade Gothic Next" pitchFamily="34" charset="-122"/>
                <a:cs typeface="Trade Gothic Next" pitchFamily="34" charset="-120"/>
              </a:rPr>
              <a:t>UNIT 02  •  CHEMISTRY</a:t>
            </a:r>
            <a:endParaRPr lang="en-US" sz="1100" dirty="0"/>
          </a:p>
        </p:txBody>
      </p:sp>
      <p:sp>
        <p:nvSpPr>
          <p:cNvPr id="12" name="Text 13"/>
          <p:cNvSpPr txBox="1"/>
          <p:nvPr>
            <p:ph idx="124" type="body" hasCustomPrompt="1"/>
          </p:nvPr>
        </p:nvSpPr>
        <p:spPr>
          <a:xfrm>
            <a:off x="8762695" y="6382512"/>
            <a:ext cx="2743200" cy="237744"/>
          </a:xfrm>
          <a:prstGeom prst="rect">
            <a:avLst/>
          </a:prstGeom>
          <a:noFill/>
          <a:ln/>
        </p:spPr>
        <p:txBody>
          <a:bodyPr wrap="square" lIns="0" tIns="0" rIns="0" bIns="0" rtlCol="0" anchor="ctr"/>
          <a:lstStyle/>
          <a:p>
            <a:pPr algn="r" indent="0" marL="0">
              <a:buNone/>
            </a:pPr>
            <a:r>
              <a:rPr lang="en-US" sz="1000" b="1" spc="140" kern="0" dirty="0">
                <a:solidFill>
                  <a:srgbClr val="2E3338"/>
                </a:solidFill>
                <a:latin typeface="Trade Gothic Next" pitchFamily="34" charset="0"/>
                <a:ea typeface="Trade Gothic Next" pitchFamily="34" charset="-122"/>
                <a:cs typeface="Trade Gothic Next" pitchFamily="34" charset="-120"/>
              </a:rPr>
              <a:t>U02 • S02.3</a:t>
            </a:r>
            <a:endParaRPr lang="en-US" sz="1000" dirty="0"/>
          </a:p>
        </p:txBody>
      </p:sp>
      <p:sp>
        <p:nvSpPr>
          <p:cNvPr id="14" name="Text 4"/>
          <p:cNvSpPr txBox="1"/>
          <p:nvPr>
            <p:ph idx="107" hasCustomPrompt="1"/>
          </p:nvPr>
        </p:nvSpPr>
        <p:spPr>
          <a:xfrm>
            <a:off x="9262872" y="1088136"/>
            <a:ext cx="1901952" cy="1069848"/>
          </a:xfrm>
          <a:prstGeom prst="rect">
            <a:avLst/>
          </a:prstGeom>
          <a:noFill/>
          <a:ln/>
        </p:spPr>
        <p:txBody>
          <a:bodyPr wrap="square" lIns="0" tIns="0" rIns="0" bIns="0" rtlCol="0" anchor="ctr"/>
          <a:lstStyle/>
          <a:p>
            <a:pPr algn="ctr" indent="0" marL="0">
              <a:buNone/>
            </a:pP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2"/>
          <p:cNvSpPr txBox="1"/>
          <p:nvPr>
            <p:ph idx="103" type="title" hasCustomPrompt="1"/>
          </p:nvPr>
        </p:nvSpPr>
        <p:spPr>
          <a:xfrm>
            <a:off x="685800" y="932688"/>
            <a:ext cx="10820095" cy="868680"/>
          </a:xfrm>
          <a:prstGeom prst="rect">
            <a:avLst/>
          </a:prstGeom>
          <a:noFill/>
          <a:ln/>
        </p:spPr>
        <p:txBody>
          <a:bodyPr wrap="square" lIns="0" tIns="0" rIns="0" bIns="0" rtlCol="0" anchor="t"/>
          <a:lstStyle/>
          <a:p>
            <a:pPr algn="l" indent="0" marL="0">
              <a:buNone/>
            </a:pPr>
            <a:r>
              <a:rPr lang="en-US" sz="2800" b="1" dirty="0">
                <a:solidFill>
                  <a:srgbClr val="14161B"/>
                </a:solidFill>
                <a:latin typeface="Trade Gothic Next" pitchFamily="34" charset="0"/>
                <a:ea typeface="Trade Gothic Next" pitchFamily="34" charset="-122"/>
                <a:cs typeface="Trade Gothic Next" pitchFamily="34" charset="-120"/>
              </a:rPr>
              <a:t>Iron, Worked</a:t>
            </a:r>
            <a:endParaRPr lang="en-US" sz="2800" dirty="0"/>
          </a:p>
        </p:txBody>
      </p:sp>
      <p:sp>
        <p:nvSpPr>
          <p:cNvPr id="3" name="Text 2"/>
          <p:cNvSpPr txBox="1"/>
          <p:nvPr>
            <p:ph idx="104" type="body" hasCustomPrompt="1"/>
          </p:nvPr>
        </p:nvSpPr>
        <p:spPr>
          <a:xfrm>
            <a:off x="685800" y="1847088"/>
            <a:ext cx="10820095" cy="384048"/>
          </a:xfrm>
          <a:prstGeom prst="rect">
            <a:avLst/>
          </a:prstGeom>
          <a:noFill/>
          <a:ln/>
        </p:spPr>
        <p:txBody>
          <a:bodyPr wrap="square" lIns="0" tIns="0" rIns="0" bIns="0" rtlCol="0"/>
          <a:lstStyle/>
          <a:p>
            <a:pPr indent="0" marL="0">
              <a:buNone/>
            </a:pPr>
            <a:r>
              <a:rPr lang="en-US" sz="1700" dirty="0">
                <a:solidFill>
                  <a:srgbClr val="2E3338"/>
                </a:solidFill>
                <a:latin typeface="Trade Gothic Next" pitchFamily="34" charset="0"/>
                <a:ea typeface="Trade Gothic Next" pitchFamily="34" charset="-122"/>
                <a:cs typeface="Trade Gothic Next" pitchFamily="34" charset="-120"/>
              </a:rPr>
              <a:t>The first 18 fill through 3p. Then 4s, then 3d.</a:t>
            </a:r>
            <a:endParaRPr lang="en-US" sz="1700" dirty="0"/>
          </a:p>
        </p:txBody>
      </p:sp>
      <p:sp>
        <p:nvSpPr>
          <p:cNvPr id="4" name="Text 5"/>
          <p:cNvSpPr txBox="1"/>
          <p:nvPr>
            <p:ph idx="109" type="body" hasCustomPrompt="1"/>
          </p:nvPr>
        </p:nvSpPr>
        <p:spPr>
          <a:xfrm>
            <a:off x="5276088" y="2560320"/>
            <a:ext cx="2752344" cy="219456"/>
          </a:xfrm>
          <a:prstGeom prst="rect">
            <a:avLst/>
          </a:prstGeom>
          <a:noFill/>
          <a:ln/>
        </p:spPr>
        <p:txBody>
          <a:bodyPr wrap="square" lIns="0" tIns="0" rIns="0" bIns="0" rtlCol="0"/>
          <a:lstStyle/>
          <a:p>
            <a:pPr indent="0" marL="0">
              <a:buNone/>
            </a:pPr>
            <a:r>
              <a:rPr lang="en-US" sz="1200" b="1" spc="120" kern="0" dirty="0">
                <a:solidFill>
                  <a:srgbClr val="2E3338"/>
                </a:solidFill>
                <a:latin typeface="Trade Gothic Next" pitchFamily="34" charset="0"/>
                <a:ea typeface="Trade Gothic Next" pitchFamily="34" charset="-122"/>
                <a:cs typeface="Trade Gothic Next" pitchFamily="34" charset="-120"/>
              </a:rPr>
              <a:t>LONGHAND</a:t>
            </a:r>
            <a:endParaRPr lang="en-US" sz="1200" dirty="0"/>
          </a:p>
        </p:txBody>
      </p:sp>
      <p:sp>
        <p:nvSpPr>
          <p:cNvPr id="5" name="Text 5"/>
          <p:cNvSpPr txBox="1"/>
          <p:nvPr>
            <p:ph idx="110" type="body" hasCustomPrompt="1"/>
          </p:nvPr>
        </p:nvSpPr>
        <p:spPr>
          <a:xfrm>
            <a:off x="5276088" y="2852928"/>
            <a:ext cx="2752344" cy="1901952"/>
          </a:xfrm>
          <a:prstGeom prst="rect">
            <a:avLst/>
          </a:prstGeom>
          <a:noFill/>
          <a:ln/>
        </p:spPr>
        <p:txBody>
          <a:bodyPr wrap="square" lIns="0" tIns="0" rIns="0" bIns="0" rtlCol="0"/>
          <a:lstStyle/>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1s</a:t>
            </a:r>
            <a:pPr indent="0" marL="0">
              <a:buNone/>
            </a:pPr>
            <a:r>
              <a:rPr lang="en-US" sz="1600" baseline="30000" dirty="0">
                <a:solidFill>
                  <a:srgbClr val="14161B"/>
                </a:solidFill>
                <a:latin typeface="Trade Gothic Next" pitchFamily="34" charset="0"/>
                <a:ea typeface="Trade Gothic Next" pitchFamily="34" charset="-122"/>
                <a:cs typeface="Trade Gothic Next" pitchFamily="34" charset="-120"/>
              </a:rPr>
              <a:t>2</a:t>
            </a:r>
            <a:pPr indent="0" marL="0">
              <a:buNone/>
            </a:pPr>
            <a:r>
              <a:rPr lang="en-US" sz="1600" dirty="0">
                <a:solidFill>
                  <a:srgbClr val="14161B"/>
                </a:solidFill>
                <a:latin typeface="Trade Gothic Next" pitchFamily="34" charset="0"/>
                <a:ea typeface="Trade Gothic Next" pitchFamily="34" charset="-122"/>
                <a:cs typeface="Trade Gothic Next" pitchFamily="34" charset="-120"/>
              </a:rPr>
              <a:t> 2s</a:t>
            </a:r>
            <a:pPr indent="0" marL="0">
              <a:buNone/>
            </a:pPr>
            <a:r>
              <a:rPr lang="en-US" sz="1600" baseline="30000" dirty="0">
                <a:solidFill>
                  <a:srgbClr val="14161B"/>
                </a:solidFill>
                <a:latin typeface="Trade Gothic Next" pitchFamily="34" charset="0"/>
                <a:ea typeface="Trade Gothic Next" pitchFamily="34" charset="-122"/>
                <a:cs typeface="Trade Gothic Next" pitchFamily="34" charset="-120"/>
              </a:rPr>
              <a:t>2</a:t>
            </a:r>
            <a:pPr indent="0" marL="0">
              <a:buNone/>
            </a:pPr>
            <a:r>
              <a:rPr lang="en-US" sz="1600" dirty="0">
                <a:solidFill>
                  <a:srgbClr val="14161B"/>
                </a:solidFill>
                <a:latin typeface="Trade Gothic Next" pitchFamily="34" charset="0"/>
                <a:ea typeface="Trade Gothic Next" pitchFamily="34" charset="-122"/>
                <a:cs typeface="Trade Gothic Next" pitchFamily="34" charset="-120"/>
              </a:rPr>
              <a:t> 2p</a:t>
            </a:r>
            <a:pPr indent="0" marL="0">
              <a:buNone/>
            </a:pPr>
            <a:r>
              <a:rPr lang="en-US" sz="1600" baseline="30000" dirty="0">
                <a:solidFill>
                  <a:srgbClr val="14161B"/>
                </a:solidFill>
                <a:latin typeface="Trade Gothic Next" pitchFamily="34" charset="0"/>
                <a:ea typeface="Trade Gothic Next" pitchFamily="34" charset="-122"/>
                <a:cs typeface="Trade Gothic Next" pitchFamily="34" charset="-120"/>
              </a:rPr>
              <a:t>6</a:t>
            </a:r>
            <a:pPr indent="0" marL="0">
              <a:buNone/>
            </a:pPr>
            <a:r>
              <a:rPr lang="en-US" sz="1600" dirty="0">
                <a:solidFill>
                  <a:srgbClr val="14161B"/>
                </a:solidFill>
                <a:latin typeface="Trade Gothic Next" pitchFamily="34" charset="0"/>
                <a:ea typeface="Trade Gothic Next" pitchFamily="34" charset="-122"/>
                <a:cs typeface="Trade Gothic Next" pitchFamily="34" charset="-120"/>
              </a:rPr>
              <a:t> 3s</a:t>
            </a:r>
            <a:pPr indent="0" marL="0">
              <a:buNone/>
            </a:pPr>
            <a:r>
              <a:rPr lang="en-US" sz="1600" baseline="30000" dirty="0">
                <a:solidFill>
                  <a:srgbClr val="14161B"/>
                </a:solidFill>
                <a:latin typeface="Trade Gothic Next" pitchFamily="34" charset="0"/>
                <a:ea typeface="Trade Gothic Next" pitchFamily="34" charset="-122"/>
                <a:cs typeface="Trade Gothic Next" pitchFamily="34" charset="-120"/>
              </a:rPr>
              <a:t>2</a:t>
            </a:r>
            <a:pPr indent="0" marL="0">
              <a:buNone/>
            </a:pPr>
            <a:r>
              <a:rPr lang="en-US" sz="1600" dirty="0">
                <a:solidFill>
                  <a:srgbClr val="14161B"/>
                </a:solidFill>
                <a:latin typeface="Trade Gothic Next" pitchFamily="34" charset="0"/>
                <a:ea typeface="Trade Gothic Next" pitchFamily="34" charset="-122"/>
                <a:cs typeface="Trade Gothic Next" pitchFamily="34" charset="-120"/>
              </a:rPr>
              <a:t> 3p</a:t>
            </a:r>
            <a:pPr indent="0" marL="0">
              <a:buNone/>
            </a:pPr>
            <a:r>
              <a:rPr lang="en-US" sz="1600" baseline="30000" dirty="0">
                <a:solidFill>
                  <a:srgbClr val="14161B"/>
                </a:solidFill>
                <a:latin typeface="Trade Gothic Next" pitchFamily="34" charset="0"/>
                <a:ea typeface="Trade Gothic Next" pitchFamily="34" charset="-122"/>
                <a:cs typeface="Trade Gothic Next" pitchFamily="34" charset="-120"/>
              </a:rPr>
              <a:t>6</a:t>
            </a:r>
            <a:endParaRPr lang="en-US" sz="1600" dirty="0"/>
          </a:p>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4s</a:t>
            </a:r>
            <a:pPr indent="0" marL="0">
              <a:buNone/>
            </a:pPr>
            <a:r>
              <a:rPr lang="en-US" sz="1600" baseline="30000" dirty="0">
                <a:solidFill>
                  <a:srgbClr val="14161B"/>
                </a:solidFill>
                <a:latin typeface="Trade Gothic Next" pitchFamily="34" charset="0"/>
                <a:ea typeface="Trade Gothic Next" pitchFamily="34" charset="-122"/>
                <a:cs typeface="Trade Gothic Next" pitchFamily="34" charset="-120"/>
              </a:rPr>
              <a:t>2</a:t>
            </a:r>
            <a:pPr indent="0" marL="0">
              <a:buNone/>
            </a:pPr>
            <a:r>
              <a:rPr lang="en-US" sz="1600" dirty="0">
                <a:solidFill>
                  <a:srgbClr val="14161B"/>
                </a:solidFill>
                <a:latin typeface="Trade Gothic Next" pitchFamily="34" charset="0"/>
                <a:ea typeface="Trade Gothic Next" pitchFamily="34" charset="-122"/>
                <a:cs typeface="Trade Gothic Next" pitchFamily="34" charset="-120"/>
              </a:rPr>
              <a:t> 3d</a:t>
            </a:r>
            <a:pPr indent="0" marL="0">
              <a:buNone/>
            </a:pPr>
            <a:r>
              <a:rPr lang="en-US" sz="1600" baseline="30000" dirty="0">
                <a:solidFill>
                  <a:srgbClr val="14161B"/>
                </a:solidFill>
                <a:latin typeface="Trade Gothic Next" pitchFamily="34" charset="0"/>
                <a:ea typeface="Trade Gothic Next" pitchFamily="34" charset="-122"/>
                <a:cs typeface="Trade Gothic Next" pitchFamily="34" charset="-120"/>
              </a:rPr>
              <a:t>6</a:t>
            </a:r>
            <a:endParaRPr lang="en-US" sz="1600" dirty="0"/>
          </a:p>
        </p:txBody>
      </p:sp>
      <p:sp>
        <p:nvSpPr>
          <p:cNvPr id="6" name="Text 7"/>
          <p:cNvSpPr txBox="1"/>
          <p:nvPr>
            <p:ph idx="113" type="body" hasCustomPrompt="1"/>
          </p:nvPr>
        </p:nvSpPr>
        <p:spPr>
          <a:xfrm>
            <a:off x="8613648" y="2871216"/>
            <a:ext cx="2688336" cy="1920240"/>
          </a:xfrm>
          <a:prstGeom prst="rect">
            <a:avLst/>
          </a:prstGeom>
          <a:noFill/>
          <a:ln/>
        </p:spPr>
        <p:txBody>
          <a:bodyPr wrap="square" lIns="0" tIns="0" rIns="0" bIns="0" rtlCol="0"/>
          <a:lstStyle/>
          <a:p>
            <a:pPr indent="0" marL="0">
              <a:buNone/>
            </a:pPr>
            <a:r>
              <a:rPr lang="en-US" sz="1900" dirty="0">
                <a:solidFill>
                  <a:srgbClr val="14161B"/>
                </a:solidFill>
                <a:latin typeface="Trade Gothic Next" pitchFamily="34" charset="0"/>
                <a:ea typeface="Trade Gothic Next" pitchFamily="34" charset="-122"/>
                <a:cs typeface="Trade Gothic Next" pitchFamily="34" charset="-120"/>
              </a:rPr>
              <a:t>[Ar] 4s</a:t>
            </a:r>
            <a:pPr indent="0" marL="0">
              <a:buNone/>
            </a:pPr>
            <a:r>
              <a:rPr lang="en-US" sz="1900" baseline="30000" dirty="0">
                <a:solidFill>
                  <a:srgbClr val="14161B"/>
                </a:solidFill>
                <a:latin typeface="Trade Gothic Next" pitchFamily="34" charset="0"/>
                <a:ea typeface="Trade Gothic Next" pitchFamily="34" charset="-122"/>
                <a:cs typeface="Trade Gothic Next" pitchFamily="34" charset="-120"/>
              </a:rPr>
              <a:t>2</a:t>
            </a:r>
            <a:pPr indent="0" marL="0">
              <a:buNone/>
            </a:pPr>
            <a:r>
              <a:rPr lang="en-US" sz="1900" dirty="0">
                <a:solidFill>
                  <a:srgbClr val="14161B"/>
                </a:solidFill>
                <a:latin typeface="Trade Gothic Next" pitchFamily="34" charset="0"/>
                <a:ea typeface="Trade Gothic Next" pitchFamily="34" charset="-122"/>
                <a:cs typeface="Trade Gothic Next" pitchFamily="34" charset="-120"/>
              </a:rPr>
              <a:t> 3d</a:t>
            </a:r>
            <a:pPr indent="0" marL="0">
              <a:buNone/>
            </a:pPr>
            <a:r>
              <a:rPr lang="en-US" sz="1900" baseline="30000" dirty="0">
                <a:solidFill>
                  <a:srgbClr val="14161B"/>
                </a:solidFill>
                <a:latin typeface="Trade Gothic Next" pitchFamily="34" charset="0"/>
                <a:ea typeface="Trade Gothic Next" pitchFamily="34" charset="-122"/>
                <a:cs typeface="Trade Gothic Next" pitchFamily="34" charset="-120"/>
              </a:rPr>
              <a:t>6</a:t>
            </a:r>
            <a:endParaRPr lang="en-US" sz="1900" dirty="0"/>
          </a:p>
          <a:p>
            <a:pPr indent="0" marL="0">
              <a:buNone/>
            </a:pPr>
            <a:r>
              <a:rPr lang="en-US" sz="1900" dirty="0">
                <a:solidFill>
                  <a:srgbClr val="14161B"/>
                </a:solidFill>
                <a:latin typeface="Trade Gothic Next" pitchFamily="34" charset="0"/>
                <a:ea typeface="Trade Gothic Next" pitchFamily="34" charset="-122"/>
                <a:cs typeface="Trade Gothic Next" pitchFamily="34" charset="-120"/>
              </a:rPr>
              <a:t>18 + 2 + 6 = 26</a:t>
            </a:r>
            <a:endParaRPr lang="en-US" sz="1900" dirty="0"/>
          </a:p>
          <a:p>
            <a:pPr indent="0" marL="0">
              <a:buNone/>
            </a:pPr>
            <a:r>
              <a:rPr lang="en-US" sz="1900" dirty="0">
                <a:solidFill>
                  <a:srgbClr val="14161B"/>
                </a:solidFill>
                <a:latin typeface="Trade Gothic Next" pitchFamily="34" charset="0"/>
                <a:ea typeface="Trade Gothic Next" pitchFamily="34" charset="-122"/>
                <a:cs typeface="Trade Gothic Next" pitchFamily="34" charset="-120"/>
              </a:rPr>
              <a:t>Unpaired: 4</a:t>
            </a:r>
            <a:endParaRPr lang="en-US" sz="1900" dirty="0"/>
          </a:p>
        </p:txBody>
      </p:sp>
      <p:sp>
        <p:nvSpPr>
          <p:cNvPr id="7" name="Text 9"/>
          <p:cNvSpPr txBox="1"/>
          <p:nvPr>
            <p:ph idx="116" type="body" hasCustomPrompt="1"/>
          </p:nvPr>
        </p:nvSpPr>
        <p:spPr>
          <a:xfrm>
            <a:off x="2240280" y="5212080"/>
            <a:ext cx="8991295" cy="402336"/>
          </a:xfrm>
          <a:prstGeom prst="rect">
            <a:avLst/>
          </a:prstGeom>
          <a:noFill/>
          <a:ln/>
        </p:spPr>
        <p:txBody>
          <a:bodyPr wrap="square" lIns="0" tIns="0" rIns="0" bIns="0" rtlCol="0" anchor="ctr"/>
          <a:lstStyle/>
          <a:p>
            <a:pPr indent="0" marL="0">
              <a:buNone/>
            </a:pPr>
            <a:r>
              <a:rPr lang="en-US" sz="1600" b="1" dirty="0">
                <a:solidFill>
                  <a:srgbClr val="EDF0E5"/>
                </a:solidFill>
                <a:latin typeface="Trade Gothic Next" pitchFamily="34" charset="0"/>
                <a:ea typeface="Trade Gothic Next" pitchFamily="34" charset="-122"/>
                <a:cs typeface="Trade Gothic Next" pitchFamily="34" charset="-120"/>
              </a:rPr>
              <a:t>Fe ends 4s</a:t>
            </a:r>
            <a:pPr indent="0" marL="0">
              <a:buNone/>
            </a:pPr>
            <a:r>
              <a:rPr lang="en-US" sz="1600" b="1" baseline="30000" dirty="0">
                <a:solidFill>
                  <a:srgbClr val="EDF0E5"/>
                </a:solidFill>
                <a:latin typeface="Trade Gothic Next" pitchFamily="34" charset="0"/>
                <a:ea typeface="Trade Gothic Next" pitchFamily="34" charset="-122"/>
                <a:cs typeface="Trade Gothic Next" pitchFamily="34" charset="-120"/>
              </a:rPr>
              <a:t>2</a:t>
            </a:r>
            <a:pPr indent="0" marL="0">
              <a:buNone/>
            </a:pPr>
            <a:r>
              <a:rPr lang="en-US" sz="1600" b="1" dirty="0">
                <a:solidFill>
                  <a:srgbClr val="EDF0E5"/>
                </a:solidFill>
                <a:latin typeface="Trade Gothic Next" pitchFamily="34" charset="0"/>
                <a:ea typeface="Trade Gothic Next" pitchFamily="34" charset="-122"/>
                <a:cs typeface="Trade Gothic Next" pitchFamily="34" charset="-120"/>
              </a:rPr>
              <a:t> 3d</a:t>
            </a:r>
            <a:pPr indent="0" marL="0">
              <a:buNone/>
            </a:pPr>
            <a:r>
              <a:rPr lang="en-US" sz="1600" b="1" baseline="30000" dirty="0">
                <a:solidFill>
                  <a:srgbClr val="EDF0E5"/>
                </a:solidFill>
                <a:latin typeface="Trade Gothic Next" pitchFamily="34" charset="0"/>
                <a:ea typeface="Trade Gothic Next" pitchFamily="34" charset="-122"/>
                <a:cs typeface="Trade Gothic Next" pitchFamily="34" charset="-120"/>
              </a:rPr>
              <a:t>6</a:t>
            </a:r>
            <a:pPr indent="0" marL="0">
              <a:buNone/>
            </a:pPr>
            <a:r>
              <a:rPr lang="en-US" sz="1600" b="1" dirty="0">
                <a:solidFill>
                  <a:srgbClr val="EDF0E5"/>
                </a:solidFill>
                <a:latin typeface="Trade Gothic Next" pitchFamily="34" charset="0"/>
                <a:ea typeface="Trade Gothic Next" pitchFamily="34" charset="-122"/>
                <a:cs typeface="Trade Gothic Next" pitchFamily="34" charset="-120"/>
              </a:rPr>
              <a:t>: one pair and 4 singles in the 3d boxes.</a:t>
            </a:r>
            <a:endParaRPr lang="en-US" sz="1600" dirty="0"/>
          </a:p>
        </p:txBody>
      </p:sp>
      <p:sp>
        <p:nvSpPr>
          <p:cNvPr id="8" name="Text 1"/>
          <p:cNvSpPr txBox="1"/>
          <p:nvPr>
            <p:ph idx="101" type="body" hasCustomPrompt="1"/>
          </p:nvPr>
        </p:nvSpPr>
        <p:spPr>
          <a:xfrm>
            <a:off x="685800" y="384048"/>
            <a:ext cx="6400800" cy="237744"/>
          </a:xfrm>
          <a:prstGeom prst="rect">
            <a:avLst/>
          </a:prstGeom>
          <a:noFill/>
          <a:ln/>
        </p:spPr>
        <p:txBody>
          <a:bodyPr wrap="square" lIns="0" tIns="0" rIns="0" bIns="0" rtlCol="0" anchor="ctr"/>
          <a:lstStyle/>
          <a:p>
            <a:pPr indent="0" marL="0">
              <a:buNone/>
            </a:pPr>
            <a:r>
              <a:rPr lang="en-US" sz="1100" b="1" spc="160" kern="0" dirty="0">
                <a:solidFill>
                  <a:srgbClr val="14161B"/>
                </a:solidFill>
                <a:latin typeface="Trade Gothic Next" pitchFamily="34" charset="0"/>
                <a:ea typeface="Trade Gothic Next" pitchFamily="34" charset="-122"/>
                <a:cs typeface="Trade Gothic Next" pitchFamily="34" charset="-120"/>
              </a:rPr>
              <a:t>UNIT 02  •  CHEMISTRY</a:t>
            </a:r>
            <a:endParaRPr lang="en-US" sz="1100" dirty="0"/>
          </a:p>
        </p:txBody>
      </p:sp>
      <p:sp>
        <p:nvSpPr>
          <p:cNvPr id="9" name="Text 10"/>
          <p:cNvSpPr txBox="1"/>
          <p:nvPr>
            <p:ph idx="118" type="body" hasCustomPrompt="1"/>
          </p:nvPr>
        </p:nvSpPr>
        <p:spPr>
          <a:xfrm>
            <a:off x="8762695" y="6382512"/>
            <a:ext cx="2743200" cy="237744"/>
          </a:xfrm>
          <a:prstGeom prst="rect">
            <a:avLst/>
          </a:prstGeom>
          <a:noFill/>
          <a:ln/>
        </p:spPr>
        <p:txBody>
          <a:bodyPr wrap="square" lIns="0" tIns="0" rIns="0" bIns="0" rtlCol="0" anchor="ctr"/>
          <a:lstStyle/>
          <a:p>
            <a:pPr algn="r" indent="0" marL="0">
              <a:buNone/>
            </a:pPr>
            <a:r>
              <a:rPr lang="en-US" sz="1000" b="1" spc="140" kern="0" dirty="0">
                <a:solidFill>
                  <a:srgbClr val="2E3338"/>
                </a:solidFill>
                <a:latin typeface="Trade Gothic Next" pitchFamily="34" charset="0"/>
                <a:ea typeface="Trade Gothic Next" pitchFamily="34" charset="-122"/>
                <a:cs typeface="Trade Gothic Next" pitchFamily="34" charset="-120"/>
              </a:rPr>
              <a:t>U02 • S02.3</a:t>
            </a:r>
            <a:endParaRPr lang="en-US" sz="1000" dirty="0"/>
          </a:p>
        </p:txBody>
      </p:sp>
      <p:sp>
        <p:nvSpPr>
          <p:cNvPr id="11" name="Text 4"/>
          <p:cNvSpPr txBox="1"/>
          <p:nvPr>
            <p:ph idx="107" hasCustomPrompt="1"/>
          </p:nvPr>
        </p:nvSpPr>
        <p:spPr>
          <a:xfrm>
            <a:off x="832104" y="2542032"/>
            <a:ext cx="3867912" cy="2267712"/>
          </a:xfrm>
          <a:prstGeom prst="rect">
            <a:avLst/>
          </a:prstGeom>
          <a:noFill/>
          <a:ln/>
        </p:spPr>
        <p:txBody>
          <a:bodyPr wrap="square" lIns="0" tIns="0" rIns="0" bIns="0" rtlCol="0" anchor="ctr"/>
          <a:lstStyle/>
          <a:p>
            <a:pPr algn="ctr" indent="0" marL="0">
              <a:buNone/>
            </a:pPr>
            <a:endParaRPr lang="en-US" sz="1200" dirty="0"/>
          </a:p>
        </p:txBody>
      </p:sp>
      <p:sp>
        <p:nvSpPr>
          <p:cNvPr id="12" name="BUILD backdrop"/>
          <p:cNvSpPr/>
          <p:nvPr/>
        </p:nvSpPr>
        <p:spPr>
          <a:xfrm>
            <a:off x="832104" y="2542032"/>
            <a:ext cx="3867912" cy="226771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10" name="BUILD boxes and labels" descr="Orbital diagram of iron, [Ar] core not drawn. 4s: one box, one pair. 3d: five boxes, one pair and four single up arrows."/>
          <p:cNvGrpSpPr/>
          <p:nvPr/>
        </p:nvGrpSpPr>
        <p:grpSpPr>
          <a:xfrm>
            <a:off x="941832" y="2658618"/>
            <a:ext cx="3648456" cy="1156715"/>
            <a:chOff x="941832" y="2658618"/>
            <a:chExt cx="3648456" cy="1156715"/>
          </a:xfrm>
        </p:grpSpPr>
        <p:sp>
          <p:nvSpPr>
            <p:cNvPr id="13" name="BUILD title"/>
            <p:cNvSpPr txBox="1"/>
            <p:nvPr/>
          </p:nvSpPr>
          <p:spPr>
            <a:xfrm>
              <a:off x="941832" y="2658618"/>
              <a:ext cx="3648456" cy="274320"/>
            </a:xfrm>
            <a:prstGeom prst="rect">
              <a:avLst/>
            </a:prstGeom>
            <a:noFill/>
          </p:spPr>
          <p:txBody>
            <a:bodyPr wrap="square" lIns="0" rIns="0" tIns="0" bIns="0" anchor="ctr">
              <a:spAutoFit/>
            </a:bodyPr>
            <a:lstStyle/>
            <a:p>
              <a:pPr algn="ctr"/>
              <a:r>
                <a:rPr sz="1800" b="1">
                  <a:solidFill>
                    <a:srgbClr val="14161B"/>
                  </a:solidFill>
                  <a:latin typeface="Trade Gothic Next"/>
                </a:rPr>
                <a:t>IRON  Z = 26</a:t>
              </a:r>
            </a:p>
          </p:txBody>
        </p:sp>
        <p:sp>
          <p:nvSpPr>
            <p:cNvPr id="14" name="BUILD box 4s 1"/>
            <p:cNvSpPr/>
            <p:nvPr/>
          </p:nvSpPr>
          <p:spPr>
            <a:xfrm>
              <a:off x="941832" y="2969513"/>
              <a:ext cx="534924" cy="534924"/>
            </a:xfrm>
            <a:prstGeom prst="rect">
              <a:avLst/>
            </a:prstGeom>
            <a:solidFill>
              <a:srgbClr val="FFFFFF"/>
            </a:solidFill>
            <a:ln w="28575">
              <a:solidFill>
                <a:srgbClr val="1416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BUILD label 4s"/>
            <p:cNvSpPr txBox="1"/>
            <p:nvPr/>
          </p:nvSpPr>
          <p:spPr>
            <a:xfrm>
              <a:off x="1035263" y="3541013"/>
              <a:ext cx="281874" cy="274320"/>
            </a:xfrm>
            <a:prstGeom prst="rect">
              <a:avLst/>
            </a:prstGeom>
            <a:noFill/>
          </p:spPr>
          <p:txBody>
            <a:bodyPr wrap="none" lIns="0" rIns="0" tIns="0" bIns="0" anchor="ctr">
              <a:spAutoFit/>
            </a:bodyPr>
            <a:lstStyle/>
            <a:p>
              <a:pPr algn="l"/>
              <a:r>
                <a:rPr sz="1800" b="1">
                  <a:solidFill>
                    <a:srgbClr val="14161B"/>
                  </a:solidFill>
                  <a:latin typeface="Trade Gothic Next"/>
                </a:rPr>
                <a:t>4s</a:t>
              </a:r>
            </a:p>
          </p:txBody>
        </p:sp>
        <p:sp>
          <p:nvSpPr>
            <p:cNvPr id="16" name="BUILD box 3d 1"/>
            <p:cNvSpPr/>
            <p:nvPr/>
          </p:nvSpPr>
          <p:spPr>
            <a:xfrm>
              <a:off x="1732788" y="2969513"/>
              <a:ext cx="534924" cy="534924"/>
            </a:xfrm>
            <a:prstGeom prst="rect">
              <a:avLst/>
            </a:prstGeom>
            <a:solidFill>
              <a:srgbClr val="FFFFFF"/>
            </a:solidFill>
            <a:ln w="28575">
              <a:solidFill>
                <a:srgbClr val="1416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UILD box 3d 2"/>
            <p:cNvSpPr/>
            <p:nvPr/>
          </p:nvSpPr>
          <p:spPr>
            <a:xfrm>
              <a:off x="2313432" y="2969513"/>
              <a:ext cx="534924" cy="534924"/>
            </a:xfrm>
            <a:prstGeom prst="rect">
              <a:avLst/>
            </a:prstGeom>
            <a:solidFill>
              <a:srgbClr val="FFFFFF"/>
            </a:solidFill>
            <a:ln w="28575">
              <a:solidFill>
                <a:srgbClr val="1416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UILD box 3d 3"/>
            <p:cNvSpPr/>
            <p:nvPr/>
          </p:nvSpPr>
          <p:spPr>
            <a:xfrm>
              <a:off x="2894076" y="2969513"/>
              <a:ext cx="534924" cy="534924"/>
            </a:xfrm>
            <a:prstGeom prst="rect">
              <a:avLst/>
            </a:prstGeom>
            <a:solidFill>
              <a:srgbClr val="FFFFFF"/>
            </a:solidFill>
            <a:ln w="28575">
              <a:solidFill>
                <a:srgbClr val="1416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BUILD box 3d 4"/>
            <p:cNvSpPr/>
            <p:nvPr/>
          </p:nvSpPr>
          <p:spPr>
            <a:xfrm>
              <a:off x="3474720" y="2969513"/>
              <a:ext cx="534924" cy="534924"/>
            </a:xfrm>
            <a:prstGeom prst="rect">
              <a:avLst/>
            </a:prstGeom>
            <a:solidFill>
              <a:srgbClr val="FFFFFF"/>
            </a:solidFill>
            <a:ln w="28575">
              <a:solidFill>
                <a:srgbClr val="1416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BUILD box 3d 5"/>
            <p:cNvSpPr/>
            <p:nvPr/>
          </p:nvSpPr>
          <p:spPr>
            <a:xfrm>
              <a:off x="4055364" y="2969513"/>
              <a:ext cx="534924" cy="534924"/>
            </a:xfrm>
            <a:prstGeom prst="rect">
              <a:avLst/>
            </a:prstGeom>
            <a:solidFill>
              <a:srgbClr val="FFFFFF"/>
            </a:solidFill>
            <a:ln w="28575">
              <a:solidFill>
                <a:srgbClr val="1416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UILD label 3d"/>
            <p:cNvSpPr txBox="1"/>
            <p:nvPr/>
          </p:nvSpPr>
          <p:spPr>
            <a:xfrm>
              <a:off x="2981685" y="3541013"/>
              <a:ext cx="293518" cy="274320"/>
            </a:xfrm>
            <a:prstGeom prst="rect">
              <a:avLst/>
            </a:prstGeom>
            <a:noFill/>
          </p:spPr>
          <p:txBody>
            <a:bodyPr wrap="none" lIns="0" rIns="0" tIns="0" bIns="0" anchor="ctr">
              <a:spAutoFit/>
            </a:bodyPr>
            <a:lstStyle/>
            <a:p>
              <a:pPr algn="l"/>
              <a:r>
                <a:rPr sz="1800" b="1">
                  <a:solidFill>
                    <a:srgbClr val="14161B"/>
                  </a:solidFill>
                  <a:latin typeface="Trade Gothic Next"/>
                </a:rPr>
                <a:t>3d</a:t>
              </a:r>
            </a:p>
          </p:txBody>
        </p:sp>
      </p:grpSp>
      <p:sp>
        <p:nvSpPr>
          <p:cNvPr id="22" name="BUILD arrow 4s box1 up" descr="">
            <a:extLst>
              <a:ext uri="{C183D7F6-B498-43B3-948B-1728B52AA6E4}">
                <adec:decorative xmlns:adec="http://schemas.microsoft.com/office/drawing/2017/decorative" val="1"/>
              </a:ext>
            </a:extLst>
          </p:cNvPr>
          <p:cNvSpPr/>
          <p:nvPr/>
        </p:nvSpPr>
        <p:spPr>
          <a:xfrm>
            <a:off x="1035443" y="3071149"/>
            <a:ext cx="133731" cy="331652"/>
          </a:xfrm>
          <a:prstGeom prst="upArrow">
            <a:avLst>
              <a:gd name="adj1" fmla="val 34000"/>
              <a:gd name="adj2" fmla="val 70000"/>
            </a:avLst>
          </a:prstGeom>
          <a:solidFill>
            <a:srgbClr val="1416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BUILD arrow 4s box1 down" descr="">
            <a:extLst>
              <a:ext uri="{C183D7F6-B498-43B3-948B-1728B52AA6E4}">
                <adec:decorative xmlns:adec="http://schemas.microsoft.com/office/drawing/2017/decorative" val="1"/>
              </a:ext>
            </a:extLst>
          </p:cNvPr>
          <p:cNvSpPr/>
          <p:nvPr/>
        </p:nvSpPr>
        <p:spPr>
          <a:xfrm>
            <a:off x="1249413" y="3071149"/>
            <a:ext cx="133731" cy="331652"/>
          </a:xfrm>
          <a:prstGeom prst="downArrow">
            <a:avLst>
              <a:gd name="adj1" fmla="val 34000"/>
              <a:gd name="adj2" fmla="val 70000"/>
            </a:avLst>
          </a:prstGeom>
          <a:solidFill>
            <a:srgbClr val="1416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BUILD arrow 3d box1 up" descr="">
            <a:extLst>
              <a:ext uri="{C183D7F6-B498-43B3-948B-1728B52AA6E4}">
                <adec:decorative xmlns:adec="http://schemas.microsoft.com/office/drawing/2017/decorative" val="1"/>
              </a:ext>
            </a:extLst>
          </p:cNvPr>
          <p:cNvSpPr/>
          <p:nvPr/>
        </p:nvSpPr>
        <p:spPr>
          <a:xfrm>
            <a:off x="1826399" y="3071149"/>
            <a:ext cx="133731" cy="331652"/>
          </a:xfrm>
          <a:prstGeom prst="upArrow">
            <a:avLst>
              <a:gd name="adj1" fmla="val 34000"/>
              <a:gd name="adj2" fmla="val 70000"/>
            </a:avLst>
          </a:prstGeom>
          <a:solidFill>
            <a:srgbClr val="1416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UILD arrow 3d box2 up" descr="">
            <a:extLst>
              <a:ext uri="{C183D7F6-B498-43B3-948B-1728B52AA6E4}">
                <adec:decorative xmlns:adec="http://schemas.microsoft.com/office/drawing/2017/decorative" val="1"/>
              </a:ext>
            </a:extLst>
          </p:cNvPr>
          <p:cNvSpPr/>
          <p:nvPr/>
        </p:nvSpPr>
        <p:spPr>
          <a:xfrm>
            <a:off x="2407043" y="3071149"/>
            <a:ext cx="133731" cy="331652"/>
          </a:xfrm>
          <a:prstGeom prst="upArrow">
            <a:avLst>
              <a:gd name="adj1" fmla="val 34000"/>
              <a:gd name="adj2" fmla="val 70000"/>
            </a:avLst>
          </a:prstGeom>
          <a:solidFill>
            <a:srgbClr val="1416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BUILD arrow 3d box3 up" descr="">
            <a:extLst>
              <a:ext uri="{C183D7F6-B498-43B3-948B-1728B52AA6E4}">
                <adec:decorative xmlns:adec="http://schemas.microsoft.com/office/drawing/2017/decorative" val="1"/>
              </a:ext>
            </a:extLst>
          </p:cNvPr>
          <p:cNvSpPr/>
          <p:nvPr/>
        </p:nvSpPr>
        <p:spPr>
          <a:xfrm>
            <a:off x="2987687" y="3071149"/>
            <a:ext cx="133731" cy="331652"/>
          </a:xfrm>
          <a:prstGeom prst="upArrow">
            <a:avLst>
              <a:gd name="adj1" fmla="val 34000"/>
              <a:gd name="adj2" fmla="val 70000"/>
            </a:avLst>
          </a:prstGeom>
          <a:solidFill>
            <a:srgbClr val="1416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BUILD arrow 3d box4 up" descr="">
            <a:extLst>
              <a:ext uri="{C183D7F6-B498-43B3-948B-1728B52AA6E4}">
                <adec:decorative xmlns:adec="http://schemas.microsoft.com/office/drawing/2017/decorative" val="1"/>
              </a:ext>
            </a:extLst>
          </p:cNvPr>
          <p:cNvSpPr/>
          <p:nvPr/>
        </p:nvSpPr>
        <p:spPr>
          <a:xfrm>
            <a:off x="3568331" y="3071149"/>
            <a:ext cx="133731" cy="331652"/>
          </a:xfrm>
          <a:prstGeom prst="upArrow">
            <a:avLst>
              <a:gd name="adj1" fmla="val 34000"/>
              <a:gd name="adj2" fmla="val 70000"/>
            </a:avLst>
          </a:prstGeom>
          <a:solidFill>
            <a:srgbClr val="1416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BUILD arrow 3d box5 up" descr="">
            <a:extLst>
              <a:ext uri="{C183D7F6-B498-43B3-948B-1728B52AA6E4}">
                <adec:decorative xmlns:adec="http://schemas.microsoft.com/office/drawing/2017/decorative" val="1"/>
              </a:ext>
            </a:extLst>
          </p:cNvPr>
          <p:cNvSpPr/>
          <p:nvPr/>
        </p:nvSpPr>
        <p:spPr>
          <a:xfrm>
            <a:off x="4148975" y="3071149"/>
            <a:ext cx="133731" cy="331652"/>
          </a:xfrm>
          <a:prstGeom prst="upArrow">
            <a:avLst>
              <a:gd name="adj1" fmla="val 34000"/>
              <a:gd name="adj2" fmla="val 70000"/>
            </a:avLst>
          </a:prstGeom>
          <a:solidFill>
            <a:srgbClr val="1416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BUILD arrow 3d box1 down" descr="">
            <a:extLst>
              <a:ext uri="{C183D7F6-B498-43B3-948B-1728B52AA6E4}">
                <adec:decorative xmlns:adec="http://schemas.microsoft.com/office/drawing/2017/decorative" val="1"/>
              </a:ext>
            </a:extLst>
          </p:cNvPr>
          <p:cNvSpPr/>
          <p:nvPr/>
        </p:nvSpPr>
        <p:spPr>
          <a:xfrm>
            <a:off x="2040369" y="3071149"/>
            <a:ext cx="133731" cy="331652"/>
          </a:xfrm>
          <a:prstGeom prst="downArrow">
            <a:avLst>
              <a:gd name="adj1" fmla="val 34000"/>
              <a:gd name="adj2" fmla="val 70000"/>
            </a:avLst>
          </a:prstGeom>
          <a:solidFill>
            <a:srgbClr val="1416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BUILD count 4s"/>
          <p:cNvSpPr txBox="1"/>
          <p:nvPr/>
        </p:nvSpPr>
        <p:spPr>
          <a:xfrm>
            <a:off x="1262274" y="3541013"/>
            <a:ext cx="194202" cy="274320"/>
          </a:xfrm>
          <a:prstGeom prst="rect">
            <a:avLst/>
          </a:prstGeom>
          <a:noFill/>
        </p:spPr>
        <p:txBody>
          <a:bodyPr wrap="none" lIns="0" rIns="0" tIns="0" bIns="0" anchor="ctr">
            <a:spAutoFit/>
          </a:bodyPr>
          <a:lstStyle/>
          <a:p>
            <a:pPr algn="l"/>
            <a:r>
              <a:rPr sz="1800" b="1" baseline="30000">
                <a:solidFill>
                  <a:srgbClr val="14161B"/>
                </a:solidFill>
                <a:latin typeface="Trade Gothic Next"/>
              </a:rPr>
              <a:t>2</a:t>
            </a:r>
          </a:p>
        </p:txBody>
      </p:sp>
      <p:sp>
        <p:nvSpPr>
          <p:cNvPr id="31" name="BUILD count 3d"/>
          <p:cNvSpPr txBox="1"/>
          <p:nvPr/>
        </p:nvSpPr>
        <p:spPr>
          <a:xfrm>
            <a:off x="3220340" y="3541013"/>
            <a:ext cx="194202" cy="274320"/>
          </a:xfrm>
          <a:prstGeom prst="rect">
            <a:avLst/>
          </a:prstGeom>
          <a:noFill/>
        </p:spPr>
        <p:txBody>
          <a:bodyPr wrap="none" lIns="0" rIns="0" tIns="0" bIns="0" anchor="ctr">
            <a:spAutoFit/>
          </a:bodyPr>
          <a:lstStyle/>
          <a:p>
            <a:pPr algn="l"/>
            <a:r>
              <a:rPr sz="1800" b="1" baseline="30000">
                <a:solidFill>
                  <a:srgbClr val="14161B"/>
                </a:solidFill>
                <a:latin typeface="Trade Gothic Next"/>
              </a:rPr>
              <a:t>6</a:t>
            </a:r>
          </a:p>
        </p:txBody>
      </p:sp>
      <p:sp>
        <p:nvSpPr>
          <p:cNvPr id="32" name="BUILD caption"/>
          <p:cNvSpPr txBox="1"/>
          <p:nvPr/>
        </p:nvSpPr>
        <p:spPr>
          <a:xfrm>
            <a:off x="941832" y="3851909"/>
            <a:ext cx="3648456" cy="256032"/>
          </a:xfrm>
          <a:prstGeom prst="rect">
            <a:avLst/>
          </a:prstGeom>
          <a:noFill/>
        </p:spPr>
        <p:txBody>
          <a:bodyPr wrap="square" lIns="0" rIns="0" tIns="0" bIns="0" anchor="ctr">
            <a:spAutoFit/>
          </a:bodyPr>
          <a:lstStyle/>
          <a:p>
            <a:pPr algn="ctr"/>
            <a:r>
              <a:rPr sz="1600" b="1">
                <a:solidFill>
                  <a:srgbClr val="4D730E"/>
                </a:solidFill>
                <a:latin typeface="Trade Gothic Next"/>
              </a:rPr>
              <a:t>Pauli: opposite spins</a:t>
            </a:r>
          </a:p>
        </p:txBody>
      </p:sp>
      <p:sp>
        <p:nvSpPr>
          <p:cNvPr id="33" name="BUILD caption"/>
          <p:cNvSpPr txBox="1"/>
          <p:nvPr/>
        </p:nvSpPr>
        <p:spPr>
          <a:xfrm>
            <a:off x="941832" y="4107941"/>
            <a:ext cx="3648456" cy="256032"/>
          </a:xfrm>
          <a:prstGeom prst="rect">
            <a:avLst/>
          </a:prstGeom>
          <a:noFill/>
        </p:spPr>
        <p:txBody>
          <a:bodyPr wrap="square" lIns="0" rIns="0" tIns="0" bIns="0" anchor="ctr">
            <a:spAutoFit/>
          </a:bodyPr>
          <a:lstStyle/>
          <a:p>
            <a:pPr algn="ctr"/>
            <a:r>
              <a:rPr sz="1600" b="1">
                <a:solidFill>
                  <a:srgbClr val="4D730E"/>
                </a:solidFill>
                <a:latin typeface="Trade Gothic Next"/>
              </a:rPr>
              <a:t>Hund: singles first</a:t>
            </a:r>
          </a:p>
        </p:txBody>
      </p:sp>
      <p:sp>
        <p:nvSpPr>
          <p:cNvPr id="34" name="BUILD sum"/>
          <p:cNvSpPr txBox="1"/>
          <p:nvPr/>
        </p:nvSpPr>
        <p:spPr>
          <a:xfrm>
            <a:off x="941832" y="4400549"/>
            <a:ext cx="3648456" cy="292608"/>
          </a:xfrm>
          <a:prstGeom prst="rect">
            <a:avLst/>
          </a:prstGeom>
          <a:noFill/>
        </p:spPr>
        <p:txBody>
          <a:bodyPr wrap="square" lIns="0" rIns="0" tIns="0" bIns="0" anchor="ctr">
            <a:spAutoFit/>
          </a:bodyPr>
          <a:lstStyle/>
          <a:p>
            <a:pPr algn="ctr"/>
            <a:r>
              <a:rPr sz="1800" b="1">
                <a:solidFill>
                  <a:srgbClr val="14161B"/>
                </a:solidFill>
                <a:latin typeface="Trade Gothic Next"/>
              </a:rPr>
              <a:t>[Ar] 18 + 2 + 6 = 26</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22"/>
                                        </p:tgtEl>
                                        <p:attrNameLst>
                                          <p:attrName>style.visibility</p:attrName>
                                        </p:attrNameLst>
                                      </p:cBhvr>
                                      <p:to>
                                        <p:strVal val="visible"/>
                                      </p:to>
                                    </p:set>
                                    <p:animEffect transition="in" filter="fade">
                                      <p:cBhvr>
                                        <p:cTn id="13" dur="400"/>
                                        <p:tgtEl>
                                          <p:spTgt spid="22"/>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23"/>
                                        </p:tgtEl>
                                        <p:attrNameLst>
                                          <p:attrName>style.visibility</p:attrName>
                                        </p:attrNameLst>
                                      </p:cBhvr>
                                      <p:to>
                                        <p:strVal val="visible"/>
                                      </p:to>
                                    </p:set>
                                    <p:animEffect transition="in" filter="fade">
                                      <p:cBhvr>
                                        <p:cTn id="18" dur="400"/>
                                        <p:tgtEl>
                                          <p:spTgt spid="23"/>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
                                        </p:tgtEl>
                                        <p:attrNameLst>
                                          <p:attrName>style.visibility</p:attrName>
                                        </p:attrNameLst>
                                      </p:cBhvr>
                                      <p:to>
                                        <p:strVal val="visible"/>
                                      </p:to>
                                    </p:set>
                                    <p:animEffect transition="in" filter="fade">
                                      <p:cBhvr>
                                        <p:cTn id="21" dur="400"/>
                                        <p:tgtEl>
                                          <p:spTgt spid="30"/>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2"/>
                                        </p:tgtEl>
                                        <p:attrNameLst>
                                          <p:attrName>style.visibility</p:attrName>
                                        </p:attrNameLst>
                                      </p:cBhvr>
                                      <p:to>
                                        <p:strVal val="visible"/>
                                      </p:to>
                                    </p:set>
                                    <p:animEffect transition="in" filter="fade">
                                      <p:cBhvr>
                                        <p:cTn id="24" dur="400"/>
                                        <p:tgtEl>
                                          <p:spTgt spid="32"/>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24"/>
                                        </p:tgtEl>
                                        <p:attrNameLst>
                                          <p:attrName>style.visibility</p:attrName>
                                        </p:attrNameLst>
                                      </p:cBhvr>
                                      <p:to>
                                        <p:strVal val="visible"/>
                                      </p:to>
                                    </p:set>
                                    <p:animEffect transition="in" filter="fade">
                                      <p:cBhvr>
                                        <p:cTn id="29" dur="400"/>
                                        <p:tgtEl>
                                          <p:spTgt spid="24"/>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3"/>
                                        </p:tgtEl>
                                        <p:attrNameLst>
                                          <p:attrName>style.visibility</p:attrName>
                                        </p:attrNameLst>
                                      </p:cBhvr>
                                      <p:to>
                                        <p:strVal val="visible"/>
                                      </p:to>
                                    </p:set>
                                    <p:animEffect transition="in" filter="fade">
                                      <p:cBhvr>
                                        <p:cTn id="32" dur="400"/>
                                        <p:tgtEl>
                                          <p:spTgt spid="33"/>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25"/>
                                        </p:tgtEl>
                                        <p:attrNameLst>
                                          <p:attrName>style.visibility</p:attrName>
                                        </p:attrNameLst>
                                      </p:cBhvr>
                                      <p:to>
                                        <p:strVal val="visible"/>
                                      </p:to>
                                    </p:set>
                                    <p:animEffect transition="in" filter="fade">
                                      <p:cBhvr>
                                        <p:cTn id="37" dur="400"/>
                                        <p:tgtEl>
                                          <p:spTgt spid="25"/>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26"/>
                                        </p:tgtEl>
                                        <p:attrNameLst>
                                          <p:attrName>style.visibility</p:attrName>
                                        </p:attrNameLst>
                                      </p:cBhvr>
                                      <p:to>
                                        <p:strVal val="visible"/>
                                      </p:to>
                                    </p:set>
                                    <p:animEffect transition="in" filter="fade">
                                      <p:cBhvr>
                                        <p:cTn id="42" dur="400"/>
                                        <p:tgtEl>
                                          <p:spTgt spid="26"/>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27"/>
                                        </p:tgtEl>
                                        <p:attrNameLst>
                                          <p:attrName>style.visibility</p:attrName>
                                        </p:attrNameLst>
                                      </p:cBhvr>
                                      <p:to>
                                        <p:strVal val="visible"/>
                                      </p:to>
                                    </p:set>
                                    <p:animEffect transition="in" filter="fade">
                                      <p:cBhvr>
                                        <p:cTn id="47" dur="400"/>
                                        <p:tgtEl>
                                          <p:spTgt spid="27"/>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28"/>
                                        </p:tgtEl>
                                        <p:attrNameLst>
                                          <p:attrName>style.visibility</p:attrName>
                                        </p:attrNameLst>
                                      </p:cBhvr>
                                      <p:to>
                                        <p:strVal val="visible"/>
                                      </p:to>
                                    </p:set>
                                    <p:animEffect transition="in" filter="fade">
                                      <p:cBhvr>
                                        <p:cTn id="52" dur="400"/>
                                        <p:tgtEl>
                                          <p:spTgt spid="28"/>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29"/>
                                        </p:tgtEl>
                                        <p:attrNameLst>
                                          <p:attrName>style.visibility</p:attrName>
                                        </p:attrNameLst>
                                      </p:cBhvr>
                                      <p:to>
                                        <p:strVal val="visible"/>
                                      </p:to>
                                    </p:set>
                                    <p:animEffect transition="in" filter="fade">
                                      <p:cBhvr>
                                        <p:cTn id="57" dur="400"/>
                                        <p:tgtEl>
                                          <p:spTgt spid="29"/>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31"/>
                                        </p:tgtEl>
                                        <p:attrNameLst>
                                          <p:attrName>style.visibility</p:attrName>
                                        </p:attrNameLst>
                                      </p:cBhvr>
                                      <p:to>
                                        <p:strVal val="visible"/>
                                      </p:to>
                                    </p:set>
                                    <p:animEffect transition="in" filter="fade">
                                      <p:cBhvr>
                                        <p:cTn id="60" dur="400"/>
                                        <p:tgtEl>
                                          <p:spTgt spid="31"/>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34"/>
                                        </p:tgtEl>
                                        <p:attrNameLst>
                                          <p:attrName>style.visibility</p:attrName>
                                        </p:attrNameLst>
                                      </p:cBhvr>
                                      <p:to>
                                        <p:strVal val="visible"/>
                                      </p:to>
                                    </p:set>
                                    <p:animEffect transition="in" filter="fade">
                                      <p:cBhvr>
                                        <p:cTn id="63" dur="4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P spid="30" grpId="0"/>
      <p:bldP spid="32" grpId="0"/>
      <p:bldP spid="24" grpId="0" animBg="1"/>
      <p:bldP spid="33" grpId="0"/>
      <p:bldP spid="25" grpId="0" animBg="1"/>
      <p:bldP spid="26" grpId="0" animBg="1"/>
      <p:bldP spid="27" grpId="0" animBg="1"/>
      <p:bldP spid="28" grpId="0" animBg="1"/>
      <p:bldP spid="29" grpId="0" animBg="1"/>
      <p:bldP spid="31" grpId="0"/>
      <p:bldP spid="34" grpId="0"/>
    </p:bld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2"/>
          <p:cNvSpPr txBox="1"/>
          <p:nvPr>
            <p:ph idx="103" type="title" hasCustomPrompt="1"/>
          </p:nvPr>
        </p:nvSpPr>
        <p:spPr>
          <a:xfrm>
            <a:off x="685800" y="932688"/>
            <a:ext cx="7360920" cy="868680"/>
          </a:xfrm>
          <a:prstGeom prst="rect">
            <a:avLst/>
          </a:prstGeom>
          <a:noFill/>
          <a:ln/>
        </p:spPr>
        <p:txBody>
          <a:bodyPr wrap="square" lIns="0" tIns="0" rIns="0" bIns="0" rtlCol="0" anchor="t"/>
          <a:lstStyle/>
          <a:p>
            <a:pPr algn="l" indent="0" marL="0">
              <a:buNone/>
            </a:pPr>
            <a:r>
              <a:rPr lang="en-US" sz="2800" b="1" dirty="0">
                <a:solidFill>
                  <a:srgbClr val="14161B"/>
                </a:solidFill>
                <a:latin typeface="Trade Gothic Next" pitchFamily="34" charset="0"/>
                <a:ea typeface="Trade Gothic Next" pitchFamily="34" charset="-122"/>
                <a:cs typeface="Trade Gothic Next" pitchFamily="34" charset="-120"/>
              </a:rPr>
              <a:t>Longhand: N, Cl, and Ca</a:t>
            </a:r>
            <a:endParaRPr lang="en-US" sz="2800" dirty="0"/>
          </a:p>
        </p:txBody>
      </p:sp>
      <p:sp>
        <p:nvSpPr>
          <p:cNvPr id="3" name="Text 2"/>
          <p:cNvSpPr txBox="1"/>
          <p:nvPr>
            <p:ph idx="104" type="body" hasCustomPrompt="1"/>
          </p:nvPr>
        </p:nvSpPr>
        <p:spPr>
          <a:xfrm>
            <a:off x="685800" y="1847088"/>
            <a:ext cx="7360920" cy="384048"/>
          </a:xfrm>
          <a:prstGeom prst="rect">
            <a:avLst/>
          </a:prstGeom>
          <a:noFill/>
          <a:ln/>
        </p:spPr>
        <p:txBody>
          <a:bodyPr wrap="square" lIns="0" tIns="0" rIns="0" bIns="0" rtlCol="0"/>
          <a:lstStyle/>
          <a:p>
            <a:pPr indent="0" marL="0">
              <a:buNone/>
            </a:pPr>
            <a:r>
              <a:rPr lang="en-US" sz="1700" dirty="0">
                <a:solidFill>
                  <a:srgbClr val="2E3338"/>
                </a:solidFill>
                <a:latin typeface="Trade Gothic Next" pitchFamily="34" charset="0"/>
                <a:ea typeface="Trade Gothic Next" pitchFamily="34" charset="-122"/>
                <a:cs typeface="Trade Gothic Next" pitchFamily="34" charset="-120"/>
              </a:rPr>
              <a:t>Calcium stops at 4s</a:t>
            </a:r>
            <a:pPr indent="0" marL="0">
              <a:buNone/>
            </a:pPr>
            <a:r>
              <a:rPr lang="en-US" sz="1700" baseline="30000" dirty="0">
                <a:solidFill>
                  <a:srgbClr val="2E3338"/>
                </a:solidFill>
                <a:latin typeface="Trade Gothic Next" pitchFamily="34" charset="0"/>
                <a:ea typeface="Trade Gothic Next" pitchFamily="34" charset="-122"/>
                <a:cs typeface="Trade Gothic Next" pitchFamily="34" charset="-120"/>
              </a:rPr>
              <a:t>2</a:t>
            </a:r>
            <a:pPr indent="0" marL="0">
              <a:buNone/>
            </a:pPr>
            <a:r>
              <a:rPr lang="en-US" sz="1700" dirty="0">
                <a:solidFill>
                  <a:srgbClr val="2E3338"/>
                </a:solidFill>
                <a:latin typeface="Trade Gothic Next" pitchFamily="34" charset="0"/>
                <a:ea typeface="Trade Gothic Next" pitchFamily="34" charset="-122"/>
                <a:cs typeface="Trade Gothic Next" pitchFamily="34" charset="-120"/>
              </a:rPr>
              <a:t>. The 3d sublevel stays empty until scandium.</a:t>
            </a:r>
            <a:endParaRPr lang="en-US" sz="1700" dirty="0"/>
          </a:p>
        </p:txBody>
      </p:sp>
      <p:sp>
        <p:nvSpPr>
          <p:cNvPr id="4" name="Text 5"/>
          <p:cNvSpPr txBox="1"/>
          <p:nvPr>
            <p:ph idx="109" type="body" hasCustomPrompt="1"/>
          </p:nvPr>
        </p:nvSpPr>
        <p:spPr>
          <a:xfrm>
            <a:off x="886968" y="2953512"/>
            <a:ext cx="2999232" cy="219456"/>
          </a:xfrm>
          <a:prstGeom prst="rect">
            <a:avLst/>
          </a:prstGeom>
          <a:noFill/>
          <a:ln/>
        </p:spPr>
        <p:txBody>
          <a:bodyPr wrap="square" lIns="0" tIns="0" rIns="0" bIns="0" rtlCol="0"/>
          <a:lstStyle/>
          <a:p>
            <a:pPr indent="0" marL="0">
              <a:buNone/>
            </a:pPr>
            <a:r>
              <a:rPr lang="en-US" sz="1200" b="1" spc="120" kern="0" dirty="0">
                <a:solidFill>
                  <a:srgbClr val="2E3338"/>
                </a:solidFill>
                <a:latin typeface="Trade Gothic Next" pitchFamily="34" charset="0"/>
                <a:ea typeface="Trade Gothic Next" pitchFamily="34" charset="-122"/>
                <a:cs typeface="Trade Gothic Next" pitchFamily="34" charset="-120"/>
              </a:rPr>
              <a:t>NITROGEN, Z = 7</a:t>
            </a:r>
            <a:endParaRPr lang="en-US" sz="1200" dirty="0"/>
          </a:p>
        </p:txBody>
      </p:sp>
      <p:sp>
        <p:nvSpPr>
          <p:cNvPr id="5" name="Text 5"/>
          <p:cNvSpPr txBox="1"/>
          <p:nvPr>
            <p:ph idx="110" type="body" hasCustomPrompt="1"/>
          </p:nvPr>
        </p:nvSpPr>
        <p:spPr>
          <a:xfrm>
            <a:off x="886968" y="3246120"/>
            <a:ext cx="2999232" cy="1673352"/>
          </a:xfrm>
          <a:prstGeom prst="rect">
            <a:avLst/>
          </a:prstGeom>
          <a:noFill/>
          <a:ln/>
        </p:spPr>
        <p:txBody>
          <a:bodyPr wrap="square" lIns="0" tIns="0" rIns="0" bIns="0" rtlCol="0"/>
          <a:lstStyle/>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1s</a:t>
            </a:r>
            <a:pPr indent="0" marL="0">
              <a:buNone/>
            </a:pPr>
            <a:r>
              <a:rPr lang="en-US" sz="1600" baseline="30000" dirty="0">
                <a:solidFill>
                  <a:srgbClr val="14161B"/>
                </a:solidFill>
                <a:latin typeface="Trade Gothic Next" pitchFamily="34" charset="0"/>
                <a:ea typeface="Trade Gothic Next" pitchFamily="34" charset="-122"/>
                <a:cs typeface="Trade Gothic Next" pitchFamily="34" charset="-120"/>
              </a:rPr>
              <a:t>2</a:t>
            </a:r>
            <a:pPr indent="0" marL="0">
              <a:buNone/>
            </a:pPr>
            <a:r>
              <a:rPr lang="en-US" sz="1600" dirty="0">
                <a:solidFill>
                  <a:srgbClr val="14161B"/>
                </a:solidFill>
                <a:latin typeface="Trade Gothic Next" pitchFamily="34" charset="0"/>
                <a:ea typeface="Trade Gothic Next" pitchFamily="34" charset="-122"/>
                <a:cs typeface="Trade Gothic Next" pitchFamily="34" charset="-120"/>
              </a:rPr>
              <a:t> 2s</a:t>
            </a:r>
            <a:pPr indent="0" marL="0">
              <a:buNone/>
            </a:pPr>
            <a:r>
              <a:rPr lang="en-US" sz="1600" baseline="30000" dirty="0">
                <a:solidFill>
                  <a:srgbClr val="14161B"/>
                </a:solidFill>
                <a:latin typeface="Trade Gothic Next" pitchFamily="34" charset="0"/>
                <a:ea typeface="Trade Gothic Next" pitchFamily="34" charset="-122"/>
                <a:cs typeface="Trade Gothic Next" pitchFamily="34" charset="-120"/>
              </a:rPr>
              <a:t>2</a:t>
            </a:r>
            <a:pPr indent="0" marL="0">
              <a:buNone/>
            </a:pPr>
            <a:r>
              <a:rPr lang="en-US" sz="1600" dirty="0">
                <a:solidFill>
                  <a:srgbClr val="14161B"/>
                </a:solidFill>
                <a:latin typeface="Trade Gothic Next" pitchFamily="34" charset="0"/>
                <a:ea typeface="Trade Gothic Next" pitchFamily="34" charset="-122"/>
                <a:cs typeface="Trade Gothic Next" pitchFamily="34" charset="-120"/>
              </a:rPr>
              <a:t> 2p</a:t>
            </a:r>
            <a:pPr indent="0" marL="0">
              <a:buNone/>
            </a:pPr>
            <a:r>
              <a:rPr lang="en-US" sz="1600" baseline="30000" dirty="0">
                <a:solidFill>
                  <a:srgbClr val="14161B"/>
                </a:solidFill>
                <a:latin typeface="Trade Gothic Next" pitchFamily="34" charset="0"/>
                <a:ea typeface="Trade Gothic Next" pitchFamily="34" charset="-122"/>
                <a:cs typeface="Trade Gothic Next" pitchFamily="34" charset="-120"/>
              </a:rPr>
              <a:t>3</a:t>
            </a:r>
            <a:endParaRPr lang="en-US" sz="1600" dirty="0"/>
          </a:p>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Sum: 2+2+3 = 7</a:t>
            </a:r>
            <a:endParaRPr lang="en-US" sz="1600" dirty="0"/>
          </a:p>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Unpaired: 3</a:t>
            </a:r>
            <a:endParaRPr lang="en-US" sz="1600" dirty="0"/>
          </a:p>
        </p:txBody>
      </p:sp>
      <p:sp>
        <p:nvSpPr>
          <p:cNvPr id="6" name="Text 6"/>
          <p:cNvSpPr txBox="1"/>
          <p:nvPr>
            <p:ph idx="112" type="body" hasCustomPrompt="1"/>
          </p:nvPr>
        </p:nvSpPr>
        <p:spPr>
          <a:xfrm>
            <a:off x="4498848" y="2953512"/>
            <a:ext cx="2999232" cy="219456"/>
          </a:xfrm>
          <a:prstGeom prst="rect">
            <a:avLst/>
          </a:prstGeom>
          <a:noFill/>
          <a:ln/>
        </p:spPr>
        <p:txBody>
          <a:bodyPr wrap="square" lIns="0" tIns="0" rIns="0" bIns="0" rtlCol="0"/>
          <a:lstStyle/>
          <a:p>
            <a:pPr indent="0" marL="0">
              <a:buNone/>
            </a:pPr>
            <a:r>
              <a:rPr lang="en-US" sz="1200" b="1" spc="120" kern="0" dirty="0">
                <a:solidFill>
                  <a:srgbClr val="2E3338"/>
                </a:solidFill>
                <a:latin typeface="Trade Gothic Next" pitchFamily="34" charset="0"/>
                <a:ea typeface="Trade Gothic Next" pitchFamily="34" charset="-122"/>
                <a:cs typeface="Trade Gothic Next" pitchFamily="34" charset="-120"/>
              </a:rPr>
              <a:t>CHLORINE, Z = 17</a:t>
            </a:r>
            <a:endParaRPr lang="en-US" sz="1200" dirty="0"/>
          </a:p>
        </p:txBody>
      </p:sp>
      <p:sp>
        <p:nvSpPr>
          <p:cNvPr id="7" name="Text 6"/>
          <p:cNvSpPr txBox="1"/>
          <p:nvPr>
            <p:ph idx="113" type="body" hasCustomPrompt="1"/>
          </p:nvPr>
        </p:nvSpPr>
        <p:spPr>
          <a:xfrm>
            <a:off x="4498848" y="3246120"/>
            <a:ext cx="2999232" cy="1673352"/>
          </a:xfrm>
          <a:prstGeom prst="rect">
            <a:avLst/>
          </a:prstGeom>
          <a:noFill/>
          <a:ln/>
        </p:spPr>
        <p:txBody>
          <a:bodyPr wrap="square" lIns="0" tIns="0" rIns="0" bIns="0" rtlCol="0"/>
          <a:lstStyle/>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1s</a:t>
            </a:r>
            <a:pPr indent="0" marL="0">
              <a:buNone/>
            </a:pPr>
            <a:r>
              <a:rPr lang="en-US" sz="1600" baseline="30000" dirty="0">
                <a:solidFill>
                  <a:srgbClr val="14161B"/>
                </a:solidFill>
                <a:latin typeface="Trade Gothic Next" pitchFamily="34" charset="0"/>
                <a:ea typeface="Trade Gothic Next" pitchFamily="34" charset="-122"/>
                <a:cs typeface="Trade Gothic Next" pitchFamily="34" charset="-120"/>
              </a:rPr>
              <a:t>2</a:t>
            </a:r>
            <a:pPr indent="0" marL="0">
              <a:buNone/>
            </a:pPr>
            <a:r>
              <a:rPr lang="en-US" sz="1600" dirty="0">
                <a:solidFill>
                  <a:srgbClr val="14161B"/>
                </a:solidFill>
                <a:latin typeface="Trade Gothic Next" pitchFamily="34" charset="0"/>
                <a:ea typeface="Trade Gothic Next" pitchFamily="34" charset="-122"/>
                <a:cs typeface="Trade Gothic Next" pitchFamily="34" charset="-120"/>
              </a:rPr>
              <a:t> 2s</a:t>
            </a:r>
            <a:pPr indent="0" marL="0">
              <a:buNone/>
            </a:pPr>
            <a:r>
              <a:rPr lang="en-US" sz="1600" baseline="30000" dirty="0">
                <a:solidFill>
                  <a:srgbClr val="14161B"/>
                </a:solidFill>
                <a:latin typeface="Trade Gothic Next" pitchFamily="34" charset="0"/>
                <a:ea typeface="Trade Gothic Next" pitchFamily="34" charset="-122"/>
                <a:cs typeface="Trade Gothic Next" pitchFamily="34" charset="-120"/>
              </a:rPr>
              <a:t>2</a:t>
            </a:r>
            <a:pPr indent="0" marL="0">
              <a:buNone/>
            </a:pPr>
            <a:r>
              <a:rPr lang="en-US" sz="1600" dirty="0">
                <a:solidFill>
                  <a:srgbClr val="14161B"/>
                </a:solidFill>
                <a:latin typeface="Trade Gothic Next" pitchFamily="34" charset="0"/>
                <a:ea typeface="Trade Gothic Next" pitchFamily="34" charset="-122"/>
                <a:cs typeface="Trade Gothic Next" pitchFamily="34" charset="-120"/>
              </a:rPr>
              <a:t> 2p</a:t>
            </a:r>
            <a:pPr indent="0" marL="0">
              <a:buNone/>
            </a:pPr>
            <a:r>
              <a:rPr lang="en-US" sz="1600" baseline="30000" dirty="0">
                <a:solidFill>
                  <a:srgbClr val="14161B"/>
                </a:solidFill>
                <a:latin typeface="Trade Gothic Next" pitchFamily="34" charset="0"/>
                <a:ea typeface="Trade Gothic Next" pitchFamily="34" charset="-122"/>
                <a:cs typeface="Trade Gothic Next" pitchFamily="34" charset="-120"/>
              </a:rPr>
              <a:t>6</a:t>
            </a:r>
            <a:pPr indent="0" marL="0">
              <a:buNone/>
            </a:pPr>
            <a:r>
              <a:rPr lang="en-US" sz="1600" dirty="0">
                <a:solidFill>
                  <a:srgbClr val="14161B"/>
                </a:solidFill>
                <a:latin typeface="Trade Gothic Next" pitchFamily="34" charset="0"/>
                <a:ea typeface="Trade Gothic Next" pitchFamily="34" charset="-122"/>
                <a:cs typeface="Trade Gothic Next" pitchFamily="34" charset="-120"/>
              </a:rPr>
              <a:t> 3s</a:t>
            </a:r>
            <a:pPr indent="0" marL="0">
              <a:buNone/>
            </a:pPr>
            <a:r>
              <a:rPr lang="en-US" sz="1600" baseline="30000" dirty="0">
                <a:solidFill>
                  <a:srgbClr val="14161B"/>
                </a:solidFill>
                <a:latin typeface="Trade Gothic Next" pitchFamily="34" charset="0"/>
                <a:ea typeface="Trade Gothic Next" pitchFamily="34" charset="-122"/>
                <a:cs typeface="Trade Gothic Next" pitchFamily="34" charset="-120"/>
              </a:rPr>
              <a:t>2</a:t>
            </a:r>
            <a:pPr indent="0" marL="0">
              <a:buNone/>
            </a:pPr>
            <a:r>
              <a:rPr lang="en-US" sz="1600" dirty="0">
                <a:solidFill>
                  <a:srgbClr val="14161B"/>
                </a:solidFill>
                <a:latin typeface="Trade Gothic Next" pitchFamily="34" charset="0"/>
                <a:ea typeface="Trade Gothic Next" pitchFamily="34" charset="-122"/>
                <a:cs typeface="Trade Gothic Next" pitchFamily="34" charset="-120"/>
              </a:rPr>
              <a:t> 3p</a:t>
            </a:r>
            <a:pPr indent="0" marL="0">
              <a:buNone/>
            </a:pPr>
            <a:r>
              <a:rPr lang="en-US" sz="1600" baseline="30000" dirty="0">
                <a:solidFill>
                  <a:srgbClr val="14161B"/>
                </a:solidFill>
                <a:latin typeface="Trade Gothic Next" pitchFamily="34" charset="0"/>
                <a:ea typeface="Trade Gothic Next" pitchFamily="34" charset="-122"/>
                <a:cs typeface="Trade Gothic Next" pitchFamily="34" charset="-120"/>
              </a:rPr>
              <a:t>5</a:t>
            </a:r>
            <a:endParaRPr lang="en-US" sz="1600" dirty="0"/>
          </a:p>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Sum: 2+2+6+2+5 = 17</a:t>
            </a:r>
            <a:endParaRPr lang="en-US" sz="1600" dirty="0"/>
          </a:p>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Unpaired: 1</a:t>
            </a:r>
            <a:endParaRPr lang="en-US" sz="1600" dirty="0"/>
          </a:p>
        </p:txBody>
      </p:sp>
      <p:sp>
        <p:nvSpPr>
          <p:cNvPr id="8" name="Text 7"/>
          <p:cNvSpPr txBox="1"/>
          <p:nvPr>
            <p:ph idx="115" type="body" hasCustomPrompt="1"/>
          </p:nvPr>
        </p:nvSpPr>
        <p:spPr>
          <a:xfrm>
            <a:off x="8110728" y="2953512"/>
            <a:ext cx="2999232" cy="219456"/>
          </a:xfrm>
          <a:prstGeom prst="rect">
            <a:avLst/>
          </a:prstGeom>
          <a:noFill/>
          <a:ln/>
        </p:spPr>
        <p:txBody>
          <a:bodyPr wrap="square" lIns="0" tIns="0" rIns="0" bIns="0" rtlCol="0"/>
          <a:lstStyle/>
          <a:p>
            <a:pPr indent="0" marL="0">
              <a:buNone/>
            </a:pPr>
            <a:r>
              <a:rPr lang="en-US" sz="1200" b="1" spc="120" kern="0" dirty="0">
                <a:solidFill>
                  <a:srgbClr val="2E3338"/>
                </a:solidFill>
                <a:latin typeface="Trade Gothic Next" pitchFamily="34" charset="0"/>
                <a:ea typeface="Trade Gothic Next" pitchFamily="34" charset="-122"/>
                <a:cs typeface="Trade Gothic Next" pitchFamily="34" charset="-120"/>
              </a:rPr>
              <a:t>CALCIUM, Z = 20</a:t>
            </a:r>
            <a:endParaRPr lang="en-US" sz="1200" dirty="0"/>
          </a:p>
        </p:txBody>
      </p:sp>
      <p:sp>
        <p:nvSpPr>
          <p:cNvPr id="9" name="Text 7"/>
          <p:cNvSpPr txBox="1"/>
          <p:nvPr>
            <p:ph idx="116" type="body" hasCustomPrompt="1"/>
          </p:nvPr>
        </p:nvSpPr>
        <p:spPr>
          <a:xfrm>
            <a:off x="8110728" y="3246120"/>
            <a:ext cx="2999232" cy="1673352"/>
          </a:xfrm>
          <a:prstGeom prst="rect">
            <a:avLst/>
          </a:prstGeom>
          <a:noFill/>
          <a:ln/>
        </p:spPr>
        <p:txBody>
          <a:bodyPr wrap="square" lIns="0" tIns="0" rIns="0" bIns="0" rtlCol="0"/>
          <a:lstStyle/>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1s</a:t>
            </a:r>
            <a:pPr indent="0" marL="0">
              <a:buNone/>
            </a:pPr>
            <a:r>
              <a:rPr lang="en-US" sz="1600" baseline="30000" dirty="0">
                <a:solidFill>
                  <a:srgbClr val="14161B"/>
                </a:solidFill>
                <a:latin typeface="Trade Gothic Next" pitchFamily="34" charset="0"/>
                <a:ea typeface="Trade Gothic Next" pitchFamily="34" charset="-122"/>
                <a:cs typeface="Trade Gothic Next" pitchFamily="34" charset="-120"/>
              </a:rPr>
              <a:t>2</a:t>
            </a:r>
            <a:pPr indent="0" marL="0">
              <a:buNone/>
            </a:pPr>
            <a:r>
              <a:rPr lang="en-US" sz="1600" dirty="0">
                <a:solidFill>
                  <a:srgbClr val="14161B"/>
                </a:solidFill>
                <a:latin typeface="Trade Gothic Next" pitchFamily="34" charset="0"/>
                <a:ea typeface="Trade Gothic Next" pitchFamily="34" charset="-122"/>
                <a:cs typeface="Trade Gothic Next" pitchFamily="34" charset="-120"/>
              </a:rPr>
              <a:t> 2s</a:t>
            </a:r>
            <a:pPr indent="0" marL="0">
              <a:buNone/>
            </a:pPr>
            <a:r>
              <a:rPr lang="en-US" sz="1600" baseline="30000" dirty="0">
                <a:solidFill>
                  <a:srgbClr val="14161B"/>
                </a:solidFill>
                <a:latin typeface="Trade Gothic Next" pitchFamily="34" charset="0"/>
                <a:ea typeface="Trade Gothic Next" pitchFamily="34" charset="-122"/>
                <a:cs typeface="Trade Gothic Next" pitchFamily="34" charset="-120"/>
              </a:rPr>
              <a:t>2</a:t>
            </a:r>
            <a:pPr indent="0" marL="0">
              <a:buNone/>
            </a:pPr>
            <a:r>
              <a:rPr lang="en-US" sz="1600" dirty="0">
                <a:solidFill>
                  <a:srgbClr val="14161B"/>
                </a:solidFill>
                <a:latin typeface="Trade Gothic Next" pitchFamily="34" charset="0"/>
                <a:ea typeface="Trade Gothic Next" pitchFamily="34" charset="-122"/>
                <a:cs typeface="Trade Gothic Next" pitchFamily="34" charset="-120"/>
              </a:rPr>
              <a:t> 2p</a:t>
            </a:r>
            <a:pPr indent="0" marL="0">
              <a:buNone/>
            </a:pPr>
            <a:r>
              <a:rPr lang="en-US" sz="1600" baseline="30000" dirty="0">
                <a:solidFill>
                  <a:srgbClr val="14161B"/>
                </a:solidFill>
                <a:latin typeface="Trade Gothic Next" pitchFamily="34" charset="0"/>
                <a:ea typeface="Trade Gothic Next" pitchFamily="34" charset="-122"/>
                <a:cs typeface="Trade Gothic Next" pitchFamily="34" charset="-120"/>
              </a:rPr>
              <a:t>6</a:t>
            </a:r>
            <a:pPr indent="0" marL="0">
              <a:buNone/>
            </a:pPr>
            <a:r>
              <a:rPr lang="en-US" sz="1600" dirty="0">
                <a:solidFill>
                  <a:srgbClr val="14161B"/>
                </a:solidFill>
                <a:latin typeface="Trade Gothic Next" pitchFamily="34" charset="0"/>
                <a:ea typeface="Trade Gothic Next" pitchFamily="34" charset="-122"/>
                <a:cs typeface="Trade Gothic Next" pitchFamily="34" charset="-120"/>
              </a:rPr>
              <a:t> 3s</a:t>
            </a:r>
            <a:pPr indent="0" marL="0">
              <a:buNone/>
            </a:pPr>
            <a:r>
              <a:rPr lang="en-US" sz="1600" baseline="30000" dirty="0">
                <a:solidFill>
                  <a:srgbClr val="14161B"/>
                </a:solidFill>
                <a:latin typeface="Trade Gothic Next" pitchFamily="34" charset="0"/>
                <a:ea typeface="Trade Gothic Next" pitchFamily="34" charset="-122"/>
                <a:cs typeface="Trade Gothic Next" pitchFamily="34" charset="-120"/>
              </a:rPr>
              <a:t>2</a:t>
            </a:r>
            <a:pPr indent="0" marL="0">
              <a:buNone/>
            </a:pPr>
            <a:r>
              <a:rPr lang="en-US" sz="1600" dirty="0">
                <a:solidFill>
                  <a:srgbClr val="14161B"/>
                </a:solidFill>
                <a:latin typeface="Trade Gothic Next" pitchFamily="34" charset="0"/>
                <a:ea typeface="Trade Gothic Next" pitchFamily="34" charset="-122"/>
                <a:cs typeface="Trade Gothic Next" pitchFamily="34" charset="-120"/>
              </a:rPr>
              <a:t> 3p</a:t>
            </a:r>
            <a:pPr indent="0" marL="0">
              <a:buNone/>
            </a:pPr>
            <a:r>
              <a:rPr lang="en-US" sz="1600" baseline="30000" dirty="0">
                <a:solidFill>
                  <a:srgbClr val="14161B"/>
                </a:solidFill>
                <a:latin typeface="Trade Gothic Next" pitchFamily="34" charset="0"/>
                <a:ea typeface="Trade Gothic Next" pitchFamily="34" charset="-122"/>
                <a:cs typeface="Trade Gothic Next" pitchFamily="34" charset="-120"/>
              </a:rPr>
              <a:t>6</a:t>
            </a:r>
            <a:pPr indent="0" marL="0">
              <a:buNone/>
            </a:pPr>
            <a:r>
              <a:rPr lang="en-US" sz="1600" dirty="0">
                <a:solidFill>
                  <a:srgbClr val="14161B"/>
                </a:solidFill>
                <a:latin typeface="Trade Gothic Next" pitchFamily="34" charset="0"/>
                <a:ea typeface="Trade Gothic Next" pitchFamily="34" charset="-122"/>
                <a:cs typeface="Trade Gothic Next" pitchFamily="34" charset="-120"/>
              </a:rPr>
              <a:t> 4s</a:t>
            </a:r>
            <a:pPr indent="0" marL="0">
              <a:buNone/>
            </a:pPr>
            <a:r>
              <a:rPr lang="en-US" sz="1600" baseline="30000" dirty="0">
                <a:solidFill>
                  <a:srgbClr val="14161B"/>
                </a:solidFill>
                <a:latin typeface="Trade Gothic Next" pitchFamily="34" charset="0"/>
                <a:ea typeface="Trade Gothic Next" pitchFamily="34" charset="-122"/>
                <a:cs typeface="Trade Gothic Next" pitchFamily="34" charset="-120"/>
              </a:rPr>
              <a:t>2</a:t>
            </a:r>
            <a:endParaRPr lang="en-US" sz="1600" dirty="0"/>
          </a:p>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Sum: 2+2+6+2+6+2 = 20</a:t>
            </a:r>
            <a:endParaRPr lang="en-US" sz="1600" dirty="0"/>
          </a:p>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Unpaired: 0</a:t>
            </a:r>
            <a:endParaRPr lang="en-US" sz="1600" dirty="0"/>
          </a:p>
        </p:txBody>
      </p:sp>
      <p:sp>
        <p:nvSpPr>
          <p:cNvPr id="10" name="Text 9"/>
          <p:cNvSpPr txBox="1"/>
          <p:nvPr>
            <p:ph idx="119" type="body" hasCustomPrompt="1"/>
          </p:nvPr>
        </p:nvSpPr>
        <p:spPr>
          <a:xfrm>
            <a:off x="2240280" y="5486400"/>
            <a:ext cx="8991295" cy="402336"/>
          </a:xfrm>
          <a:prstGeom prst="rect">
            <a:avLst/>
          </a:prstGeom>
          <a:noFill/>
          <a:ln/>
        </p:spPr>
        <p:txBody>
          <a:bodyPr wrap="square" lIns="0" tIns="0" rIns="0" bIns="0" rtlCol="0" anchor="ctr"/>
          <a:lstStyle/>
          <a:p>
            <a:pPr indent="0" marL="0">
              <a:buNone/>
            </a:pPr>
            <a:r>
              <a:rPr lang="en-US" sz="1600" b="1" dirty="0">
                <a:solidFill>
                  <a:srgbClr val="EDF0E5"/>
                </a:solidFill>
                <a:latin typeface="Trade Gothic Next" pitchFamily="34" charset="0"/>
                <a:ea typeface="Trade Gothic Next" pitchFamily="34" charset="-122"/>
                <a:cs typeface="Trade Gothic Next" pitchFamily="34" charset="-120"/>
              </a:rPr>
              <a:t>The raised numbers add up to the atomic number, every time.</a:t>
            </a:r>
            <a:endParaRPr lang="en-US" sz="1600" dirty="0"/>
          </a:p>
        </p:txBody>
      </p:sp>
      <p:sp>
        <p:nvSpPr>
          <p:cNvPr id="11" name="Text 1"/>
          <p:cNvSpPr txBox="1"/>
          <p:nvPr>
            <p:ph idx="101" type="body" hasCustomPrompt="1"/>
          </p:nvPr>
        </p:nvSpPr>
        <p:spPr>
          <a:xfrm>
            <a:off x="685800" y="384048"/>
            <a:ext cx="6400800" cy="237744"/>
          </a:xfrm>
          <a:prstGeom prst="rect">
            <a:avLst/>
          </a:prstGeom>
          <a:noFill/>
          <a:ln/>
        </p:spPr>
        <p:txBody>
          <a:bodyPr wrap="square" lIns="0" tIns="0" rIns="0" bIns="0" rtlCol="0" anchor="ctr"/>
          <a:lstStyle/>
          <a:p>
            <a:pPr indent="0" marL="0">
              <a:buNone/>
            </a:pPr>
            <a:r>
              <a:rPr lang="en-US" sz="1100" b="1" spc="160" kern="0" dirty="0">
                <a:solidFill>
                  <a:srgbClr val="14161B"/>
                </a:solidFill>
                <a:latin typeface="Trade Gothic Next" pitchFamily="34" charset="0"/>
                <a:ea typeface="Trade Gothic Next" pitchFamily="34" charset="-122"/>
                <a:cs typeface="Trade Gothic Next" pitchFamily="34" charset="-120"/>
              </a:rPr>
              <a:t>UNIT 02  •  CHEMISTRY</a:t>
            </a:r>
            <a:endParaRPr lang="en-US" sz="1100" dirty="0"/>
          </a:p>
        </p:txBody>
      </p:sp>
      <p:sp>
        <p:nvSpPr>
          <p:cNvPr id="12" name="Text 10"/>
          <p:cNvSpPr txBox="1"/>
          <p:nvPr>
            <p:ph idx="121" type="body" hasCustomPrompt="1"/>
          </p:nvPr>
        </p:nvSpPr>
        <p:spPr>
          <a:xfrm>
            <a:off x="8762695" y="6382512"/>
            <a:ext cx="2743200" cy="237744"/>
          </a:xfrm>
          <a:prstGeom prst="rect">
            <a:avLst/>
          </a:prstGeom>
          <a:noFill/>
          <a:ln/>
        </p:spPr>
        <p:txBody>
          <a:bodyPr wrap="square" lIns="0" tIns="0" rIns="0" bIns="0" rtlCol="0" anchor="ctr"/>
          <a:lstStyle/>
          <a:p>
            <a:pPr algn="r" indent="0" marL="0">
              <a:buNone/>
            </a:pPr>
            <a:r>
              <a:rPr lang="en-US" sz="1000" b="1" spc="140" kern="0" dirty="0">
                <a:solidFill>
                  <a:srgbClr val="2E3338"/>
                </a:solidFill>
                <a:latin typeface="Trade Gothic Next" pitchFamily="34" charset="0"/>
                <a:ea typeface="Trade Gothic Next" pitchFamily="34" charset="-122"/>
                <a:cs typeface="Trade Gothic Next" pitchFamily="34" charset="-120"/>
              </a:rPr>
              <a:t>U02 • S02.3</a:t>
            </a:r>
            <a:endParaRPr lang="en-US" sz="1000" dirty="0"/>
          </a:p>
        </p:txBody>
      </p:sp>
      <p:sp>
        <p:nvSpPr>
          <p:cNvPr id="14" name="Text 4"/>
          <p:cNvSpPr txBox="1"/>
          <p:nvPr>
            <p:ph idx="107" hasCustomPrompt="1"/>
          </p:nvPr>
        </p:nvSpPr>
        <p:spPr>
          <a:xfrm>
            <a:off x="8641080" y="1088136"/>
            <a:ext cx="2633472" cy="1481328"/>
          </a:xfrm>
          <a:prstGeom prst="rect">
            <a:avLst/>
          </a:prstGeom>
          <a:noFill/>
          <a:ln/>
        </p:spPr>
        <p:txBody>
          <a:bodyPr wrap="square" lIns="0" tIns="0" rIns="0" bIns="0" rtlCol="0" anchor="ctr"/>
          <a:lstStyle/>
          <a:p>
            <a:pPr algn="ctr" indent="0" marL="0">
              <a:buNone/>
            </a:pP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2"/>
          <p:cNvSpPr txBox="1"/>
          <p:nvPr>
            <p:ph idx="103" type="title" hasCustomPrompt="1"/>
          </p:nvPr>
        </p:nvSpPr>
        <p:spPr>
          <a:xfrm>
            <a:off x="685800" y="932688"/>
            <a:ext cx="10820095" cy="868680"/>
          </a:xfrm>
          <a:prstGeom prst="rect">
            <a:avLst/>
          </a:prstGeom>
          <a:noFill/>
          <a:ln/>
        </p:spPr>
        <p:txBody>
          <a:bodyPr wrap="square" lIns="0" tIns="0" rIns="0" bIns="0" rtlCol="0" anchor="t"/>
          <a:lstStyle/>
          <a:p>
            <a:pPr algn="l" indent="0" marL="0">
              <a:buNone/>
            </a:pPr>
            <a:r>
              <a:rPr lang="en-US" sz="2800" b="1" dirty="0">
                <a:solidFill>
                  <a:srgbClr val="14161B"/>
                </a:solidFill>
                <a:latin typeface="Trade Gothic Next" pitchFamily="34" charset="0"/>
                <a:ea typeface="Trade Gothic Next" pitchFamily="34" charset="-122"/>
                <a:cs typeface="Trade Gothic Next" pitchFamily="34" charset="-120"/>
              </a:rPr>
              <a:t>Noble-Gas Shorthand</a:t>
            </a:r>
            <a:endParaRPr lang="en-US" sz="2800" dirty="0"/>
          </a:p>
        </p:txBody>
      </p:sp>
      <p:sp>
        <p:nvSpPr>
          <p:cNvPr id="3" name="Text 2"/>
          <p:cNvSpPr txBox="1"/>
          <p:nvPr>
            <p:ph idx="104" type="body" hasCustomPrompt="1"/>
          </p:nvPr>
        </p:nvSpPr>
        <p:spPr>
          <a:xfrm>
            <a:off x="685800" y="1847088"/>
            <a:ext cx="10820095" cy="384048"/>
          </a:xfrm>
          <a:prstGeom prst="rect">
            <a:avLst/>
          </a:prstGeom>
          <a:noFill/>
          <a:ln/>
        </p:spPr>
        <p:txBody>
          <a:bodyPr wrap="square" lIns="0" tIns="0" rIns="0" bIns="0" rtlCol="0"/>
          <a:lstStyle/>
          <a:p>
            <a:pPr indent="0" marL="0">
              <a:buNone/>
            </a:pPr>
            <a:r>
              <a:rPr lang="en-US" sz="1700" dirty="0">
                <a:solidFill>
                  <a:srgbClr val="2E3338"/>
                </a:solidFill>
                <a:latin typeface="Trade Gothic Next" pitchFamily="34" charset="0"/>
                <a:ea typeface="Trade Gothic Next" pitchFamily="34" charset="-122"/>
                <a:cs typeface="Trade Gothic Next" pitchFamily="34" charset="-120"/>
              </a:rPr>
              <a:t>Replace the filled inner core with a noble gas in brackets.</a:t>
            </a:r>
            <a:endParaRPr lang="en-US" sz="1700" dirty="0"/>
          </a:p>
        </p:txBody>
      </p:sp>
      <p:sp>
        <p:nvSpPr>
          <p:cNvPr id="4" name="Text 4"/>
          <p:cNvSpPr txBox="1"/>
          <p:nvPr>
            <p:ph idx="108" type="body" hasCustomPrompt="1"/>
          </p:nvPr>
        </p:nvSpPr>
        <p:spPr>
          <a:xfrm>
            <a:off x="5733288" y="2542032"/>
            <a:ext cx="2752344" cy="219456"/>
          </a:xfrm>
          <a:prstGeom prst="rect">
            <a:avLst/>
          </a:prstGeom>
          <a:noFill/>
          <a:ln/>
        </p:spPr>
        <p:txBody>
          <a:bodyPr wrap="square" lIns="0" tIns="0" rIns="0" bIns="0" rtlCol="0"/>
          <a:lstStyle/>
          <a:p>
            <a:pPr indent="0" marL="0">
              <a:buNone/>
            </a:pPr>
            <a:r>
              <a:rPr lang="en-US" sz="1200" b="1" spc="120" kern="0" dirty="0">
                <a:solidFill>
                  <a:srgbClr val="2E3338"/>
                </a:solidFill>
                <a:latin typeface="Trade Gothic Next" pitchFamily="34" charset="0"/>
                <a:ea typeface="Trade Gothic Next" pitchFamily="34" charset="-122"/>
                <a:cs typeface="Trade Gothic Next" pitchFamily="34" charset="-120"/>
              </a:rPr>
              <a:t>LONGHAND: Cl</a:t>
            </a:r>
            <a:endParaRPr lang="en-US" sz="1200" dirty="0"/>
          </a:p>
        </p:txBody>
      </p:sp>
      <p:sp>
        <p:nvSpPr>
          <p:cNvPr id="5" name="Text 4"/>
          <p:cNvSpPr txBox="1"/>
          <p:nvPr>
            <p:ph idx="109" type="body" hasCustomPrompt="1"/>
          </p:nvPr>
        </p:nvSpPr>
        <p:spPr>
          <a:xfrm>
            <a:off x="5733288" y="2834640"/>
            <a:ext cx="2752344" cy="1965960"/>
          </a:xfrm>
          <a:prstGeom prst="rect">
            <a:avLst/>
          </a:prstGeom>
          <a:noFill/>
          <a:ln/>
        </p:spPr>
        <p:txBody>
          <a:bodyPr wrap="square" lIns="0" tIns="0" rIns="0" bIns="0" rtlCol="0"/>
          <a:lstStyle/>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1s</a:t>
            </a:r>
            <a:pPr indent="0" marL="0">
              <a:buNone/>
            </a:pPr>
            <a:r>
              <a:rPr lang="en-US" sz="1600" baseline="30000" dirty="0">
                <a:solidFill>
                  <a:srgbClr val="14161B"/>
                </a:solidFill>
                <a:latin typeface="Trade Gothic Next" pitchFamily="34" charset="0"/>
                <a:ea typeface="Trade Gothic Next" pitchFamily="34" charset="-122"/>
                <a:cs typeface="Trade Gothic Next" pitchFamily="34" charset="-120"/>
              </a:rPr>
              <a:t>2</a:t>
            </a:r>
            <a:pPr indent="0" marL="0">
              <a:buNone/>
            </a:pPr>
            <a:r>
              <a:rPr lang="en-US" sz="1600" dirty="0">
                <a:solidFill>
                  <a:srgbClr val="14161B"/>
                </a:solidFill>
                <a:latin typeface="Trade Gothic Next" pitchFamily="34" charset="0"/>
                <a:ea typeface="Trade Gothic Next" pitchFamily="34" charset="-122"/>
                <a:cs typeface="Trade Gothic Next" pitchFamily="34" charset="-120"/>
              </a:rPr>
              <a:t> 2s</a:t>
            </a:r>
            <a:pPr indent="0" marL="0">
              <a:buNone/>
            </a:pPr>
            <a:r>
              <a:rPr lang="en-US" sz="1600" baseline="30000" dirty="0">
                <a:solidFill>
                  <a:srgbClr val="14161B"/>
                </a:solidFill>
                <a:latin typeface="Trade Gothic Next" pitchFamily="34" charset="0"/>
                <a:ea typeface="Trade Gothic Next" pitchFamily="34" charset="-122"/>
                <a:cs typeface="Trade Gothic Next" pitchFamily="34" charset="-120"/>
              </a:rPr>
              <a:t>2</a:t>
            </a:r>
            <a:pPr indent="0" marL="0">
              <a:buNone/>
            </a:pPr>
            <a:r>
              <a:rPr lang="en-US" sz="1600" dirty="0">
                <a:solidFill>
                  <a:srgbClr val="14161B"/>
                </a:solidFill>
                <a:latin typeface="Trade Gothic Next" pitchFamily="34" charset="0"/>
                <a:ea typeface="Trade Gothic Next" pitchFamily="34" charset="-122"/>
                <a:cs typeface="Trade Gothic Next" pitchFamily="34" charset="-120"/>
              </a:rPr>
              <a:t> 2p</a:t>
            </a:r>
            <a:pPr indent="0" marL="0">
              <a:buNone/>
            </a:pPr>
            <a:r>
              <a:rPr lang="en-US" sz="1600" baseline="30000" dirty="0">
                <a:solidFill>
                  <a:srgbClr val="14161B"/>
                </a:solidFill>
                <a:latin typeface="Trade Gothic Next" pitchFamily="34" charset="0"/>
                <a:ea typeface="Trade Gothic Next" pitchFamily="34" charset="-122"/>
                <a:cs typeface="Trade Gothic Next" pitchFamily="34" charset="-120"/>
              </a:rPr>
              <a:t>6</a:t>
            </a:r>
            <a:pPr indent="0" marL="0">
              <a:buNone/>
            </a:pPr>
            <a:r>
              <a:rPr lang="en-US" sz="1600" dirty="0">
                <a:solidFill>
                  <a:srgbClr val="14161B"/>
                </a:solidFill>
                <a:latin typeface="Trade Gothic Next" pitchFamily="34" charset="0"/>
                <a:ea typeface="Trade Gothic Next" pitchFamily="34" charset="-122"/>
                <a:cs typeface="Trade Gothic Next" pitchFamily="34" charset="-120"/>
              </a:rPr>
              <a:t> 3s</a:t>
            </a:r>
            <a:pPr indent="0" marL="0">
              <a:buNone/>
            </a:pPr>
            <a:r>
              <a:rPr lang="en-US" sz="1600" baseline="30000" dirty="0">
                <a:solidFill>
                  <a:srgbClr val="14161B"/>
                </a:solidFill>
                <a:latin typeface="Trade Gothic Next" pitchFamily="34" charset="0"/>
                <a:ea typeface="Trade Gothic Next" pitchFamily="34" charset="-122"/>
                <a:cs typeface="Trade Gothic Next" pitchFamily="34" charset="-120"/>
              </a:rPr>
              <a:t>2</a:t>
            </a:r>
            <a:pPr indent="0" marL="0">
              <a:buNone/>
            </a:pPr>
            <a:r>
              <a:rPr lang="en-US" sz="1600" dirty="0">
                <a:solidFill>
                  <a:srgbClr val="14161B"/>
                </a:solidFill>
                <a:latin typeface="Trade Gothic Next" pitchFamily="34" charset="0"/>
                <a:ea typeface="Trade Gothic Next" pitchFamily="34" charset="-122"/>
                <a:cs typeface="Trade Gothic Next" pitchFamily="34" charset="-120"/>
              </a:rPr>
              <a:t> 3p</a:t>
            </a:r>
            <a:pPr indent="0" marL="0">
              <a:buNone/>
            </a:pPr>
            <a:r>
              <a:rPr lang="en-US" sz="1600" baseline="30000" dirty="0">
                <a:solidFill>
                  <a:srgbClr val="14161B"/>
                </a:solidFill>
                <a:latin typeface="Trade Gothic Next" pitchFamily="34" charset="0"/>
                <a:ea typeface="Trade Gothic Next" pitchFamily="34" charset="-122"/>
                <a:cs typeface="Trade Gothic Next" pitchFamily="34" charset="-120"/>
              </a:rPr>
              <a:t>5</a:t>
            </a:r>
            <a:endParaRPr lang="en-US" sz="1600" dirty="0"/>
          </a:p>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All 17 electrons written out.</a:t>
            </a:r>
            <a:endParaRPr lang="en-US" sz="1600" dirty="0"/>
          </a:p>
        </p:txBody>
      </p:sp>
      <p:sp>
        <p:nvSpPr>
          <p:cNvPr id="6" name="Text 5"/>
          <p:cNvSpPr txBox="1"/>
          <p:nvPr>
            <p:ph idx="111" type="body" hasCustomPrompt="1"/>
          </p:nvPr>
        </p:nvSpPr>
        <p:spPr>
          <a:xfrm>
            <a:off x="9116568" y="2542032"/>
            <a:ext cx="2752344" cy="219456"/>
          </a:xfrm>
          <a:prstGeom prst="rect">
            <a:avLst/>
          </a:prstGeom>
          <a:noFill/>
          <a:ln/>
        </p:spPr>
        <p:txBody>
          <a:bodyPr wrap="square" lIns="0" tIns="0" rIns="0" bIns="0" rtlCol="0"/>
          <a:lstStyle/>
          <a:p>
            <a:pPr indent="0" marL="0">
              <a:buNone/>
            </a:pPr>
            <a:r>
              <a:rPr lang="en-US" sz="1200" b="1" spc="120" kern="0" dirty="0">
                <a:solidFill>
                  <a:srgbClr val="BDB6AA"/>
                </a:solidFill>
                <a:latin typeface="Trade Gothic Next" pitchFamily="34" charset="0"/>
                <a:ea typeface="Trade Gothic Next" pitchFamily="34" charset="-122"/>
                <a:cs typeface="Trade Gothic Next" pitchFamily="34" charset="-120"/>
              </a:rPr>
              <a:t>SHORTHAND: Cl</a:t>
            </a:r>
            <a:endParaRPr lang="en-US" sz="1200" dirty="0"/>
          </a:p>
        </p:txBody>
      </p:sp>
      <p:sp>
        <p:nvSpPr>
          <p:cNvPr id="7" name="Text 5"/>
          <p:cNvSpPr txBox="1"/>
          <p:nvPr>
            <p:ph idx="112" type="body" hasCustomPrompt="1"/>
          </p:nvPr>
        </p:nvSpPr>
        <p:spPr>
          <a:xfrm>
            <a:off x="9116568" y="2834640"/>
            <a:ext cx="2752344" cy="1965960"/>
          </a:xfrm>
          <a:prstGeom prst="rect">
            <a:avLst/>
          </a:prstGeom>
          <a:noFill/>
          <a:ln/>
        </p:spPr>
        <p:txBody>
          <a:bodyPr wrap="square" lIns="0" tIns="0" rIns="0" bIns="0" rtlCol="0"/>
          <a:lstStyle/>
          <a:p>
            <a:pPr indent="0" marL="0">
              <a:buNone/>
            </a:pPr>
            <a:r>
              <a:rPr lang="en-US" sz="1600" dirty="0">
                <a:solidFill>
                  <a:srgbClr val="EDF0E5"/>
                </a:solidFill>
                <a:latin typeface="Trade Gothic Next" pitchFamily="34" charset="0"/>
                <a:ea typeface="Trade Gothic Next" pitchFamily="34" charset="-122"/>
                <a:cs typeface="Trade Gothic Next" pitchFamily="34" charset="-120"/>
              </a:rPr>
              <a:t>[Ne] 3s</a:t>
            </a:r>
            <a:pPr indent="0" marL="0">
              <a:buNone/>
            </a:pPr>
            <a:r>
              <a:rPr lang="en-US" sz="1600" baseline="30000" dirty="0">
                <a:solidFill>
                  <a:srgbClr val="EDF0E5"/>
                </a:solidFill>
                <a:latin typeface="Trade Gothic Next" pitchFamily="34" charset="0"/>
                <a:ea typeface="Trade Gothic Next" pitchFamily="34" charset="-122"/>
                <a:cs typeface="Trade Gothic Next" pitchFamily="34" charset="-120"/>
              </a:rPr>
              <a:t>2</a:t>
            </a:r>
            <a:pPr indent="0" marL="0">
              <a:buNone/>
            </a:pPr>
            <a:r>
              <a:rPr lang="en-US" sz="1600" dirty="0">
                <a:solidFill>
                  <a:srgbClr val="EDF0E5"/>
                </a:solidFill>
                <a:latin typeface="Trade Gothic Next" pitchFamily="34" charset="0"/>
                <a:ea typeface="Trade Gothic Next" pitchFamily="34" charset="-122"/>
                <a:cs typeface="Trade Gothic Next" pitchFamily="34" charset="-120"/>
              </a:rPr>
              <a:t> 3p</a:t>
            </a:r>
            <a:pPr indent="0" marL="0">
              <a:buNone/>
            </a:pPr>
            <a:r>
              <a:rPr lang="en-US" sz="1600" baseline="30000" dirty="0">
                <a:solidFill>
                  <a:srgbClr val="EDF0E5"/>
                </a:solidFill>
                <a:latin typeface="Trade Gothic Next" pitchFamily="34" charset="0"/>
                <a:ea typeface="Trade Gothic Next" pitchFamily="34" charset="-122"/>
                <a:cs typeface="Trade Gothic Next" pitchFamily="34" charset="-120"/>
              </a:rPr>
              <a:t>5</a:t>
            </a:r>
            <a:endParaRPr lang="en-US" sz="1600" dirty="0"/>
          </a:p>
          <a:p>
            <a:pPr indent="0" marL="0">
              <a:buNone/>
            </a:pPr>
            <a:r>
              <a:rPr lang="en-US" sz="1600" dirty="0">
                <a:solidFill>
                  <a:srgbClr val="EDF0E5"/>
                </a:solidFill>
                <a:latin typeface="Trade Gothic Next" pitchFamily="34" charset="0"/>
                <a:ea typeface="Trade Gothic Next" pitchFamily="34" charset="-122"/>
                <a:cs typeface="Trade Gothic Next" pitchFamily="34" charset="-120"/>
              </a:rPr>
              <a:t>[Ne] stands for the first 10: 1s</a:t>
            </a:r>
            <a:pPr indent="0" marL="0">
              <a:buNone/>
            </a:pPr>
            <a:r>
              <a:rPr lang="en-US" sz="1600" baseline="30000" dirty="0">
                <a:solidFill>
                  <a:srgbClr val="EDF0E5"/>
                </a:solidFill>
                <a:latin typeface="Trade Gothic Next" pitchFamily="34" charset="0"/>
                <a:ea typeface="Trade Gothic Next" pitchFamily="34" charset="-122"/>
                <a:cs typeface="Trade Gothic Next" pitchFamily="34" charset="-120"/>
              </a:rPr>
              <a:t>2</a:t>
            </a:r>
            <a:pPr indent="0" marL="0">
              <a:buNone/>
            </a:pPr>
            <a:r>
              <a:rPr lang="en-US" sz="1600" dirty="0">
                <a:solidFill>
                  <a:srgbClr val="EDF0E5"/>
                </a:solidFill>
                <a:latin typeface="Trade Gothic Next" pitchFamily="34" charset="0"/>
                <a:ea typeface="Trade Gothic Next" pitchFamily="34" charset="-122"/>
                <a:cs typeface="Trade Gothic Next" pitchFamily="34" charset="-120"/>
              </a:rPr>
              <a:t> 2s</a:t>
            </a:r>
            <a:pPr indent="0" marL="0">
              <a:buNone/>
            </a:pPr>
            <a:r>
              <a:rPr lang="en-US" sz="1600" baseline="30000" dirty="0">
                <a:solidFill>
                  <a:srgbClr val="EDF0E5"/>
                </a:solidFill>
                <a:latin typeface="Trade Gothic Next" pitchFamily="34" charset="0"/>
                <a:ea typeface="Trade Gothic Next" pitchFamily="34" charset="-122"/>
                <a:cs typeface="Trade Gothic Next" pitchFamily="34" charset="-120"/>
              </a:rPr>
              <a:t>2</a:t>
            </a:r>
            <a:pPr indent="0" marL="0">
              <a:buNone/>
            </a:pPr>
            <a:r>
              <a:rPr lang="en-US" sz="1600" dirty="0">
                <a:solidFill>
                  <a:srgbClr val="EDF0E5"/>
                </a:solidFill>
                <a:latin typeface="Trade Gothic Next" pitchFamily="34" charset="0"/>
                <a:ea typeface="Trade Gothic Next" pitchFamily="34" charset="-122"/>
                <a:cs typeface="Trade Gothic Next" pitchFamily="34" charset="-120"/>
              </a:rPr>
              <a:t> 2p</a:t>
            </a:r>
            <a:pPr indent="0" marL="0">
              <a:buNone/>
            </a:pPr>
            <a:r>
              <a:rPr lang="en-US" sz="1600" baseline="30000" dirty="0">
                <a:solidFill>
                  <a:srgbClr val="EDF0E5"/>
                </a:solidFill>
                <a:latin typeface="Trade Gothic Next" pitchFamily="34" charset="0"/>
                <a:ea typeface="Trade Gothic Next" pitchFamily="34" charset="-122"/>
                <a:cs typeface="Trade Gothic Next" pitchFamily="34" charset="-120"/>
              </a:rPr>
              <a:t>6</a:t>
            </a:r>
            <a:pPr indent="0" marL="0">
              <a:buNone/>
            </a:pPr>
            <a:r>
              <a:rPr lang="en-US" sz="1600" dirty="0">
                <a:solidFill>
                  <a:srgbClr val="EDF0E5"/>
                </a:solidFill>
                <a:latin typeface="Trade Gothic Next" pitchFamily="34" charset="0"/>
                <a:ea typeface="Trade Gothic Next" pitchFamily="34" charset="-122"/>
                <a:cs typeface="Trade Gothic Next" pitchFamily="34" charset="-120"/>
              </a:rPr>
              <a:t>.</a:t>
            </a:r>
            <a:endParaRPr lang="en-US" sz="1600" dirty="0"/>
          </a:p>
        </p:txBody>
      </p:sp>
      <p:sp>
        <p:nvSpPr>
          <p:cNvPr id="8" name="Text 7"/>
          <p:cNvSpPr txBox="1"/>
          <p:nvPr>
            <p:ph idx="115" type="body" hasCustomPrompt="1"/>
          </p:nvPr>
        </p:nvSpPr>
        <p:spPr>
          <a:xfrm>
            <a:off x="2240280" y="5394960"/>
            <a:ext cx="8991295" cy="402336"/>
          </a:xfrm>
          <a:prstGeom prst="rect">
            <a:avLst/>
          </a:prstGeom>
          <a:noFill/>
          <a:ln/>
        </p:spPr>
        <p:txBody>
          <a:bodyPr wrap="square" lIns="0" tIns="0" rIns="0" bIns="0" rtlCol="0" anchor="ctr"/>
          <a:lstStyle/>
          <a:p>
            <a:pPr indent="0" marL="0">
              <a:buNone/>
            </a:pPr>
            <a:r>
              <a:rPr lang="en-US" sz="1600" b="1" dirty="0">
                <a:solidFill>
                  <a:srgbClr val="EDF0E5"/>
                </a:solidFill>
                <a:latin typeface="Trade Gothic Next" pitchFamily="34" charset="0"/>
                <a:ea typeface="Trade Gothic Next" pitchFamily="34" charset="-122"/>
                <a:cs typeface="Trade Gothic Next" pitchFamily="34" charset="-120"/>
              </a:rPr>
              <a:t>Use the previous period's noble gas. Cl is in period 3, so its core is [Ne], not [Ar].</a:t>
            </a:r>
            <a:endParaRPr lang="en-US" sz="1600" dirty="0"/>
          </a:p>
        </p:txBody>
      </p:sp>
      <p:sp>
        <p:nvSpPr>
          <p:cNvPr id="9" name="Text 1"/>
          <p:cNvSpPr txBox="1"/>
          <p:nvPr>
            <p:ph idx="101" type="body" hasCustomPrompt="1"/>
          </p:nvPr>
        </p:nvSpPr>
        <p:spPr>
          <a:xfrm>
            <a:off x="685800" y="384048"/>
            <a:ext cx="6400800" cy="237744"/>
          </a:xfrm>
          <a:prstGeom prst="rect">
            <a:avLst/>
          </a:prstGeom>
          <a:noFill/>
          <a:ln/>
        </p:spPr>
        <p:txBody>
          <a:bodyPr wrap="square" lIns="0" tIns="0" rIns="0" bIns="0" rtlCol="0" anchor="ctr"/>
          <a:lstStyle/>
          <a:p>
            <a:pPr indent="0" marL="0">
              <a:buNone/>
            </a:pPr>
            <a:r>
              <a:rPr lang="en-US" sz="1100" b="1" spc="160" kern="0" dirty="0">
                <a:solidFill>
                  <a:srgbClr val="14161B"/>
                </a:solidFill>
                <a:latin typeface="Trade Gothic Next" pitchFamily="34" charset="0"/>
                <a:ea typeface="Trade Gothic Next" pitchFamily="34" charset="-122"/>
                <a:cs typeface="Trade Gothic Next" pitchFamily="34" charset="-120"/>
              </a:rPr>
              <a:t>UNIT 02  •  CHEMISTRY</a:t>
            </a:r>
            <a:endParaRPr lang="en-US" sz="1100" dirty="0"/>
          </a:p>
        </p:txBody>
      </p:sp>
      <p:sp>
        <p:nvSpPr>
          <p:cNvPr id="10" name="Text 8"/>
          <p:cNvSpPr txBox="1"/>
          <p:nvPr>
            <p:ph idx="117" type="body" hasCustomPrompt="1"/>
          </p:nvPr>
        </p:nvSpPr>
        <p:spPr>
          <a:xfrm>
            <a:off x="8762695" y="6382512"/>
            <a:ext cx="2743200" cy="237744"/>
          </a:xfrm>
          <a:prstGeom prst="rect">
            <a:avLst/>
          </a:prstGeom>
          <a:noFill/>
          <a:ln/>
        </p:spPr>
        <p:txBody>
          <a:bodyPr wrap="square" lIns="0" tIns="0" rIns="0" bIns="0" rtlCol="0" anchor="ctr"/>
          <a:lstStyle/>
          <a:p>
            <a:pPr algn="r" indent="0" marL="0">
              <a:buNone/>
            </a:pPr>
            <a:r>
              <a:rPr lang="en-US" sz="1000" b="1" spc="140" kern="0" dirty="0">
                <a:solidFill>
                  <a:srgbClr val="2E3338"/>
                </a:solidFill>
                <a:latin typeface="Trade Gothic Next" pitchFamily="34" charset="0"/>
                <a:ea typeface="Trade Gothic Next" pitchFamily="34" charset="-122"/>
                <a:cs typeface="Trade Gothic Next" pitchFamily="34" charset="-120"/>
              </a:rPr>
              <a:t>U02 • S02.3</a:t>
            </a:r>
            <a:endParaRPr lang="en-US" sz="1000" dirty="0"/>
          </a:p>
        </p:txBody>
      </p:sp>
      <p:sp>
        <p:nvSpPr>
          <p:cNvPr id="12" name="Text 3"/>
          <p:cNvSpPr txBox="1"/>
          <p:nvPr>
            <p:ph idx="106" hasCustomPrompt="1"/>
          </p:nvPr>
        </p:nvSpPr>
        <p:spPr>
          <a:xfrm>
            <a:off x="685800" y="2377440"/>
            <a:ext cx="4663440" cy="2624328"/>
          </a:xfrm>
          <a:prstGeom prst="rect">
            <a:avLst/>
          </a:prstGeom>
          <a:noFill/>
          <a:ln/>
        </p:spPr>
        <p:txBody>
          <a:bodyPr wrap="square" lIns="0" tIns="0" rIns="0" bIns="0" rtlCol="0" anchor="ctr"/>
          <a:lstStyle/>
          <a:p>
            <a:pPr algn="ctr" indent="0" marL="0">
              <a:buNone/>
            </a:pP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2"/>
          <p:cNvSpPr txBox="1"/>
          <p:nvPr>
            <p:ph idx="103" type="title" hasCustomPrompt="1"/>
          </p:nvPr>
        </p:nvSpPr>
        <p:spPr>
          <a:xfrm>
            <a:off x="685800" y="932688"/>
            <a:ext cx="10820095" cy="868680"/>
          </a:xfrm>
          <a:prstGeom prst="rect">
            <a:avLst/>
          </a:prstGeom>
          <a:noFill/>
          <a:ln/>
        </p:spPr>
        <p:txBody>
          <a:bodyPr wrap="square" lIns="0" tIns="0" rIns="0" bIns="0" rtlCol="0" anchor="t"/>
          <a:lstStyle/>
          <a:p>
            <a:pPr algn="l" indent="0" marL="0">
              <a:buNone/>
            </a:pPr>
            <a:r>
              <a:rPr lang="en-US" sz="2800" b="1" dirty="0">
                <a:solidFill>
                  <a:srgbClr val="14161B"/>
                </a:solidFill>
                <a:latin typeface="Trade Gothic Next" pitchFamily="34" charset="0"/>
                <a:ea typeface="Trade Gothic Next" pitchFamily="34" charset="-122"/>
                <a:cs typeface="Trade Gothic Next" pitchFamily="34" charset="-120"/>
              </a:rPr>
              <a:t>Shorthand: Germanium</a:t>
            </a:r>
            <a:endParaRPr lang="en-US" sz="2800" dirty="0"/>
          </a:p>
        </p:txBody>
      </p:sp>
      <p:sp>
        <p:nvSpPr>
          <p:cNvPr id="3" name="Text 2"/>
          <p:cNvSpPr txBox="1"/>
          <p:nvPr>
            <p:ph idx="104" type="body" hasCustomPrompt="1"/>
          </p:nvPr>
        </p:nvSpPr>
        <p:spPr>
          <a:xfrm>
            <a:off x="685800" y="1847088"/>
            <a:ext cx="10820095" cy="384048"/>
          </a:xfrm>
          <a:prstGeom prst="rect">
            <a:avLst/>
          </a:prstGeom>
          <a:noFill/>
          <a:ln/>
        </p:spPr>
        <p:txBody>
          <a:bodyPr wrap="square" lIns="0" tIns="0" rIns="0" bIns="0" rtlCol="0"/>
          <a:lstStyle/>
          <a:p>
            <a:pPr indent="0" marL="0">
              <a:buNone/>
            </a:pPr>
            <a:r>
              <a:rPr lang="en-US" sz="1700" dirty="0">
                <a:solidFill>
                  <a:srgbClr val="2E3338"/>
                </a:solidFill>
                <a:latin typeface="Trade Gothic Next" pitchFamily="34" charset="0"/>
                <a:ea typeface="Trade Gothic Next" pitchFamily="34" charset="-122"/>
                <a:cs typeface="Trade Gothic Next" pitchFamily="34" charset="-120"/>
              </a:rPr>
              <a:t>Write it long first. Then swap the argon part for [Ar].</a:t>
            </a:r>
            <a:endParaRPr lang="en-US" sz="1700" dirty="0"/>
          </a:p>
        </p:txBody>
      </p:sp>
      <p:sp>
        <p:nvSpPr>
          <p:cNvPr id="4" name="Text 4"/>
          <p:cNvSpPr txBox="1"/>
          <p:nvPr>
            <p:ph idx="108" type="body" hasCustomPrompt="1"/>
          </p:nvPr>
        </p:nvSpPr>
        <p:spPr>
          <a:xfrm>
            <a:off x="6327648" y="2560320"/>
            <a:ext cx="5129784" cy="219456"/>
          </a:xfrm>
          <a:prstGeom prst="rect">
            <a:avLst/>
          </a:prstGeom>
          <a:noFill/>
          <a:ln/>
        </p:spPr>
        <p:txBody>
          <a:bodyPr wrap="square" lIns="0" tIns="0" rIns="0" bIns="0" rtlCol="0"/>
          <a:lstStyle/>
          <a:p>
            <a:pPr indent="0" marL="0">
              <a:buNone/>
            </a:pPr>
            <a:r>
              <a:rPr lang="en-US" sz="1200" b="1" spc="120" kern="0" dirty="0">
                <a:solidFill>
                  <a:srgbClr val="2E3338"/>
                </a:solidFill>
                <a:latin typeface="Trade Gothic Next" pitchFamily="34" charset="0"/>
                <a:ea typeface="Trade Gothic Next" pitchFamily="34" charset="-122"/>
                <a:cs typeface="Trade Gothic Next" pitchFamily="34" charset="-120"/>
              </a:rPr>
              <a:t>STEP 1: LONGHAND</a:t>
            </a:r>
            <a:endParaRPr lang="en-US" sz="1200" dirty="0"/>
          </a:p>
        </p:txBody>
      </p:sp>
      <p:sp>
        <p:nvSpPr>
          <p:cNvPr id="5" name="Text 4"/>
          <p:cNvSpPr txBox="1"/>
          <p:nvPr>
            <p:ph idx="109" type="body" hasCustomPrompt="1"/>
          </p:nvPr>
        </p:nvSpPr>
        <p:spPr>
          <a:xfrm>
            <a:off x="6327648" y="2852928"/>
            <a:ext cx="5129784" cy="329184"/>
          </a:xfrm>
          <a:prstGeom prst="rect">
            <a:avLst/>
          </a:prstGeom>
          <a:noFill/>
          <a:ln/>
        </p:spPr>
        <p:txBody>
          <a:bodyPr wrap="square" lIns="0" tIns="0" rIns="0" bIns="0" rtlCol="0"/>
          <a:lstStyle/>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All 32 electrons, in filling order.</a:t>
            </a:r>
            <a:endParaRPr lang="en-US" sz="1600" dirty="0"/>
          </a:p>
        </p:txBody>
      </p:sp>
      <p:sp>
        <p:nvSpPr>
          <p:cNvPr id="6" name="Text 5"/>
          <p:cNvSpPr txBox="1"/>
          <p:nvPr>
            <p:ph idx="111" type="body" hasCustomPrompt="1"/>
          </p:nvPr>
        </p:nvSpPr>
        <p:spPr>
          <a:xfrm>
            <a:off x="6327648" y="3694176"/>
            <a:ext cx="5129784" cy="219456"/>
          </a:xfrm>
          <a:prstGeom prst="rect">
            <a:avLst/>
          </a:prstGeom>
          <a:noFill/>
          <a:ln/>
        </p:spPr>
        <p:txBody>
          <a:bodyPr wrap="square" lIns="0" tIns="0" rIns="0" bIns="0" rtlCol="0"/>
          <a:lstStyle/>
          <a:p>
            <a:pPr indent="0" marL="0">
              <a:buNone/>
            </a:pPr>
            <a:r>
              <a:rPr lang="en-US" sz="1200" b="1" spc="120" kern="0" dirty="0">
                <a:solidFill>
                  <a:srgbClr val="2E3338"/>
                </a:solidFill>
                <a:latin typeface="Trade Gothic Next" pitchFamily="34" charset="0"/>
                <a:ea typeface="Trade Gothic Next" pitchFamily="34" charset="-122"/>
                <a:cs typeface="Trade Gothic Next" pitchFamily="34" charset="-120"/>
              </a:rPr>
              <a:t>STEP 2: THE SUBSTITUTE</a:t>
            </a:r>
            <a:endParaRPr lang="en-US" sz="1200" dirty="0"/>
          </a:p>
        </p:txBody>
      </p:sp>
      <p:sp>
        <p:nvSpPr>
          <p:cNvPr id="7" name="Text 5"/>
          <p:cNvSpPr txBox="1"/>
          <p:nvPr>
            <p:ph idx="112" type="body" hasCustomPrompt="1"/>
          </p:nvPr>
        </p:nvSpPr>
        <p:spPr>
          <a:xfrm>
            <a:off x="6327648" y="3986784"/>
            <a:ext cx="5129784" cy="329184"/>
          </a:xfrm>
          <a:prstGeom prst="rect">
            <a:avLst/>
          </a:prstGeom>
          <a:noFill/>
          <a:ln/>
        </p:spPr>
        <p:txBody>
          <a:bodyPr wrap="square" lIns="0" tIns="0" rIns="0" bIns="0" rtlCol="0"/>
          <a:lstStyle/>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[Ar] is a placeholder for argon's 18 electrons.</a:t>
            </a:r>
            <a:endParaRPr lang="en-US" sz="1600" dirty="0"/>
          </a:p>
        </p:txBody>
      </p:sp>
      <p:sp>
        <p:nvSpPr>
          <p:cNvPr id="8" name="Text 6"/>
          <p:cNvSpPr txBox="1"/>
          <p:nvPr>
            <p:ph idx="114" type="body" hasCustomPrompt="1"/>
          </p:nvPr>
        </p:nvSpPr>
        <p:spPr>
          <a:xfrm>
            <a:off x="6327648" y="4828032"/>
            <a:ext cx="5129784" cy="219456"/>
          </a:xfrm>
          <a:prstGeom prst="rect">
            <a:avLst/>
          </a:prstGeom>
          <a:noFill/>
          <a:ln/>
        </p:spPr>
        <p:txBody>
          <a:bodyPr wrap="square" lIns="0" tIns="0" rIns="0" bIns="0" rtlCol="0"/>
          <a:lstStyle/>
          <a:p>
            <a:pPr indent="0" marL="0">
              <a:buNone/>
            </a:pPr>
            <a:r>
              <a:rPr lang="en-US" sz="1200" b="1" spc="120" kern="0" dirty="0">
                <a:solidFill>
                  <a:srgbClr val="2E3338"/>
                </a:solidFill>
                <a:latin typeface="Trade Gothic Next" pitchFamily="34" charset="0"/>
                <a:ea typeface="Trade Gothic Next" pitchFamily="34" charset="-122"/>
                <a:cs typeface="Trade Gothic Next" pitchFamily="34" charset="-120"/>
              </a:rPr>
              <a:t>STEP 3: FINISH</a:t>
            </a:r>
            <a:endParaRPr lang="en-US" sz="1200" dirty="0"/>
          </a:p>
        </p:txBody>
      </p:sp>
      <p:sp>
        <p:nvSpPr>
          <p:cNvPr id="9" name="Text 6"/>
          <p:cNvSpPr txBox="1"/>
          <p:nvPr>
            <p:ph idx="115" type="body" hasCustomPrompt="1"/>
          </p:nvPr>
        </p:nvSpPr>
        <p:spPr>
          <a:xfrm>
            <a:off x="6327648" y="5120640"/>
            <a:ext cx="5129784" cy="320040"/>
          </a:xfrm>
          <a:prstGeom prst="rect">
            <a:avLst/>
          </a:prstGeom>
          <a:noFill/>
          <a:ln/>
        </p:spPr>
        <p:txBody>
          <a:bodyPr wrap="square" lIns="0" tIns="0" rIns="0" bIns="0" rtlCol="0"/>
          <a:lstStyle/>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Then write what is left, the usual way.</a:t>
            </a:r>
            <a:endParaRPr lang="en-US" sz="1600" dirty="0"/>
          </a:p>
        </p:txBody>
      </p:sp>
      <p:sp>
        <p:nvSpPr>
          <p:cNvPr id="10" name="Text 1"/>
          <p:cNvSpPr txBox="1"/>
          <p:nvPr>
            <p:ph idx="101" type="body" hasCustomPrompt="1"/>
          </p:nvPr>
        </p:nvSpPr>
        <p:spPr>
          <a:xfrm>
            <a:off x="685800" y="384048"/>
            <a:ext cx="6400800" cy="237744"/>
          </a:xfrm>
          <a:prstGeom prst="rect">
            <a:avLst/>
          </a:prstGeom>
          <a:noFill/>
          <a:ln/>
        </p:spPr>
        <p:txBody>
          <a:bodyPr wrap="square" lIns="0" tIns="0" rIns="0" bIns="0" rtlCol="0" anchor="ctr"/>
          <a:lstStyle/>
          <a:p>
            <a:pPr indent="0" marL="0">
              <a:buNone/>
            </a:pPr>
            <a:r>
              <a:rPr lang="en-US" sz="1100" b="1" spc="160" kern="0" dirty="0">
                <a:solidFill>
                  <a:srgbClr val="14161B"/>
                </a:solidFill>
                <a:latin typeface="Trade Gothic Next" pitchFamily="34" charset="0"/>
                <a:ea typeface="Trade Gothic Next" pitchFamily="34" charset="-122"/>
                <a:cs typeface="Trade Gothic Next" pitchFamily="34" charset="-120"/>
              </a:rPr>
              <a:t>UNIT 02  •  CHEMISTRY</a:t>
            </a:r>
            <a:endParaRPr lang="en-US" sz="1100" dirty="0"/>
          </a:p>
        </p:txBody>
      </p:sp>
      <p:sp>
        <p:nvSpPr>
          <p:cNvPr id="11" name="Text 7"/>
          <p:cNvSpPr txBox="1"/>
          <p:nvPr>
            <p:ph idx="117" type="body" hasCustomPrompt="1"/>
          </p:nvPr>
        </p:nvSpPr>
        <p:spPr>
          <a:xfrm>
            <a:off x="8762695" y="6382512"/>
            <a:ext cx="2743200" cy="237744"/>
          </a:xfrm>
          <a:prstGeom prst="rect">
            <a:avLst/>
          </a:prstGeom>
          <a:noFill/>
          <a:ln/>
        </p:spPr>
        <p:txBody>
          <a:bodyPr wrap="square" lIns="0" tIns="0" rIns="0" bIns="0" rtlCol="0" anchor="ctr"/>
          <a:lstStyle/>
          <a:p>
            <a:pPr algn="r" indent="0" marL="0">
              <a:buNone/>
            </a:pPr>
            <a:r>
              <a:rPr lang="en-US" sz="1000" b="1" spc="140" kern="0" dirty="0">
                <a:solidFill>
                  <a:srgbClr val="2E3338"/>
                </a:solidFill>
                <a:latin typeface="Trade Gothic Next" pitchFamily="34" charset="0"/>
                <a:ea typeface="Trade Gothic Next" pitchFamily="34" charset="-122"/>
                <a:cs typeface="Trade Gothic Next" pitchFamily="34" charset="-120"/>
              </a:rPr>
              <a:t>U02 • S02.3</a:t>
            </a:r>
            <a:endParaRPr lang="en-US" sz="1000" dirty="0"/>
          </a:p>
        </p:txBody>
      </p:sp>
      <p:sp>
        <p:nvSpPr>
          <p:cNvPr id="13" name="Text 3"/>
          <p:cNvSpPr txBox="1"/>
          <p:nvPr>
            <p:ph idx="106" type="body" hasCustomPrompt="1"/>
          </p:nvPr>
        </p:nvSpPr>
        <p:spPr>
          <a:xfrm>
            <a:off x="914400" y="2651760"/>
            <a:ext cx="4617720" cy="2743200"/>
          </a:xfrm>
          <a:prstGeom prst="rect">
            <a:avLst/>
          </a:prstGeom>
          <a:noFill/>
          <a:ln/>
        </p:spPr>
        <p:txBody>
          <a:bodyPr wrap="square" lIns="0" tIns="0" rIns="0" bIns="0" rtlCol="0" anchor="ctr"/>
          <a:lstStyle/>
          <a:p>
            <a:pPr algn="ctr" indent="0" marL="0">
              <a:buNone/>
            </a:pPr>
            <a:endParaRPr lang="en-US" sz="2000" dirty="0"/>
          </a:p>
        </p:txBody>
      </p:sp>
      <p:sp>
        <p:nvSpPr>
          <p:cNvPr id="14" name="BUILD backdrop" descr="Text build for germanium, Z = 32: the longhand 1s2 2s2 2p6 3s2 3p6 4s2 3d10 4p2, whose first 5 segments (18 electrons) equal Ar, then Ar in brackets standing in for them, then the finished shorthand [Ar] 4s2 3d10 4p2."/>
          <p:cNvSpPr/>
          <p:nvPr/>
        </p:nvSpPr>
        <p:spPr>
          <a:xfrm>
            <a:off x="914400" y="2651760"/>
            <a:ext cx="4617720" cy="2743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BUILD title"/>
          <p:cNvSpPr txBox="1"/>
          <p:nvPr/>
        </p:nvSpPr>
        <p:spPr>
          <a:xfrm>
            <a:off x="1024128" y="2798063"/>
            <a:ext cx="4398264" cy="274320"/>
          </a:xfrm>
          <a:prstGeom prst="rect">
            <a:avLst/>
          </a:prstGeom>
          <a:noFill/>
        </p:spPr>
        <p:txBody>
          <a:bodyPr wrap="square" lIns="0" rIns="0" tIns="0" bIns="0" anchor="ctr">
            <a:spAutoFit/>
          </a:bodyPr>
          <a:lstStyle/>
          <a:p>
            <a:pPr algn="ctr"/>
            <a:r>
              <a:rPr sz="1800" b="1">
                <a:solidFill>
                  <a:srgbClr val="14161B"/>
                </a:solidFill>
                <a:latin typeface="Trade Gothic Next"/>
              </a:rPr>
              <a:t>GERMANIUM  Z = 32</a:t>
            </a:r>
          </a:p>
        </p:txBody>
      </p:sp>
      <p:sp>
        <p:nvSpPr>
          <p:cNvPr id="16" name="BUILD highlight core"/>
          <p:cNvSpPr/>
          <p:nvPr/>
        </p:nvSpPr>
        <p:spPr>
          <a:xfrm>
            <a:off x="1139430" y="3090671"/>
            <a:ext cx="2549281" cy="438912"/>
          </a:xfrm>
          <a:prstGeom prst="rect">
            <a:avLst/>
          </a:prstGeom>
          <a:solidFill>
            <a:srgbClr val="A3E635"/>
          </a:solidFill>
          <a:ln w="19050">
            <a:solidFill>
              <a:srgbClr val="1416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UILD segment 1s"/>
          <p:cNvSpPr txBox="1"/>
          <p:nvPr/>
        </p:nvSpPr>
        <p:spPr>
          <a:xfrm>
            <a:off x="1176006" y="3108959"/>
            <a:ext cx="439268" cy="402336"/>
          </a:xfrm>
          <a:prstGeom prst="rect">
            <a:avLst/>
          </a:prstGeom>
          <a:noFill/>
        </p:spPr>
        <p:txBody>
          <a:bodyPr wrap="none" lIns="0" rIns="0" tIns="0" bIns="0" anchor="ctr">
            <a:spAutoFit/>
          </a:bodyPr>
          <a:lstStyle/>
          <a:p>
            <a:pPr algn="ctr"/>
            <a:r>
              <a:rPr sz="1800" b="1">
                <a:solidFill>
                  <a:srgbClr val="14161B"/>
                </a:solidFill>
                <a:latin typeface="Trade Gothic Next"/>
              </a:rPr>
              <a:t>1s</a:t>
            </a:r>
            <a:r>
              <a:rPr sz="1800" b="1" baseline="30000">
                <a:solidFill>
                  <a:srgbClr val="14161B"/>
                </a:solidFill>
                <a:latin typeface="Trade Gothic Next"/>
              </a:rPr>
              <a:t>2</a:t>
            </a:r>
          </a:p>
        </p:txBody>
      </p:sp>
      <p:sp>
        <p:nvSpPr>
          <p:cNvPr id="18" name="BUILD segment 2s"/>
          <p:cNvSpPr txBox="1"/>
          <p:nvPr/>
        </p:nvSpPr>
        <p:spPr>
          <a:xfrm>
            <a:off x="1679283" y="3108959"/>
            <a:ext cx="439268" cy="402336"/>
          </a:xfrm>
          <a:prstGeom prst="rect">
            <a:avLst/>
          </a:prstGeom>
          <a:noFill/>
        </p:spPr>
        <p:txBody>
          <a:bodyPr wrap="none" lIns="0" rIns="0" tIns="0" bIns="0" anchor="ctr">
            <a:spAutoFit/>
          </a:bodyPr>
          <a:lstStyle/>
          <a:p>
            <a:pPr algn="ctr"/>
            <a:r>
              <a:rPr sz="1800" b="1">
                <a:solidFill>
                  <a:srgbClr val="14161B"/>
                </a:solidFill>
                <a:latin typeface="Trade Gothic Next"/>
              </a:rPr>
              <a:t>2s</a:t>
            </a:r>
            <a:r>
              <a:rPr sz="1800" b="1" baseline="30000">
                <a:solidFill>
                  <a:srgbClr val="14161B"/>
                </a:solidFill>
                <a:latin typeface="Trade Gothic Next"/>
              </a:rPr>
              <a:t>2</a:t>
            </a:r>
          </a:p>
        </p:txBody>
      </p:sp>
      <p:sp>
        <p:nvSpPr>
          <p:cNvPr id="19" name="BUILD segment 2p"/>
          <p:cNvSpPr txBox="1"/>
          <p:nvPr/>
        </p:nvSpPr>
        <p:spPr>
          <a:xfrm>
            <a:off x="2182559" y="3108959"/>
            <a:ext cx="451145" cy="402336"/>
          </a:xfrm>
          <a:prstGeom prst="rect">
            <a:avLst/>
          </a:prstGeom>
          <a:noFill/>
        </p:spPr>
        <p:txBody>
          <a:bodyPr wrap="none" lIns="0" rIns="0" tIns="0" bIns="0" anchor="ctr">
            <a:spAutoFit/>
          </a:bodyPr>
          <a:lstStyle/>
          <a:p>
            <a:pPr algn="ctr"/>
            <a:r>
              <a:rPr sz="1800" b="1">
                <a:solidFill>
                  <a:srgbClr val="14161B"/>
                </a:solidFill>
                <a:latin typeface="Trade Gothic Next"/>
              </a:rPr>
              <a:t>2p</a:t>
            </a:r>
            <a:r>
              <a:rPr sz="1800" b="1" baseline="30000">
                <a:solidFill>
                  <a:srgbClr val="14161B"/>
                </a:solidFill>
                <a:latin typeface="Trade Gothic Next"/>
              </a:rPr>
              <a:t>6</a:t>
            </a:r>
          </a:p>
        </p:txBody>
      </p:sp>
      <p:sp>
        <p:nvSpPr>
          <p:cNvPr id="20" name="BUILD segment 3s"/>
          <p:cNvSpPr txBox="1"/>
          <p:nvPr/>
        </p:nvSpPr>
        <p:spPr>
          <a:xfrm>
            <a:off x="2697713" y="3108959"/>
            <a:ext cx="439268" cy="402336"/>
          </a:xfrm>
          <a:prstGeom prst="rect">
            <a:avLst/>
          </a:prstGeom>
          <a:noFill/>
        </p:spPr>
        <p:txBody>
          <a:bodyPr wrap="none" lIns="0" rIns="0" tIns="0" bIns="0" anchor="ctr">
            <a:spAutoFit/>
          </a:bodyPr>
          <a:lstStyle/>
          <a:p>
            <a:pPr algn="ctr"/>
            <a:r>
              <a:rPr sz="1800" b="1">
                <a:solidFill>
                  <a:srgbClr val="14161B"/>
                </a:solidFill>
                <a:latin typeface="Trade Gothic Next"/>
              </a:rPr>
              <a:t>3s</a:t>
            </a:r>
            <a:r>
              <a:rPr sz="1800" b="1" baseline="30000">
                <a:solidFill>
                  <a:srgbClr val="14161B"/>
                </a:solidFill>
                <a:latin typeface="Trade Gothic Next"/>
              </a:rPr>
              <a:t>2</a:t>
            </a:r>
          </a:p>
        </p:txBody>
      </p:sp>
      <p:sp>
        <p:nvSpPr>
          <p:cNvPr id="21" name="BUILD segment 3p"/>
          <p:cNvSpPr txBox="1"/>
          <p:nvPr/>
        </p:nvSpPr>
        <p:spPr>
          <a:xfrm>
            <a:off x="3200990" y="3108959"/>
            <a:ext cx="451145" cy="402336"/>
          </a:xfrm>
          <a:prstGeom prst="rect">
            <a:avLst/>
          </a:prstGeom>
          <a:noFill/>
        </p:spPr>
        <p:txBody>
          <a:bodyPr wrap="none" lIns="0" rIns="0" tIns="0" bIns="0" anchor="ctr">
            <a:spAutoFit/>
          </a:bodyPr>
          <a:lstStyle/>
          <a:p>
            <a:pPr algn="ctr"/>
            <a:r>
              <a:rPr sz="1800" b="1">
                <a:solidFill>
                  <a:srgbClr val="14161B"/>
                </a:solidFill>
                <a:latin typeface="Trade Gothic Next"/>
              </a:rPr>
              <a:t>3p</a:t>
            </a:r>
            <a:r>
              <a:rPr sz="1800" b="1" baseline="30000">
                <a:solidFill>
                  <a:srgbClr val="14161B"/>
                </a:solidFill>
                <a:latin typeface="Trade Gothic Next"/>
              </a:rPr>
              <a:t>6</a:t>
            </a:r>
          </a:p>
        </p:txBody>
      </p:sp>
      <p:sp>
        <p:nvSpPr>
          <p:cNvPr id="22" name="BUILD segment 4s"/>
          <p:cNvSpPr txBox="1"/>
          <p:nvPr/>
        </p:nvSpPr>
        <p:spPr>
          <a:xfrm>
            <a:off x="3716143" y="3108959"/>
            <a:ext cx="439501" cy="402336"/>
          </a:xfrm>
          <a:prstGeom prst="rect">
            <a:avLst/>
          </a:prstGeom>
          <a:noFill/>
        </p:spPr>
        <p:txBody>
          <a:bodyPr wrap="none" lIns="0" rIns="0" tIns="0" bIns="0" anchor="ctr">
            <a:spAutoFit/>
          </a:bodyPr>
          <a:lstStyle/>
          <a:p>
            <a:pPr algn="ctr"/>
            <a:r>
              <a:rPr sz="1800" b="1">
                <a:solidFill>
                  <a:srgbClr val="14161B"/>
                </a:solidFill>
                <a:latin typeface="Trade Gothic Next"/>
              </a:rPr>
              <a:t>4s</a:t>
            </a:r>
            <a:r>
              <a:rPr sz="1800" b="1" baseline="30000">
                <a:solidFill>
                  <a:srgbClr val="14161B"/>
                </a:solidFill>
                <a:latin typeface="Trade Gothic Next"/>
              </a:rPr>
              <a:t>2</a:t>
            </a:r>
          </a:p>
        </p:txBody>
      </p:sp>
      <p:sp>
        <p:nvSpPr>
          <p:cNvPr id="23" name="BUILD segment 3d"/>
          <p:cNvSpPr txBox="1"/>
          <p:nvPr/>
        </p:nvSpPr>
        <p:spPr>
          <a:xfrm>
            <a:off x="4219652" y="3108959"/>
            <a:ext cx="535475" cy="402336"/>
          </a:xfrm>
          <a:prstGeom prst="rect">
            <a:avLst/>
          </a:prstGeom>
          <a:noFill/>
        </p:spPr>
        <p:txBody>
          <a:bodyPr wrap="none" lIns="0" rIns="0" tIns="0" bIns="0" anchor="ctr">
            <a:spAutoFit/>
          </a:bodyPr>
          <a:lstStyle/>
          <a:p>
            <a:pPr algn="ctr"/>
            <a:r>
              <a:rPr sz="1800" b="1">
                <a:solidFill>
                  <a:srgbClr val="14161B"/>
                </a:solidFill>
                <a:latin typeface="Trade Gothic Next"/>
              </a:rPr>
              <a:t>3d</a:t>
            </a:r>
            <a:r>
              <a:rPr sz="1800" b="1" baseline="30000">
                <a:solidFill>
                  <a:srgbClr val="14161B"/>
                </a:solidFill>
                <a:latin typeface="Trade Gothic Next"/>
              </a:rPr>
              <a:t>10</a:t>
            </a:r>
          </a:p>
        </p:txBody>
      </p:sp>
      <p:sp>
        <p:nvSpPr>
          <p:cNvPr id="24" name="BUILD segment 4p"/>
          <p:cNvSpPr txBox="1"/>
          <p:nvPr/>
        </p:nvSpPr>
        <p:spPr>
          <a:xfrm>
            <a:off x="4819136" y="3108959"/>
            <a:ext cx="451377" cy="402336"/>
          </a:xfrm>
          <a:prstGeom prst="rect">
            <a:avLst/>
          </a:prstGeom>
          <a:noFill/>
        </p:spPr>
        <p:txBody>
          <a:bodyPr wrap="none" lIns="0" rIns="0" tIns="0" bIns="0" anchor="ctr">
            <a:spAutoFit/>
          </a:bodyPr>
          <a:lstStyle/>
          <a:p>
            <a:pPr algn="ctr"/>
            <a:r>
              <a:rPr sz="1800" b="1">
                <a:solidFill>
                  <a:srgbClr val="14161B"/>
                </a:solidFill>
                <a:latin typeface="Trade Gothic Next"/>
              </a:rPr>
              <a:t>4p</a:t>
            </a:r>
            <a:r>
              <a:rPr sz="1800" b="1" baseline="30000">
                <a:solidFill>
                  <a:srgbClr val="14161B"/>
                </a:solidFill>
                <a:latin typeface="Trade Gothic Next"/>
              </a:rPr>
              <a:t>2</a:t>
            </a:r>
          </a:p>
        </p:txBody>
      </p:sp>
      <p:sp>
        <p:nvSpPr>
          <p:cNvPr id="25" name="BUILD sum"/>
          <p:cNvSpPr txBox="1"/>
          <p:nvPr/>
        </p:nvSpPr>
        <p:spPr>
          <a:xfrm>
            <a:off x="1024128" y="3547871"/>
            <a:ext cx="4398264" cy="274320"/>
          </a:xfrm>
          <a:prstGeom prst="rect">
            <a:avLst/>
          </a:prstGeom>
          <a:noFill/>
        </p:spPr>
        <p:txBody>
          <a:bodyPr wrap="square" lIns="0" rIns="0" tIns="0" bIns="0" anchor="ctr">
            <a:spAutoFit/>
          </a:bodyPr>
          <a:lstStyle/>
          <a:p>
            <a:pPr algn="ctr"/>
            <a:r>
              <a:rPr sz="1800" b="1">
                <a:solidFill>
                  <a:srgbClr val="14161B"/>
                </a:solidFill>
                <a:latin typeface="Trade Gothic Next"/>
              </a:rPr>
              <a:t>2+2+6+2+6+2+10+2 = 32</a:t>
            </a:r>
          </a:p>
        </p:txBody>
      </p:sp>
      <p:sp>
        <p:nvSpPr>
          <p:cNvPr id="26" name="BUILD sum shorthand"/>
          <p:cNvSpPr txBox="1"/>
          <p:nvPr/>
        </p:nvSpPr>
        <p:spPr>
          <a:xfrm>
            <a:off x="1024128" y="3547871"/>
            <a:ext cx="4398264" cy="274320"/>
          </a:xfrm>
          <a:prstGeom prst="rect">
            <a:avLst/>
          </a:prstGeom>
          <a:noFill/>
        </p:spPr>
        <p:txBody>
          <a:bodyPr wrap="square" lIns="0" rIns="0" tIns="0" bIns="0" anchor="ctr">
            <a:spAutoFit/>
          </a:bodyPr>
          <a:lstStyle/>
          <a:p>
            <a:pPr algn="ctr"/>
            <a:r>
              <a:rPr sz="1800" b="1">
                <a:solidFill>
                  <a:srgbClr val="14161B"/>
                </a:solidFill>
                <a:latin typeface="Trade Gothic Next"/>
              </a:rPr>
              <a:t>18 + 2 + 10 + 2 = 32</a:t>
            </a:r>
          </a:p>
        </p:txBody>
      </p:sp>
      <p:sp>
        <p:nvSpPr>
          <p:cNvPr id="27" name="BUILD caption"/>
          <p:cNvSpPr txBox="1"/>
          <p:nvPr/>
        </p:nvSpPr>
        <p:spPr>
          <a:xfrm>
            <a:off x="1024128" y="3858768"/>
            <a:ext cx="4398264" cy="493776"/>
          </a:xfrm>
          <a:prstGeom prst="rect">
            <a:avLst/>
          </a:prstGeom>
          <a:noFill/>
        </p:spPr>
        <p:txBody>
          <a:bodyPr wrap="square" lIns="0" rIns="0" tIns="0" bIns="0" anchor="ctr">
            <a:spAutoFit/>
          </a:bodyPr>
          <a:lstStyle/>
          <a:p>
            <a:pPr algn="ctr"/>
            <a:r>
              <a:rPr sz="1600" b="1">
                <a:solidFill>
                  <a:srgbClr val="4D730E"/>
                </a:solidFill>
                <a:latin typeface="Trade Gothic Next"/>
              </a:rPr>
              <a:t>These 18 electrons are exactly argon's configuration</a:t>
            </a:r>
          </a:p>
        </p:txBody>
      </p:sp>
      <p:sp>
        <p:nvSpPr>
          <p:cNvPr id="28" name="BUILD caption"/>
          <p:cNvSpPr txBox="1"/>
          <p:nvPr/>
        </p:nvSpPr>
        <p:spPr>
          <a:xfrm>
            <a:off x="1024128" y="4370831"/>
            <a:ext cx="4398264" cy="493776"/>
          </a:xfrm>
          <a:prstGeom prst="rect">
            <a:avLst/>
          </a:prstGeom>
          <a:noFill/>
        </p:spPr>
        <p:txBody>
          <a:bodyPr wrap="square" lIns="0" rIns="0" tIns="0" bIns="0" anchor="ctr">
            <a:spAutoFit/>
          </a:bodyPr>
          <a:lstStyle/>
          <a:p>
            <a:pPr algn="ctr"/>
            <a:r>
              <a:rPr sz="1600" b="1">
                <a:solidFill>
                  <a:srgbClr val="4D730E"/>
                </a:solidFill>
                <a:latin typeface="Trade Gothic Next"/>
              </a:rPr>
              <a:t>The noble gas BEFORE germanium stands in for them, like a substitution in math</a:t>
            </a:r>
          </a:p>
        </p:txBody>
      </p:sp>
      <p:sp>
        <p:nvSpPr>
          <p:cNvPr id="29" name="BUILD result"/>
          <p:cNvSpPr txBox="1"/>
          <p:nvPr/>
        </p:nvSpPr>
        <p:spPr>
          <a:xfrm>
            <a:off x="1024128" y="4919472"/>
            <a:ext cx="4398264" cy="292608"/>
          </a:xfrm>
          <a:prstGeom prst="rect">
            <a:avLst/>
          </a:prstGeom>
          <a:noFill/>
        </p:spPr>
        <p:txBody>
          <a:bodyPr wrap="square" lIns="0" rIns="0" tIns="0" bIns="0" anchor="ctr">
            <a:spAutoFit/>
          </a:bodyPr>
          <a:lstStyle/>
          <a:p>
            <a:pPr algn="ctr"/>
            <a:r>
              <a:rPr sz="1800" b="1">
                <a:solidFill>
                  <a:srgbClr val="14161B"/>
                </a:solidFill>
                <a:latin typeface="Trade Gothic Next"/>
              </a:rPr>
              <a:t>[Ar] 4s</a:t>
            </a:r>
            <a:r>
              <a:rPr sz="1800" b="1" baseline="30000">
                <a:solidFill>
                  <a:srgbClr val="14161B"/>
                </a:solidFill>
                <a:latin typeface="Trade Gothic Next"/>
              </a:rPr>
              <a:t>2</a:t>
            </a:r>
            <a:r>
              <a:rPr sz="1800" b="1">
                <a:solidFill>
                  <a:srgbClr val="14161B"/>
                </a:solidFill>
                <a:latin typeface="Trade Gothic Next"/>
              </a:rPr>
              <a:t> 3d</a:t>
            </a:r>
            <a:r>
              <a:rPr sz="1800" b="1" baseline="30000">
                <a:solidFill>
                  <a:srgbClr val="14161B"/>
                </a:solidFill>
                <a:latin typeface="Trade Gothic Next"/>
              </a:rPr>
              <a:t>10</a:t>
            </a:r>
            <a:r>
              <a:rPr sz="1800" b="1">
                <a:solidFill>
                  <a:srgbClr val="14161B"/>
                </a:solidFill>
                <a:latin typeface="Trade Gothic Next"/>
              </a:rPr>
              <a:t> 4p</a:t>
            </a:r>
            <a:r>
              <a:rPr sz="1800" b="1" baseline="30000">
                <a:solidFill>
                  <a:srgbClr val="14161B"/>
                </a:solidFill>
                <a:latin typeface="Trade Gothic Next"/>
              </a:rPr>
              <a:t>2</a:t>
            </a:r>
          </a:p>
        </p:txBody>
      </p:sp>
      <p:sp>
        <p:nvSpPr>
          <p:cNvPr id="30" name="BUILD Ar bracket"/>
          <p:cNvSpPr txBox="1"/>
          <p:nvPr/>
        </p:nvSpPr>
        <p:spPr>
          <a:xfrm>
            <a:off x="3111728" y="3127247"/>
            <a:ext cx="540406" cy="365760"/>
          </a:xfrm>
          <a:prstGeom prst="rect">
            <a:avLst/>
          </a:prstGeom>
          <a:solidFill>
            <a:srgbClr val="A3E635"/>
          </a:solidFill>
          <a:ln w="19050">
            <a:solidFill>
              <a:srgbClr val="14161B"/>
            </a:solidFill>
          </a:ln>
        </p:spPr>
        <p:txBody>
          <a:bodyPr wrap="none" lIns="0" rIns="0" tIns="0" bIns="0" anchor="ctr">
            <a:spAutoFit/>
          </a:bodyPr>
          <a:lstStyle/>
          <a:p>
            <a:pPr algn="ctr"/>
            <a:r>
              <a:rPr sz="1800" b="1">
                <a:solidFill>
                  <a:srgbClr val="14161B"/>
                </a:solidFill>
                <a:latin typeface="Trade Gothic Next"/>
              </a:rPr>
              <a:t>[Ar]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40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400"/>
                                        <p:tgtEl>
                                          <p:spTgt spid="1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fade">
                                      <p:cBhvr>
                                        <p:cTn id="13" dur="400"/>
                                        <p:tgtEl>
                                          <p:spTgt spid="1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9"/>
                                        </p:tgtEl>
                                        <p:attrNameLst>
                                          <p:attrName>style.visibility</p:attrName>
                                        </p:attrNameLst>
                                      </p:cBhvr>
                                      <p:to>
                                        <p:strVal val="visible"/>
                                      </p:to>
                                    </p:set>
                                    <p:animEffect transition="in" filter="fade">
                                      <p:cBhvr>
                                        <p:cTn id="16" dur="400"/>
                                        <p:tgtEl>
                                          <p:spTgt spid="1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400"/>
                                        <p:tgtEl>
                                          <p:spTgt spid="21"/>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2"/>
                                        </p:tgtEl>
                                        <p:attrNameLst>
                                          <p:attrName>style.visibility</p:attrName>
                                        </p:attrNameLst>
                                      </p:cBhvr>
                                      <p:to>
                                        <p:strVal val="visible"/>
                                      </p:to>
                                    </p:set>
                                    <p:animEffect transition="in" filter="fade">
                                      <p:cBhvr>
                                        <p:cTn id="25" dur="400"/>
                                        <p:tgtEl>
                                          <p:spTgt spid="22"/>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animEffect transition="in" filter="fade">
                                      <p:cBhvr>
                                        <p:cTn id="28" dur="400"/>
                                        <p:tgtEl>
                                          <p:spTgt spid="23"/>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4"/>
                                        </p:tgtEl>
                                        <p:attrNameLst>
                                          <p:attrName>style.visibility</p:attrName>
                                        </p:attrNameLst>
                                      </p:cBhvr>
                                      <p:to>
                                        <p:strVal val="visible"/>
                                      </p:to>
                                    </p:set>
                                    <p:animEffect transition="in" filter="fade">
                                      <p:cBhvr>
                                        <p:cTn id="31" dur="400"/>
                                        <p:tgtEl>
                                          <p:spTgt spid="24"/>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5"/>
                                        </p:tgtEl>
                                        <p:attrNameLst>
                                          <p:attrName>style.visibility</p:attrName>
                                        </p:attrNameLst>
                                      </p:cBhvr>
                                      <p:to>
                                        <p:strVal val="visible"/>
                                      </p:to>
                                    </p:set>
                                    <p:animEffect transition="in" filter="fade">
                                      <p:cBhvr>
                                        <p:cTn id="34" dur="400"/>
                                        <p:tgtEl>
                                          <p:spTgt spid="25"/>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16"/>
                                        </p:tgtEl>
                                        <p:attrNameLst>
                                          <p:attrName>style.visibility</p:attrName>
                                        </p:attrNameLst>
                                      </p:cBhvr>
                                      <p:to>
                                        <p:strVal val="visible"/>
                                      </p:to>
                                    </p:set>
                                    <p:animEffect transition="in" filter="fade">
                                      <p:cBhvr>
                                        <p:cTn id="39" dur="400"/>
                                        <p:tgtEl>
                                          <p:spTgt spid="16"/>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7"/>
                                        </p:tgtEl>
                                        <p:attrNameLst>
                                          <p:attrName>style.visibility</p:attrName>
                                        </p:attrNameLst>
                                      </p:cBhvr>
                                      <p:to>
                                        <p:strVal val="visible"/>
                                      </p:to>
                                    </p:set>
                                    <p:animEffect transition="in" filter="fade">
                                      <p:cBhvr>
                                        <p:cTn id="42" dur="400"/>
                                        <p:tgtEl>
                                          <p:spTgt spid="27"/>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xit" presetSubtype="0" fill="hold" grpId="0" nodeType="clickEffect">
                                  <p:stCondLst>
                                    <p:cond delay="0"/>
                                  </p:stCondLst>
                                  <p:childTnLst>
                                    <p:animEffect transition="out" filter="fade">
                                      <p:cBhvr>
                                        <p:cTn id="46" dur="400"/>
                                        <p:tgtEl>
                                          <p:spTgt spid="16"/>
                                        </p:tgtEl>
                                      </p:cBhvr>
                                    </p:animEffect>
                                    <p:set>
                                      <p:cBhvr>
                                        <p:cTn id="47" dur="1" fill="hold">
                                          <p:stCondLst>
                                            <p:cond delay="399"/>
                                          </p:stCondLst>
                                        </p:cTn>
                                        <p:tgtEl>
                                          <p:spTgt spid="16"/>
                                        </p:tgtEl>
                                        <p:attrNameLst>
                                          <p:attrName>style.visibility</p:attrName>
                                        </p:attrNameLst>
                                      </p:cBhvr>
                                      <p:to>
                                        <p:strVal val="hidden"/>
                                      </p:to>
                                    </p:set>
                                  </p:childTnLst>
                                </p:cTn>
                              </p:par>
                              <p:par>
                                <p:cTn id="48" presetID="10" presetClass="exit" presetSubtype="0" fill="hold" grpId="0" nodeType="withEffect">
                                  <p:stCondLst>
                                    <p:cond delay="0"/>
                                  </p:stCondLst>
                                  <p:childTnLst>
                                    <p:animEffect transition="out" filter="fade">
                                      <p:cBhvr>
                                        <p:cTn id="49" dur="400"/>
                                        <p:tgtEl>
                                          <p:spTgt spid="17"/>
                                        </p:tgtEl>
                                      </p:cBhvr>
                                    </p:animEffect>
                                    <p:set>
                                      <p:cBhvr>
                                        <p:cTn id="50" dur="1" fill="hold">
                                          <p:stCondLst>
                                            <p:cond delay="399"/>
                                          </p:stCondLst>
                                        </p:cTn>
                                        <p:tgtEl>
                                          <p:spTgt spid="17"/>
                                        </p:tgtEl>
                                        <p:attrNameLst>
                                          <p:attrName>style.visibility</p:attrName>
                                        </p:attrNameLst>
                                      </p:cBhvr>
                                      <p:to>
                                        <p:strVal val="hidden"/>
                                      </p:to>
                                    </p:set>
                                  </p:childTnLst>
                                </p:cTn>
                              </p:par>
                              <p:par>
                                <p:cTn id="51" presetID="10" presetClass="exit" presetSubtype="0" fill="hold" grpId="0" nodeType="withEffect">
                                  <p:stCondLst>
                                    <p:cond delay="0"/>
                                  </p:stCondLst>
                                  <p:childTnLst>
                                    <p:animEffect transition="out" filter="fade">
                                      <p:cBhvr>
                                        <p:cTn id="52" dur="400"/>
                                        <p:tgtEl>
                                          <p:spTgt spid="18"/>
                                        </p:tgtEl>
                                      </p:cBhvr>
                                    </p:animEffect>
                                    <p:set>
                                      <p:cBhvr>
                                        <p:cTn id="53" dur="1" fill="hold">
                                          <p:stCondLst>
                                            <p:cond delay="399"/>
                                          </p:stCondLst>
                                        </p:cTn>
                                        <p:tgtEl>
                                          <p:spTgt spid="18"/>
                                        </p:tgtEl>
                                        <p:attrNameLst>
                                          <p:attrName>style.visibility</p:attrName>
                                        </p:attrNameLst>
                                      </p:cBhvr>
                                      <p:to>
                                        <p:strVal val="hidden"/>
                                      </p:to>
                                    </p:set>
                                  </p:childTnLst>
                                </p:cTn>
                              </p:par>
                              <p:par>
                                <p:cTn id="54" presetID="10" presetClass="exit" presetSubtype="0" fill="hold" grpId="0" nodeType="withEffect">
                                  <p:stCondLst>
                                    <p:cond delay="0"/>
                                  </p:stCondLst>
                                  <p:childTnLst>
                                    <p:animEffect transition="out" filter="fade">
                                      <p:cBhvr>
                                        <p:cTn id="55" dur="400"/>
                                        <p:tgtEl>
                                          <p:spTgt spid="19"/>
                                        </p:tgtEl>
                                      </p:cBhvr>
                                    </p:animEffect>
                                    <p:set>
                                      <p:cBhvr>
                                        <p:cTn id="56" dur="1" fill="hold">
                                          <p:stCondLst>
                                            <p:cond delay="399"/>
                                          </p:stCondLst>
                                        </p:cTn>
                                        <p:tgtEl>
                                          <p:spTgt spid="19"/>
                                        </p:tgtEl>
                                        <p:attrNameLst>
                                          <p:attrName>style.visibility</p:attrName>
                                        </p:attrNameLst>
                                      </p:cBhvr>
                                      <p:to>
                                        <p:strVal val="hidden"/>
                                      </p:to>
                                    </p:set>
                                  </p:childTnLst>
                                </p:cTn>
                              </p:par>
                              <p:par>
                                <p:cTn id="57" presetID="10" presetClass="exit" presetSubtype="0" fill="hold" grpId="0" nodeType="withEffect">
                                  <p:stCondLst>
                                    <p:cond delay="0"/>
                                  </p:stCondLst>
                                  <p:childTnLst>
                                    <p:animEffect transition="out" filter="fade">
                                      <p:cBhvr>
                                        <p:cTn id="58" dur="400"/>
                                        <p:tgtEl>
                                          <p:spTgt spid="20"/>
                                        </p:tgtEl>
                                      </p:cBhvr>
                                    </p:animEffect>
                                    <p:set>
                                      <p:cBhvr>
                                        <p:cTn id="59" dur="1" fill="hold">
                                          <p:stCondLst>
                                            <p:cond delay="399"/>
                                          </p:stCondLst>
                                        </p:cTn>
                                        <p:tgtEl>
                                          <p:spTgt spid="20"/>
                                        </p:tgtEl>
                                        <p:attrNameLst>
                                          <p:attrName>style.visibility</p:attrName>
                                        </p:attrNameLst>
                                      </p:cBhvr>
                                      <p:to>
                                        <p:strVal val="hidden"/>
                                      </p:to>
                                    </p:set>
                                  </p:childTnLst>
                                </p:cTn>
                              </p:par>
                              <p:par>
                                <p:cTn id="60" presetID="10" presetClass="exit" presetSubtype="0" fill="hold" grpId="0" nodeType="withEffect">
                                  <p:stCondLst>
                                    <p:cond delay="0"/>
                                  </p:stCondLst>
                                  <p:childTnLst>
                                    <p:animEffect transition="out" filter="fade">
                                      <p:cBhvr>
                                        <p:cTn id="61" dur="400"/>
                                        <p:tgtEl>
                                          <p:spTgt spid="21"/>
                                        </p:tgtEl>
                                      </p:cBhvr>
                                    </p:animEffect>
                                    <p:set>
                                      <p:cBhvr>
                                        <p:cTn id="62" dur="1" fill="hold">
                                          <p:stCondLst>
                                            <p:cond delay="399"/>
                                          </p:stCondLst>
                                        </p:cTn>
                                        <p:tgtEl>
                                          <p:spTgt spid="21"/>
                                        </p:tgtEl>
                                        <p:attrNameLst>
                                          <p:attrName>style.visibility</p:attrName>
                                        </p:attrNameLst>
                                      </p:cBhvr>
                                      <p:to>
                                        <p:strVal val="hidden"/>
                                      </p:to>
                                    </p:set>
                                  </p:childTnLst>
                                </p:cTn>
                              </p:par>
                              <p:par>
                                <p:cTn id="63" presetID="10" presetClass="exit" presetSubtype="0" fill="hold" grpId="0" nodeType="withEffect">
                                  <p:stCondLst>
                                    <p:cond delay="0"/>
                                  </p:stCondLst>
                                  <p:childTnLst>
                                    <p:animEffect transition="out" filter="fade">
                                      <p:cBhvr>
                                        <p:cTn id="64" dur="400"/>
                                        <p:tgtEl>
                                          <p:spTgt spid="25"/>
                                        </p:tgtEl>
                                      </p:cBhvr>
                                    </p:animEffect>
                                    <p:set>
                                      <p:cBhvr>
                                        <p:cTn id="65" dur="1" fill="hold">
                                          <p:stCondLst>
                                            <p:cond delay="399"/>
                                          </p:stCondLst>
                                        </p:cTn>
                                        <p:tgtEl>
                                          <p:spTgt spid="25"/>
                                        </p:tgtEl>
                                        <p:attrNameLst>
                                          <p:attrName>style.visibility</p:attrName>
                                        </p:attrNameLst>
                                      </p:cBhvr>
                                      <p:to>
                                        <p:strVal val="hidden"/>
                                      </p:to>
                                    </p:set>
                                  </p:childTnLst>
                                </p:cTn>
                              </p:par>
                              <p:par>
                                <p:cTn id="66" presetID="10" presetClass="entr" presetSubtype="0" fill="hold" grpId="0" nodeType="withEffect">
                                  <p:stCondLst>
                                    <p:cond delay="0"/>
                                  </p:stCondLst>
                                  <p:childTnLst>
                                    <p:set>
                                      <p:cBhvr>
                                        <p:cTn id="67" dur="1" fill="hold">
                                          <p:stCondLst>
                                            <p:cond delay="0"/>
                                          </p:stCondLst>
                                        </p:cTn>
                                        <p:tgtEl>
                                          <p:spTgt spid="30"/>
                                        </p:tgtEl>
                                        <p:attrNameLst>
                                          <p:attrName>style.visibility</p:attrName>
                                        </p:attrNameLst>
                                      </p:cBhvr>
                                      <p:to>
                                        <p:strVal val="visible"/>
                                      </p:to>
                                    </p:set>
                                    <p:animEffect transition="in" filter="fade">
                                      <p:cBhvr>
                                        <p:cTn id="68" dur="400"/>
                                        <p:tgtEl>
                                          <p:spTgt spid="30"/>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28"/>
                                        </p:tgtEl>
                                        <p:attrNameLst>
                                          <p:attrName>style.visibility</p:attrName>
                                        </p:attrNameLst>
                                      </p:cBhvr>
                                      <p:to>
                                        <p:strVal val="visible"/>
                                      </p:to>
                                    </p:set>
                                    <p:animEffect transition="in" filter="fade">
                                      <p:cBhvr>
                                        <p:cTn id="71" dur="400"/>
                                        <p:tgtEl>
                                          <p:spTgt spid="28"/>
                                        </p:tgtEl>
                                      </p:cBhvr>
                                    </p:animEffect>
                                  </p:childTnLst>
                                </p:cTn>
                              </p:par>
                            </p:childTnLst>
                          </p:cTn>
                        </p:par>
                      </p:childTnLst>
                    </p:cTn>
                  </p:par>
                  <p:par>
                    <p:cTn id="72" fill="hold">
                      <p:stCondLst>
                        <p:cond delay="indefinite"/>
                      </p:stCondLst>
                      <p:childTnLst>
                        <p:par>
                          <p:cTn id="73" fill="hold">
                            <p:stCondLst>
                              <p:cond delay="0"/>
                            </p:stCondLst>
                            <p:childTnLst>
                              <p:par>
                                <p:cTn id="74" presetID="10" presetClass="entr" presetSubtype="0" fill="hold" grpId="0" nodeType="clickEffect">
                                  <p:stCondLst>
                                    <p:cond delay="0"/>
                                  </p:stCondLst>
                                  <p:childTnLst>
                                    <p:set>
                                      <p:cBhvr>
                                        <p:cTn id="75" dur="1" fill="hold">
                                          <p:stCondLst>
                                            <p:cond delay="0"/>
                                          </p:stCondLst>
                                        </p:cTn>
                                        <p:tgtEl>
                                          <p:spTgt spid="29"/>
                                        </p:tgtEl>
                                        <p:attrNameLst>
                                          <p:attrName>style.visibility</p:attrName>
                                        </p:attrNameLst>
                                      </p:cBhvr>
                                      <p:to>
                                        <p:strVal val="visible"/>
                                      </p:to>
                                    </p:set>
                                    <p:animEffect transition="in" filter="fade">
                                      <p:cBhvr>
                                        <p:cTn id="76" dur="400"/>
                                        <p:tgtEl>
                                          <p:spTgt spid="29"/>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26"/>
                                        </p:tgtEl>
                                        <p:attrNameLst>
                                          <p:attrName>style.visibility</p:attrName>
                                        </p:attrNameLst>
                                      </p:cBhvr>
                                      <p:to>
                                        <p:strVal val="visible"/>
                                      </p:to>
                                    </p:set>
                                    <p:animEffect transition="in" filter="fade">
                                      <p:cBhvr>
                                        <p:cTn id="79" dur="4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7" grpId="0"/>
      <p:bldP spid="18" grpId="0"/>
      <p:bldP spid="19" grpId="0"/>
      <p:bldP spid="20" grpId="0"/>
      <p:bldP spid="21" grpId="0"/>
      <p:bldP spid="22" grpId="0"/>
      <p:bldP spid="23" grpId="0"/>
      <p:bldP spid="24" grpId="0"/>
      <p:bldP spid="25" grpId="0"/>
      <p:bldP spid="16" grpId="0" animBg="1"/>
      <p:bldP spid="27" grpId="0"/>
      <p:bldP spid="30" grpId="0" animBg="1"/>
      <p:bldP spid="28" grpId="0"/>
      <p:bldP spid="29" grpId="0"/>
      <p:bldP spid="26" grpId="0"/>
    </p:bldLst>
  </p:timing>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Periodic-table strip of periods 3 and 4. Argon, at the end of period 3, is marked with a tick as the noble gas before germanium. Germanium is outlined in period 4, group 14. Krypton, at the end of period 4 and after germanium, is marked with a cross as the wrong choice.">    </p:cNvPr>
          <p:cNvPicPr>
            <a:picLocks noChangeAspect="1"/>
          </p:cNvPicPr>
          <p:nvPr/>
        </p:nvPicPr>
        <p:blipFill>
          <a:blip r:embed="rId1"/>
          <a:stretch>
            <a:fillRect/>
          </a:stretch>
        </p:blipFill>
        <p:spPr>
          <a:xfrm>
            <a:off x="914400" y="2651760"/>
            <a:ext cx="4617720" cy="2743200"/>
          </a:xfrm>
          <a:prstGeom prst="rect">
            <a:avLst/>
          </a:prstGeom>
        </p:spPr>
      </p:pic>
      <p:sp>
        <p:nvSpPr>
          <p:cNvPr id="3" name="Text 2"/>
          <p:cNvSpPr txBox="1"/>
          <p:nvPr>
            <p:ph idx="103" type="title" hasCustomPrompt="1"/>
          </p:nvPr>
        </p:nvSpPr>
        <p:spPr>
          <a:xfrm>
            <a:off x="685800" y="932688"/>
            <a:ext cx="10820095" cy="868680"/>
          </a:xfrm>
          <a:prstGeom prst="rect">
            <a:avLst/>
          </a:prstGeom>
          <a:noFill/>
          <a:ln/>
        </p:spPr>
        <p:txBody>
          <a:bodyPr wrap="square" lIns="0" tIns="0" rIns="0" bIns="0" rtlCol="0" anchor="t"/>
          <a:lstStyle/>
          <a:p>
            <a:pPr algn="l" indent="0" marL="0">
              <a:buNone/>
            </a:pPr>
            <a:r>
              <a:rPr lang="en-US" sz="2800" b="1" dirty="0">
                <a:solidFill>
                  <a:srgbClr val="14161B"/>
                </a:solidFill>
                <a:latin typeface="Trade Gothic Next" pitchFamily="34" charset="0"/>
                <a:ea typeface="Trade Gothic Next" pitchFamily="34" charset="-122"/>
                <a:cs typeface="Trade Gothic Next" pitchFamily="34" charset="-120"/>
              </a:rPr>
              <a:t>Why [Ar] and Not [Kr]?</a:t>
            </a:r>
            <a:endParaRPr lang="en-US" sz="2800" dirty="0"/>
          </a:p>
        </p:txBody>
      </p:sp>
      <p:sp>
        <p:nvSpPr>
          <p:cNvPr id="4" name="Text 2"/>
          <p:cNvSpPr txBox="1"/>
          <p:nvPr>
            <p:ph idx="104" type="body" hasCustomPrompt="1"/>
          </p:nvPr>
        </p:nvSpPr>
        <p:spPr>
          <a:xfrm>
            <a:off x="685800" y="1847088"/>
            <a:ext cx="10820095" cy="384048"/>
          </a:xfrm>
          <a:prstGeom prst="rect">
            <a:avLst/>
          </a:prstGeom>
          <a:noFill/>
          <a:ln/>
        </p:spPr>
        <p:txBody>
          <a:bodyPr wrap="square" lIns="0" tIns="0" rIns="0" bIns="0" rtlCol="0"/>
          <a:lstStyle/>
          <a:p>
            <a:pPr indent="0" marL="0">
              <a:buNone/>
            </a:pPr>
            <a:r>
              <a:rPr lang="en-US" sz="1700" dirty="0">
                <a:solidFill>
                  <a:srgbClr val="2E3338"/>
                </a:solidFill>
                <a:latin typeface="Trade Gothic Next" pitchFamily="34" charset="0"/>
                <a:ea typeface="Trade Gothic Next" pitchFamily="34" charset="-122"/>
                <a:cs typeface="Trade Gothic Next" pitchFamily="34" charset="-120"/>
              </a:rPr>
              <a:t>Germanium is in period 4. Its core is the noble gas that ends period 3.</a:t>
            </a:r>
            <a:endParaRPr lang="en-US" sz="1700" dirty="0"/>
          </a:p>
        </p:txBody>
      </p:sp>
      <p:sp>
        <p:nvSpPr>
          <p:cNvPr id="5" name="Text 4"/>
          <p:cNvSpPr txBox="1"/>
          <p:nvPr>
            <p:ph idx="108" type="body" hasCustomPrompt="1"/>
          </p:nvPr>
        </p:nvSpPr>
        <p:spPr>
          <a:xfrm>
            <a:off x="6327648" y="2560320"/>
            <a:ext cx="5129784" cy="219456"/>
          </a:xfrm>
          <a:prstGeom prst="rect">
            <a:avLst/>
          </a:prstGeom>
          <a:noFill/>
          <a:ln/>
        </p:spPr>
        <p:txBody>
          <a:bodyPr wrap="square" lIns="0" tIns="0" rIns="0" bIns="0" rtlCol="0"/>
          <a:lstStyle/>
          <a:p>
            <a:pPr indent="0" marL="0">
              <a:buNone/>
            </a:pPr>
            <a:r>
              <a:rPr lang="en-US" sz="1200" b="1" spc="120" kern="0" dirty="0">
                <a:solidFill>
                  <a:srgbClr val="2E3338"/>
                </a:solidFill>
                <a:latin typeface="Trade Gothic Next" pitchFamily="34" charset="0"/>
                <a:ea typeface="Trade Gothic Next" pitchFamily="34" charset="-122"/>
                <a:cs typeface="Trade Gothic Next" pitchFamily="34" charset="-120"/>
              </a:rPr>
              <a:t>ARGON, Z = 18</a:t>
            </a:r>
            <a:endParaRPr lang="en-US" sz="1200" dirty="0"/>
          </a:p>
        </p:txBody>
      </p:sp>
      <p:sp>
        <p:nvSpPr>
          <p:cNvPr id="6" name="Text 4"/>
          <p:cNvSpPr txBox="1"/>
          <p:nvPr>
            <p:ph idx="109" type="body" hasCustomPrompt="1"/>
          </p:nvPr>
        </p:nvSpPr>
        <p:spPr>
          <a:xfrm>
            <a:off x="6327648" y="2852928"/>
            <a:ext cx="5129784" cy="329184"/>
          </a:xfrm>
          <a:prstGeom prst="rect">
            <a:avLst/>
          </a:prstGeom>
          <a:noFill/>
          <a:ln/>
        </p:spPr>
        <p:txBody>
          <a:bodyPr wrap="square" lIns="0" tIns="0" rIns="0" bIns="0" rtlCol="0"/>
          <a:lstStyle/>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Ends period 3. It comes BEFORE germanium.</a:t>
            </a:r>
            <a:endParaRPr lang="en-US" sz="1600" dirty="0"/>
          </a:p>
        </p:txBody>
      </p:sp>
      <p:sp>
        <p:nvSpPr>
          <p:cNvPr id="7" name="Text 5"/>
          <p:cNvSpPr txBox="1"/>
          <p:nvPr>
            <p:ph idx="111" type="body" hasCustomPrompt="1"/>
          </p:nvPr>
        </p:nvSpPr>
        <p:spPr>
          <a:xfrm>
            <a:off x="6327648" y="3694176"/>
            <a:ext cx="5129784" cy="219456"/>
          </a:xfrm>
          <a:prstGeom prst="rect">
            <a:avLst/>
          </a:prstGeom>
          <a:noFill/>
          <a:ln/>
        </p:spPr>
        <p:txBody>
          <a:bodyPr wrap="square" lIns="0" tIns="0" rIns="0" bIns="0" rtlCol="0"/>
          <a:lstStyle/>
          <a:p>
            <a:pPr indent="0" marL="0">
              <a:buNone/>
            </a:pPr>
            <a:r>
              <a:rPr lang="en-US" sz="1200" b="1" spc="120" kern="0" dirty="0">
                <a:solidFill>
                  <a:srgbClr val="2E3338"/>
                </a:solidFill>
                <a:latin typeface="Trade Gothic Next" pitchFamily="34" charset="0"/>
                <a:ea typeface="Trade Gothic Next" pitchFamily="34" charset="-122"/>
                <a:cs typeface="Trade Gothic Next" pitchFamily="34" charset="-120"/>
              </a:rPr>
              <a:t>GERMANIUM, Z = 32</a:t>
            </a:r>
            <a:endParaRPr lang="en-US" sz="1200" dirty="0"/>
          </a:p>
        </p:txBody>
      </p:sp>
      <p:sp>
        <p:nvSpPr>
          <p:cNvPr id="8" name="Text 5"/>
          <p:cNvSpPr txBox="1"/>
          <p:nvPr>
            <p:ph idx="112" type="body" hasCustomPrompt="1"/>
          </p:nvPr>
        </p:nvSpPr>
        <p:spPr>
          <a:xfrm>
            <a:off x="6327648" y="3986784"/>
            <a:ext cx="5129784" cy="329184"/>
          </a:xfrm>
          <a:prstGeom prst="rect">
            <a:avLst/>
          </a:prstGeom>
          <a:noFill/>
          <a:ln/>
        </p:spPr>
        <p:txBody>
          <a:bodyPr wrap="square" lIns="0" tIns="0" rIns="0" bIns="0" rtlCol="0"/>
          <a:lstStyle/>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Period 4, group 14. Use the previous period's noble gas.</a:t>
            </a:r>
            <a:endParaRPr lang="en-US" sz="1600" dirty="0"/>
          </a:p>
        </p:txBody>
      </p:sp>
      <p:sp>
        <p:nvSpPr>
          <p:cNvPr id="9" name="Text 6"/>
          <p:cNvSpPr txBox="1"/>
          <p:nvPr>
            <p:ph idx="114" type="body" hasCustomPrompt="1"/>
          </p:nvPr>
        </p:nvSpPr>
        <p:spPr>
          <a:xfrm>
            <a:off x="6327648" y="4828032"/>
            <a:ext cx="5129784" cy="219456"/>
          </a:xfrm>
          <a:prstGeom prst="rect">
            <a:avLst/>
          </a:prstGeom>
          <a:noFill/>
          <a:ln/>
        </p:spPr>
        <p:txBody>
          <a:bodyPr wrap="square" lIns="0" tIns="0" rIns="0" bIns="0" rtlCol="0"/>
          <a:lstStyle/>
          <a:p>
            <a:pPr indent="0" marL="0">
              <a:buNone/>
            </a:pPr>
            <a:r>
              <a:rPr lang="en-US" sz="1200" b="1" spc="120" kern="0" dirty="0">
                <a:solidFill>
                  <a:srgbClr val="2E3338"/>
                </a:solidFill>
                <a:latin typeface="Trade Gothic Next" pitchFamily="34" charset="0"/>
                <a:ea typeface="Trade Gothic Next" pitchFamily="34" charset="-122"/>
                <a:cs typeface="Trade Gothic Next" pitchFamily="34" charset="-120"/>
              </a:rPr>
              <a:t>KRYPTON, Z = 36</a:t>
            </a:r>
            <a:endParaRPr lang="en-US" sz="1200" dirty="0"/>
          </a:p>
        </p:txBody>
      </p:sp>
      <p:sp>
        <p:nvSpPr>
          <p:cNvPr id="10" name="Text 6"/>
          <p:cNvSpPr txBox="1"/>
          <p:nvPr>
            <p:ph idx="115" type="body" hasCustomPrompt="1"/>
          </p:nvPr>
        </p:nvSpPr>
        <p:spPr>
          <a:xfrm>
            <a:off x="6327648" y="5120640"/>
            <a:ext cx="5129784" cy="320040"/>
          </a:xfrm>
          <a:prstGeom prst="rect">
            <a:avLst/>
          </a:prstGeom>
          <a:noFill/>
          <a:ln/>
        </p:spPr>
        <p:txBody>
          <a:bodyPr wrap="square" lIns="0" tIns="0" rIns="0" bIns="0" rtlCol="0"/>
          <a:lstStyle/>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Ends period 4. It comes AFTER germanium, so it is the wrong core.</a:t>
            </a:r>
            <a:endParaRPr lang="en-US" sz="1600" dirty="0"/>
          </a:p>
        </p:txBody>
      </p:sp>
      <p:sp>
        <p:nvSpPr>
          <p:cNvPr id="11" name="Text 1"/>
          <p:cNvSpPr txBox="1"/>
          <p:nvPr>
            <p:ph idx="101" type="body" hasCustomPrompt="1"/>
          </p:nvPr>
        </p:nvSpPr>
        <p:spPr>
          <a:xfrm>
            <a:off x="685800" y="384048"/>
            <a:ext cx="6400800" cy="237744"/>
          </a:xfrm>
          <a:prstGeom prst="rect">
            <a:avLst/>
          </a:prstGeom>
          <a:noFill/>
          <a:ln/>
        </p:spPr>
        <p:txBody>
          <a:bodyPr wrap="square" lIns="0" tIns="0" rIns="0" bIns="0" rtlCol="0" anchor="ctr"/>
          <a:lstStyle/>
          <a:p>
            <a:pPr indent="0" marL="0">
              <a:buNone/>
            </a:pPr>
            <a:r>
              <a:rPr lang="en-US" sz="1100" b="1" spc="160" kern="0" dirty="0">
                <a:solidFill>
                  <a:srgbClr val="14161B"/>
                </a:solidFill>
                <a:latin typeface="Trade Gothic Next" pitchFamily="34" charset="0"/>
                <a:ea typeface="Trade Gothic Next" pitchFamily="34" charset="-122"/>
                <a:cs typeface="Trade Gothic Next" pitchFamily="34" charset="-120"/>
              </a:rPr>
              <a:t>UNIT 02  •  CHEMISTRY</a:t>
            </a:r>
            <a:endParaRPr lang="en-US" sz="1100" dirty="0"/>
          </a:p>
        </p:txBody>
      </p:sp>
      <p:sp>
        <p:nvSpPr>
          <p:cNvPr id="12" name="Text 7"/>
          <p:cNvSpPr txBox="1"/>
          <p:nvPr>
            <p:ph idx="117" type="body" hasCustomPrompt="1"/>
          </p:nvPr>
        </p:nvSpPr>
        <p:spPr>
          <a:xfrm>
            <a:off x="8762695" y="6382512"/>
            <a:ext cx="2743200" cy="237744"/>
          </a:xfrm>
          <a:prstGeom prst="rect">
            <a:avLst/>
          </a:prstGeom>
          <a:noFill/>
          <a:ln/>
        </p:spPr>
        <p:txBody>
          <a:bodyPr wrap="square" lIns="0" tIns="0" rIns="0" bIns="0" rtlCol="0" anchor="ctr"/>
          <a:lstStyle/>
          <a:p>
            <a:pPr algn="r" indent="0" marL="0">
              <a:buNone/>
            </a:pPr>
            <a:r>
              <a:rPr lang="en-US" sz="1000" b="1" spc="140" kern="0" dirty="0">
                <a:solidFill>
                  <a:srgbClr val="2E3338"/>
                </a:solidFill>
                <a:latin typeface="Trade Gothic Next" pitchFamily="34" charset="0"/>
                <a:ea typeface="Trade Gothic Next" pitchFamily="34" charset="-122"/>
                <a:cs typeface="Trade Gothic Next" pitchFamily="34" charset="-120"/>
              </a:rPr>
              <a:t>U02 • S02.3</a:t>
            </a:r>
            <a:endParaRPr lang="en-US" sz="1000" dirty="0"/>
          </a:p>
        </p:txBody>
      </p:sp>
      <p:sp>
        <p:nvSpPr>
          <p:cNvPr id="14" name="Text 3"/>
          <p:cNvSpPr txBox="1"/>
          <p:nvPr>
            <p:ph idx="106" type="body" hasCustomPrompt="1"/>
          </p:nvPr>
        </p:nvSpPr>
        <p:spPr>
          <a:xfrm>
            <a:off x="914400" y="2651760"/>
            <a:ext cx="4617720" cy="2743200"/>
          </a:xfrm>
          <a:prstGeom prst="rect">
            <a:avLst/>
          </a:prstGeom>
          <a:noFill/>
          <a:ln/>
        </p:spPr>
        <p:txBody>
          <a:bodyPr wrap="square" lIns="0" tIns="0" rIns="0" bIns="0" rtlCol="0" anchor="ctr"/>
          <a:lstStyle/>
          <a:p>
            <a:pPr algn="ctr" indent="0" marL="0">
              <a:buNone/>
            </a:pPr>
            <a:endParaRPr lang="en-US" sz="2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2"/>
          <p:cNvSpPr txBox="1"/>
          <p:nvPr>
            <p:ph idx="103" type="title" hasCustomPrompt="1"/>
          </p:nvPr>
        </p:nvSpPr>
        <p:spPr>
          <a:xfrm>
            <a:off x="685800" y="932688"/>
            <a:ext cx="7863840" cy="868680"/>
          </a:xfrm>
          <a:prstGeom prst="rect">
            <a:avLst/>
          </a:prstGeom>
          <a:noFill/>
          <a:ln/>
        </p:spPr>
        <p:txBody>
          <a:bodyPr wrap="square" lIns="0" tIns="0" rIns="0" bIns="0" rtlCol="0" anchor="t"/>
          <a:lstStyle/>
          <a:p>
            <a:pPr algn="l" indent="0" marL="0">
              <a:buNone/>
            </a:pPr>
            <a:r>
              <a:rPr lang="en-US" sz="2800" b="1" dirty="0">
                <a:solidFill>
                  <a:srgbClr val="14161B"/>
                </a:solidFill>
                <a:latin typeface="Trade Gothic Next" pitchFamily="34" charset="0"/>
                <a:ea typeface="Trade Gothic Next" pitchFamily="34" charset="-122"/>
                <a:cs typeface="Trade Gothic Next" pitchFamily="34" charset="-120"/>
              </a:rPr>
              <a:t>Example: Aluminum</a:t>
            </a:r>
            <a:endParaRPr lang="en-US" sz="2800" dirty="0"/>
          </a:p>
        </p:txBody>
      </p:sp>
      <p:sp>
        <p:nvSpPr>
          <p:cNvPr id="3" name="Text 2"/>
          <p:cNvSpPr txBox="1"/>
          <p:nvPr>
            <p:ph idx="104" type="body" hasCustomPrompt="1"/>
          </p:nvPr>
        </p:nvSpPr>
        <p:spPr>
          <a:xfrm>
            <a:off x="685800" y="1847088"/>
            <a:ext cx="7863840" cy="384048"/>
          </a:xfrm>
          <a:prstGeom prst="rect">
            <a:avLst/>
          </a:prstGeom>
          <a:noFill/>
          <a:ln/>
        </p:spPr>
        <p:txBody>
          <a:bodyPr wrap="square" lIns="0" tIns="0" rIns="0" bIns="0" rtlCol="0"/>
          <a:lstStyle/>
          <a:p>
            <a:pPr indent="0" marL="0">
              <a:buNone/>
            </a:pPr>
            <a:r>
              <a:rPr lang="en-US" sz="1700" dirty="0">
                <a:solidFill>
                  <a:srgbClr val="2E3338"/>
                </a:solidFill>
                <a:latin typeface="Trade Gothic Next" pitchFamily="34" charset="0"/>
                <a:ea typeface="Trade Gothic Next" pitchFamily="34" charset="-122"/>
                <a:cs typeface="Trade Gothic Next" pitchFamily="34" charset="-120"/>
              </a:rPr>
              <a:t>Notation only. No diagram this time.</a:t>
            </a:r>
            <a:endParaRPr lang="en-US" sz="1700" dirty="0"/>
          </a:p>
        </p:txBody>
      </p:sp>
      <p:sp>
        <p:nvSpPr>
          <p:cNvPr id="4" name="Text 6"/>
          <p:cNvSpPr txBox="1"/>
          <p:nvPr>
            <p:ph idx="110" type="body" hasCustomPrompt="1"/>
          </p:nvPr>
        </p:nvSpPr>
        <p:spPr>
          <a:xfrm>
            <a:off x="886968" y="2798064"/>
            <a:ext cx="4992624" cy="548640"/>
          </a:xfrm>
          <a:prstGeom prst="rect">
            <a:avLst/>
          </a:prstGeom>
          <a:noFill/>
          <a:ln/>
        </p:spPr>
        <p:txBody>
          <a:bodyPr wrap="square" lIns="0" tIns="0" rIns="0" bIns="0" rtlCol="0"/>
          <a:lstStyle/>
          <a:p>
            <a:pPr indent="0" marL="0">
              <a:buNone/>
            </a:pPr>
            <a:r>
              <a:rPr lang="en-US" sz="1600" dirty="0">
                <a:solidFill>
                  <a:srgbClr val="EDF0E5"/>
                </a:solidFill>
                <a:latin typeface="Trade Gothic Next" pitchFamily="34" charset="0"/>
                <a:ea typeface="Trade Gothic Next" pitchFamily="34" charset="-122"/>
                <a:cs typeface="Trade Gothic Next" pitchFamily="34" charset="-120"/>
              </a:rPr>
              <a:t>Write the longhand configuration and the noble-gas shorthand for aluminum.</a:t>
            </a:r>
            <a:endParaRPr lang="en-US" sz="1600" dirty="0"/>
          </a:p>
        </p:txBody>
      </p:sp>
      <p:sp>
        <p:nvSpPr>
          <p:cNvPr id="5" name="Text 7"/>
          <p:cNvSpPr txBox="1"/>
          <p:nvPr>
            <p:ph idx="112" type="body" hasCustomPrompt="1"/>
          </p:nvPr>
        </p:nvSpPr>
        <p:spPr>
          <a:xfrm>
            <a:off x="886968" y="3776472"/>
            <a:ext cx="2203704" cy="219456"/>
          </a:xfrm>
          <a:prstGeom prst="rect">
            <a:avLst/>
          </a:prstGeom>
          <a:noFill/>
          <a:ln/>
        </p:spPr>
        <p:txBody>
          <a:bodyPr wrap="square" lIns="0" tIns="0" rIns="0" bIns="0" rtlCol="0"/>
          <a:lstStyle/>
          <a:p>
            <a:pPr indent="0" marL="0">
              <a:buNone/>
            </a:pPr>
            <a:r>
              <a:rPr lang="en-US" sz="1200" b="1" spc="120" kern="0" dirty="0">
                <a:solidFill>
                  <a:srgbClr val="2E3338"/>
                </a:solidFill>
                <a:latin typeface="Trade Gothic Next" pitchFamily="34" charset="0"/>
                <a:ea typeface="Trade Gothic Next" pitchFamily="34" charset="-122"/>
                <a:cs typeface="Trade Gothic Next" pitchFamily="34" charset="-120"/>
              </a:rPr>
              <a:t>GIVEN</a:t>
            </a:r>
            <a:endParaRPr lang="en-US" sz="1200" dirty="0"/>
          </a:p>
        </p:txBody>
      </p:sp>
      <p:sp>
        <p:nvSpPr>
          <p:cNvPr id="6" name="Text 7"/>
          <p:cNvSpPr txBox="1"/>
          <p:nvPr>
            <p:ph idx="113" type="body" hasCustomPrompt="1"/>
          </p:nvPr>
        </p:nvSpPr>
        <p:spPr>
          <a:xfrm>
            <a:off x="886968" y="4069080"/>
            <a:ext cx="2203704" cy="1078992"/>
          </a:xfrm>
          <a:prstGeom prst="rect">
            <a:avLst/>
          </a:prstGeom>
          <a:noFill/>
          <a:ln/>
        </p:spPr>
        <p:txBody>
          <a:bodyPr wrap="square" lIns="0" tIns="0" rIns="0" bIns="0" rtlCol="0"/>
          <a:lstStyle/>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Aluminum, Z = 13</a:t>
            </a:r>
            <a:endParaRPr lang="en-US" sz="1600" dirty="0"/>
          </a:p>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Neutral atom</a:t>
            </a:r>
            <a:endParaRPr lang="en-US" sz="1600" dirty="0"/>
          </a:p>
        </p:txBody>
      </p:sp>
      <p:sp>
        <p:nvSpPr>
          <p:cNvPr id="7" name="Text 8"/>
          <p:cNvSpPr txBox="1"/>
          <p:nvPr>
            <p:ph idx="115" type="body" hasCustomPrompt="1"/>
          </p:nvPr>
        </p:nvSpPr>
        <p:spPr>
          <a:xfrm>
            <a:off x="3675888" y="3776472"/>
            <a:ext cx="2203704" cy="219456"/>
          </a:xfrm>
          <a:prstGeom prst="rect">
            <a:avLst/>
          </a:prstGeom>
          <a:noFill/>
          <a:ln/>
        </p:spPr>
        <p:txBody>
          <a:bodyPr wrap="square" lIns="0" tIns="0" rIns="0" bIns="0" rtlCol="0"/>
          <a:lstStyle/>
          <a:p>
            <a:pPr indent="0" marL="0">
              <a:buNone/>
            </a:pPr>
            <a:r>
              <a:rPr lang="en-US" sz="1200" b="1" spc="120" kern="0" dirty="0">
                <a:solidFill>
                  <a:srgbClr val="2E3338"/>
                </a:solidFill>
                <a:latin typeface="Trade Gothic Next" pitchFamily="34" charset="0"/>
                <a:ea typeface="Trade Gothic Next" pitchFamily="34" charset="-122"/>
                <a:cs typeface="Trade Gothic Next" pitchFamily="34" charset="-120"/>
              </a:rPr>
              <a:t>NEED</a:t>
            </a:r>
            <a:endParaRPr lang="en-US" sz="1200" dirty="0"/>
          </a:p>
        </p:txBody>
      </p:sp>
      <p:sp>
        <p:nvSpPr>
          <p:cNvPr id="8" name="Text 8"/>
          <p:cNvSpPr txBox="1"/>
          <p:nvPr>
            <p:ph idx="116" type="body" hasCustomPrompt="1"/>
          </p:nvPr>
        </p:nvSpPr>
        <p:spPr>
          <a:xfrm>
            <a:off x="3675888" y="4069080"/>
            <a:ext cx="2203704" cy="1078992"/>
          </a:xfrm>
          <a:prstGeom prst="rect">
            <a:avLst/>
          </a:prstGeom>
          <a:noFill/>
          <a:ln/>
        </p:spPr>
        <p:txBody>
          <a:bodyPr wrap="square" lIns="0" tIns="0" rIns="0" bIns="0" rtlCol="0"/>
          <a:lstStyle/>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Longhand</a:t>
            </a:r>
            <a:endParaRPr lang="en-US" sz="1600" dirty="0"/>
          </a:p>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Shorthand</a:t>
            </a:r>
            <a:endParaRPr lang="en-US" sz="1600" dirty="0"/>
          </a:p>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Electron sum</a:t>
            </a:r>
            <a:endParaRPr lang="en-US" sz="1600" dirty="0"/>
          </a:p>
        </p:txBody>
      </p:sp>
      <p:sp>
        <p:nvSpPr>
          <p:cNvPr id="9" name="Text 10"/>
          <p:cNvSpPr txBox="1"/>
          <p:nvPr>
            <p:ph idx="119" type="body" hasCustomPrompt="1"/>
          </p:nvPr>
        </p:nvSpPr>
        <p:spPr>
          <a:xfrm>
            <a:off x="6464808" y="2880360"/>
            <a:ext cx="4837176" cy="2286000"/>
          </a:xfrm>
          <a:prstGeom prst="rect">
            <a:avLst/>
          </a:prstGeom>
          <a:noFill/>
          <a:ln/>
        </p:spPr>
        <p:txBody>
          <a:bodyPr wrap="square" lIns="0" tIns="0" rIns="0" bIns="0" rtlCol="0"/>
          <a:lstStyle/>
          <a:p>
            <a:pPr indent="0" marL="0">
              <a:buNone/>
            </a:pPr>
            <a:endParaRPr lang="en-US" sz="1900" dirty="0"/>
          </a:p>
        </p:txBody>
      </p:sp>
      <p:sp>
        <p:nvSpPr>
          <p:cNvPr id="10" name="Text 12"/>
          <p:cNvSpPr txBox="1"/>
          <p:nvPr>
            <p:ph idx="122" type="body" hasCustomPrompt="1"/>
          </p:nvPr>
        </p:nvSpPr>
        <p:spPr>
          <a:xfrm>
            <a:off x="2240280" y="5605272"/>
            <a:ext cx="8991295" cy="402336"/>
          </a:xfrm>
          <a:prstGeom prst="rect">
            <a:avLst/>
          </a:prstGeom>
          <a:noFill/>
          <a:ln/>
        </p:spPr>
        <p:txBody>
          <a:bodyPr wrap="square" lIns="0" tIns="0" rIns="0" bIns="0" rtlCol="0" anchor="ctr"/>
          <a:lstStyle/>
          <a:p>
            <a:pPr indent="0" marL="0">
              <a:buNone/>
            </a:pPr>
            <a:r>
              <a:rPr lang="en-US" sz="1600" b="1" dirty="0">
                <a:solidFill>
                  <a:srgbClr val="EDF0E5"/>
                </a:solidFill>
                <a:latin typeface="Trade Gothic Next" pitchFamily="34" charset="0"/>
                <a:ea typeface="Trade Gothic Next" pitchFamily="34" charset="-122"/>
                <a:cs typeface="Trade Gothic Next" pitchFamily="34" charset="-120"/>
              </a:rPr>
              <a:t>Aluminum is period 3, so its core is [Ne].</a:t>
            </a:r>
            <a:endParaRPr lang="en-US" sz="1600" dirty="0"/>
          </a:p>
        </p:txBody>
      </p:sp>
      <p:sp>
        <p:nvSpPr>
          <p:cNvPr id="11" name="Text 1"/>
          <p:cNvSpPr txBox="1"/>
          <p:nvPr>
            <p:ph idx="101" type="body" hasCustomPrompt="1"/>
          </p:nvPr>
        </p:nvSpPr>
        <p:spPr>
          <a:xfrm>
            <a:off x="685800" y="384048"/>
            <a:ext cx="6400800" cy="237744"/>
          </a:xfrm>
          <a:prstGeom prst="rect">
            <a:avLst/>
          </a:prstGeom>
          <a:noFill/>
          <a:ln/>
        </p:spPr>
        <p:txBody>
          <a:bodyPr wrap="square" lIns="0" tIns="0" rIns="0" bIns="0" rtlCol="0" anchor="ctr"/>
          <a:lstStyle/>
          <a:p>
            <a:pPr indent="0" marL="0">
              <a:buNone/>
            </a:pPr>
            <a:r>
              <a:rPr lang="en-US" sz="1100" b="1" spc="160" kern="0" dirty="0">
                <a:solidFill>
                  <a:srgbClr val="14161B"/>
                </a:solidFill>
                <a:latin typeface="Trade Gothic Next" pitchFamily="34" charset="0"/>
                <a:ea typeface="Trade Gothic Next" pitchFamily="34" charset="-122"/>
                <a:cs typeface="Trade Gothic Next" pitchFamily="34" charset="-120"/>
              </a:rPr>
              <a:t>UNIT 02  •  CHEMISTRY</a:t>
            </a:r>
            <a:endParaRPr lang="en-US" sz="1100" dirty="0"/>
          </a:p>
        </p:txBody>
      </p:sp>
      <p:sp>
        <p:nvSpPr>
          <p:cNvPr id="12" name="Text 13"/>
          <p:cNvSpPr txBox="1"/>
          <p:nvPr>
            <p:ph idx="124" type="body" hasCustomPrompt="1"/>
          </p:nvPr>
        </p:nvSpPr>
        <p:spPr>
          <a:xfrm>
            <a:off x="8762695" y="6382512"/>
            <a:ext cx="2743200" cy="237744"/>
          </a:xfrm>
          <a:prstGeom prst="rect">
            <a:avLst/>
          </a:prstGeom>
          <a:noFill/>
          <a:ln/>
        </p:spPr>
        <p:txBody>
          <a:bodyPr wrap="square" lIns="0" tIns="0" rIns="0" bIns="0" rtlCol="0" anchor="ctr"/>
          <a:lstStyle/>
          <a:p>
            <a:pPr algn="r" indent="0" marL="0">
              <a:buNone/>
            </a:pPr>
            <a:r>
              <a:rPr lang="en-US" sz="1000" b="1" spc="140" kern="0" dirty="0">
                <a:solidFill>
                  <a:srgbClr val="2E3338"/>
                </a:solidFill>
                <a:latin typeface="Trade Gothic Next" pitchFamily="34" charset="0"/>
                <a:ea typeface="Trade Gothic Next" pitchFamily="34" charset="-122"/>
                <a:cs typeface="Trade Gothic Next" pitchFamily="34" charset="-120"/>
              </a:rPr>
              <a:t>U02 • S02.3</a:t>
            </a:r>
            <a:endParaRPr lang="en-US" sz="1000" dirty="0"/>
          </a:p>
        </p:txBody>
      </p:sp>
      <p:sp>
        <p:nvSpPr>
          <p:cNvPr id="14" name="Text 4"/>
          <p:cNvSpPr txBox="1"/>
          <p:nvPr>
            <p:ph idx="107" hasCustomPrompt="1"/>
          </p:nvPr>
        </p:nvSpPr>
        <p:spPr>
          <a:xfrm>
            <a:off x="9262872" y="1088136"/>
            <a:ext cx="1901952" cy="1069848"/>
          </a:xfrm>
          <a:prstGeom prst="rect">
            <a:avLst/>
          </a:prstGeom>
          <a:noFill/>
          <a:ln/>
        </p:spPr>
        <p:txBody>
          <a:bodyPr wrap="square" lIns="0" tIns="0" rIns="0" bIns="0" rtlCol="0" anchor="ctr"/>
          <a:lstStyle/>
          <a:p>
            <a:pPr algn="ctr" indent="0" marL="0">
              <a:buNone/>
            </a:pP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2"/>
          <p:cNvSpPr txBox="1"/>
          <p:nvPr>
            <p:ph idx="103" type="title" hasCustomPrompt="1"/>
          </p:nvPr>
        </p:nvSpPr>
        <p:spPr>
          <a:xfrm>
            <a:off x="685800" y="932688"/>
            <a:ext cx="10820095" cy="868680"/>
          </a:xfrm>
          <a:prstGeom prst="rect">
            <a:avLst/>
          </a:prstGeom>
          <a:noFill/>
          <a:ln/>
        </p:spPr>
        <p:txBody>
          <a:bodyPr wrap="square" lIns="0" tIns="0" rIns="0" bIns="0" rtlCol="0" anchor="t"/>
          <a:lstStyle/>
          <a:p>
            <a:pPr algn="l" indent="0" marL="0">
              <a:buNone/>
            </a:pPr>
            <a:r>
              <a:rPr lang="en-US" sz="2800" b="1" dirty="0">
                <a:solidFill>
                  <a:srgbClr val="14161B"/>
                </a:solidFill>
                <a:latin typeface="Trade Gothic Next" pitchFamily="34" charset="0"/>
                <a:ea typeface="Trade Gothic Next" pitchFamily="34" charset="-122"/>
                <a:cs typeface="Trade Gothic Next" pitchFamily="34" charset="-120"/>
              </a:rPr>
              <a:t>Aluminum, Worked</a:t>
            </a:r>
            <a:endParaRPr lang="en-US" sz="2800" dirty="0"/>
          </a:p>
        </p:txBody>
      </p:sp>
      <p:sp>
        <p:nvSpPr>
          <p:cNvPr id="3" name="Text 2"/>
          <p:cNvSpPr txBox="1"/>
          <p:nvPr>
            <p:ph idx="104" type="body" hasCustomPrompt="1"/>
          </p:nvPr>
        </p:nvSpPr>
        <p:spPr>
          <a:xfrm>
            <a:off x="685800" y="1847088"/>
            <a:ext cx="10820095" cy="384048"/>
          </a:xfrm>
          <a:prstGeom prst="rect">
            <a:avLst/>
          </a:prstGeom>
          <a:noFill/>
          <a:ln/>
        </p:spPr>
        <p:txBody>
          <a:bodyPr wrap="square" lIns="0" tIns="0" rIns="0" bIns="0" rtlCol="0"/>
          <a:lstStyle/>
          <a:p>
            <a:pPr indent="0" marL="0">
              <a:buNone/>
            </a:pPr>
            <a:r>
              <a:rPr lang="en-US" sz="1700" dirty="0">
                <a:solidFill>
                  <a:srgbClr val="2E3338"/>
                </a:solidFill>
                <a:latin typeface="Trade Gothic Next" pitchFamily="34" charset="0"/>
                <a:ea typeface="Trade Gothic Next" pitchFamily="34" charset="-122"/>
                <a:cs typeface="Trade Gothic Next" pitchFamily="34" charset="-120"/>
              </a:rPr>
              <a:t>Longhand first. Then swap the first 10 for [Ne].</a:t>
            </a:r>
            <a:endParaRPr lang="en-US" sz="1700" dirty="0"/>
          </a:p>
        </p:txBody>
      </p:sp>
      <p:sp>
        <p:nvSpPr>
          <p:cNvPr id="4" name="Text 5"/>
          <p:cNvSpPr txBox="1"/>
          <p:nvPr>
            <p:ph idx="109" type="body" hasCustomPrompt="1"/>
          </p:nvPr>
        </p:nvSpPr>
        <p:spPr>
          <a:xfrm>
            <a:off x="5276088" y="2560320"/>
            <a:ext cx="2752344" cy="219456"/>
          </a:xfrm>
          <a:prstGeom prst="rect">
            <a:avLst/>
          </a:prstGeom>
          <a:noFill/>
          <a:ln/>
        </p:spPr>
        <p:txBody>
          <a:bodyPr wrap="square" lIns="0" tIns="0" rIns="0" bIns="0" rtlCol="0"/>
          <a:lstStyle/>
          <a:p>
            <a:pPr indent="0" marL="0">
              <a:buNone/>
            </a:pPr>
            <a:r>
              <a:rPr lang="en-US" sz="1200" b="1" spc="120" kern="0" dirty="0">
                <a:solidFill>
                  <a:srgbClr val="2E3338"/>
                </a:solidFill>
                <a:latin typeface="Trade Gothic Next" pitchFamily="34" charset="0"/>
                <a:ea typeface="Trade Gothic Next" pitchFamily="34" charset="-122"/>
                <a:cs typeface="Trade Gothic Next" pitchFamily="34" charset="-120"/>
              </a:rPr>
              <a:t>SETUP</a:t>
            </a:r>
            <a:endParaRPr lang="en-US" sz="1200" dirty="0"/>
          </a:p>
        </p:txBody>
      </p:sp>
      <p:sp>
        <p:nvSpPr>
          <p:cNvPr id="5" name="Text 5"/>
          <p:cNvSpPr txBox="1"/>
          <p:nvPr>
            <p:ph idx="110" type="body" hasCustomPrompt="1"/>
          </p:nvPr>
        </p:nvSpPr>
        <p:spPr>
          <a:xfrm>
            <a:off x="5276088" y="2852928"/>
            <a:ext cx="2752344" cy="1901952"/>
          </a:xfrm>
          <a:prstGeom prst="rect">
            <a:avLst/>
          </a:prstGeom>
          <a:noFill/>
          <a:ln/>
        </p:spPr>
        <p:txBody>
          <a:bodyPr wrap="square" lIns="0" tIns="0" rIns="0" bIns="0" rtlCol="0"/>
          <a:lstStyle/>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Z = 13 electrons</a:t>
            </a:r>
            <a:endParaRPr lang="en-US" sz="1600" dirty="0"/>
          </a:p>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Core: [Ne] ends period 2</a:t>
            </a:r>
            <a:endParaRPr lang="en-US" sz="1600" dirty="0"/>
          </a:p>
        </p:txBody>
      </p:sp>
      <p:sp>
        <p:nvSpPr>
          <p:cNvPr id="6" name="Text 7"/>
          <p:cNvSpPr txBox="1"/>
          <p:nvPr>
            <p:ph idx="113" type="body" hasCustomPrompt="1"/>
          </p:nvPr>
        </p:nvSpPr>
        <p:spPr>
          <a:xfrm>
            <a:off x="8613648" y="2871216"/>
            <a:ext cx="2688336" cy="1920240"/>
          </a:xfrm>
          <a:prstGeom prst="rect">
            <a:avLst/>
          </a:prstGeom>
          <a:noFill/>
          <a:ln/>
        </p:spPr>
        <p:txBody>
          <a:bodyPr wrap="square" lIns="0" tIns="0" rIns="0" bIns="0" rtlCol="0"/>
          <a:lstStyle/>
          <a:p>
            <a:pPr indent="0" marL="0">
              <a:buNone/>
            </a:pPr>
            <a:r>
              <a:rPr lang="en-US" sz="1900" dirty="0">
                <a:solidFill>
                  <a:srgbClr val="14161B"/>
                </a:solidFill>
                <a:latin typeface="Trade Gothic Next" pitchFamily="34" charset="0"/>
                <a:ea typeface="Trade Gothic Next" pitchFamily="34" charset="-122"/>
                <a:cs typeface="Trade Gothic Next" pitchFamily="34" charset="-120"/>
              </a:rPr>
              <a:t>1s</a:t>
            </a:r>
            <a:pPr indent="0" marL="0">
              <a:buNone/>
            </a:pPr>
            <a:r>
              <a:rPr lang="en-US" sz="1900" baseline="30000" dirty="0">
                <a:solidFill>
                  <a:srgbClr val="14161B"/>
                </a:solidFill>
                <a:latin typeface="Trade Gothic Next" pitchFamily="34" charset="0"/>
                <a:ea typeface="Trade Gothic Next" pitchFamily="34" charset="-122"/>
                <a:cs typeface="Trade Gothic Next" pitchFamily="34" charset="-120"/>
              </a:rPr>
              <a:t>2</a:t>
            </a:r>
            <a:pPr indent="0" marL="0">
              <a:buNone/>
            </a:pPr>
            <a:r>
              <a:rPr lang="en-US" sz="1900" dirty="0">
                <a:solidFill>
                  <a:srgbClr val="14161B"/>
                </a:solidFill>
                <a:latin typeface="Trade Gothic Next" pitchFamily="34" charset="0"/>
                <a:ea typeface="Trade Gothic Next" pitchFamily="34" charset="-122"/>
                <a:cs typeface="Trade Gothic Next" pitchFamily="34" charset="-120"/>
              </a:rPr>
              <a:t> 2s</a:t>
            </a:r>
            <a:pPr indent="0" marL="0">
              <a:buNone/>
            </a:pPr>
            <a:r>
              <a:rPr lang="en-US" sz="1900" baseline="30000" dirty="0">
                <a:solidFill>
                  <a:srgbClr val="14161B"/>
                </a:solidFill>
                <a:latin typeface="Trade Gothic Next" pitchFamily="34" charset="0"/>
                <a:ea typeface="Trade Gothic Next" pitchFamily="34" charset="-122"/>
                <a:cs typeface="Trade Gothic Next" pitchFamily="34" charset="-120"/>
              </a:rPr>
              <a:t>2</a:t>
            </a:r>
            <a:pPr indent="0" marL="0">
              <a:buNone/>
            </a:pPr>
            <a:r>
              <a:rPr lang="en-US" sz="1900" dirty="0">
                <a:solidFill>
                  <a:srgbClr val="14161B"/>
                </a:solidFill>
                <a:latin typeface="Trade Gothic Next" pitchFamily="34" charset="0"/>
                <a:ea typeface="Trade Gothic Next" pitchFamily="34" charset="-122"/>
                <a:cs typeface="Trade Gothic Next" pitchFamily="34" charset="-120"/>
              </a:rPr>
              <a:t> 2p</a:t>
            </a:r>
            <a:pPr indent="0" marL="0">
              <a:buNone/>
            </a:pPr>
            <a:r>
              <a:rPr lang="en-US" sz="1900" baseline="30000" dirty="0">
                <a:solidFill>
                  <a:srgbClr val="14161B"/>
                </a:solidFill>
                <a:latin typeface="Trade Gothic Next" pitchFamily="34" charset="0"/>
                <a:ea typeface="Trade Gothic Next" pitchFamily="34" charset="-122"/>
                <a:cs typeface="Trade Gothic Next" pitchFamily="34" charset="-120"/>
              </a:rPr>
              <a:t>6</a:t>
            </a:r>
            <a:pPr indent="0" marL="0">
              <a:buNone/>
            </a:pPr>
            <a:r>
              <a:rPr lang="en-US" sz="1900" dirty="0">
                <a:solidFill>
                  <a:srgbClr val="14161B"/>
                </a:solidFill>
                <a:latin typeface="Trade Gothic Next" pitchFamily="34" charset="0"/>
                <a:ea typeface="Trade Gothic Next" pitchFamily="34" charset="-122"/>
                <a:cs typeface="Trade Gothic Next" pitchFamily="34" charset="-120"/>
              </a:rPr>
              <a:t> 3s</a:t>
            </a:r>
            <a:pPr indent="0" marL="0">
              <a:buNone/>
            </a:pPr>
            <a:r>
              <a:rPr lang="en-US" sz="1900" baseline="30000" dirty="0">
                <a:solidFill>
                  <a:srgbClr val="14161B"/>
                </a:solidFill>
                <a:latin typeface="Trade Gothic Next" pitchFamily="34" charset="0"/>
                <a:ea typeface="Trade Gothic Next" pitchFamily="34" charset="-122"/>
                <a:cs typeface="Trade Gothic Next" pitchFamily="34" charset="-120"/>
              </a:rPr>
              <a:t>2</a:t>
            </a:r>
            <a:pPr indent="0" marL="0">
              <a:buNone/>
            </a:pPr>
            <a:r>
              <a:rPr lang="en-US" sz="1900" dirty="0">
                <a:solidFill>
                  <a:srgbClr val="14161B"/>
                </a:solidFill>
                <a:latin typeface="Trade Gothic Next" pitchFamily="34" charset="0"/>
                <a:ea typeface="Trade Gothic Next" pitchFamily="34" charset="-122"/>
                <a:cs typeface="Trade Gothic Next" pitchFamily="34" charset="-120"/>
              </a:rPr>
              <a:t> 3p</a:t>
            </a:r>
            <a:pPr indent="0" marL="0">
              <a:buNone/>
            </a:pPr>
            <a:r>
              <a:rPr lang="en-US" sz="1900" baseline="30000" dirty="0">
                <a:solidFill>
                  <a:srgbClr val="14161B"/>
                </a:solidFill>
                <a:latin typeface="Trade Gothic Next" pitchFamily="34" charset="0"/>
                <a:ea typeface="Trade Gothic Next" pitchFamily="34" charset="-122"/>
                <a:cs typeface="Trade Gothic Next" pitchFamily="34" charset="-120"/>
              </a:rPr>
              <a:t>1</a:t>
            </a:r>
            <a:endParaRPr lang="en-US" sz="1900" dirty="0"/>
          </a:p>
          <a:p>
            <a:pPr indent="0" marL="0">
              <a:buNone/>
            </a:pPr>
            <a:r>
              <a:rPr lang="en-US" sz="1900" dirty="0">
                <a:solidFill>
                  <a:srgbClr val="14161B"/>
                </a:solidFill>
                <a:latin typeface="Trade Gothic Next" pitchFamily="34" charset="0"/>
                <a:ea typeface="Trade Gothic Next" pitchFamily="34" charset="-122"/>
                <a:cs typeface="Trade Gothic Next" pitchFamily="34" charset="-120"/>
              </a:rPr>
              <a:t>[Ne] 3s</a:t>
            </a:r>
            <a:pPr indent="0" marL="0">
              <a:buNone/>
            </a:pPr>
            <a:r>
              <a:rPr lang="en-US" sz="1900" baseline="30000" dirty="0">
                <a:solidFill>
                  <a:srgbClr val="14161B"/>
                </a:solidFill>
                <a:latin typeface="Trade Gothic Next" pitchFamily="34" charset="0"/>
                <a:ea typeface="Trade Gothic Next" pitchFamily="34" charset="-122"/>
                <a:cs typeface="Trade Gothic Next" pitchFamily="34" charset="-120"/>
              </a:rPr>
              <a:t>2</a:t>
            </a:r>
            <a:pPr indent="0" marL="0">
              <a:buNone/>
            </a:pPr>
            <a:r>
              <a:rPr lang="en-US" sz="1900" dirty="0">
                <a:solidFill>
                  <a:srgbClr val="14161B"/>
                </a:solidFill>
                <a:latin typeface="Trade Gothic Next" pitchFamily="34" charset="0"/>
                <a:ea typeface="Trade Gothic Next" pitchFamily="34" charset="-122"/>
                <a:cs typeface="Trade Gothic Next" pitchFamily="34" charset="-120"/>
              </a:rPr>
              <a:t> 3p</a:t>
            </a:r>
            <a:pPr indent="0" marL="0">
              <a:buNone/>
            </a:pPr>
            <a:r>
              <a:rPr lang="en-US" sz="1900" baseline="30000" dirty="0">
                <a:solidFill>
                  <a:srgbClr val="14161B"/>
                </a:solidFill>
                <a:latin typeface="Trade Gothic Next" pitchFamily="34" charset="0"/>
                <a:ea typeface="Trade Gothic Next" pitchFamily="34" charset="-122"/>
                <a:cs typeface="Trade Gothic Next" pitchFamily="34" charset="-120"/>
              </a:rPr>
              <a:t>1</a:t>
            </a:r>
            <a:endParaRPr lang="en-US" sz="1900" dirty="0"/>
          </a:p>
          <a:p>
            <a:pPr indent="0" marL="0">
              <a:buNone/>
            </a:pPr>
            <a:r>
              <a:rPr lang="en-US" sz="1900" dirty="0">
                <a:solidFill>
                  <a:srgbClr val="14161B"/>
                </a:solidFill>
                <a:latin typeface="Trade Gothic Next" pitchFamily="34" charset="0"/>
                <a:ea typeface="Trade Gothic Next" pitchFamily="34" charset="-122"/>
                <a:cs typeface="Trade Gothic Next" pitchFamily="34" charset="-120"/>
              </a:rPr>
              <a:t>10 + 2 + 1 = 13</a:t>
            </a:r>
            <a:endParaRPr lang="en-US" sz="1900" dirty="0"/>
          </a:p>
        </p:txBody>
      </p:sp>
      <p:sp>
        <p:nvSpPr>
          <p:cNvPr id="7" name="Text 9"/>
          <p:cNvSpPr txBox="1"/>
          <p:nvPr>
            <p:ph idx="116" type="body" hasCustomPrompt="1"/>
          </p:nvPr>
        </p:nvSpPr>
        <p:spPr>
          <a:xfrm>
            <a:off x="2240280" y="5212080"/>
            <a:ext cx="8991295" cy="402336"/>
          </a:xfrm>
          <a:prstGeom prst="rect">
            <a:avLst/>
          </a:prstGeom>
          <a:noFill/>
          <a:ln/>
        </p:spPr>
        <p:txBody>
          <a:bodyPr wrap="square" lIns="0" tIns="0" rIns="0" bIns="0" rtlCol="0" anchor="ctr"/>
          <a:lstStyle/>
          <a:p>
            <a:pPr indent="0" marL="0">
              <a:buNone/>
            </a:pPr>
            <a:r>
              <a:rPr lang="en-US" sz="1600" b="1" dirty="0">
                <a:solidFill>
                  <a:srgbClr val="EDF0E5"/>
                </a:solidFill>
                <a:latin typeface="Trade Gothic Next" pitchFamily="34" charset="0"/>
                <a:ea typeface="Trade Gothic Next" pitchFamily="34" charset="-122"/>
                <a:cs typeface="Trade Gothic Next" pitchFamily="34" charset="-120"/>
              </a:rPr>
              <a:t>Al is [Ne] 3s</a:t>
            </a:r>
            <a:pPr indent="0" marL="0">
              <a:buNone/>
            </a:pPr>
            <a:r>
              <a:rPr lang="en-US" sz="1600" b="1" baseline="30000" dirty="0">
                <a:solidFill>
                  <a:srgbClr val="EDF0E5"/>
                </a:solidFill>
                <a:latin typeface="Trade Gothic Next" pitchFamily="34" charset="0"/>
                <a:ea typeface="Trade Gothic Next" pitchFamily="34" charset="-122"/>
                <a:cs typeface="Trade Gothic Next" pitchFamily="34" charset="-120"/>
              </a:rPr>
              <a:t>2</a:t>
            </a:r>
            <a:pPr indent="0" marL="0">
              <a:buNone/>
            </a:pPr>
            <a:r>
              <a:rPr lang="en-US" sz="1600" b="1" dirty="0">
                <a:solidFill>
                  <a:srgbClr val="EDF0E5"/>
                </a:solidFill>
                <a:latin typeface="Trade Gothic Next" pitchFamily="34" charset="0"/>
                <a:ea typeface="Trade Gothic Next" pitchFamily="34" charset="-122"/>
                <a:cs typeface="Trade Gothic Next" pitchFamily="34" charset="-120"/>
              </a:rPr>
              <a:t> 3p</a:t>
            </a:r>
            <a:pPr indent="0" marL="0">
              <a:buNone/>
            </a:pPr>
            <a:r>
              <a:rPr lang="en-US" sz="1600" b="1" baseline="30000" dirty="0">
                <a:solidFill>
                  <a:srgbClr val="EDF0E5"/>
                </a:solidFill>
                <a:latin typeface="Trade Gothic Next" pitchFamily="34" charset="0"/>
                <a:ea typeface="Trade Gothic Next" pitchFamily="34" charset="-122"/>
                <a:cs typeface="Trade Gothic Next" pitchFamily="34" charset="-120"/>
              </a:rPr>
              <a:t>1</a:t>
            </a:r>
            <a:pPr indent="0" marL="0">
              <a:buNone/>
            </a:pPr>
            <a:r>
              <a:rPr lang="en-US" sz="1600" b="1" dirty="0">
                <a:solidFill>
                  <a:srgbClr val="EDF0E5"/>
                </a:solidFill>
                <a:latin typeface="Trade Gothic Next" pitchFamily="34" charset="0"/>
                <a:ea typeface="Trade Gothic Next" pitchFamily="34" charset="-122"/>
                <a:cs typeface="Trade Gothic Next" pitchFamily="34" charset="-120"/>
              </a:rPr>
              <a:t>, the same 13 electrons as the longhand.</a:t>
            </a:r>
            <a:endParaRPr lang="en-US" sz="1600" dirty="0"/>
          </a:p>
        </p:txBody>
      </p:sp>
      <p:sp>
        <p:nvSpPr>
          <p:cNvPr id="8" name="Text 1"/>
          <p:cNvSpPr txBox="1"/>
          <p:nvPr>
            <p:ph idx="101" type="body" hasCustomPrompt="1"/>
          </p:nvPr>
        </p:nvSpPr>
        <p:spPr>
          <a:xfrm>
            <a:off x="685800" y="384048"/>
            <a:ext cx="6400800" cy="237744"/>
          </a:xfrm>
          <a:prstGeom prst="rect">
            <a:avLst/>
          </a:prstGeom>
          <a:noFill/>
          <a:ln/>
        </p:spPr>
        <p:txBody>
          <a:bodyPr wrap="square" lIns="0" tIns="0" rIns="0" bIns="0" rtlCol="0" anchor="ctr"/>
          <a:lstStyle/>
          <a:p>
            <a:pPr indent="0" marL="0">
              <a:buNone/>
            </a:pPr>
            <a:r>
              <a:rPr lang="en-US" sz="1100" b="1" spc="160" kern="0" dirty="0">
                <a:solidFill>
                  <a:srgbClr val="14161B"/>
                </a:solidFill>
                <a:latin typeface="Trade Gothic Next" pitchFamily="34" charset="0"/>
                <a:ea typeface="Trade Gothic Next" pitchFamily="34" charset="-122"/>
                <a:cs typeface="Trade Gothic Next" pitchFamily="34" charset="-120"/>
              </a:rPr>
              <a:t>UNIT 02  •  CHEMISTRY</a:t>
            </a:r>
            <a:endParaRPr lang="en-US" sz="1100" dirty="0"/>
          </a:p>
        </p:txBody>
      </p:sp>
      <p:sp>
        <p:nvSpPr>
          <p:cNvPr id="9" name="Text 10"/>
          <p:cNvSpPr txBox="1"/>
          <p:nvPr>
            <p:ph idx="118" type="body" hasCustomPrompt="1"/>
          </p:nvPr>
        </p:nvSpPr>
        <p:spPr>
          <a:xfrm>
            <a:off x="8762695" y="6382512"/>
            <a:ext cx="2743200" cy="237744"/>
          </a:xfrm>
          <a:prstGeom prst="rect">
            <a:avLst/>
          </a:prstGeom>
          <a:noFill/>
          <a:ln/>
        </p:spPr>
        <p:txBody>
          <a:bodyPr wrap="square" lIns="0" tIns="0" rIns="0" bIns="0" rtlCol="0" anchor="ctr"/>
          <a:lstStyle/>
          <a:p>
            <a:pPr algn="r" indent="0" marL="0">
              <a:buNone/>
            </a:pPr>
            <a:r>
              <a:rPr lang="en-US" sz="1000" b="1" spc="140" kern="0" dirty="0">
                <a:solidFill>
                  <a:srgbClr val="2E3338"/>
                </a:solidFill>
                <a:latin typeface="Trade Gothic Next" pitchFamily="34" charset="0"/>
                <a:ea typeface="Trade Gothic Next" pitchFamily="34" charset="-122"/>
                <a:cs typeface="Trade Gothic Next" pitchFamily="34" charset="-120"/>
              </a:rPr>
              <a:t>U02 • S02.3</a:t>
            </a:r>
            <a:endParaRPr lang="en-US" sz="1000" dirty="0"/>
          </a:p>
        </p:txBody>
      </p:sp>
      <p:sp>
        <p:nvSpPr>
          <p:cNvPr id="11" name="Text 4"/>
          <p:cNvSpPr txBox="1"/>
          <p:nvPr>
            <p:ph idx="107" hasCustomPrompt="1"/>
          </p:nvPr>
        </p:nvSpPr>
        <p:spPr>
          <a:xfrm>
            <a:off x="832104" y="2542032"/>
            <a:ext cx="3867912" cy="2267712"/>
          </a:xfrm>
          <a:prstGeom prst="rect">
            <a:avLst/>
          </a:prstGeom>
          <a:noFill/>
          <a:ln/>
        </p:spPr>
        <p:txBody>
          <a:bodyPr wrap="square" lIns="0" tIns="0" rIns="0" bIns="0" rtlCol="0" anchor="ctr"/>
          <a:lstStyle/>
          <a:p>
            <a:pPr algn="ctr" indent="0" marL="0">
              <a:buNone/>
            </a:pP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2"/>
          <p:cNvSpPr txBox="1"/>
          <p:nvPr>
            <p:ph idx="103" type="title" hasCustomPrompt="1"/>
          </p:nvPr>
        </p:nvSpPr>
        <p:spPr>
          <a:xfrm>
            <a:off x="685800" y="932688"/>
            <a:ext cx="7863840" cy="868680"/>
          </a:xfrm>
          <a:prstGeom prst="rect">
            <a:avLst/>
          </a:prstGeom>
          <a:noFill/>
          <a:ln/>
        </p:spPr>
        <p:txBody>
          <a:bodyPr wrap="square" lIns="0" tIns="0" rIns="0" bIns="0" rtlCol="0" anchor="t"/>
          <a:lstStyle/>
          <a:p>
            <a:pPr algn="l" indent="0" marL="0">
              <a:buNone/>
            </a:pPr>
            <a:r>
              <a:rPr lang="en-US" sz="2800" b="1" dirty="0">
                <a:solidFill>
                  <a:srgbClr val="14161B"/>
                </a:solidFill>
                <a:latin typeface="Trade Gothic Next" pitchFamily="34" charset="0"/>
                <a:ea typeface="Trade Gothic Next" pitchFamily="34" charset="-122"/>
                <a:cs typeface="Trade Gothic Next" pitchFamily="34" charset="-120"/>
              </a:rPr>
              <a:t>Example: Bromine and Nickel</a:t>
            </a:r>
            <a:endParaRPr lang="en-US" sz="2800" dirty="0"/>
          </a:p>
        </p:txBody>
      </p:sp>
      <p:sp>
        <p:nvSpPr>
          <p:cNvPr id="3" name="Text 2"/>
          <p:cNvSpPr txBox="1"/>
          <p:nvPr>
            <p:ph idx="104" type="body" hasCustomPrompt="1"/>
          </p:nvPr>
        </p:nvSpPr>
        <p:spPr>
          <a:xfrm>
            <a:off x="685800" y="1847088"/>
            <a:ext cx="7863840" cy="384048"/>
          </a:xfrm>
          <a:prstGeom prst="rect">
            <a:avLst/>
          </a:prstGeom>
          <a:noFill/>
          <a:ln/>
        </p:spPr>
        <p:txBody>
          <a:bodyPr wrap="square" lIns="0" tIns="0" rIns="0" bIns="0" rtlCol="0"/>
          <a:lstStyle/>
          <a:p>
            <a:pPr indent="0" marL="0">
              <a:buNone/>
            </a:pPr>
            <a:r>
              <a:rPr lang="en-US" sz="1700" dirty="0">
                <a:solidFill>
                  <a:srgbClr val="2E3338"/>
                </a:solidFill>
                <a:latin typeface="Trade Gothic Next" pitchFamily="34" charset="0"/>
                <a:ea typeface="Trade Gothic Next" pitchFamily="34" charset="-122"/>
                <a:cs typeface="Trade Gothic Next" pitchFamily="34" charset="-120"/>
              </a:rPr>
              <a:t>Notation only. Two elements, one core.</a:t>
            </a:r>
            <a:endParaRPr lang="en-US" sz="1700" dirty="0"/>
          </a:p>
        </p:txBody>
      </p:sp>
      <p:sp>
        <p:nvSpPr>
          <p:cNvPr id="4" name="Text 6"/>
          <p:cNvSpPr txBox="1"/>
          <p:nvPr>
            <p:ph idx="110" type="body" hasCustomPrompt="1"/>
          </p:nvPr>
        </p:nvSpPr>
        <p:spPr>
          <a:xfrm>
            <a:off x="886968" y="2798064"/>
            <a:ext cx="4992624" cy="548640"/>
          </a:xfrm>
          <a:prstGeom prst="rect">
            <a:avLst/>
          </a:prstGeom>
          <a:noFill/>
          <a:ln/>
        </p:spPr>
        <p:txBody>
          <a:bodyPr wrap="square" lIns="0" tIns="0" rIns="0" bIns="0" rtlCol="0"/>
          <a:lstStyle/>
          <a:p>
            <a:pPr indent="0" marL="0">
              <a:buNone/>
            </a:pPr>
            <a:r>
              <a:rPr lang="en-US" sz="1600" dirty="0">
                <a:solidFill>
                  <a:srgbClr val="EDF0E5"/>
                </a:solidFill>
                <a:latin typeface="Trade Gothic Next" pitchFamily="34" charset="0"/>
                <a:ea typeface="Trade Gothic Next" pitchFamily="34" charset="-122"/>
                <a:cs typeface="Trade Gothic Next" pitchFamily="34" charset="-120"/>
              </a:rPr>
              <a:t>Write the noble-gas shorthand for each element.</a:t>
            </a:r>
            <a:endParaRPr lang="en-US" sz="1600" dirty="0"/>
          </a:p>
        </p:txBody>
      </p:sp>
      <p:sp>
        <p:nvSpPr>
          <p:cNvPr id="5" name="Text 7"/>
          <p:cNvSpPr txBox="1"/>
          <p:nvPr>
            <p:ph idx="112" type="body" hasCustomPrompt="1"/>
          </p:nvPr>
        </p:nvSpPr>
        <p:spPr>
          <a:xfrm>
            <a:off x="886968" y="3776472"/>
            <a:ext cx="2203704" cy="219456"/>
          </a:xfrm>
          <a:prstGeom prst="rect">
            <a:avLst/>
          </a:prstGeom>
          <a:noFill/>
          <a:ln/>
        </p:spPr>
        <p:txBody>
          <a:bodyPr wrap="square" lIns="0" tIns="0" rIns="0" bIns="0" rtlCol="0"/>
          <a:lstStyle/>
          <a:p>
            <a:pPr indent="0" marL="0">
              <a:buNone/>
            </a:pPr>
            <a:r>
              <a:rPr lang="en-US" sz="1200" b="1" spc="120" kern="0" dirty="0">
                <a:solidFill>
                  <a:srgbClr val="2E3338"/>
                </a:solidFill>
                <a:latin typeface="Trade Gothic Next" pitchFamily="34" charset="0"/>
                <a:ea typeface="Trade Gothic Next" pitchFamily="34" charset="-122"/>
                <a:cs typeface="Trade Gothic Next" pitchFamily="34" charset="-120"/>
              </a:rPr>
              <a:t>(a) BROMINE</a:t>
            </a:r>
            <a:endParaRPr lang="en-US" sz="1200" dirty="0"/>
          </a:p>
        </p:txBody>
      </p:sp>
      <p:sp>
        <p:nvSpPr>
          <p:cNvPr id="6" name="Text 7"/>
          <p:cNvSpPr txBox="1"/>
          <p:nvPr>
            <p:ph idx="113" type="body" hasCustomPrompt="1"/>
          </p:nvPr>
        </p:nvSpPr>
        <p:spPr>
          <a:xfrm>
            <a:off x="886968" y="4069080"/>
            <a:ext cx="2203704" cy="1078992"/>
          </a:xfrm>
          <a:prstGeom prst="rect">
            <a:avLst/>
          </a:prstGeom>
          <a:noFill/>
          <a:ln/>
        </p:spPr>
        <p:txBody>
          <a:bodyPr wrap="square" lIns="0" tIns="0" rIns="0" bIns="0" rtlCol="0"/>
          <a:lstStyle/>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Br, Z = 35</a:t>
            </a:r>
            <a:endParaRPr lang="en-US" sz="1600" dirty="0"/>
          </a:p>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Neutral atom</a:t>
            </a:r>
            <a:endParaRPr lang="en-US" sz="1600" dirty="0"/>
          </a:p>
        </p:txBody>
      </p:sp>
      <p:sp>
        <p:nvSpPr>
          <p:cNvPr id="7" name="Text 8"/>
          <p:cNvSpPr txBox="1"/>
          <p:nvPr>
            <p:ph idx="115" type="body" hasCustomPrompt="1"/>
          </p:nvPr>
        </p:nvSpPr>
        <p:spPr>
          <a:xfrm>
            <a:off x="3675888" y="3776472"/>
            <a:ext cx="2203704" cy="219456"/>
          </a:xfrm>
          <a:prstGeom prst="rect">
            <a:avLst/>
          </a:prstGeom>
          <a:noFill/>
          <a:ln/>
        </p:spPr>
        <p:txBody>
          <a:bodyPr wrap="square" lIns="0" tIns="0" rIns="0" bIns="0" rtlCol="0"/>
          <a:lstStyle/>
          <a:p>
            <a:pPr indent="0" marL="0">
              <a:buNone/>
            </a:pPr>
            <a:r>
              <a:rPr lang="en-US" sz="1200" b="1" spc="120" kern="0" dirty="0">
                <a:solidFill>
                  <a:srgbClr val="2E3338"/>
                </a:solidFill>
                <a:latin typeface="Trade Gothic Next" pitchFamily="34" charset="0"/>
                <a:ea typeface="Trade Gothic Next" pitchFamily="34" charset="-122"/>
                <a:cs typeface="Trade Gothic Next" pitchFamily="34" charset="-120"/>
              </a:rPr>
              <a:t>(b) NICKEL</a:t>
            </a:r>
            <a:endParaRPr lang="en-US" sz="1200" dirty="0"/>
          </a:p>
        </p:txBody>
      </p:sp>
      <p:sp>
        <p:nvSpPr>
          <p:cNvPr id="8" name="Text 8"/>
          <p:cNvSpPr txBox="1"/>
          <p:nvPr>
            <p:ph idx="116" type="body" hasCustomPrompt="1"/>
          </p:nvPr>
        </p:nvSpPr>
        <p:spPr>
          <a:xfrm>
            <a:off x="3675888" y="4069080"/>
            <a:ext cx="2203704" cy="1078992"/>
          </a:xfrm>
          <a:prstGeom prst="rect">
            <a:avLst/>
          </a:prstGeom>
          <a:noFill/>
          <a:ln/>
        </p:spPr>
        <p:txBody>
          <a:bodyPr wrap="square" lIns="0" tIns="0" rIns="0" bIns="0" rtlCol="0"/>
          <a:lstStyle/>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Ni, Z = 28</a:t>
            </a:r>
            <a:endParaRPr lang="en-US" sz="1600" dirty="0"/>
          </a:p>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Neutral atom</a:t>
            </a:r>
            <a:endParaRPr lang="en-US" sz="1600" dirty="0"/>
          </a:p>
        </p:txBody>
      </p:sp>
      <p:sp>
        <p:nvSpPr>
          <p:cNvPr id="9" name="Text 10"/>
          <p:cNvSpPr txBox="1"/>
          <p:nvPr>
            <p:ph idx="119" type="body" hasCustomPrompt="1"/>
          </p:nvPr>
        </p:nvSpPr>
        <p:spPr>
          <a:xfrm>
            <a:off x="6464808" y="2880360"/>
            <a:ext cx="4837176" cy="2286000"/>
          </a:xfrm>
          <a:prstGeom prst="rect">
            <a:avLst/>
          </a:prstGeom>
          <a:noFill/>
          <a:ln/>
        </p:spPr>
        <p:txBody>
          <a:bodyPr wrap="square" lIns="0" tIns="0" rIns="0" bIns="0" rtlCol="0"/>
          <a:lstStyle/>
          <a:p>
            <a:pPr indent="0" marL="0">
              <a:buNone/>
            </a:pPr>
            <a:endParaRPr lang="en-US" sz="1900" dirty="0"/>
          </a:p>
        </p:txBody>
      </p:sp>
      <p:sp>
        <p:nvSpPr>
          <p:cNvPr id="10" name="Text 12"/>
          <p:cNvSpPr txBox="1"/>
          <p:nvPr>
            <p:ph idx="122" type="body" hasCustomPrompt="1"/>
          </p:nvPr>
        </p:nvSpPr>
        <p:spPr>
          <a:xfrm>
            <a:off x="2240280" y="5605272"/>
            <a:ext cx="8991295" cy="402336"/>
          </a:xfrm>
          <a:prstGeom prst="rect">
            <a:avLst/>
          </a:prstGeom>
          <a:noFill/>
          <a:ln/>
        </p:spPr>
        <p:txBody>
          <a:bodyPr wrap="square" lIns="0" tIns="0" rIns="0" bIns="0" rtlCol="0" anchor="ctr"/>
          <a:lstStyle/>
          <a:p>
            <a:pPr indent="0" marL="0">
              <a:buNone/>
            </a:pPr>
            <a:r>
              <a:rPr lang="en-US" sz="1600" b="1" dirty="0">
                <a:solidFill>
                  <a:srgbClr val="EDF0E5"/>
                </a:solidFill>
                <a:latin typeface="Trade Gothic Next" pitchFamily="34" charset="0"/>
                <a:ea typeface="Trade Gothic Next" pitchFamily="34" charset="-122"/>
                <a:cs typeface="Trade Gothic Next" pitchFamily="34" charset="-120"/>
              </a:rPr>
              <a:t>Both are period 4, so the core is [Ar], never [Kr].</a:t>
            </a:r>
            <a:endParaRPr lang="en-US" sz="1600" dirty="0"/>
          </a:p>
        </p:txBody>
      </p:sp>
      <p:sp>
        <p:nvSpPr>
          <p:cNvPr id="11" name="Text 1"/>
          <p:cNvSpPr txBox="1"/>
          <p:nvPr>
            <p:ph idx="101" type="body" hasCustomPrompt="1"/>
          </p:nvPr>
        </p:nvSpPr>
        <p:spPr>
          <a:xfrm>
            <a:off x="685800" y="384048"/>
            <a:ext cx="6400800" cy="237744"/>
          </a:xfrm>
          <a:prstGeom prst="rect">
            <a:avLst/>
          </a:prstGeom>
          <a:noFill/>
          <a:ln/>
        </p:spPr>
        <p:txBody>
          <a:bodyPr wrap="square" lIns="0" tIns="0" rIns="0" bIns="0" rtlCol="0" anchor="ctr"/>
          <a:lstStyle/>
          <a:p>
            <a:pPr indent="0" marL="0">
              <a:buNone/>
            </a:pPr>
            <a:r>
              <a:rPr lang="en-US" sz="1100" b="1" spc="160" kern="0" dirty="0">
                <a:solidFill>
                  <a:srgbClr val="14161B"/>
                </a:solidFill>
                <a:latin typeface="Trade Gothic Next" pitchFamily="34" charset="0"/>
                <a:ea typeface="Trade Gothic Next" pitchFamily="34" charset="-122"/>
                <a:cs typeface="Trade Gothic Next" pitchFamily="34" charset="-120"/>
              </a:rPr>
              <a:t>UNIT 02  •  CHEMISTRY</a:t>
            </a:r>
            <a:endParaRPr lang="en-US" sz="1100" dirty="0"/>
          </a:p>
        </p:txBody>
      </p:sp>
      <p:sp>
        <p:nvSpPr>
          <p:cNvPr id="12" name="Text 13"/>
          <p:cNvSpPr txBox="1"/>
          <p:nvPr>
            <p:ph idx="124" type="body" hasCustomPrompt="1"/>
          </p:nvPr>
        </p:nvSpPr>
        <p:spPr>
          <a:xfrm>
            <a:off x="8762695" y="6382512"/>
            <a:ext cx="2743200" cy="237744"/>
          </a:xfrm>
          <a:prstGeom prst="rect">
            <a:avLst/>
          </a:prstGeom>
          <a:noFill/>
          <a:ln/>
        </p:spPr>
        <p:txBody>
          <a:bodyPr wrap="square" lIns="0" tIns="0" rIns="0" bIns="0" rtlCol="0" anchor="ctr"/>
          <a:lstStyle/>
          <a:p>
            <a:pPr algn="r" indent="0" marL="0">
              <a:buNone/>
            </a:pPr>
            <a:r>
              <a:rPr lang="en-US" sz="1000" b="1" spc="140" kern="0" dirty="0">
                <a:solidFill>
                  <a:srgbClr val="2E3338"/>
                </a:solidFill>
                <a:latin typeface="Trade Gothic Next" pitchFamily="34" charset="0"/>
                <a:ea typeface="Trade Gothic Next" pitchFamily="34" charset="-122"/>
                <a:cs typeface="Trade Gothic Next" pitchFamily="34" charset="-120"/>
              </a:rPr>
              <a:t>U02 • S02.3</a:t>
            </a:r>
            <a:endParaRPr lang="en-US" sz="1000" dirty="0"/>
          </a:p>
        </p:txBody>
      </p:sp>
      <p:sp>
        <p:nvSpPr>
          <p:cNvPr id="14" name="Text 4"/>
          <p:cNvSpPr txBox="1"/>
          <p:nvPr>
            <p:ph idx="107" hasCustomPrompt="1"/>
          </p:nvPr>
        </p:nvSpPr>
        <p:spPr>
          <a:xfrm>
            <a:off x="9262872" y="1088136"/>
            <a:ext cx="1901952" cy="1069848"/>
          </a:xfrm>
          <a:prstGeom prst="rect">
            <a:avLst/>
          </a:prstGeom>
          <a:noFill/>
          <a:ln/>
        </p:spPr>
        <p:txBody>
          <a:bodyPr wrap="square" lIns="0" tIns="0" rIns="0" bIns="0" rtlCol="0" anchor="ctr"/>
          <a:lstStyle/>
          <a:p>
            <a:pPr algn="ctr" indent="0" marL="0">
              <a:buNone/>
            </a:pP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2"/>
          <p:cNvSpPr txBox="1"/>
          <p:nvPr>
            <p:ph idx="103" type="title" hasCustomPrompt="1"/>
          </p:nvPr>
        </p:nvSpPr>
        <p:spPr>
          <a:xfrm>
            <a:off x="685800" y="932688"/>
            <a:ext cx="10820095" cy="868680"/>
          </a:xfrm>
          <a:prstGeom prst="rect">
            <a:avLst/>
          </a:prstGeom>
          <a:noFill/>
          <a:ln/>
        </p:spPr>
        <p:txBody>
          <a:bodyPr wrap="square" lIns="0" tIns="0" rIns="0" bIns="0" rtlCol="0" anchor="t"/>
          <a:lstStyle/>
          <a:p>
            <a:pPr algn="l" indent="0" marL="0">
              <a:buNone/>
            </a:pPr>
            <a:r>
              <a:rPr lang="en-US" sz="2800" b="1" dirty="0">
                <a:solidFill>
                  <a:srgbClr val="14161B"/>
                </a:solidFill>
                <a:latin typeface="Trade Gothic Next" pitchFamily="34" charset="0"/>
                <a:ea typeface="Trade Gothic Next" pitchFamily="34" charset="-122"/>
                <a:cs typeface="Trade Gothic Next" pitchFamily="34" charset="-120"/>
              </a:rPr>
              <a:t>Bromine and Nickel, Worked</a:t>
            </a:r>
            <a:endParaRPr lang="en-US" sz="2800" dirty="0"/>
          </a:p>
        </p:txBody>
      </p:sp>
      <p:sp>
        <p:nvSpPr>
          <p:cNvPr id="3" name="Text 2"/>
          <p:cNvSpPr txBox="1"/>
          <p:nvPr>
            <p:ph idx="104" type="body" hasCustomPrompt="1"/>
          </p:nvPr>
        </p:nvSpPr>
        <p:spPr>
          <a:xfrm>
            <a:off x="685800" y="1847088"/>
            <a:ext cx="10820095" cy="384048"/>
          </a:xfrm>
          <a:prstGeom prst="rect">
            <a:avLst/>
          </a:prstGeom>
          <a:noFill/>
          <a:ln/>
        </p:spPr>
        <p:txBody>
          <a:bodyPr wrap="square" lIns="0" tIns="0" rIns="0" bIns="0" rtlCol="0"/>
          <a:lstStyle/>
          <a:p>
            <a:pPr indent="0" marL="0">
              <a:buNone/>
            </a:pPr>
            <a:r>
              <a:rPr lang="en-US" sz="1700" dirty="0">
                <a:solidFill>
                  <a:srgbClr val="2E3338"/>
                </a:solidFill>
                <a:latin typeface="Trade Gothic Next" pitchFamily="34" charset="0"/>
                <a:ea typeface="Trade Gothic Next" pitchFamily="34" charset="-122"/>
                <a:cs typeface="Trade Gothic Next" pitchFamily="34" charset="-120"/>
              </a:rPr>
              <a:t>Same [Ar] core. Then 4s, 3d, and 4p as needed.</a:t>
            </a:r>
            <a:endParaRPr lang="en-US" sz="1700" dirty="0"/>
          </a:p>
        </p:txBody>
      </p:sp>
      <p:sp>
        <p:nvSpPr>
          <p:cNvPr id="4" name="Text 5"/>
          <p:cNvSpPr txBox="1"/>
          <p:nvPr>
            <p:ph idx="109" type="body" hasCustomPrompt="1"/>
          </p:nvPr>
        </p:nvSpPr>
        <p:spPr>
          <a:xfrm>
            <a:off x="5276088" y="2560320"/>
            <a:ext cx="2752344" cy="219456"/>
          </a:xfrm>
          <a:prstGeom prst="rect">
            <a:avLst/>
          </a:prstGeom>
          <a:noFill/>
          <a:ln/>
        </p:spPr>
        <p:txBody>
          <a:bodyPr wrap="square" lIns="0" tIns="0" rIns="0" bIns="0" rtlCol="0"/>
          <a:lstStyle/>
          <a:p>
            <a:pPr indent="0" marL="0">
              <a:buNone/>
            </a:pPr>
            <a:r>
              <a:rPr lang="en-US" sz="1200" b="1" spc="120" kern="0" dirty="0">
                <a:solidFill>
                  <a:srgbClr val="2E3338"/>
                </a:solidFill>
                <a:latin typeface="Trade Gothic Next" pitchFamily="34" charset="0"/>
                <a:ea typeface="Trade Gothic Next" pitchFamily="34" charset="-122"/>
                <a:cs typeface="Trade Gothic Next" pitchFamily="34" charset="-120"/>
              </a:rPr>
              <a:t>CORE AND COUNT</a:t>
            </a:r>
            <a:endParaRPr lang="en-US" sz="1200" dirty="0"/>
          </a:p>
        </p:txBody>
      </p:sp>
      <p:sp>
        <p:nvSpPr>
          <p:cNvPr id="5" name="Text 5"/>
          <p:cNvSpPr txBox="1"/>
          <p:nvPr>
            <p:ph idx="110" type="body" hasCustomPrompt="1"/>
          </p:nvPr>
        </p:nvSpPr>
        <p:spPr>
          <a:xfrm>
            <a:off x="5276088" y="2852928"/>
            <a:ext cx="2752344" cy="1901952"/>
          </a:xfrm>
          <a:prstGeom prst="rect">
            <a:avLst/>
          </a:prstGeom>
          <a:noFill/>
          <a:ln/>
        </p:spPr>
        <p:txBody>
          <a:bodyPr wrap="square" lIns="0" tIns="0" rIns="0" bIns="0" rtlCol="0"/>
          <a:lstStyle/>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Both are period 4</a:t>
            </a:r>
            <a:endParaRPr lang="en-US" sz="1600" dirty="0"/>
          </a:p>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Core: [Ar] = 18 electrons</a:t>
            </a:r>
            <a:endParaRPr lang="en-US" sz="1600" dirty="0"/>
          </a:p>
        </p:txBody>
      </p:sp>
      <p:sp>
        <p:nvSpPr>
          <p:cNvPr id="6" name="Text 7"/>
          <p:cNvSpPr txBox="1"/>
          <p:nvPr>
            <p:ph idx="113" type="body" hasCustomPrompt="1"/>
          </p:nvPr>
        </p:nvSpPr>
        <p:spPr>
          <a:xfrm>
            <a:off x="8613648" y="2871216"/>
            <a:ext cx="2688336" cy="1920240"/>
          </a:xfrm>
          <a:prstGeom prst="rect">
            <a:avLst/>
          </a:prstGeom>
          <a:noFill/>
          <a:ln/>
        </p:spPr>
        <p:txBody>
          <a:bodyPr wrap="square" lIns="0" tIns="0" rIns="0" bIns="0" rtlCol="0"/>
          <a:lstStyle/>
          <a:p>
            <a:pPr indent="0" marL="0">
              <a:buNone/>
            </a:pPr>
            <a:r>
              <a:rPr lang="en-US" sz="1900" dirty="0">
                <a:solidFill>
                  <a:srgbClr val="14161B"/>
                </a:solidFill>
                <a:latin typeface="Trade Gothic Next" pitchFamily="34" charset="0"/>
                <a:ea typeface="Trade Gothic Next" pitchFamily="34" charset="-122"/>
                <a:cs typeface="Trade Gothic Next" pitchFamily="34" charset="-120"/>
              </a:rPr>
              <a:t>(a) [Ar] 4s</a:t>
            </a:r>
            <a:pPr indent="0" marL="0">
              <a:buNone/>
            </a:pPr>
            <a:r>
              <a:rPr lang="en-US" sz="1900" baseline="30000" dirty="0">
                <a:solidFill>
                  <a:srgbClr val="14161B"/>
                </a:solidFill>
                <a:latin typeface="Trade Gothic Next" pitchFamily="34" charset="0"/>
                <a:ea typeface="Trade Gothic Next" pitchFamily="34" charset="-122"/>
                <a:cs typeface="Trade Gothic Next" pitchFamily="34" charset="-120"/>
              </a:rPr>
              <a:t>2</a:t>
            </a:r>
            <a:pPr indent="0" marL="0">
              <a:buNone/>
            </a:pPr>
            <a:r>
              <a:rPr lang="en-US" sz="1900" dirty="0">
                <a:solidFill>
                  <a:srgbClr val="14161B"/>
                </a:solidFill>
                <a:latin typeface="Trade Gothic Next" pitchFamily="34" charset="0"/>
                <a:ea typeface="Trade Gothic Next" pitchFamily="34" charset="-122"/>
                <a:cs typeface="Trade Gothic Next" pitchFamily="34" charset="-120"/>
              </a:rPr>
              <a:t> 3d</a:t>
            </a:r>
            <a:pPr indent="0" marL="0">
              <a:buNone/>
            </a:pPr>
            <a:r>
              <a:rPr lang="en-US" sz="1900" baseline="30000" dirty="0">
                <a:solidFill>
                  <a:srgbClr val="14161B"/>
                </a:solidFill>
                <a:latin typeface="Trade Gothic Next" pitchFamily="34" charset="0"/>
                <a:ea typeface="Trade Gothic Next" pitchFamily="34" charset="-122"/>
                <a:cs typeface="Trade Gothic Next" pitchFamily="34" charset="-120"/>
              </a:rPr>
              <a:t>10</a:t>
            </a:r>
            <a:pPr indent="0" marL="0">
              <a:buNone/>
            </a:pPr>
            <a:r>
              <a:rPr lang="en-US" sz="1900" dirty="0">
                <a:solidFill>
                  <a:srgbClr val="14161B"/>
                </a:solidFill>
                <a:latin typeface="Trade Gothic Next" pitchFamily="34" charset="0"/>
                <a:ea typeface="Trade Gothic Next" pitchFamily="34" charset="-122"/>
                <a:cs typeface="Trade Gothic Next" pitchFamily="34" charset="-120"/>
              </a:rPr>
              <a:t> 4p</a:t>
            </a:r>
            <a:pPr indent="0" marL="0">
              <a:buNone/>
            </a:pPr>
            <a:r>
              <a:rPr lang="en-US" sz="1900" baseline="30000" dirty="0">
                <a:solidFill>
                  <a:srgbClr val="14161B"/>
                </a:solidFill>
                <a:latin typeface="Trade Gothic Next" pitchFamily="34" charset="0"/>
                <a:ea typeface="Trade Gothic Next" pitchFamily="34" charset="-122"/>
                <a:cs typeface="Trade Gothic Next" pitchFamily="34" charset="-120"/>
              </a:rPr>
              <a:t>5</a:t>
            </a:r>
            <a:endParaRPr lang="en-US" sz="1900" dirty="0"/>
          </a:p>
          <a:p>
            <a:pPr indent="0" marL="0">
              <a:buNone/>
            </a:pPr>
            <a:r>
              <a:rPr lang="en-US" sz="1900" dirty="0">
                <a:solidFill>
                  <a:srgbClr val="14161B"/>
                </a:solidFill>
                <a:latin typeface="Trade Gothic Next" pitchFamily="34" charset="0"/>
                <a:ea typeface="Trade Gothic Next" pitchFamily="34" charset="-122"/>
                <a:cs typeface="Trade Gothic Next" pitchFamily="34" charset="-120"/>
              </a:rPr>
              <a:t>18 + 2 + 10 + 5 = 35</a:t>
            </a:r>
            <a:endParaRPr lang="en-US" sz="1900" dirty="0"/>
          </a:p>
          <a:p>
            <a:pPr indent="0" marL="0">
              <a:buNone/>
            </a:pPr>
            <a:r>
              <a:rPr lang="en-US" sz="1900" dirty="0">
                <a:solidFill>
                  <a:srgbClr val="14161B"/>
                </a:solidFill>
                <a:latin typeface="Trade Gothic Next" pitchFamily="34" charset="0"/>
                <a:ea typeface="Trade Gothic Next" pitchFamily="34" charset="-122"/>
                <a:cs typeface="Trade Gothic Next" pitchFamily="34" charset="-120"/>
              </a:rPr>
              <a:t>(b) [Ar] 4s</a:t>
            </a:r>
            <a:pPr indent="0" marL="0">
              <a:buNone/>
            </a:pPr>
            <a:r>
              <a:rPr lang="en-US" sz="1900" baseline="30000" dirty="0">
                <a:solidFill>
                  <a:srgbClr val="14161B"/>
                </a:solidFill>
                <a:latin typeface="Trade Gothic Next" pitchFamily="34" charset="0"/>
                <a:ea typeface="Trade Gothic Next" pitchFamily="34" charset="-122"/>
                <a:cs typeface="Trade Gothic Next" pitchFamily="34" charset="-120"/>
              </a:rPr>
              <a:t>2</a:t>
            </a:r>
            <a:pPr indent="0" marL="0">
              <a:buNone/>
            </a:pPr>
            <a:r>
              <a:rPr lang="en-US" sz="1900" dirty="0">
                <a:solidFill>
                  <a:srgbClr val="14161B"/>
                </a:solidFill>
                <a:latin typeface="Trade Gothic Next" pitchFamily="34" charset="0"/>
                <a:ea typeface="Trade Gothic Next" pitchFamily="34" charset="-122"/>
                <a:cs typeface="Trade Gothic Next" pitchFamily="34" charset="-120"/>
              </a:rPr>
              <a:t> 3d</a:t>
            </a:r>
            <a:pPr indent="0" marL="0">
              <a:buNone/>
            </a:pPr>
            <a:r>
              <a:rPr lang="en-US" sz="1900" baseline="30000" dirty="0">
                <a:solidFill>
                  <a:srgbClr val="14161B"/>
                </a:solidFill>
                <a:latin typeface="Trade Gothic Next" pitchFamily="34" charset="0"/>
                <a:ea typeface="Trade Gothic Next" pitchFamily="34" charset="-122"/>
                <a:cs typeface="Trade Gothic Next" pitchFamily="34" charset="-120"/>
              </a:rPr>
              <a:t>8</a:t>
            </a:r>
            <a:endParaRPr lang="en-US" sz="1900" dirty="0"/>
          </a:p>
          <a:p>
            <a:pPr indent="0" marL="0">
              <a:buNone/>
            </a:pPr>
            <a:r>
              <a:rPr lang="en-US" sz="1900" dirty="0">
                <a:solidFill>
                  <a:srgbClr val="14161B"/>
                </a:solidFill>
                <a:latin typeface="Trade Gothic Next" pitchFamily="34" charset="0"/>
                <a:ea typeface="Trade Gothic Next" pitchFamily="34" charset="-122"/>
                <a:cs typeface="Trade Gothic Next" pitchFamily="34" charset="-120"/>
              </a:rPr>
              <a:t>18 + 2 + 8 = 28</a:t>
            </a:r>
            <a:endParaRPr lang="en-US" sz="1900" dirty="0"/>
          </a:p>
        </p:txBody>
      </p:sp>
      <p:sp>
        <p:nvSpPr>
          <p:cNvPr id="7" name="Text 9"/>
          <p:cNvSpPr txBox="1"/>
          <p:nvPr>
            <p:ph idx="116" type="body" hasCustomPrompt="1"/>
          </p:nvPr>
        </p:nvSpPr>
        <p:spPr>
          <a:xfrm>
            <a:off x="2240280" y="5212080"/>
            <a:ext cx="8991295" cy="402336"/>
          </a:xfrm>
          <a:prstGeom prst="rect">
            <a:avLst/>
          </a:prstGeom>
          <a:noFill/>
          <a:ln/>
        </p:spPr>
        <p:txBody>
          <a:bodyPr wrap="square" lIns="0" tIns="0" rIns="0" bIns="0" rtlCol="0" anchor="ctr"/>
          <a:lstStyle/>
          <a:p>
            <a:pPr indent="0" marL="0">
              <a:buNone/>
            </a:pPr>
            <a:r>
              <a:rPr lang="en-US" sz="1600" b="1" dirty="0">
                <a:solidFill>
                  <a:srgbClr val="EDF0E5"/>
                </a:solidFill>
                <a:latin typeface="Trade Gothic Next" pitchFamily="34" charset="0"/>
                <a:ea typeface="Trade Gothic Next" pitchFamily="34" charset="-122"/>
                <a:cs typeface="Trade Gothic Next" pitchFamily="34" charset="-120"/>
              </a:rPr>
              <a:t>Br is [Ar] 4s</a:t>
            </a:r>
            <a:pPr indent="0" marL="0">
              <a:buNone/>
            </a:pPr>
            <a:r>
              <a:rPr lang="en-US" sz="1600" b="1" baseline="30000" dirty="0">
                <a:solidFill>
                  <a:srgbClr val="EDF0E5"/>
                </a:solidFill>
                <a:latin typeface="Trade Gothic Next" pitchFamily="34" charset="0"/>
                <a:ea typeface="Trade Gothic Next" pitchFamily="34" charset="-122"/>
                <a:cs typeface="Trade Gothic Next" pitchFamily="34" charset="-120"/>
              </a:rPr>
              <a:t>2</a:t>
            </a:r>
            <a:pPr indent="0" marL="0">
              <a:buNone/>
            </a:pPr>
            <a:r>
              <a:rPr lang="en-US" sz="1600" b="1" dirty="0">
                <a:solidFill>
                  <a:srgbClr val="EDF0E5"/>
                </a:solidFill>
                <a:latin typeface="Trade Gothic Next" pitchFamily="34" charset="0"/>
                <a:ea typeface="Trade Gothic Next" pitchFamily="34" charset="-122"/>
                <a:cs typeface="Trade Gothic Next" pitchFamily="34" charset="-120"/>
              </a:rPr>
              <a:t> 3d</a:t>
            </a:r>
            <a:pPr indent="0" marL="0">
              <a:buNone/>
            </a:pPr>
            <a:r>
              <a:rPr lang="en-US" sz="1600" b="1" baseline="30000" dirty="0">
                <a:solidFill>
                  <a:srgbClr val="EDF0E5"/>
                </a:solidFill>
                <a:latin typeface="Trade Gothic Next" pitchFamily="34" charset="0"/>
                <a:ea typeface="Trade Gothic Next" pitchFamily="34" charset="-122"/>
                <a:cs typeface="Trade Gothic Next" pitchFamily="34" charset="-120"/>
              </a:rPr>
              <a:t>10</a:t>
            </a:r>
            <a:pPr indent="0" marL="0">
              <a:buNone/>
            </a:pPr>
            <a:r>
              <a:rPr lang="en-US" sz="1600" b="1" dirty="0">
                <a:solidFill>
                  <a:srgbClr val="EDF0E5"/>
                </a:solidFill>
                <a:latin typeface="Trade Gothic Next" pitchFamily="34" charset="0"/>
                <a:ea typeface="Trade Gothic Next" pitchFamily="34" charset="-122"/>
                <a:cs typeface="Trade Gothic Next" pitchFamily="34" charset="-120"/>
              </a:rPr>
              <a:t> 4p</a:t>
            </a:r>
            <a:pPr indent="0" marL="0">
              <a:buNone/>
            </a:pPr>
            <a:r>
              <a:rPr lang="en-US" sz="1600" b="1" baseline="30000" dirty="0">
                <a:solidFill>
                  <a:srgbClr val="EDF0E5"/>
                </a:solidFill>
                <a:latin typeface="Trade Gothic Next" pitchFamily="34" charset="0"/>
                <a:ea typeface="Trade Gothic Next" pitchFamily="34" charset="-122"/>
                <a:cs typeface="Trade Gothic Next" pitchFamily="34" charset="-120"/>
              </a:rPr>
              <a:t>5</a:t>
            </a:r>
            <a:pPr indent="0" marL="0">
              <a:buNone/>
            </a:pPr>
            <a:r>
              <a:rPr lang="en-US" sz="1600" b="1" dirty="0">
                <a:solidFill>
                  <a:srgbClr val="EDF0E5"/>
                </a:solidFill>
                <a:latin typeface="Trade Gothic Next" pitchFamily="34" charset="0"/>
                <a:ea typeface="Trade Gothic Next" pitchFamily="34" charset="-122"/>
                <a:cs typeface="Trade Gothic Next" pitchFamily="34" charset="-120"/>
              </a:rPr>
              <a:t>. Ni is [Ar] 4s</a:t>
            </a:r>
            <a:pPr indent="0" marL="0">
              <a:buNone/>
            </a:pPr>
            <a:r>
              <a:rPr lang="en-US" sz="1600" b="1" baseline="30000" dirty="0">
                <a:solidFill>
                  <a:srgbClr val="EDF0E5"/>
                </a:solidFill>
                <a:latin typeface="Trade Gothic Next" pitchFamily="34" charset="0"/>
                <a:ea typeface="Trade Gothic Next" pitchFamily="34" charset="-122"/>
                <a:cs typeface="Trade Gothic Next" pitchFamily="34" charset="-120"/>
              </a:rPr>
              <a:t>2</a:t>
            </a:r>
            <a:pPr indent="0" marL="0">
              <a:buNone/>
            </a:pPr>
            <a:r>
              <a:rPr lang="en-US" sz="1600" b="1" dirty="0">
                <a:solidFill>
                  <a:srgbClr val="EDF0E5"/>
                </a:solidFill>
                <a:latin typeface="Trade Gothic Next" pitchFamily="34" charset="0"/>
                <a:ea typeface="Trade Gothic Next" pitchFamily="34" charset="-122"/>
                <a:cs typeface="Trade Gothic Next" pitchFamily="34" charset="-120"/>
              </a:rPr>
              <a:t> 3d</a:t>
            </a:r>
            <a:pPr indent="0" marL="0">
              <a:buNone/>
            </a:pPr>
            <a:r>
              <a:rPr lang="en-US" sz="1600" b="1" baseline="30000" dirty="0">
                <a:solidFill>
                  <a:srgbClr val="EDF0E5"/>
                </a:solidFill>
                <a:latin typeface="Trade Gothic Next" pitchFamily="34" charset="0"/>
                <a:ea typeface="Trade Gothic Next" pitchFamily="34" charset="-122"/>
                <a:cs typeface="Trade Gothic Next" pitchFamily="34" charset="-120"/>
              </a:rPr>
              <a:t>8</a:t>
            </a:r>
            <a:pPr indent="0" marL="0">
              <a:buNone/>
            </a:pPr>
            <a:r>
              <a:rPr lang="en-US" sz="1600" b="1" dirty="0">
                <a:solidFill>
                  <a:srgbClr val="EDF0E5"/>
                </a:solidFill>
                <a:latin typeface="Trade Gothic Next" pitchFamily="34" charset="0"/>
                <a:ea typeface="Trade Gothic Next" pitchFamily="34" charset="-122"/>
                <a:cs typeface="Trade Gothic Next" pitchFamily="34" charset="-120"/>
              </a:rPr>
              <a:t>.</a:t>
            </a:r>
            <a:endParaRPr lang="en-US" sz="1600" dirty="0"/>
          </a:p>
        </p:txBody>
      </p:sp>
      <p:sp>
        <p:nvSpPr>
          <p:cNvPr id="8" name="Text 1"/>
          <p:cNvSpPr txBox="1"/>
          <p:nvPr>
            <p:ph idx="101" type="body" hasCustomPrompt="1"/>
          </p:nvPr>
        </p:nvSpPr>
        <p:spPr>
          <a:xfrm>
            <a:off x="685800" y="384048"/>
            <a:ext cx="6400800" cy="237744"/>
          </a:xfrm>
          <a:prstGeom prst="rect">
            <a:avLst/>
          </a:prstGeom>
          <a:noFill/>
          <a:ln/>
        </p:spPr>
        <p:txBody>
          <a:bodyPr wrap="square" lIns="0" tIns="0" rIns="0" bIns="0" rtlCol="0" anchor="ctr"/>
          <a:lstStyle/>
          <a:p>
            <a:pPr indent="0" marL="0">
              <a:buNone/>
            </a:pPr>
            <a:r>
              <a:rPr lang="en-US" sz="1100" b="1" spc="160" kern="0" dirty="0">
                <a:solidFill>
                  <a:srgbClr val="14161B"/>
                </a:solidFill>
                <a:latin typeface="Trade Gothic Next" pitchFamily="34" charset="0"/>
                <a:ea typeface="Trade Gothic Next" pitchFamily="34" charset="-122"/>
                <a:cs typeface="Trade Gothic Next" pitchFamily="34" charset="-120"/>
              </a:rPr>
              <a:t>UNIT 02  •  CHEMISTRY</a:t>
            </a:r>
            <a:endParaRPr lang="en-US" sz="1100" dirty="0"/>
          </a:p>
        </p:txBody>
      </p:sp>
      <p:sp>
        <p:nvSpPr>
          <p:cNvPr id="9" name="Text 10"/>
          <p:cNvSpPr txBox="1"/>
          <p:nvPr>
            <p:ph idx="118" type="body" hasCustomPrompt="1"/>
          </p:nvPr>
        </p:nvSpPr>
        <p:spPr>
          <a:xfrm>
            <a:off x="8762695" y="6382512"/>
            <a:ext cx="2743200" cy="237744"/>
          </a:xfrm>
          <a:prstGeom prst="rect">
            <a:avLst/>
          </a:prstGeom>
          <a:noFill/>
          <a:ln/>
        </p:spPr>
        <p:txBody>
          <a:bodyPr wrap="square" lIns="0" tIns="0" rIns="0" bIns="0" rtlCol="0" anchor="ctr"/>
          <a:lstStyle/>
          <a:p>
            <a:pPr algn="r" indent="0" marL="0">
              <a:buNone/>
            </a:pPr>
            <a:r>
              <a:rPr lang="en-US" sz="1000" b="1" spc="140" kern="0" dirty="0">
                <a:solidFill>
                  <a:srgbClr val="2E3338"/>
                </a:solidFill>
                <a:latin typeface="Trade Gothic Next" pitchFamily="34" charset="0"/>
                <a:ea typeface="Trade Gothic Next" pitchFamily="34" charset="-122"/>
                <a:cs typeface="Trade Gothic Next" pitchFamily="34" charset="-120"/>
              </a:rPr>
              <a:t>U02 • S02.3</a:t>
            </a:r>
            <a:endParaRPr lang="en-US" sz="1000" dirty="0"/>
          </a:p>
        </p:txBody>
      </p:sp>
      <p:sp>
        <p:nvSpPr>
          <p:cNvPr id="11" name="Text 4"/>
          <p:cNvSpPr txBox="1"/>
          <p:nvPr>
            <p:ph idx="107" hasCustomPrompt="1"/>
          </p:nvPr>
        </p:nvSpPr>
        <p:spPr>
          <a:xfrm>
            <a:off x="832104" y="2542032"/>
            <a:ext cx="3867912" cy="2267712"/>
          </a:xfrm>
          <a:prstGeom prst="rect">
            <a:avLst/>
          </a:prstGeom>
          <a:noFill/>
          <a:ln/>
        </p:spPr>
        <p:txBody>
          <a:bodyPr wrap="square" lIns="0" tIns="0" rIns="0" bIns="0" rtlCol="0" anchor="ctr"/>
          <a:lstStyle/>
          <a:p>
            <a:pPr algn="ctr" indent="0" marL="0">
              <a:buNone/>
            </a:pP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2"/>
          <p:cNvSpPr txBox="1"/>
          <p:nvPr>
            <p:ph idx="103" type="title" hasCustomPrompt="1"/>
          </p:nvPr>
        </p:nvSpPr>
        <p:spPr>
          <a:xfrm>
            <a:off x="685800" y="932688"/>
            <a:ext cx="10820095" cy="868680"/>
          </a:xfrm>
          <a:prstGeom prst="rect">
            <a:avLst/>
          </a:prstGeom>
          <a:noFill/>
          <a:ln/>
        </p:spPr>
        <p:txBody>
          <a:bodyPr wrap="square" lIns="0" tIns="0" rIns="0" bIns="0" rtlCol="0" anchor="t"/>
          <a:lstStyle/>
          <a:p>
            <a:pPr algn="l" indent="0" marL="0">
              <a:buNone/>
            </a:pPr>
            <a:r>
              <a:rPr lang="en-US" sz="2800" b="1" dirty="0">
                <a:solidFill>
                  <a:srgbClr val="14161B"/>
                </a:solidFill>
                <a:latin typeface="Trade Gothic Next" pitchFamily="34" charset="0"/>
                <a:ea typeface="Trade Gothic Next" pitchFamily="34" charset="-122"/>
                <a:cs typeface="Trade Gothic Next" pitchFamily="34" charset="-120"/>
              </a:rPr>
              <a:t>Exception: Copper</a:t>
            </a:r>
            <a:endParaRPr lang="en-US" sz="2800" dirty="0"/>
          </a:p>
        </p:txBody>
      </p:sp>
      <p:sp>
        <p:nvSpPr>
          <p:cNvPr id="3" name="Text 2"/>
          <p:cNvSpPr txBox="1"/>
          <p:nvPr>
            <p:ph idx="104" type="body" hasCustomPrompt="1"/>
          </p:nvPr>
        </p:nvSpPr>
        <p:spPr>
          <a:xfrm>
            <a:off x="685800" y="1847088"/>
            <a:ext cx="10820095" cy="384048"/>
          </a:xfrm>
          <a:prstGeom prst="rect">
            <a:avLst/>
          </a:prstGeom>
          <a:noFill/>
          <a:ln/>
        </p:spPr>
        <p:txBody>
          <a:bodyPr wrap="square" lIns="0" tIns="0" rIns="0" bIns="0" rtlCol="0"/>
          <a:lstStyle/>
          <a:p>
            <a:pPr indent="0" marL="0">
              <a:buNone/>
            </a:pPr>
            <a:r>
              <a:rPr lang="en-US" sz="1700" dirty="0">
                <a:solidFill>
                  <a:srgbClr val="2E3338"/>
                </a:solidFill>
                <a:latin typeface="Trade Gothic Next" pitchFamily="34" charset="0"/>
                <a:ea typeface="Trade Gothic Next" pitchFamily="34" charset="-122"/>
                <a:cs typeface="Trade Gothic Next" pitchFamily="34" charset="-120"/>
              </a:rPr>
              <a:t>The rules predict 4s</a:t>
            </a:r>
            <a:pPr indent="0" marL="0">
              <a:buNone/>
            </a:pPr>
            <a:r>
              <a:rPr lang="en-US" sz="1700" baseline="30000" dirty="0">
                <a:solidFill>
                  <a:srgbClr val="2E3338"/>
                </a:solidFill>
                <a:latin typeface="Trade Gothic Next" pitchFamily="34" charset="0"/>
                <a:ea typeface="Trade Gothic Next" pitchFamily="34" charset="-122"/>
                <a:cs typeface="Trade Gothic Next" pitchFamily="34" charset="-120"/>
              </a:rPr>
              <a:t>2</a:t>
            </a:r>
            <a:pPr indent="0" marL="0">
              <a:buNone/>
            </a:pPr>
            <a:r>
              <a:rPr lang="en-US" sz="1700" dirty="0">
                <a:solidFill>
                  <a:srgbClr val="2E3338"/>
                </a:solidFill>
                <a:latin typeface="Trade Gothic Next" pitchFamily="34" charset="0"/>
                <a:ea typeface="Trade Gothic Next" pitchFamily="34" charset="-122"/>
                <a:cs typeface="Trade Gothic Next" pitchFamily="34" charset="-120"/>
              </a:rPr>
              <a:t> 3d</a:t>
            </a:r>
            <a:pPr indent="0" marL="0">
              <a:buNone/>
            </a:pPr>
            <a:r>
              <a:rPr lang="en-US" sz="1700" baseline="30000" dirty="0">
                <a:solidFill>
                  <a:srgbClr val="2E3338"/>
                </a:solidFill>
                <a:latin typeface="Trade Gothic Next" pitchFamily="34" charset="0"/>
                <a:ea typeface="Trade Gothic Next" pitchFamily="34" charset="-122"/>
                <a:cs typeface="Trade Gothic Next" pitchFamily="34" charset="-120"/>
              </a:rPr>
              <a:t>9</a:t>
            </a:r>
            <a:pPr indent="0" marL="0">
              <a:buNone/>
            </a:pPr>
            <a:r>
              <a:rPr lang="en-US" sz="1700" dirty="0">
                <a:solidFill>
                  <a:srgbClr val="2E3338"/>
                </a:solidFill>
                <a:latin typeface="Trade Gothic Next" pitchFamily="34" charset="0"/>
                <a:ea typeface="Trade Gothic Next" pitchFamily="34" charset="-122"/>
                <a:cs typeface="Trade Gothic Next" pitchFamily="34" charset="-120"/>
              </a:rPr>
              <a:t>. Watch what the real atom does.</a:t>
            </a:r>
            <a:endParaRPr lang="en-US" sz="1700" dirty="0"/>
          </a:p>
        </p:txBody>
      </p:sp>
      <p:sp>
        <p:nvSpPr>
          <p:cNvPr id="4" name="Text 4"/>
          <p:cNvSpPr txBox="1"/>
          <p:nvPr>
            <p:ph idx="108" type="body" hasCustomPrompt="1"/>
          </p:nvPr>
        </p:nvSpPr>
        <p:spPr>
          <a:xfrm>
            <a:off x="6327648" y="2560320"/>
            <a:ext cx="5129784" cy="219456"/>
          </a:xfrm>
          <a:prstGeom prst="rect">
            <a:avLst/>
          </a:prstGeom>
          <a:noFill/>
          <a:ln/>
        </p:spPr>
        <p:txBody>
          <a:bodyPr wrap="square" lIns="0" tIns="0" rIns="0" bIns="0" rtlCol="0"/>
          <a:lstStyle/>
          <a:p>
            <a:pPr indent="0" marL="0">
              <a:buNone/>
            </a:pPr>
            <a:r>
              <a:rPr lang="en-US" sz="1200" b="1" spc="120" kern="0" dirty="0">
                <a:solidFill>
                  <a:srgbClr val="2E3338"/>
                </a:solidFill>
                <a:latin typeface="Trade Gothic Next" pitchFamily="34" charset="0"/>
                <a:ea typeface="Trade Gothic Next" pitchFamily="34" charset="-122"/>
                <a:cs typeface="Trade Gothic Next" pitchFamily="34" charset="-120"/>
              </a:rPr>
              <a:t>WATCH</a:t>
            </a:r>
            <a:endParaRPr lang="en-US" sz="1200" dirty="0"/>
          </a:p>
        </p:txBody>
      </p:sp>
      <p:sp>
        <p:nvSpPr>
          <p:cNvPr id="5" name="Text 4"/>
          <p:cNvSpPr txBox="1"/>
          <p:nvPr>
            <p:ph idx="109" type="body" hasCustomPrompt="1"/>
          </p:nvPr>
        </p:nvSpPr>
        <p:spPr>
          <a:xfrm>
            <a:off x="6327648" y="2852928"/>
            <a:ext cx="5129784" cy="329184"/>
          </a:xfrm>
          <a:prstGeom prst="rect">
            <a:avLst/>
          </a:prstGeom>
          <a:noFill/>
          <a:ln/>
        </p:spPr>
        <p:txBody>
          <a:bodyPr wrap="square" lIns="0" tIns="0" rIns="0" bIns="0" rtlCol="0"/>
          <a:lstStyle/>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Which sublevel loses an electron, and which gains one?</a:t>
            </a:r>
            <a:endParaRPr lang="en-US" sz="1600" dirty="0"/>
          </a:p>
        </p:txBody>
      </p:sp>
      <p:sp>
        <p:nvSpPr>
          <p:cNvPr id="6" name="Text 5"/>
          <p:cNvSpPr txBox="1"/>
          <p:nvPr>
            <p:ph idx="111" type="body" hasCustomPrompt="1"/>
          </p:nvPr>
        </p:nvSpPr>
        <p:spPr>
          <a:xfrm>
            <a:off x="6327648" y="3694176"/>
            <a:ext cx="5129784" cy="219456"/>
          </a:xfrm>
          <a:prstGeom prst="rect">
            <a:avLst/>
          </a:prstGeom>
          <a:noFill/>
          <a:ln/>
        </p:spPr>
        <p:txBody>
          <a:bodyPr wrap="square" lIns="0" tIns="0" rIns="0" bIns="0" rtlCol="0"/>
          <a:lstStyle/>
          <a:p>
            <a:pPr indent="0" marL="0">
              <a:buNone/>
            </a:pPr>
            <a:r>
              <a:rPr lang="en-US" sz="1200" b="1" spc="120" kern="0" dirty="0">
                <a:solidFill>
                  <a:srgbClr val="2E3338"/>
                </a:solidFill>
                <a:latin typeface="Trade Gothic Next" pitchFamily="34" charset="0"/>
                <a:ea typeface="Trade Gothic Next" pitchFamily="34" charset="-122"/>
                <a:cs typeface="Trade Gothic Next" pitchFamily="34" charset="-120"/>
              </a:rPr>
              <a:t>ONE OF TWO</a:t>
            </a:r>
            <a:endParaRPr lang="en-US" sz="1200" dirty="0"/>
          </a:p>
        </p:txBody>
      </p:sp>
      <p:sp>
        <p:nvSpPr>
          <p:cNvPr id="7" name="Text 5"/>
          <p:cNvSpPr txBox="1"/>
          <p:nvPr>
            <p:ph idx="112" type="body" hasCustomPrompt="1"/>
          </p:nvPr>
        </p:nvSpPr>
        <p:spPr>
          <a:xfrm>
            <a:off x="6327648" y="3986784"/>
            <a:ext cx="5129784" cy="329184"/>
          </a:xfrm>
          <a:prstGeom prst="rect">
            <a:avLst/>
          </a:prstGeom>
          <a:noFill/>
          <a:ln/>
        </p:spPr>
        <p:txBody>
          <a:bodyPr wrap="square" lIns="0" tIns="0" rIns="0" bIns="0" rtlCol="0"/>
          <a:lstStyle/>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Copper and chromium are the only exceptions we learn.</a:t>
            </a:r>
            <a:endParaRPr lang="en-US" sz="1600" dirty="0"/>
          </a:p>
        </p:txBody>
      </p:sp>
      <p:sp>
        <p:nvSpPr>
          <p:cNvPr id="8" name="Text 6"/>
          <p:cNvSpPr txBox="1"/>
          <p:nvPr>
            <p:ph idx="114" type="body" hasCustomPrompt="1"/>
          </p:nvPr>
        </p:nvSpPr>
        <p:spPr>
          <a:xfrm>
            <a:off x="6327648" y="4828032"/>
            <a:ext cx="5129784" cy="219456"/>
          </a:xfrm>
          <a:prstGeom prst="rect">
            <a:avLst/>
          </a:prstGeom>
          <a:noFill/>
          <a:ln/>
        </p:spPr>
        <p:txBody>
          <a:bodyPr wrap="square" lIns="0" tIns="0" rIns="0" bIns="0" rtlCol="0"/>
          <a:lstStyle/>
          <a:p>
            <a:pPr indent="0" marL="0">
              <a:buNone/>
            </a:pPr>
            <a:r>
              <a:rPr lang="en-US" sz="1200" b="1" spc="120" kern="0" dirty="0">
                <a:solidFill>
                  <a:srgbClr val="2E3338"/>
                </a:solidFill>
                <a:latin typeface="Trade Gothic Next" pitchFamily="34" charset="0"/>
                <a:ea typeface="Trade Gothic Next" pitchFamily="34" charset="-122"/>
                <a:cs typeface="Trade Gothic Next" pitchFamily="34" charset="-120"/>
              </a:rPr>
              <a:t>LOOKING AHEAD (S2.4)</a:t>
            </a:r>
            <a:endParaRPr lang="en-US" sz="1200" dirty="0"/>
          </a:p>
        </p:txBody>
      </p:sp>
      <p:sp>
        <p:nvSpPr>
          <p:cNvPr id="9" name="Text 6"/>
          <p:cNvSpPr txBox="1"/>
          <p:nvPr>
            <p:ph idx="115" type="body" hasCustomPrompt="1"/>
          </p:nvPr>
        </p:nvSpPr>
        <p:spPr>
          <a:xfrm>
            <a:off x="6327648" y="5120640"/>
            <a:ext cx="5129784" cy="320040"/>
          </a:xfrm>
          <a:prstGeom prst="rect">
            <a:avLst/>
          </a:prstGeom>
          <a:noFill/>
          <a:ln/>
        </p:spPr>
        <p:txBody>
          <a:bodyPr wrap="square" lIns="0" tIns="0" rIns="0" bIns="0" rtlCol="0"/>
          <a:lstStyle/>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4s empties first in ions: Cu</a:t>
            </a:r>
            <a:pPr indent="0" marL="0">
              <a:buNone/>
            </a:pPr>
            <a:r>
              <a:rPr lang="en-US" sz="1600" baseline="30000" dirty="0">
                <a:solidFill>
                  <a:srgbClr val="14161B"/>
                </a:solidFill>
                <a:latin typeface="Trade Gothic Next" pitchFamily="34" charset="0"/>
                <a:ea typeface="Trade Gothic Next" pitchFamily="34" charset="-122"/>
                <a:cs typeface="Trade Gothic Next" pitchFamily="34" charset="-120"/>
              </a:rPr>
              <a:t>+</a:t>
            </a:r>
            <a:pPr indent="0" marL="0">
              <a:buNone/>
            </a:pPr>
            <a:r>
              <a:rPr lang="en-US" sz="1600" dirty="0">
                <a:solidFill>
                  <a:srgbClr val="14161B"/>
                </a:solidFill>
                <a:latin typeface="Trade Gothic Next" pitchFamily="34" charset="0"/>
                <a:ea typeface="Trade Gothic Next" pitchFamily="34" charset="-122"/>
                <a:cs typeface="Trade Gothic Next" pitchFamily="34" charset="-120"/>
              </a:rPr>
              <a:t> is [Ar] 3d</a:t>
            </a:r>
            <a:pPr indent="0" marL="0">
              <a:buNone/>
            </a:pPr>
            <a:r>
              <a:rPr lang="en-US" sz="1600" baseline="30000" dirty="0">
                <a:solidFill>
                  <a:srgbClr val="14161B"/>
                </a:solidFill>
                <a:latin typeface="Trade Gothic Next" pitchFamily="34" charset="0"/>
                <a:ea typeface="Trade Gothic Next" pitchFamily="34" charset="-122"/>
                <a:cs typeface="Trade Gothic Next" pitchFamily="34" charset="-120"/>
              </a:rPr>
              <a:t>10</a:t>
            </a:r>
            <a:pPr indent="0" marL="0">
              <a:buNone/>
            </a:pPr>
            <a:r>
              <a:rPr lang="en-US" sz="1600" dirty="0">
                <a:solidFill>
                  <a:srgbClr val="14161B"/>
                </a:solidFill>
                <a:latin typeface="Trade Gothic Next" pitchFamily="34" charset="0"/>
                <a:ea typeface="Trade Gothic Next" pitchFamily="34" charset="-122"/>
                <a:cs typeface="Trade Gothic Next" pitchFamily="34" charset="-120"/>
              </a:rPr>
              <a:t>, Cu</a:t>
            </a:r>
            <a:pPr indent="0" marL="0">
              <a:buNone/>
            </a:pPr>
            <a:r>
              <a:rPr lang="en-US" sz="1600" baseline="30000" dirty="0">
                <a:solidFill>
                  <a:srgbClr val="14161B"/>
                </a:solidFill>
                <a:latin typeface="Trade Gothic Next" pitchFamily="34" charset="0"/>
                <a:ea typeface="Trade Gothic Next" pitchFamily="34" charset="-122"/>
                <a:cs typeface="Trade Gothic Next" pitchFamily="34" charset="-120"/>
              </a:rPr>
              <a:t>2+</a:t>
            </a:r>
            <a:pPr indent="0" marL="0">
              <a:buNone/>
            </a:pPr>
            <a:r>
              <a:rPr lang="en-US" sz="1600" dirty="0">
                <a:solidFill>
                  <a:srgbClr val="14161B"/>
                </a:solidFill>
                <a:latin typeface="Trade Gothic Next" pitchFamily="34" charset="0"/>
                <a:ea typeface="Trade Gothic Next" pitchFamily="34" charset="-122"/>
                <a:cs typeface="Trade Gothic Next" pitchFamily="34" charset="-120"/>
              </a:rPr>
              <a:t> is [Ar] 3d</a:t>
            </a:r>
            <a:pPr indent="0" marL="0">
              <a:buNone/>
            </a:pPr>
            <a:r>
              <a:rPr lang="en-US" sz="1600" baseline="30000" dirty="0">
                <a:solidFill>
                  <a:srgbClr val="14161B"/>
                </a:solidFill>
                <a:latin typeface="Trade Gothic Next" pitchFamily="34" charset="0"/>
                <a:ea typeface="Trade Gothic Next" pitchFamily="34" charset="-122"/>
                <a:cs typeface="Trade Gothic Next" pitchFamily="34" charset="-120"/>
              </a:rPr>
              <a:t>9</a:t>
            </a:r>
            <a:pPr indent="0" marL="0">
              <a:buNone/>
            </a:pPr>
            <a:r>
              <a:rPr lang="en-US" sz="1600" dirty="0">
                <a:solidFill>
                  <a:srgbClr val="14161B"/>
                </a:solidFill>
                <a:latin typeface="Trade Gothic Next" pitchFamily="34" charset="0"/>
                <a:ea typeface="Trade Gothic Next" pitchFamily="34" charset="-122"/>
                <a:cs typeface="Trade Gothic Next" pitchFamily="34" charset="-120"/>
              </a:rPr>
              <a:t>.</a:t>
            </a:r>
            <a:endParaRPr lang="en-US" sz="1600" dirty="0"/>
          </a:p>
        </p:txBody>
      </p:sp>
      <p:sp>
        <p:nvSpPr>
          <p:cNvPr id="10" name="Text 1"/>
          <p:cNvSpPr txBox="1"/>
          <p:nvPr>
            <p:ph idx="101" type="body" hasCustomPrompt="1"/>
          </p:nvPr>
        </p:nvSpPr>
        <p:spPr>
          <a:xfrm>
            <a:off x="685800" y="384048"/>
            <a:ext cx="6400800" cy="237744"/>
          </a:xfrm>
          <a:prstGeom prst="rect">
            <a:avLst/>
          </a:prstGeom>
          <a:noFill/>
          <a:ln/>
        </p:spPr>
        <p:txBody>
          <a:bodyPr wrap="square" lIns="0" tIns="0" rIns="0" bIns="0" rtlCol="0" anchor="ctr"/>
          <a:lstStyle/>
          <a:p>
            <a:pPr indent="0" marL="0">
              <a:buNone/>
            </a:pPr>
            <a:r>
              <a:rPr lang="en-US" sz="1100" b="1" spc="160" kern="0" dirty="0">
                <a:solidFill>
                  <a:srgbClr val="14161B"/>
                </a:solidFill>
                <a:latin typeface="Trade Gothic Next" pitchFamily="34" charset="0"/>
                <a:ea typeface="Trade Gothic Next" pitchFamily="34" charset="-122"/>
                <a:cs typeface="Trade Gothic Next" pitchFamily="34" charset="-120"/>
              </a:rPr>
              <a:t>UNIT 02  •  CHEMISTRY</a:t>
            </a:r>
            <a:endParaRPr lang="en-US" sz="1100" dirty="0"/>
          </a:p>
        </p:txBody>
      </p:sp>
      <p:sp>
        <p:nvSpPr>
          <p:cNvPr id="11" name="Text 7"/>
          <p:cNvSpPr txBox="1"/>
          <p:nvPr>
            <p:ph idx="117" type="body" hasCustomPrompt="1"/>
          </p:nvPr>
        </p:nvSpPr>
        <p:spPr>
          <a:xfrm>
            <a:off x="8762695" y="6382512"/>
            <a:ext cx="2743200" cy="237744"/>
          </a:xfrm>
          <a:prstGeom prst="rect">
            <a:avLst/>
          </a:prstGeom>
          <a:noFill/>
          <a:ln/>
        </p:spPr>
        <p:txBody>
          <a:bodyPr wrap="square" lIns="0" tIns="0" rIns="0" bIns="0" rtlCol="0" anchor="ctr"/>
          <a:lstStyle/>
          <a:p>
            <a:pPr algn="r" indent="0" marL="0">
              <a:buNone/>
            </a:pPr>
            <a:r>
              <a:rPr lang="en-US" sz="1000" b="1" spc="140" kern="0" dirty="0">
                <a:solidFill>
                  <a:srgbClr val="2E3338"/>
                </a:solidFill>
                <a:latin typeface="Trade Gothic Next" pitchFamily="34" charset="0"/>
                <a:ea typeface="Trade Gothic Next" pitchFamily="34" charset="-122"/>
                <a:cs typeface="Trade Gothic Next" pitchFamily="34" charset="-120"/>
              </a:rPr>
              <a:t>U02 • S02.3</a:t>
            </a:r>
            <a:endParaRPr lang="en-US" sz="1000" dirty="0"/>
          </a:p>
        </p:txBody>
      </p:sp>
      <p:sp>
        <p:nvSpPr>
          <p:cNvPr id="13" name="Text 3"/>
          <p:cNvSpPr txBox="1"/>
          <p:nvPr>
            <p:ph idx="106" type="body" hasCustomPrompt="1"/>
          </p:nvPr>
        </p:nvSpPr>
        <p:spPr>
          <a:xfrm>
            <a:off x="914400" y="2651760"/>
            <a:ext cx="4617720" cy="2743200"/>
          </a:xfrm>
          <a:prstGeom prst="rect">
            <a:avLst/>
          </a:prstGeom>
          <a:noFill/>
          <a:ln/>
        </p:spPr>
        <p:txBody>
          <a:bodyPr wrap="square" lIns="0" tIns="0" rIns="0" bIns="0" rtlCol="0" anchor="ctr"/>
          <a:lstStyle/>
          <a:p>
            <a:pPr algn="ctr" indent="0" marL="0">
              <a:buNone/>
            </a:pPr>
            <a:endParaRPr lang="en-US" sz="2000" dirty="0"/>
          </a:p>
        </p:txBody>
      </p:sp>
      <p:sp>
        <p:nvSpPr>
          <p:cNvPr id="14" name="BUILD backdrop"/>
          <p:cNvSpPr/>
          <p:nvPr/>
        </p:nvSpPr>
        <p:spPr>
          <a:xfrm>
            <a:off x="914400" y="2651760"/>
            <a:ext cx="4617720" cy="2743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12" name="BUILD boxes and labels" descr="Orbital diagram of copper, [Ar] core not drawn. As first drawn: 4s: one box, one pair. 3d: five boxes, four pairs and one single up arrow. After the steps: 4s: one box, one single up arrow. 3d: five boxes, five pairs."/>
          <p:cNvGrpSpPr/>
          <p:nvPr/>
        </p:nvGrpSpPr>
        <p:grpSpPr>
          <a:xfrm>
            <a:off x="932688" y="2797302"/>
            <a:ext cx="4581142" cy="1281683"/>
            <a:chOff x="932688" y="2797302"/>
            <a:chExt cx="4581142" cy="1281683"/>
          </a:xfrm>
        </p:grpSpPr>
        <p:sp>
          <p:nvSpPr>
            <p:cNvPr id="15" name="BUILD title"/>
            <p:cNvSpPr txBox="1"/>
            <p:nvPr/>
          </p:nvSpPr>
          <p:spPr>
            <a:xfrm>
              <a:off x="1024128" y="2797302"/>
              <a:ext cx="4398264" cy="274320"/>
            </a:xfrm>
            <a:prstGeom prst="rect">
              <a:avLst/>
            </a:prstGeom>
            <a:noFill/>
          </p:spPr>
          <p:txBody>
            <a:bodyPr wrap="square" lIns="0" rIns="0" tIns="0" bIns="0" anchor="ctr">
              <a:spAutoFit/>
            </a:bodyPr>
            <a:lstStyle/>
            <a:p>
              <a:pPr algn="ctr"/>
              <a:r>
                <a:rPr sz="1800" b="1">
                  <a:solidFill>
                    <a:srgbClr val="14161B"/>
                  </a:solidFill>
                  <a:latin typeface="Trade Gothic Next"/>
                </a:rPr>
                <a:t>COPPER  Z = 29  [Ar] CORE</a:t>
              </a:r>
            </a:p>
          </p:txBody>
        </p:sp>
        <p:sp>
          <p:nvSpPr>
            <p:cNvPr id="16" name="BUILD box 4s 1"/>
            <p:cNvSpPr/>
            <p:nvPr/>
          </p:nvSpPr>
          <p:spPr>
            <a:xfrm>
              <a:off x="1024128" y="3108198"/>
              <a:ext cx="659891" cy="659891"/>
            </a:xfrm>
            <a:prstGeom prst="rect">
              <a:avLst/>
            </a:prstGeom>
            <a:solidFill>
              <a:srgbClr val="FFFFFF"/>
            </a:solidFill>
            <a:ln w="28575">
              <a:solidFill>
                <a:srgbClr val="1416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UILD label 4s"/>
            <p:cNvSpPr txBox="1"/>
            <p:nvPr/>
          </p:nvSpPr>
          <p:spPr>
            <a:xfrm>
              <a:off x="932688" y="3804665"/>
              <a:ext cx="842772" cy="274320"/>
            </a:xfrm>
            <a:prstGeom prst="rect">
              <a:avLst/>
            </a:prstGeom>
            <a:noFill/>
          </p:spPr>
          <p:txBody>
            <a:bodyPr wrap="square" lIns="0" rIns="0" tIns="0" bIns="0" anchor="ctr">
              <a:spAutoFit/>
            </a:bodyPr>
            <a:lstStyle/>
            <a:p>
              <a:pPr algn="ctr"/>
              <a:r>
                <a:rPr sz="1800" b="1">
                  <a:solidFill>
                    <a:srgbClr val="14161B"/>
                  </a:solidFill>
                  <a:latin typeface="Trade Gothic Next"/>
                </a:rPr>
                <a:t>4s</a:t>
              </a:r>
            </a:p>
          </p:txBody>
        </p:sp>
        <p:sp>
          <p:nvSpPr>
            <p:cNvPr id="18" name="BUILD box 3d 1"/>
            <p:cNvSpPr/>
            <p:nvPr/>
          </p:nvSpPr>
          <p:spPr>
            <a:xfrm>
              <a:off x="1940052" y="3108198"/>
              <a:ext cx="659891" cy="659891"/>
            </a:xfrm>
            <a:prstGeom prst="rect">
              <a:avLst/>
            </a:prstGeom>
            <a:solidFill>
              <a:srgbClr val="FFFFFF"/>
            </a:solidFill>
            <a:ln w="28575">
              <a:solidFill>
                <a:srgbClr val="1416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BUILD box 3d 2"/>
            <p:cNvSpPr/>
            <p:nvPr/>
          </p:nvSpPr>
          <p:spPr>
            <a:xfrm>
              <a:off x="2645664" y="3108198"/>
              <a:ext cx="659891" cy="659891"/>
            </a:xfrm>
            <a:prstGeom prst="rect">
              <a:avLst/>
            </a:prstGeom>
            <a:solidFill>
              <a:srgbClr val="FFFFFF"/>
            </a:solidFill>
            <a:ln w="28575">
              <a:solidFill>
                <a:srgbClr val="1416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BUILD box 3d 3"/>
            <p:cNvSpPr/>
            <p:nvPr/>
          </p:nvSpPr>
          <p:spPr>
            <a:xfrm>
              <a:off x="3351276" y="3108198"/>
              <a:ext cx="659891" cy="659891"/>
            </a:xfrm>
            <a:prstGeom prst="rect">
              <a:avLst/>
            </a:prstGeom>
            <a:solidFill>
              <a:srgbClr val="FFFFFF"/>
            </a:solidFill>
            <a:ln w="28575">
              <a:solidFill>
                <a:srgbClr val="1416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UILD box 3d 4"/>
            <p:cNvSpPr/>
            <p:nvPr/>
          </p:nvSpPr>
          <p:spPr>
            <a:xfrm>
              <a:off x="4056888" y="3108198"/>
              <a:ext cx="659891" cy="659891"/>
            </a:xfrm>
            <a:prstGeom prst="rect">
              <a:avLst/>
            </a:prstGeom>
            <a:solidFill>
              <a:srgbClr val="FFFFFF"/>
            </a:solidFill>
            <a:ln w="28575">
              <a:solidFill>
                <a:srgbClr val="1416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BUILD box 3d 5"/>
            <p:cNvSpPr/>
            <p:nvPr/>
          </p:nvSpPr>
          <p:spPr>
            <a:xfrm>
              <a:off x="4762500" y="3108198"/>
              <a:ext cx="659891" cy="659891"/>
            </a:xfrm>
            <a:prstGeom prst="rect">
              <a:avLst/>
            </a:prstGeom>
            <a:solidFill>
              <a:srgbClr val="FFFFFF"/>
            </a:solidFill>
            <a:ln w="28575">
              <a:solidFill>
                <a:srgbClr val="1416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BUILD label 3d"/>
            <p:cNvSpPr txBox="1"/>
            <p:nvPr/>
          </p:nvSpPr>
          <p:spPr>
            <a:xfrm>
              <a:off x="1848611" y="3804665"/>
              <a:ext cx="3665219" cy="274320"/>
            </a:xfrm>
            <a:prstGeom prst="rect">
              <a:avLst/>
            </a:prstGeom>
            <a:noFill/>
          </p:spPr>
          <p:txBody>
            <a:bodyPr wrap="square" lIns="0" rIns="0" tIns="0" bIns="0" anchor="ctr">
              <a:spAutoFit/>
            </a:bodyPr>
            <a:lstStyle/>
            <a:p>
              <a:pPr algn="ctr"/>
              <a:r>
                <a:rPr sz="1800" b="1">
                  <a:solidFill>
                    <a:srgbClr val="14161B"/>
                  </a:solidFill>
                  <a:latin typeface="Trade Gothic Next"/>
                </a:rPr>
                <a:t>3d</a:t>
              </a:r>
            </a:p>
          </p:txBody>
        </p:sp>
      </p:grpSp>
      <p:sp>
        <p:nvSpPr>
          <p:cNvPr id="24" name="BUILD arrow 4s box1 up" descr="">
            <a:extLst>
              <a:ext uri="{C183D7F6-B498-43B3-948B-1728B52AA6E4}">
                <adec:decorative xmlns:adec="http://schemas.microsoft.com/office/drawing/2017/decorative" val="1"/>
              </a:ext>
            </a:extLst>
          </p:cNvPr>
          <p:cNvSpPr/>
          <p:nvPr/>
        </p:nvSpPr>
        <p:spPr>
          <a:xfrm>
            <a:off x="1139609" y="3233577"/>
            <a:ext cx="164972" cy="409133"/>
          </a:xfrm>
          <a:prstGeom prst="upArrow">
            <a:avLst>
              <a:gd name="adj1" fmla="val 34000"/>
              <a:gd name="adj2" fmla="val 70000"/>
            </a:avLst>
          </a:prstGeom>
          <a:solidFill>
            <a:srgbClr val="1416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UILD arrow 4s box1 down" descr="">
            <a:extLst>
              <a:ext uri="{C183D7F6-B498-43B3-948B-1728B52AA6E4}">
                <adec:decorative xmlns:adec="http://schemas.microsoft.com/office/drawing/2017/decorative" val="1"/>
              </a:ext>
            </a:extLst>
          </p:cNvPr>
          <p:cNvSpPr/>
          <p:nvPr/>
        </p:nvSpPr>
        <p:spPr>
          <a:xfrm>
            <a:off x="1403565" y="3233577"/>
            <a:ext cx="164972" cy="409133"/>
          </a:xfrm>
          <a:prstGeom prst="downArrow">
            <a:avLst>
              <a:gd name="adj1" fmla="val 34000"/>
              <a:gd name="adj2" fmla="val 70000"/>
            </a:avLst>
          </a:prstGeom>
          <a:solidFill>
            <a:srgbClr val="1416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BUILD arrow 3d box1 up" descr="">
            <a:extLst>
              <a:ext uri="{C183D7F6-B498-43B3-948B-1728B52AA6E4}">
                <adec:decorative xmlns:adec="http://schemas.microsoft.com/office/drawing/2017/decorative" val="1"/>
              </a:ext>
            </a:extLst>
          </p:cNvPr>
          <p:cNvSpPr/>
          <p:nvPr/>
        </p:nvSpPr>
        <p:spPr>
          <a:xfrm>
            <a:off x="2055533" y="3233577"/>
            <a:ext cx="164972" cy="409133"/>
          </a:xfrm>
          <a:prstGeom prst="upArrow">
            <a:avLst>
              <a:gd name="adj1" fmla="val 34000"/>
              <a:gd name="adj2" fmla="val 70000"/>
            </a:avLst>
          </a:prstGeom>
          <a:solidFill>
            <a:srgbClr val="1416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BUILD arrow 3d box2 up" descr="">
            <a:extLst>
              <a:ext uri="{C183D7F6-B498-43B3-948B-1728B52AA6E4}">
                <adec:decorative xmlns:adec="http://schemas.microsoft.com/office/drawing/2017/decorative" val="1"/>
              </a:ext>
            </a:extLst>
          </p:cNvPr>
          <p:cNvSpPr/>
          <p:nvPr/>
        </p:nvSpPr>
        <p:spPr>
          <a:xfrm>
            <a:off x="2761145" y="3233577"/>
            <a:ext cx="164972" cy="409133"/>
          </a:xfrm>
          <a:prstGeom prst="upArrow">
            <a:avLst>
              <a:gd name="adj1" fmla="val 34000"/>
              <a:gd name="adj2" fmla="val 70000"/>
            </a:avLst>
          </a:prstGeom>
          <a:solidFill>
            <a:srgbClr val="1416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BUILD arrow 3d box3 up" descr="">
            <a:extLst>
              <a:ext uri="{C183D7F6-B498-43B3-948B-1728B52AA6E4}">
                <adec:decorative xmlns:adec="http://schemas.microsoft.com/office/drawing/2017/decorative" val="1"/>
              </a:ext>
            </a:extLst>
          </p:cNvPr>
          <p:cNvSpPr/>
          <p:nvPr/>
        </p:nvSpPr>
        <p:spPr>
          <a:xfrm>
            <a:off x="3466757" y="3233577"/>
            <a:ext cx="164972" cy="409133"/>
          </a:xfrm>
          <a:prstGeom prst="upArrow">
            <a:avLst>
              <a:gd name="adj1" fmla="val 34000"/>
              <a:gd name="adj2" fmla="val 70000"/>
            </a:avLst>
          </a:prstGeom>
          <a:solidFill>
            <a:srgbClr val="1416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BUILD arrow 3d box4 up" descr="">
            <a:extLst>
              <a:ext uri="{C183D7F6-B498-43B3-948B-1728B52AA6E4}">
                <adec:decorative xmlns:adec="http://schemas.microsoft.com/office/drawing/2017/decorative" val="1"/>
              </a:ext>
            </a:extLst>
          </p:cNvPr>
          <p:cNvSpPr/>
          <p:nvPr/>
        </p:nvSpPr>
        <p:spPr>
          <a:xfrm>
            <a:off x="4172369" y="3233577"/>
            <a:ext cx="164972" cy="409133"/>
          </a:xfrm>
          <a:prstGeom prst="upArrow">
            <a:avLst>
              <a:gd name="adj1" fmla="val 34000"/>
              <a:gd name="adj2" fmla="val 70000"/>
            </a:avLst>
          </a:prstGeom>
          <a:solidFill>
            <a:srgbClr val="1416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BUILD arrow 3d box5 up" descr="">
            <a:extLst>
              <a:ext uri="{C183D7F6-B498-43B3-948B-1728B52AA6E4}">
                <adec:decorative xmlns:adec="http://schemas.microsoft.com/office/drawing/2017/decorative" val="1"/>
              </a:ext>
            </a:extLst>
          </p:cNvPr>
          <p:cNvSpPr/>
          <p:nvPr/>
        </p:nvSpPr>
        <p:spPr>
          <a:xfrm>
            <a:off x="4877981" y="3233577"/>
            <a:ext cx="164972" cy="409133"/>
          </a:xfrm>
          <a:prstGeom prst="upArrow">
            <a:avLst>
              <a:gd name="adj1" fmla="val 34000"/>
              <a:gd name="adj2" fmla="val 70000"/>
            </a:avLst>
          </a:prstGeom>
          <a:solidFill>
            <a:srgbClr val="1416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BUILD arrow 3d box1 down" descr="">
            <a:extLst>
              <a:ext uri="{C183D7F6-B498-43B3-948B-1728B52AA6E4}">
                <adec:decorative xmlns:adec="http://schemas.microsoft.com/office/drawing/2017/decorative" val="1"/>
              </a:ext>
            </a:extLst>
          </p:cNvPr>
          <p:cNvSpPr/>
          <p:nvPr/>
        </p:nvSpPr>
        <p:spPr>
          <a:xfrm>
            <a:off x="2319489" y="3233577"/>
            <a:ext cx="164972" cy="409133"/>
          </a:xfrm>
          <a:prstGeom prst="downArrow">
            <a:avLst>
              <a:gd name="adj1" fmla="val 34000"/>
              <a:gd name="adj2" fmla="val 70000"/>
            </a:avLst>
          </a:prstGeom>
          <a:solidFill>
            <a:srgbClr val="1416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BUILD arrow 3d box2 down" descr="">
            <a:extLst>
              <a:ext uri="{C183D7F6-B498-43B3-948B-1728B52AA6E4}">
                <adec:decorative xmlns:adec="http://schemas.microsoft.com/office/drawing/2017/decorative" val="1"/>
              </a:ext>
            </a:extLst>
          </p:cNvPr>
          <p:cNvSpPr/>
          <p:nvPr/>
        </p:nvSpPr>
        <p:spPr>
          <a:xfrm>
            <a:off x="3025101" y="3233577"/>
            <a:ext cx="164972" cy="409133"/>
          </a:xfrm>
          <a:prstGeom prst="downArrow">
            <a:avLst>
              <a:gd name="adj1" fmla="val 34000"/>
              <a:gd name="adj2" fmla="val 70000"/>
            </a:avLst>
          </a:prstGeom>
          <a:solidFill>
            <a:srgbClr val="1416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BUILD arrow 3d box3 down" descr="">
            <a:extLst>
              <a:ext uri="{C183D7F6-B498-43B3-948B-1728B52AA6E4}">
                <adec:decorative xmlns:adec="http://schemas.microsoft.com/office/drawing/2017/decorative" val="1"/>
              </a:ext>
            </a:extLst>
          </p:cNvPr>
          <p:cNvSpPr/>
          <p:nvPr/>
        </p:nvSpPr>
        <p:spPr>
          <a:xfrm>
            <a:off x="3730713" y="3233577"/>
            <a:ext cx="164972" cy="409133"/>
          </a:xfrm>
          <a:prstGeom prst="downArrow">
            <a:avLst>
              <a:gd name="adj1" fmla="val 34000"/>
              <a:gd name="adj2" fmla="val 70000"/>
            </a:avLst>
          </a:prstGeom>
          <a:solidFill>
            <a:srgbClr val="1416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BUILD arrow 3d box4 down" descr="">
            <a:extLst>
              <a:ext uri="{C183D7F6-B498-43B3-948B-1728B52AA6E4}">
                <adec:decorative xmlns:adec="http://schemas.microsoft.com/office/drawing/2017/decorative" val="1"/>
              </a:ext>
            </a:extLst>
          </p:cNvPr>
          <p:cNvSpPr/>
          <p:nvPr/>
        </p:nvSpPr>
        <p:spPr>
          <a:xfrm>
            <a:off x="4436325" y="3233577"/>
            <a:ext cx="164972" cy="409133"/>
          </a:xfrm>
          <a:prstGeom prst="downArrow">
            <a:avLst>
              <a:gd name="adj1" fmla="val 34000"/>
              <a:gd name="adj2" fmla="val 70000"/>
            </a:avLst>
          </a:prstGeom>
          <a:solidFill>
            <a:srgbClr val="1416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BUILD arrow 3d box5 down" descr="">
            <a:extLst>
              <a:ext uri="{C183D7F6-B498-43B3-948B-1728B52AA6E4}">
                <adec:decorative xmlns:adec="http://schemas.microsoft.com/office/drawing/2017/decorative" val="1"/>
              </a:ext>
            </a:extLst>
          </p:cNvPr>
          <p:cNvSpPr/>
          <p:nvPr/>
        </p:nvSpPr>
        <p:spPr>
          <a:xfrm>
            <a:off x="5141937" y="3233577"/>
            <a:ext cx="164972" cy="409133"/>
          </a:xfrm>
          <a:prstGeom prst="downArrow">
            <a:avLst>
              <a:gd name="adj1" fmla="val 34000"/>
              <a:gd name="adj2" fmla="val 70000"/>
            </a:avLst>
          </a:prstGeom>
          <a:solidFill>
            <a:srgbClr val="1416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BUILD caption"/>
          <p:cNvSpPr txBox="1"/>
          <p:nvPr/>
        </p:nvSpPr>
        <p:spPr>
          <a:xfrm>
            <a:off x="1024128" y="4115561"/>
            <a:ext cx="4398264" cy="256032"/>
          </a:xfrm>
          <a:prstGeom prst="rect">
            <a:avLst/>
          </a:prstGeom>
          <a:noFill/>
        </p:spPr>
        <p:txBody>
          <a:bodyPr wrap="square" lIns="0" rIns="0" tIns="0" bIns="0" anchor="ctr">
            <a:spAutoFit/>
          </a:bodyPr>
          <a:lstStyle/>
          <a:p>
            <a:pPr algn="ctr"/>
            <a:r>
              <a:rPr sz="1600" b="1">
                <a:solidFill>
                  <a:srgbClr val="4D730E"/>
                </a:solidFill>
                <a:latin typeface="Trade Gothic Next"/>
              </a:rPr>
              <a:t>What the rules predict</a:t>
            </a:r>
          </a:p>
        </p:txBody>
      </p:sp>
      <p:sp>
        <p:nvSpPr>
          <p:cNvPr id="37" name="BUILD state"/>
          <p:cNvSpPr txBox="1"/>
          <p:nvPr/>
        </p:nvSpPr>
        <p:spPr>
          <a:xfrm>
            <a:off x="1024128" y="4371594"/>
            <a:ext cx="4398264" cy="292608"/>
          </a:xfrm>
          <a:prstGeom prst="rect">
            <a:avLst/>
          </a:prstGeom>
          <a:noFill/>
        </p:spPr>
        <p:txBody>
          <a:bodyPr wrap="square" lIns="0" rIns="0" tIns="0" bIns="0" anchor="ctr">
            <a:spAutoFit/>
          </a:bodyPr>
          <a:lstStyle/>
          <a:p>
            <a:pPr algn="ctr"/>
            <a:r>
              <a:rPr sz="1800" b="1">
                <a:solidFill>
                  <a:srgbClr val="14161B"/>
                </a:solidFill>
                <a:latin typeface="Trade Gothic Next"/>
              </a:rPr>
              <a:t>[Ar] 4s</a:t>
            </a:r>
            <a:r>
              <a:rPr sz="1800" b="1" baseline="30000">
                <a:solidFill>
                  <a:srgbClr val="14161B"/>
                </a:solidFill>
                <a:latin typeface="Trade Gothic Next"/>
              </a:rPr>
              <a:t>2</a:t>
            </a:r>
            <a:r>
              <a:rPr sz="1800" b="1">
                <a:solidFill>
                  <a:srgbClr val="14161B"/>
                </a:solidFill>
                <a:latin typeface="Trade Gothic Next"/>
              </a:rPr>
              <a:t> 3d</a:t>
            </a:r>
            <a:r>
              <a:rPr sz="1800" b="1" baseline="30000">
                <a:solidFill>
                  <a:srgbClr val="14161B"/>
                </a:solidFill>
                <a:latin typeface="Trade Gothic Next"/>
              </a:rPr>
              <a:t>9</a:t>
            </a:r>
          </a:p>
        </p:txBody>
      </p:sp>
      <p:sp>
        <p:nvSpPr>
          <p:cNvPr id="38" name="BUILD caption"/>
          <p:cNvSpPr txBox="1"/>
          <p:nvPr/>
        </p:nvSpPr>
        <p:spPr>
          <a:xfrm>
            <a:off x="1024128" y="4664202"/>
            <a:ext cx="4398264" cy="256032"/>
          </a:xfrm>
          <a:prstGeom prst="rect">
            <a:avLst/>
          </a:prstGeom>
          <a:noFill/>
        </p:spPr>
        <p:txBody>
          <a:bodyPr wrap="square" lIns="0" rIns="0" tIns="0" bIns="0" anchor="ctr">
            <a:spAutoFit/>
          </a:bodyPr>
          <a:lstStyle/>
          <a:p>
            <a:pPr algn="ctr"/>
            <a:r>
              <a:rPr sz="1600" b="1">
                <a:solidFill>
                  <a:srgbClr val="4D730E"/>
                </a:solidFill>
                <a:latin typeface="Trade Gothic Next"/>
              </a:rPr>
              <a:t>One 4s electron moves into 3d</a:t>
            </a:r>
          </a:p>
        </p:txBody>
      </p:sp>
      <p:sp>
        <p:nvSpPr>
          <p:cNvPr id="39" name="BUILD state"/>
          <p:cNvSpPr txBox="1"/>
          <p:nvPr/>
        </p:nvSpPr>
        <p:spPr>
          <a:xfrm>
            <a:off x="1024128" y="4920234"/>
            <a:ext cx="4398264" cy="292608"/>
          </a:xfrm>
          <a:prstGeom prst="rect">
            <a:avLst/>
          </a:prstGeom>
          <a:noFill/>
        </p:spPr>
        <p:txBody>
          <a:bodyPr wrap="square" lIns="0" rIns="0" tIns="0" bIns="0" anchor="ctr">
            <a:spAutoFit/>
          </a:bodyPr>
          <a:lstStyle/>
          <a:p>
            <a:pPr algn="ctr"/>
            <a:r>
              <a:rPr sz="1800" b="1">
                <a:solidFill>
                  <a:srgbClr val="14161B"/>
                </a:solidFill>
                <a:latin typeface="Trade Gothic Next"/>
              </a:rPr>
              <a:t>Actual: [Ar] 4s</a:t>
            </a:r>
            <a:r>
              <a:rPr sz="1800" b="1" baseline="30000">
                <a:solidFill>
                  <a:srgbClr val="14161B"/>
                </a:solidFill>
                <a:latin typeface="Trade Gothic Next"/>
              </a:rPr>
              <a:t>1</a:t>
            </a:r>
            <a:r>
              <a:rPr sz="1800" b="1">
                <a:solidFill>
                  <a:srgbClr val="14161B"/>
                </a:solidFill>
                <a:latin typeface="Trade Gothic Next"/>
              </a:rPr>
              <a:t> 3d</a:t>
            </a:r>
            <a:r>
              <a:rPr sz="1800" b="1" baseline="30000">
                <a:solidFill>
                  <a:srgbClr val="14161B"/>
                </a:solidFill>
                <a:latin typeface="Trade Gothic Next"/>
              </a:rPr>
              <a:t>10</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4"/>
                                        </p:tgtEl>
                                        <p:attrNameLst>
                                          <p:attrName>style.visibility</p:attrName>
                                        </p:attrNameLst>
                                      </p:cBhvr>
                                      <p:to>
                                        <p:strVal val="visible"/>
                                      </p:to>
                                    </p:set>
                                    <p:anim calcmode="lin" valueType="num">
                                      <p:cBhvr additive="base">
                                        <p:cTn id="11" dur="500" fill="hold"/>
                                        <p:tgtEl>
                                          <p:spTgt spid="24"/>
                                        </p:tgtEl>
                                        <p:attrNameLst>
                                          <p:attrName>ppt_x</p:attrName>
                                        </p:attrNameLst>
                                      </p:cBhvr>
                                      <p:tavLst>
                                        <p:tav tm="0">
                                          <p:val>
                                            <p:strVal val="#ppt_x"/>
                                          </p:val>
                                        </p:tav>
                                        <p:tav tm="100000">
                                          <p:val>
                                            <p:strVal val="#ppt_x"/>
                                          </p:val>
                                        </p:tav>
                                      </p:tavLst>
                                    </p:anim>
                                    <p:anim calcmode="lin" valueType="num">
                                      <p:cBhvr additive="base">
                                        <p:cTn id="12" dur="500" fill="hold"/>
                                        <p:tgtEl>
                                          <p:spTgt spid="24"/>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25"/>
                                        </p:tgtEl>
                                        <p:attrNameLst>
                                          <p:attrName>style.visibility</p:attrName>
                                        </p:attrNameLst>
                                      </p:cBhvr>
                                      <p:to>
                                        <p:strVal val="visible"/>
                                      </p:to>
                                    </p:set>
                                    <p:anim calcmode="lin" valueType="num">
                                      <p:cBhvr additive="base">
                                        <p:cTn id="15" dur="500" fill="hold"/>
                                        <p:tgtEl>
                                          <p:spTgt spid="25"/>
                                        </p:tgtEl>
                                        <p:attrNameLst>
                                          <p:attrName>ppt_x</p:attrName>
                                        </p:attrNameLst>
                                      </p:cBhvr>
                                      <p:tavLst>
                                        <p:tav tm="0">
                                          <p:val>
                                            <p:strVal val="#ppt_x"/>
                                          </p:val>
                                        </p:tav>
                                        <p:tav tm="100000">
                                          <p:val>
                                            <p:strVal val="#ppt_x"/>
                                          </p:val>
                                        </p:tav>
                                      </p:tavLst>
                                    </p:anim>
                                    <p:anim calcmode="lin" valueType="num">
                                      <p:cBhvr additive="base">
                                        <p:cTn id="16" dur="500" fill="hold"/>
                                        <p:tgtEl>
                                          <p:spTgt spid="25"/>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26"/>
                                        </p:tgtEl>
                                        <p:attrNameLst>
                                          <p:attrName>style.visibility</p:attrName>
                                        </p:attrNameLst>
                                      </p:cBhvr>
                                      <p:to>
                                        <p:strVal val="visible"/>
                                      </p:to>
                                    </p:set>
                                    <p:anim calcmode="lin" valueType="num">
                                      <p:cBhvr additive="base">
                                        <p:cTn id="19" dur="500" fill="hold"/>
                                        <p:tgtEl>
                                          <p:spTgt spid="26"/>
                                        </p:tgtEl>
                                        <p:attrNameLst>
                                          <p:attrName>ppt_x</p:attrName>
                                        </p:attrNameLst>
                                      </p:cBhvr>
                                      <p:tavLst>
                                        <p:tav tm="0">
                                          <p:val>
                                            <p:strVal val="#ppt_x"/>
                                          </p:val>
                                        </p:tav>
                                        <p:tav tm="100000">
                                          <p:val>
                                            <p:strVal val="#ppt_x"/>
                                          </p:val>
                                        </p:tav>
                                      </p:tavLst>
                                    </p:anim>
                                    <p:anim calcmode="lin" valueType="num">
                                      <p:cBhvr additive="base">
                                        <p:cTn id="20" dur="500" fill="hold"/>
                                        <p:tgtEl>
                                          <p:spTgt spid="26"/>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27"/>
                                        </p:tgtEl>
                                        <p:attrNameLst>
                                          <p:attrName>style.visibility</p:attrName>
                                        </p:attrNameLst>
                                      </p:cBhvr>
                                      <p:to>
                                        <p:strVal val="visible"/>
                                      </p:to>
                                    </p:set>
                                    <p:anim calcmode="lin" valueType="num">
                                      <p:cBhvr additive="base">
                                        <p:cTn id="23" dur="500" fill="hold"/>
                                        <p:tgtEl>
                                          <p:spTgt spid="27"/>
                                        </p:tgtEl>
                                        <p:attrNameLst>
                                          <p:attrName>ppt_x</p:attrName>
                                        </p:attrNameLst>
                                      </p:cBhvr>
                                      <p:tavLst>
                                        <p:tav tm="0">
                                          <p:val>
                                            <p:strVal val="#ppt_x"/>
                                          </p:val>
                                        </p:tav>
                                        <p:tav tm="100000">
                                          <p:val>
                                            <p:strVal val="#ppt_x"/>
                                          </p:val>
                                        </p:tav>
                                      </p:tavLst>
                                    </p:anim>
                                    <p:anim calcmode="lin" valueType="num">
                                      <p:cBhvr additive="base">
                                        <p:cTn id="24" dur="500" fill="hold"/>
                                        <p:tgtEl>
                                          <p:spTgt spid="27"/>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28"/>
                                        </p:tgtEl>
                                        <p:attrNameLst>
                                          <p:attrName>style.visibility</p:attrName>
                                        </p:attrNameLst>
                                      </p:cBhvr>
                                      <p:to>
                                        <p:strVal val="visible"/>
                                      </p:to>
                                    </p:set>
                                    <p:anim calcmode="lin" valueType="num">
                                      <p:cBhvr additive="base">
                                        <p:cTn id="27" dur="500" fill="hold"/>
                                        <p:tgtEl>
                                          <p:spTgt spid="28"/>
                                        </p:tgtEl>
                                        <p:attrNameLst>
                                          <p:attrName>ppt_x</p:attrName>
                                        </p:attrNameLst>
                                      </p:cBhvr>
                                      <p:tavLst>
                                        <p:tav tm="0">
                                          <p:val>
                                            <p:strVal val="#ppt_x"/>
                                          </p:val>
                                        </p:tav>
                                        <p:tav tm="100000">
                                          <p:val>
                                            <p:strVal val="#ppt_x"/>
                                          </p:val>
                                        </p:tav>
                                      </p:tavLst>
                                    </p:anim>
                                    <p:anim calcmode="lin" valueType="num">
                                      <p:cBhvr additive="base">
                                        <p:cTn id="28" dur="500" fill="hold"/>
                                        <p:tgtEl>
                                          <p:spTgt spid="28"/>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29"/>
                                        </p:tgtEl>
                                        <p:attrNameLst>
                                          <p:attrName>style.visibility</p:attrName>
                                        </p:attrNameLst>
                                      </p:cBhvr>
                                      <p:to>
                                        <p:strVal val="visible"/>
                                      </p:to>
                                    </p:set>
                                    <p:anim calcmode="lin" valueType="num">
                                      <p:cBhvr additive="base">
                                        <p:cTn id="31" dur="500" fill="hold"/>
                                        <p:tgtEl>
                                          <p:spTgt spid="29"/>
                                        </p:tgtEl>
                                        <p:attrNameLst>
                                          <p:attrName>ppt_x</p:attrName>
                                        </p:attrNameLst>
                                      </p:cBhvr>
                                      <p:tavLst>
                                        <p:tav tm="0">
                                          <p:val>
                                            <p:strVal val="#ppt_x"/>
                                          </p:val>
                                        </p:tav>
                                        <p:tav tm="100000">
                                          <p:val>
                                            <p:strVal val="#ppt_x"/>
                                          </p:val>
                                        </p:tav>
                                      </p:tavLst>
                                    </p:anim>
                                    <p:anim calcmode="lin" valueType="num">
                                      <p:cBhvr additive="base">
                                        <p:cTn id="32" dur="500" fill="hold"/>
                                        <p:tgtEl>
                                          <p:spTgt spid="29"/>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30"/>
                                        </p:tgtEl>
                                        <p:attrNameLst>
                                          <p:attrName>style.visibility</p:attrName>
                                        </p:attrNameLst>
                                      </p:cBhvr>
                                      <p:to>
                                        <p:strVal val="visible"/>
                                      </p:to>
                                    </p:set>
                                    <p:anim calcmode="lin" valueType="num">
                                      <p:cBhvr additive="base">
                                        <p:cTn id="35" dur="500" fill="hold"/>
                                        <p:tgtEl>
                                          <p:spTgt spid="30"/>
                                        </p:tgtEl>
                                        <p:attrNameLst>
                                          <p:attrName>ppt_x</p:attrName>
                                        </p:attrNameLst>
                                      </p:cBhvr>
                                      <p:tavLst>
                                        <p:tav tm="0">
                                          <p:val>
                                            <p:strVal val="#ppt_x"/>
                                          </p:val>
                                        </p:tav>
                                        <p:tav tm="100000">
                                          <p:val>
                                            <p:strVal val="#ppt_x"/>
                                          </p:val>
                                        </p:tav>
                                      </p:tavLst>
                                    </p:anim>
                                    <p:anim calcmode="lin" valueType="num">
                                      <p:cBhvr additive="base">
                                        <p:cTn id="36" dur="500" fill="hold"/>
                                        <p:tgtEl>
                                          <p:spTgt spid="30"/>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31"/>
                                        </p:tgtEl>
                                        <p:attrNameLst>
                                          <p:attrName>style.visibility</p:attrName>
                                        </p:attrNameLst>
                                      </p:cBhvr>
                                      <p:to>
                                        <p:strVal val="visible"/>
                                      </p:to>
                                    </p:set>
                                    <p:anim calcmode="lin" valueType="num">
                                      <p:cBhvr additive="base">
                                        <p:cTn id="39" dur="500" fill="hold"/>
                                        <p:tgtEl>
                                          <p:spTgt spid="31"/>
                                        </p:tgtEl>
                                        <p:attrNameLst>
                                          <p:attrName>ppt_x</p:attrName>
                                        </p:attrNameLst>
                                      </p:cBhvr>
                                      <p:tavLst>
                                        <p:tav tm="0">
                                          <p:val>
                                            <p:strVal val="#ppt_x"/>
                                          </p:val>
                                        </p:tav>
                                        <p:tav tm="100000">
                                          <p:val>
                                            <p:strVal val="#ppt_x"/>
                                          </p:val>
                                        </p:tav>
                                      </p:tavLst>
                                    </p:anim>
                                    <p:anim calcmode="lin" valueType="num">
                                      <p:cBhvr additive="base">
                                        <p:cTn id="40" dur="500" fill="hold"/>
                                        <p:tgtEl>
                                          <p:spTgt spid="31"/>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32"/>
                                        </p:tgtEl>
                                        <p:attrNameLst>
                                          <p:attrName>style.visibility</p:attrName>
                                        </p:attrNameLst>
                                      </p:cBhvr>
                                      <p:to>
                                        <p:strVal val="visible"/>
                                      </p:to>
                                    </p:set>
                                    <p:anim calcmode="lin" valueType="num">
                                      <p:cBhvr additive="base">
                                        <p:cTn id="43" dur="500" fill="hold"/>
                                        <p:tgtEl>
                                          <p:spTgt spid="32"/>
                                        </p:tgtEl>
                                        <p:attrNameLst>
                                          <p:attrName>ppt_x</p:attrName>
                                        </p:attrNameLst>
                                      </p:cBhvr>
                                      <p:tavLst>
                                        <p:tav tm="0">
                                          <p:val>
                                            <p:strVal val="#ppt_x"/>
                                          </p:val>
                                        </p:tav>
                                        <p:tav tm="100000">
                                          <p:val>
                                            <p:strVal val="#ppt_x"/>
                                          </p:val>
                                        </p:tav>
                                      </p:tavLst>
                                    </p:anim>
                                    <p:anim calcmode="lin" valueType="num">
                                      <p:cBhvr additive="base">
                                        <p:cTn id="44" dur="500" fill="hold"/>
                                        <p:tgtEl>
                                          <p:spTgt spid="32"/>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33"/>
                                        </p:tgtEl>
                                        <p:attrNameLst>
                                          <p:attrName>style.visibility</p:attrName>
                                        </p:attrNameLst>
                                      </p:cBhvr>
                                      <p:to>
                                        <p:strVal val="visible"/>
                                      </p:to>
                                    </p:set>
                                    <p:anim calcmode="lin" valueType="num">
                                      <p:cBhvr additive="base">
                                        <p:cTn id="47" dur="500" fill="hold"/>
                                        <p:tgtEl>
                                          <p:spTgt spid="33"/>
                                        </p:tgtEl>
                                        <p:attrNameLst>
                                          <p:attrName>ppt_x</p:attrName>
                                        </p:attrNameLst>
                                      </p:cBhvr>
                                      <p:tavLst>
                                        <p:tav tm="0">
                                          <p:val>
                                            <p:strVal val="#ppt_x"/>
                                          </p:val>
                                        </p:tav>
                                        <p:tav tm="100000">
                                          <p:val>
                                            <p:strVal val="#ppt_x"/>
                                          </p:val>
                                        </p:tav>
                                      </p:tavLst>
                                    </p:anim>
                                    <p:anim calcmode="lin" valueType="num">
                                      <p:cBhvr additive="base">
                                        <p:cTn id="48" dur="500" fill="hold"/>
                                        <p:tgtEl>
                                          <p:spTgt spid="33"/>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34"/>
                                        </p:tgtEl>
                                        <p:attrNameLst>
                                          <p:attrName>style.visibility</p:attrName>
                                        </p:attrNameLst>
                                      </p:cBhvr>
                                      <p:to>
                                        <p:strVal val="visible"/>
                                      </p:to>
                                    </p:set>
                                    <p:anim calcmode="lin" valueType="num">
                                      <p:cBhvr additive="base">
                                        <p:cTn id="51" dur="500" fill="hold"/>
                                        <p:tgtEl>
                                          <p:spTgt spid="34"/>
                                        </p:tgtEl>
                                        <p:attrNameLst>
                                          <p:attrName>ppt_x</p:attrName>
                                        </p:attrNameLst>
                                      </p:cBhvr>
                                      <p:tavLst>
                                        <p:tav tm="0">
                                          <p:val>
                                            <p:strVal val="#ppt_x"/>
                                          </p:val>
                                        </p:tav>
                                        <p:tav tm="100000">
                                          <p:val>
                                            <p:strVal val="#ppt_x"/>
                                          </p:val>
                                        </p:tav>
                                      </p:tavLst>
                                    </p:anim>
                                    <p:anim calcmode="lin" valueType="num">
                                      <p:cBhvr additive="base">
                                        <p:cTn id="52" dur="500" fill="hold"/>
                                        <p:tgtEl>
                                          <p:spTgt spid="34"/>
                                        </p:tgtEl>
                                        <p:attrNameLst>
                                          <p:attrName>ppt_y</p:attrName>
                                        </p:attrNameLst>
                                      </p:cBhvr>
                                      <p:tavLst>
                                        <p:tav tm="0">
                                          <p:val>
                                            <p:strVal val="1+#ppt_h/2"/>
                                          </p:val>
                                        </p:tav>
                                        <p:tav tm="100000">
                                          <p:val>
                                            <p:strVal val="#ppt_y"/>
                                          </p:val>
                                        </p:tav>
                                      </p:tavLst>
                                    </p:anim>
                                  </p:childTnLst>
                                </p:cTn>
                              </p:par>
                              <p:par>
                                <p:cTn id="53" presetID="10" presetClass="entr" presetSubtype="0" fill="hold" grpId="0" nodeType="withEffect">
                                  <p:stCondLst>
                                    <p:cond delay="0"/>
                                  </p:stCondLst>
                                  <p:childTnLst>
                                    <p:set>
                                      <p:cBhvr>
                                        <p:cTn id="54" dur="1" fill="hold">
                                          <p:stCondLst>
                                            <p:cond delay="0"/>
                                          </p:stCondLst>
                                        </p:cTn>
                                        <p:tgtEl>
                                          <p:spTgt spid="37"/>
                                        </p:tgtEl>
                                        <p:attrNameLst>
                                          <p:attrName>style.visibility</p:attrName>
                                        </p:attrNameLst>
                                      </p:cBhvr>
                                      <p:to>
                                        <p:strVal val="visible"/>
                                      </p:to>
                                    </p:set>
                                    <p:animEffect transition="in" filter="fade">
                                      <p:cBhvr>
                                        <p:cTn id="55" dur="400"/>
                                        <p:tgtEl>
                                          <p:spTgt spid="37"/>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36"/>
                                        </p:tgtEl>
                                        <p:attrNameLst>
                                          <p:attrName>style.visibility</p:attrName>
                                        </p:attrNameLst>
                                      </p:cBhvr>
                                      <p:to>
                                        <p:strVal val="visible"/>
                                      </p:to>
                                    </p:set>
                                    <p:animEffect transition="in" filter="fade">
                                      <p:cBhvr>
                                        <p:cTn id="58" dur="400"/>
                                        <p:tgtEl>
                                          <p:spTgt spid="36"/>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xit" presetSubtype="0" fill="hold" grpId="0" nodeType="clickEffect">
                                  <p:stCondLst>
                                    <p:cond delay="0"/>
                                  </p:stCondLst>
                                  <p:childTnLst>
                                    <p:animEffect transition="out" filter="fade">
                                      <p:cBhvr>
                                        <p:cTn id="62" dur="400"/>
                                        <p:tgtEl>
                                          <p:spTgt spid="25"/>
                                        </p:tgtEl>
                                      </p:cBhvr>
                                    </p:animEffect>
                                    <p:set>
                                      <p:cBhvr>
                                        <p:cTn id="63" dur="1" fill="hold">
                                          <p:stCondLst>
                                            <p:cond delay="399"/>
                                          </p:stCondLst>
                                        </p:cTn>
                                        <p:tgtEl>
                                          <p:spTgt spid="25"/>
                                        </p:tgtEl>
                                        <p:attrNameLst>
                                          <p:attrName>style.visibility</p:attrName>
                                        </p:attrNameLst>
                                      </p:cBhvr>
                                      <p:to>
                                        <p:strVal val="hidden"/>
                                      </p:to>
                                    </p:set>
                                  </p:childTnLst>
                                </p:cTn>
                              </p:par>
                              <p:par>
                                <p:cTn id="64" presetID="10" presetClass="entr" presetSubtype="0" fill="hold" grpId="0" nodeType="withEffect">
                                  <p:stCondLst>
                                    <p:cond delay="0"/>
                                  </p:stCondLst>
                                  <p:childTnLst>
                                    <p:set>
                                      <p:cBhvr>
                                        <p:cTn id="65" dur="1" fill="hold">
                                          <p:stCondLst>
                                            <p:cond delay="0"/>
                                          </p:stCondLst>
                                        </p:cTn>
                                        <p:tgtEl>
                                          <p:spTgt spid="38"/>
                                        </p:tgtEl>
                                        <p:attrNameLst>
                                          <p:attrName>style.visibility</p:attrName>
                                        </p:attrNameLst>
                                      </p:cBhvr>
                                      <p:to>
                                        <p:strVal val="visible"/>
                                      </p:to>
                                    </p:set>
                                    <p:animEffect transition="in" filter="fade">
                                      <p:cBhvr>
                                        <p:cTn id="66" dur="400"/>
                                        <p:tgtEl>
                                          <p:spTgt spid="38"/>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grpId="0" nodeType="clickEffect">
                                  <p:stCondLst>
                                    <p:cond delay="0"/>
                                  </p:stCondLst>
                                  <p:childTnLst>
                                    <p:set>
                                      <p:cBhvr>
                                        <p:cTn id="70" dur="1" fill="hold">
                                          <p:stCondLst>
                                            <p:cond delay="0"/>
                                          </p:stCondLst>
                                        </p:cTn>
                                        <p:tgtEl>
                                          <p:spTgt spid="35"/>
                                        </p:tgtEl>
                                        <p:attrNameLst>
                                          <p:attrName>style.visibility</p:attrName>
                                        </p:attrNameLst>
                                      </p:cBhvr>
                                      <p:to>
                                        <p:strVal val="visible"/>
                                      </p:to>
                                    </p:set>
                                    <p:animEffect transition="in" filter="fade">
                                      <p:cBhvr>
                                        <p:cTn id="71" dur="400"/>
                                        <p:tgtEl>
                                          <p:spTgt spid="35"/>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39"/>
                                        </p:tgtEl>
                                        <p:attrNameLst>
                                          <p:attrName>style.visibility</p:attrName>
                                        </p:attrNameLst>
                                      </p:cBhvr>
                                      <p:to>
                                        <p:strVal val="visible"/>
                                      </p:to>
                                    </p:set>
                                    <p:animEffect transition="in" filter="fade">
                                      <p:cBhvr>
                                        <p:cTn id="74" dur="4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7" grpId="0"/>
      <p:bldP spid="36" grpId="0"/>
      <p:bldP spid="38" grpId="0"/>
      <p:bldP spid="35" grpId="0" animBg="1"/>
      <p:bldP spid="39" grpId="0"/>
    </p:bldLst>
  </p:timing>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2"/>
          <p:cNvSpPr txBox="1"/>
          <p:nvPr>
            <p:ph idx="103" type="title" hasCustomPrompt="1"/>
          </p:nvPr>
        </p:nvSpPr>
        <p:spPr>
          <a:xfrm>
            <a:off x="685800" y="932688"/>
            <a:ext cx="10820095" cy="868680"/>
          </a:xfrm>
          <a:prstGeom prst="rect">
            <a:avLst/>
          </a:prstGeom>
          <a:noFill/>
          <a:ln/>
        </p:spPr>
        <p:txBody>
          <a:bodyPr wrap="square" lIns="0" tIns="0" rIns="0" bIns="0" rtlCol="0" anchor="t"/>
          <a:lstStyle/>
          <a:p>
            <a:pPr algn="l" indent="0" marL="0">
              <a:buNone/>
            </a:pPr>
            <a:r>
              <a:rPr lang="en-US" sz="2800" b="1" dirty="0">
                <a:solidFill>
                  <a:srgbClr val="14161B"/>
                </a:solidFill>
                <a:latin typeface="Trade Gothic Next" pitchFamily="34" charset="0"/>
                <a:ea typeface="Trade Gothic Next" pitchFamily="34" charset="-122"/>
                <a:cs typeface="Trade Gothic Next" pitchFamily="34" charset="-120"/>
              </a:rPr>
              <a:t>Exception: Chromium</a:t>
            </a:r>
            <a:endParaRPr lang="en-US" sz="2800" dirty="0"/>
          </a:p>
        </p:txBody>
      </p:sp>
      <p:sp>
        <p:nvSpPr>
          <p:cNvPr id="3" name="Text 2"/>
          <p:cNvSpPr txBox="1"/>
          <p:nvPr>
            <p:ph idx="104" type="body" hasCustomPrompt="1"/>
          </p:nvPr>
        </p:nvSpPr>
        <p:spPr>
          <a:xfrm>
            <a:off x="685800" y="1847088"/>
            <a:ext cx="10820095" cy="384048"/>
          </a:xfrm>
          <a:prstGeom prst="rect">
            <a:avLst/>
          </a:prstGeom>
          <a:noFill/>
          <a:ln/>
        </p:spPr>
        <p:txBody>
          <a:bodyPr wrap="square" lIns="0" tIns="0" rIns="0" bIns="0" rtlCol="0"/>
          <a:lstStyle/>
          <a:p>
            <a:pPr indent="0" marL="0">
              <a:buNone/>
            </a:pPr>
            <a:r>
              <a:rPr lang="en-US" sz="1700" dirty="0">
                <a:solidFill>
                  <a:srgbClr val="2E3338"/>
                </a:solidFill>
                <a:latin typeface="Trade Gothic Next" pitchFamily="34" charset="0"/>
                <a:ea typeface="Trade Gothic Next" pitchFamily="34" charset="-122"/>
                <a:cs typeface="Trade Gothic Next" pitchFamily="34" charset="-120"/>
              </a:rPr>
              <a:t>Same move. The rules predict 4s</a:t>
            </a:r>
            <a:pPr indent="0" marL="0">
              <a:buNone/>
            </a:pPr>
            <a:r>
              <a:rPr lang="en-US" sz="1700" baseline="30000" dirty="0">
                <a:solidFill>
                  <a:srgbClr val="2E3338"/>
                </a:solidFill>
                <a:latin typeface="Trade Gothic Next" pitchFamily="34" charset="0"/>
                <a:ea typeface="Trade Gothic Next" pitchFamily="34" charset="-122"/>
                <a:cs typeface="Trade Gothic Next" pitchFamily="34" charset="-120"/>
              </a:rPr>
              <a:t>2</a:t>
            </a:r>
            <a:pPr indent="0" marL="0">
              <a:buNone/>
            </a:pPr>
            <a:r>
              <a:rPr lang="en-US" sz="1700" dirty="0">
                <a:solidFill>
                  <a:srgbClr val="2E3338"/>
                </a:solidFill>
                <a:latin typeface="Trade Gothic Next" pitchFamily="34" charset="0"/>
                <a:ea typeface="Trade Gothic Next" pitchFamily="34" charset="-122"/>
                <a:cs typeface="Trade Gothic Next" pitchFamily="34" charset="-120"/>
              </a:rPr>
              <a:t> 3d</a:t>
            </a:r>
            <a:pPr indent="0" marL="0">
              <a:buNone/>
            </a:pPr>
            <a:r>
              <a:rPr lang="en-US" sz="1700" baseline="30000" dirty="0">
                <a:solidFill>
                  <a:srgbClr val="2E3338"/>
                </a:solidFill>
                <a:latin typeface="Trade Gothic Next" pitchFamily="34" charset="0"/>
                <a:ea typeface="Trade Gothic Next" pitchFamily="34" charset="-122"/>
                <a:cs typeface="Trade Gothic Next" pitchFamily="34" charset="-120"/>
              </a:rPr>
              <a:t>4</a:t>
            </a:r>
            <a:pPr indent="0" marL="0">
              <a:buNone/>
            </a:pPr>
            <a:r>
              <a:rPr lang="en-US" sz="1700" dirty="0">
                <a:solidFill>
                  <a:srgbClr val="2E3338"/>
                </a:solidFill>
                <a:latin typeface="Trade Gothic Next" pitchFamily="34" charset="0"/>
                <a:ea typeface="Trade Gothic Next" pitchFamily="34" charset="-122"/>
                <a:cs typeface="Trade Gothic Next" pitchFamily="34" charset="-120"/>
              </a:rPr>
              <a:t>.</a:t>
            </a:r>
            <a:endParaRPr lang="en-US" sz="1700" dirty="0"/>
          </a:p>
        </p:txBody>
      </p:sp>
      <p:sp>
        <p:nvSpPr>
          <p:cNvPr id="4" name="Text 4"/>
          <p:cNvSpPr txBox="1"/>
          <p:nvPr>
            <p:ph idx="108" type="body" hasCustomPrompt="1"/>
          </p:nvPr>
        </p:nvSpPr>
        <p:spPr>
          <a:xfrm>
            <a:off x="6327648" y="2560320"/>
            <a:ext cx="5129784" cy="219456"/>
          </a:xfrm>
          <a:prstGeom prst="rect">
            <a:avLst/>
          </a:prstGeom>
          <a:noFill/>
          <a:ln/>
        </p:spPr>
        <p:txBody>
          <a:bodyPr wrap="square" lIns="0" tIns="0" rIns="0" bIns="0" rtlCol="0"/>
          <a:lstStyle/>
          <a:p>
            <a:pPr indent="0" marL="0">
              <a:buNone/>
            </a:pPr>
            <a:r>
              <a:rPr lang="en-US" sz="1200" b="1" spc="120" kern="0" dirty="0">
                <a:solidFill>
                  <a:srgbClr val="2E3338"/>
                </a:solidFill>
                <a:latin typeface="Trade Gothic Next" pitchFamily="34" charset="0"/>
                <a:ea typeface="Trade Gothic Next" pitchFamily="34" charset="-122"/>
                <a:cs typeface="Trade Gothic Next" pitchFamily="34" charset="-120"/>
              </a:rPr>
              <a:t>WATCH</a:t>
            </a:r>
            <a:endParaRPr lang="en-US" sz="1200" dirty="0"/>
          </a:p>
        </p:txBody>
      </p:sp>
      <p:sp>
        <p:nvSpPr>
          <p:cNvPr id="5" name="Text 4"/>
          <p:cNvSpPr txBox="1"/>
          <p:nvPr>
            <p:ph idx="109" type="body" hasCustomPrompt="1"/>
          </p:nvPr>
        </p:nvSpPr>
        <p:spPr>
          <a:xfrm>
            <a:off x="6327648" y="2852928"/>
            <a:ext cx="5129784" cy="329184"/>
          </a:xfrm>
          <a:prstGeom prst="rect">
            <a:avLst/>
          </a:prstGeom>
          <a:noFill/>
          <a:ln/>
        </p:spPr>
        <p:txBody>
          <a:bodyPr wrap="square" lIns="0" tIns="0" rIns="0" bIns="0" rtlCol="0"/>
          <a:lstStyle/>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Count the arrows in 3d before and after.</a:t>
            </a:r>
            <a:endParaRPr lang="en-US" sz="1600" dirty="0"/>
          </a:p>
        </p:txBody>
      </p:sp>
      <p:sp>
        <p:nvSpPr>
          <p:cNvPr id="6" name="Text 5"/>
          <p:cNvSpPr txBox="1"/>
          <p:nvPr>
            <p:ph idx="111" type="body" hasCustomPrompt="1"/>
          </p:nvPr>
        </p:nvSpPr>
        <p:spPr>
          <a:xfrm>
            <a:off x="6327648" y="3694176"/>
            <a:ext cx="5129784" cy="219456"/>
          </a:xfrm>
          <a:prstGeom prst="rect">
            <a:avLst/>
          </a:prstGeom>
          <a:noFill/>
          <a:ln/>
        </p:spPr>
        <p:txBody>
          <a:bodyPr wrap="square" lIns="0" tIns="0" rIns="0" bIns="0" rtlCol="0"/>
          <a:lstStyle/>
          <a:p>
            <a:pPr indent="0" marL="0">
              <a:buNone/>
            </a:pPr>
            <a:r>
              <a:rPr lang="en-US" sz="1200" b="1" spc="120" kern="0" dirty="0">
                <a:solidFill>
                  <a:srgbClr val="2E3338"/>
                </a:solidFill>
                <a:latin typeface="Trade Gothic Next" pitchFamily="34" charset="0"/>
                <a:ea typeface="Trade Gothic Next" pitchFamily="34" charset="-122"/>
                <a:cs typeface="Trade Gothic Next" pitchFamily="34" charset="-120"/>
              </a:rPr>
              <a:t>THE TOTAL</a:t>
            </a:r>
            <a:endParaRPr lang="en-US" sz="1200" dirty="0"/>
          </a:p>
        </p:txBody>
      </p:sp>
      <p:sp>
        <p:nvSpPr>
          <p:cNvPr id="7" name="Text 5"/>
          <p:cNvSpPr txBox="1"/>
          <p:nvPr>
            <p:ph idx="112" type="body" hasCustomPrompt="1"/>
          </p:nvPr>
        </p:nvSpPr>
        <p:spPr>
          <a:xfrm>
            <a:off x="6327648" y="3986784"/>
            <a:ext cx="5129784" cy="329184"/>
          </a:xfrm>
          <a:prstGeom prst="rect">
            <a:avLst/>
          </a:prstGeom>
          <a:noFill/>
          <a:ln/>
        </p:spPr>
        <p:txBody>
          <a:bodyPr wrap="square" lIns="0" tIns="0" rIns="0" bIns="0" rtlCol="0"/>
          <a:lstStyle/>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Cr still has 24 electrons. [Ar] is 18, so 6 are drawn.</a:t>
            </a:r>
            <a:endParaRPr lang="en-US" sz="1600" dirty="0"/>
          </a:p>
        </p:txBody>
      </p:sp>
      <p:sp>
        <p:nvSpPr>
          <p:cNvPr id="8" name="Text 6"/>
          <p:cNvSpPr txBox="1"/>
          <p:nvPr>
            <p:ph idx="114" type="body" hasCustomPrompt="1"/>
          </p:nvPr>
        </p:nvSpPr>
        <p:spPr>
          <a:xfrm>
            <a:off x="6327648" y="4828032"/>
            <a:ext cx="5129784" cy="219456"/>
          </a:xfrm>
          <a:prstGeom prst="rect">
            <a:avLst/>
          </a:prstGeom>
          <a:noFill/>
          <a:ln/>
        </p:spPr>
        <p:txBody>
          <a:bodyPr wrap="square" lIns="0" tIns="0" rIns="0" bIns="0" rtlCol="0"/>
          <a:lstStyle/>
          <a:p>
            <a:pPr indent="0" marL="0">
              <a:buNone/>
            </a:pPr>
            <a:r>
              <a:rPr lang="en-US" sz="1200" b="1" spc="120" kern="0" dirty="0">
                <a:solidFill>
                  <a:srgbClr val="2E3338"/>
                </a:solidFill>
                <a:latin typeface="Trade Gothic Next" pitchFamily="34" charset="0"/>
                <a:ea typeface="Trade Gothic Next" pitchFamily="34" charset="-122"/>
                <a:cs typeface="Trade Gothic Next" pitchFamily="34" charset="-120"/>
              </a:rPr>
              <a:t>UNPAIRED ELECTRONS</a:t>
            </a:r>
            <a:endParaRPr lang="en-US" sz="1200" dirty="0"/>
          </a:p>
        </p:txBody>
      </p:sp>
      <p:sp>
        <p:nvSpPr>
          <p:cNvPr id="9" name="Text 6"/>
          <p:cNvSpPr txBox="1"/>
          <p:nvPr>
            <p:ph idx="115" type="body" hasCustomPrompt="1"/>
          </p:nvPr>
        </p:nvSpPr>
        <p:spPr>
          <a:xfrm>
            <a:off x="6327648" y="5120640"/>
            <a:ext cx="5129784" cy="320040"/>
          </a:xfrm>
          <a:prstGeom prst="rect">
            <a:avLst/>
          </a:prstGeom>
          <a:noFill/>
          <a:ln/>
        </p:spPr>
        <p:txBody>
          <a:bodyPr wrap="square" lIns="0" tIns="0" rIns="0" bIns="0" rtlCol="0"/>
          <a:lstStyle/>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Count them at the end. Is it more than iron's 4?</a:t>
            </a:r>
            <a:endParaRPr lang="en-US" sz="1600" dirty="0"/>
          </a:p>
        </p:txBody>
      </p:sp>
      <p:sp>
        <p:nvSpPr>
          <p:cNvPr id="10" name="Text 1"/>
          <p:cNvSpPr txBox="1"/>
          <p:nvPr>
            <p:ph idx="101" type="body" hasCustomPrompt="1"/>
          </p:nvPr>
        </p:nvSpPr>
        <p:spPr>
          <a:xfrm>
            <a:off x="685800" y="384048"/>
            <a:ext cx="6400800" cy="237744"/>
          </a:xfrm>
          <a:prstGeom prst="rect">
            <a:avLst/>
          </a:prstGeom>
          <a:noFill/>
          <a:ln/>
        </p:spPr>
        <p:txBody>
          <a:bodyPr wrap="square" lIns="0" tIns="0" rIns="0" bIns="0" rtlCol="0" anchor="ctr"/>
          <a:lstStyle/>
          <a:p>
            <a:pPr indent="0" marL="0">
              <a:buNone/>
            </a:pPr>
            <a:r>
              <a:rPr lang="en-US" sz="1100" b="1" spc="160" kern="0" dirty="0">
                <a:solidFill>
                  <a:srgbClr val="14161B"/>
                </a:solidFill>
                <a:latin typeface="Trade Gothic Next" pitchFamily="34" charset="0"/>
                <a:ea typeface="Trade Gothic Next" pitchFamily="34" charset="-122"/>
                <a:cs typeface="Trade Gothic Next" pitchFamily="34" charset="-120"/>
              </a:rPr>
              <a:t>UNIT 02  •  CHEMISTRY</a:t>
            </a:r>
            <a:endParaRPr lang="en-US" sz="1100" dirty="0"/>
          </a:p>
        </p:txBody>
      </p:sp>
      <p:sp>
        <p:nvSpPr>
          <p:cNvPr id="11" name="Text 7"/>
          <p:cNvSpPr txBox="1"/>
          <p:nvPr>
            <p:ph idx="117" type="body" hasCustomPrompt="1"/>
          </p:nvPr>
        </p:nvSpPr>
        <p:spPr>
          <a:xfrm>
            <a:off x="8762695" y="6382512"/>
            <a:ext cx="2743200" cy="237744"/>
          </a:xfrm>
          <a:prstGeom prst="rect">
            <a:avLst/>
          </a:prstGeom>
          <a:noFill/>
          <a:ln/>
        </p:spPr>
        <p:txBody>
          <a:bodyPr wrap="square" lIns="0" tIns="0" rIns="0" bIns="0" rtlCol="0" anchor="ctr"/>
          <a:lstStyle/>
          <a:p>
            <a:pPr algn="r" indent="0" marL="0">
              <a:buNone/>
            </a:pPr>
            <a:r>
              <a:rPr lang="en-US" sz="1000" b="1" spc="140" kern="0" dirty="0">
                <a:solidFill>
                  <a:srgbClr val="2E3338"/>
                </a:solidFill>
                <a:latin typeface="Trade Gothic Next" pitchFamily="34" charset="0"/>
                <a:ea typeface="Trade Gothic Next" pitchFamily="34" charset="-122"/>
                <a:cs typeface="Trade Gothic Next" pitchFamily="34" charset="-120"/>
              </a:rPr>
              <a:t>U02 • S02.3</a:t>
            </a:r>
            <a:endParaRPr lang="en-US" sz="1000" dirty="0"/>
          </a:p>
        </p:txBody>
      </p:sp>
      <p:sp>
        <p:nvSpPr>
          <p:cNvPr id="13" name="Text 3"/>
          <p:cNvSpPr txBox="1"/>
          <p:nvPr>
            <p:ph idx="106" type="body" hasCustomPrompt="1"/>
          </p:nvPr>
        </p:nvSpPr>
        <p:spPr>
          <a:xfrm>
            <a:off x="914400" y="2651760"/>
            <a:ext cx="4617720" cy="2743200"/>
          </a:xfrm>
          <a:prstGeom prst="rect">
            <a:avLst/>
          </a:prstGeom>
          <a:noFill/>
          <a:ln/>
        </p:spPr>
        <p:txBody>
          <a:bodyPr wrap="square" lIns="0" tIns="0" rIns="0" bIns="0" rtlCol="0" anchor="ctr"/>
          <a:lstStyle/>
          <a:p>
            <a:pPr algn="ctr" indent="0" marL="0">
              <a:buNone/>
            </a:pPr>
            <a:endParaRPr lang="en-US" sz="2000" dirty="0"/>
          </a:p>
        </p:txBody>
      </p:sp>
      <p:sp>
        <p:nvSpPr>
          <p:cNvPr id="14" name="BUILD backdrop"/>
          <p:cNvSpPr/>
          <p:nvPr/>
        </p:nvSpPr>
        <p:spPr>
          <a:xfrm>
            <a:off x="914400" y="2651760"/>
            <a:ext cx="4617720" cy="2743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12" name="BUILD boxes and labels" descr="Orbital diagram of chromium, [Ar] core not drawn. As first drawn: 4s: one box, one pair. 3d: five boxes, four single up arrows and one empty box. After the steps: 4s: one box, one single up arrow. 3d: five boxes, five single up arrows."/>
          <p:cNvGrpSpPr/>
          <p:nvPr/>
        </p:nvGrpSpPr>
        <p:grpSpPr>
          <a:xfrm>
            <a:off x="932688" y="2797302"/>
            <a:ext cx="4581142" cy="1281683"/>
            <a:chOff x="932688" y="2797302"/>
            <a:chExt cx="4581142" cy="1281683"/>
          </a:xfrm>
        </p:grpSpPr>
        <p:sp>
          <p:nvSpPr>
            <p:cNvPr id="15" name="BUILD title"/>
            <p:cNvSpPr txBox="1"/>
            <p:nvPr/>
          </p:nvSpPr>
          <p:spPr>
            <a:xfrm>
              <a:off x="1024128" y="2797302"/>
              <a:ext cx="4398264" cy="274320"/>
            </a:xfrm>
            <a:prstGeom prst="rect">
              <a:avLst/>
            </a:prstGeom>
            <a:noFill/>
          </p:spPr>
          <p:txBody>
            <a:bodyPr wrap="square" lIns="0" rIns="0" tIns="0" bIns="0" anchor="ctr">
              <a:spAutoFit/>
            </a:bodyPr>
            <a:lstStyle/>
            <a:p>
              <a:pPr algn="ctr"/>
              <a:r>
                <a:rPr sz="1800" b="1">
                  <a:solidFill>
                    <a:srgbClr val="14161B"/>
                  </a:solidFill>
                  <a:latin typeface="Trade Gothic Next"/>
                </a:rPr>
                <a:t>CHROMIUM  Z = 24  [Ar] CORE</a:t>
              </a:r>
            </a:p>
          </p:txBody>
        </p:sp>
        <p:sp>
          <p:nvSpPr>
            <p:cNvPr id="16" name="BUILD box 4s 1"/>
            <p:cNvSpPr/>
            <p:nvPr/>
          </p:nvSpPr>
          <p:spPr>
            <a:xfrm>
              <a:off x="1024128" y="3108198"/>
              <a:ext cx="659891" cy="659891"/>
            </a:xfrm>
            <a:prstGeom prst="rect">
              <a:avLst/>
            </a:prstGeom>
            <a:solidFill>
              <a:srgbClr val="FFFFFF"/>
            </a:solidFill>
            <a:ln w="28575">
              <a:solidFill>
                <a:srgbClr val="1416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UILD label 4s"/>
            <p:cNvSpPr txBox="1"/>
            <p:nvPr/>
          </p:nvSpPr>
          <p:spPr>
            <a:xfrm>
              <a:off x="932688" y="3804665"/>
              <a:ext cx="842772" cy="274320"/>
            </a:xfrm>
            <a:prstGeom prst="rect">
              <a:avLst/>
            </a:prstGeom>
            <a:noFill/>
          </p:spPr>
          <p:txBody>
            <a:bodyPr wrap="square" lIns="0" rIns="0" tIns="0" bIns="0" anchor="ctr">
              <a:spAutoFit/>
            </a:bodyPr>
            <a:lstStyle/>
            <a:p>
              <a:pPr algn="ctr"/>
              <a:r>
                <a:rPr sz="1800" b="1">
                  <a:solidFill>
                    <a:srgbClr val="14161B"/>
                  </a:solidFill>
                  <a:latin typeface="Trade Gothic Next"/>
                </a:rPr>
                <a:t>4s</a:t>
              </a:r>
            </a:p>
          </p:txBody>
        </p:sp>
        <p:sp>
          <p:nvSpPr>
            <p:cNvPr id="18" name="BUILD box 3d 1"/>
            <p:cNvSpPr/>
            <p:nvPr/>
          </p:nvSpPr>
          <p:spPr>
            <a:xfrm>
              <a:off x="1940052" y="3108198"/>
              <a:ext cx="659891" cy="659891"/>
            </a:xfrm>
            <a:prstGeom prst="rect">
              <a:avLst/>
            </a:prstGeom>
            <a:solidFill>
              <a:srgbClr val="FFFFFF"/>
            </a:solidFill>
            <a:ln w="28575">
              <a:solidFill>
                <a:srgbClr val="1416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BUILD box 3d 2"/>
            <p:cNvSpPr/>
            <p:nvPr/>
          </p:nvSpPr>
          <p:spPr>
            <a:xfrm>
              <a:off x="2645664" y="3108198"/>
              <a:ext cx="659891" cy="659891"/>
            </a:xfrm>
            <a:prstGeom prst="rect">
              <a:avLst/>
            </a:prstGeom>
            <a:solidFill>
              <a:srgbClr val="FFFFFF"/>
            </a:solidFill>
            <a:ln w="28575">
              <a:solidFill>
                <a:srgbClr val="1416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BUILD box 3d 3"/>
            <p:cNvSpPr/>
            <p:nvPr/>
          </p:nvSpPr>
          <p:spPr>
            <a:xfrm>
              <a:off x="3351276" y="3108198"/>
              <a:ext cx="659891" cy="659891"/>
            </a:xfrm>
            <a:prstGeom prst="rect">
              <a:avLst/>
            </a:prstGeom>
            <a:solidFill>
              <a:srgbClr val="FFFFFF"/>
            </a:solidFill>
            <a:ln w="28575">
              <a:solidFill>
                <a:srgbClr val="1416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UILD box 3d 4"/>
            <p:cNvSpPr/>
            <p:nvPr/>
          </p:nvSpPr>
          <p:spPr>
            <a:xfrm>
              <a:off x="4056888" y="3108198"/>
              <a:ext cx="659891" cy="659891"/>
            </a:xfrm>
            <a:prstGeom prst="rect">
              <a:avLst/>
            </a:prstGeom>
            <a:solidFill>
              <a:srgbClr val="FFFFFF"/>
            </a:solidFill>
            <a:ln w="28575">
              <a:solidFill>
                <a:srgbClr val="1416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BUILD box 3d 5"/>
            <p:cNvSpPr/>
            <p:nvPr/>
          </p:nvSpPr>
          <p:spPr>
            <a:xfrm>
              <a:off x="4762500" y="3108198"/>
              <a:ext cx="659891" cy="659891"/>
            </a:xfrm>
            <a:prstGeom prst="rect">
              <a:avLst/>
            </a:prstGeom>
            <a:solidFill>
              <a:srgbClr val="FFFFFF"/>
            </a:solidFill>
            <a:ln w="28575">
              <a:solidFill>
                <a:srgbClr val="1416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BUILD label 3d"/>
            <p:cNvSpPr txBox="1"/>
            <p:nvPr/>
          </p:nvSpPr>
          <p:spPr>
            <a:xfrm>
              <a:off x="1848611" y="3804665"/>
              <a:ext cx="3665219" cy="274320"/>
            </a:xfrm>
            <a:prstGeom prst="rect">
              <a:avLst/>
            </a:prstGeom>
            <a:noFill/>
          </p:spPr>
          <p:txBody>
            <a:bodyPr wrap="square" lIns="0" rIns="0" tIns="0" bIns="0" anchor="ctr">
              <a:spAutoFit/>
            </a:bodyPr>
            <a:lstStyle/>
            <a:p>
              <a:pPr algn="ctr"/>
              <a:r>
                <a:rPr sz="1800" b="1">
                  <a:solidFill>
                    <a:srgbClr val="14161B"/>
                  </a:solidFill>
                  <a:latin typeface="Trade Gothic Next"/>
                </a:rPr>
                <a:t>3d</a:t>
              </a:r>
            </a:p>
          </p:txBody>
        </p:sp>
      </p:grpSp>
      <p:sp>
        <p:nvSpPr>
          <p:cNvPr id="24" name="BUILD arrow 4s box1 up" descr="">
            <a:extLst>
              <a:ext uri="{C183D7F6-B498-43B3-948B-1728B52AA6E4}">
                <adec:decorative xmlns:adec="http://schemas.microsoft.com/office/drawing/2017/decorative" val="1"/>
              </a:ext>
            </a:extLst>
          </p:cNvPr>
          <p:cNvSpPr/>
          <p:nvPr/>
        </p:nvSpPr>
        <p:spPr>
          <a:xfrm>
            <a:off x="1139609" y="3233577"/>
            <a:ext cx="164972" cy="409133"/>
          </a:xfrm>
          <a:prstGeom prst="upArrow">
            <a:avLst>
              <a:gd name="adj1" fmla="val 34000"/>
              <a:gd name="adj2" fmla="val 70000"/>
            </a:avLst>
          </a:prstGeom>
          <a:solidFill>
            <a:srgbClr val="1416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UILD arrow 4s box1 down" descr="">
            <a:extLst>
              <a:ext uri="{C183D7F6-B498-43B3-948B-1728B52AA6E4}">
                <adec:decorative xmlns:adec="http://schemas.microsoft.com/office/drawing/2017/decorative" val="1"/>
              </a:ext>
            </a:extLst>
          </p:cNvPr>
          <p:cNvSpPr/>
          <p:nvPr/>
        </p:nvSpPr>
        <p:spPr>
          <a:xfrm>
            <a:off x="1403565" y="3233577"/>
            <a:ext cx="164972" cy="409133"/>
          </a:xfrm>
          <a:prstGeom prst="downArrow">
            <a:avLst>
              <a:gd name="adj1" fmla="val 34000"/>
              <a:gd name="adj2" fmla="val 70000"/>
            </a:avLst>
          </a:prstGeom>
          <a:solidFill>
            <a:srgbClr val="1416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BUILD arrow 3d box1 up" descr="">
            <a:extLst>
              <a:ext uri="{C183D7F6-B498-43B3-948B-1728B52AA6E4}">
                <adec:decorative xmlns:adec="http://schemas.microsoft.com/office/drawing/2017/decorative" val="1"/>
              </a:ext>
            </a:extLst>
          </p:cNvPr>
          <p:cNvSpPr/>
          <p:nvPr/>
        </p:nvSpPr>
        <p:spPr>
          <a:xfrm>
            <a:off x="2055533" y="3233577"/>
            <a:ext cx="164972" cy="409133"/>
          </a:xfrm>
          <a:prstGeom prst="upArrow">
            <a:avLst>
              <a:gd name="adj1" fmla="val 34000"/>
              <a:gd name="adj2" fmla="val 70000"/>
            </a:avLst>
          </a:prstGeom>
          <a:solidFill>
            <a:srgbClr val="1416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BUILD arrow 3d box2 up" descr="">
            <a:extLst>
              <a:ext uri="{C183D7F6-B498-43B3-948B-1728B52AA6E4}">
                <adec:decorative xmlns:adec="http://schemas.microsoft.com/office/drawing/2017/decorative" val="1"/>
              </a:ext>
            </a:extLst>
          </p:cNvPr>
          <p:cNvSpPr/>
          <p:nvPr/>
        </p:nvSpPr>
        <p:spPr>
          <a:xfrm>
            <a:off x="2761145" y="3233577"/>
            <a:ext cx="164972" cy="409133"/>
          </a:xfrm>
          <a:prstGeom prst="upArrow">
            <a:avLst>
              <a:gd name="adj1" fmla="val 34000"/>
              <a:gd name="adj2" fmla="val 70000"/>
            </a:avLst>
          </a:prstGeom>
          <a:solidFill>
            <a:srgbClr val="1416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BUILD arrow 3d box3 up" descr="">
            <a:extLst>
              <a:ext uri="{C183D7F6-B498-43B3-948B-1728B52AA6E4}">
                <adec:decorative xmlns:adec="http://schemas.microsoft.com/office/drawing/2017/decorative" val="1"/>
              </a:ext>
            </a:extLst>
          </p:cNvPr>
          <p:cNvSpPr/>
          <p:nvPr/>
        </p:nvSpPr>
        <p:spPr>
          <a:xfrm>
            <a:off x="3466757" y="3233577"/>
            <a:ext cx="164972" cy="409133"/>
          </a:xfrm>
          <a:prstGeom prst="upArrow">
            <a:avLst>
              <a:gd name="adj1" fmla="val 34000"/>
              <a:gd name="adj2" fmla="val 70000"/>
            </a:avLst>
          </a:prstGeom>
          <a:solidFill>
            <a:srgbClr val="1416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BUILD arrow 3d box4 up" descr="">
            <a:extLst>
              <a:ext uri="{C183D7F6-B498-43B3-948B-1728B52AA6E4}">
                <adec:decorative xmlns:adec="http://schemas.microsoft.com/office/drawing/2017/decorative" val="1"/>
              </a:ext>
            </a:extLst>
          </p:cNvPr>
          <p:cNvSpPr/>
          <p:nvPr/>
        </p:nvSpPr>
        <p:spPr>
          <a:xfrm>
            <a:off x="4172369" y="3233577"/>
            <a:ext cx="164972" cy="409133"/>
          </a:xfrm>
          <a:prstGeom prst="upArrow">
            <a:avLst>
              <a:gd name="adj1" fmla="val 34000"/>
              <a:gd name="adj2" fmla="val 70000"/>
            </a:avLst>
          </a:prstGeom>
          <a:solidFill>
            <a:srgbClr val="1416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BUILD arrow 3d box5 up" descr="">
            <a:extLst>
              <a:ext uri="{C183D7F6-B498-43B3-948B-1728B52AA6E4}">
                <adec:decorative xmlns:adec="http://schemas.microsoft.com/office/drawing/2017/decorative" val="1"/>
              </a:ext>
            </a:extLst>
          </p:cNvPr>
          <p:cNvSpPr/>
          <p:nvPr/>
        </p:nvSpPr>
        <p:spPr>
          <a:xfrm>
            <a:off x="4877981" y="3233577"/>
            <a:ext cx="164972" cy="409133"/>
          </a:xfrm>
          <a:prstGeom prst="upArrow">
            <a:avLst>
              <a:gd name="adj1" fmla="val 34000"/>
              <a:gd name="adj2" fmla="val 70000"/>
            </a:avLst>
          </a:prstGeom>
          <a:solidFill>
            <a:srgbClr val="1416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BUILD caption"/>
          <p:cNvSpPr txBox="1"/>
          <p:nvPr/>
        </p:nvSpPr>
        <p:spPr>
          <a:xfrm>
            <a:off x="1024128" y="4115561"/>
            <a:ext cx="4398264" cy="256032"/>
          </a:xfrm>
          <a:prstGeom prst="rect">
            <a:avLst/>
          </a:prstGeom>
          <a:noFill/>
        </p:spPr>
        <p:txBody>
          <a:bodyPr wrap="square" lIns="0" rIns="0" tIns="0" bIns="0" anchor="ctr">
            <a:spAutoFit/>
          </a:bodyPr>
          <a:lstStyle/>
          <a:p>
            <a:pPr algn="ctr"/>
            <a:r>
              <a:rPr sz="1600" b="1">
                <a:solidFill>
                  <a:srgbClr val="4D730E"/>
                </a:solidFill>
                <a:latin typeface="Trade Gothic Next"/>
              </a:rPr>
              <a:t>What the rules predict</a:t>
            </a:r>
          </a:p>
        </p:txBody>
      </p:sp>
      <p:sp>
        <p:nvSpPr>
          <p:cNvPr id="32" name="BUILD state"/>
          <p:cNvSpPr txBox="1"/>
          <p:nvPr/>
        </p:nvSpPr>
        <p:spPr>
          <a:xfrm>
            <a:off x="1024128" y="4371594"/>
            <a:ext cx="4398264" cy="292608"/>
          </a:xfrm>
          <a:prstGeom prst="rect">
            <a:avLst/>
          </a:prstGeom>
          <a:noFill/>
        </p:spPr>
        <p:txBody>
          <a:bodyPr wrap="square" lIns="0" rIns="0" tIns="0" bIns="0" anchor="ctr">
            <a:spAutoFit/>
          </a:bodyPr>
          <a:lstStyle/>
          <a:p>
            <a:pPr algn="ctr"/>
            <a:r>
              <a:rPr sz="1800" b="1">
                <a:solidFill>
                  <a:srgbClr val="14161B"/>
                </a:solidFill>
                <a:latin typeface="Trade Gothic Next"/>
              </a:rPr>
              <a:t>[Ar] 4s</a:t>
            </a:r>
            <a:r>
              <a:rPr sz="1800" b="1" baseline="30000">
                <a:solidFill>
                  <a:srgbClr val="14161B"/>
                </a:solidFill>
                <a:latin typeface="Trade Gothic Next"/>
              </a:rPr>
              <a:t>2</a:t>
            </a:r>
            <a:r>
              <a:rPr sz="1800" b="1">
                <a:solidFill>
                  <a:srgbClr val="14161B"/>
                </a:solidFill>
                <a:latin typeface="Trade Gothic Next"/>
              </a:rPr>
              <a:t> 3d</a:t>
            </a:r>
            <a:r>
              <a:rPr sz="1800" b="1" baseline="30000">
                <a:solidFill>
                  <a:srgbClr val="14161B"/>
                </a:solidFill>
                <a:latin typeface="Trade Gothic Next"/>
              </a:rPr>
              <a:t>4</a:t>
            </a:r>
          </a:p>
        </p:txBody>
      </p:sp>
      <p:sp>
        <p:nvSpPr>
          <p:cNvPr id="33" name="BUILD caption"/>
          <p:cNvSpPr txBox="1"/>
          <p:nvPr/>
        </p:nvSpPr>
        <p:spPr>
          <a:xfrm>
            <a:off x="1024128" y="4664202"/>
            <a:ext cx="4398264" cy="256032"/>
          </a:xfrm>
          <a:prstGeom prst="rect">
            <a:avLst/>
          </a:prstGeom>
          <a:noFill/>
        </p:spPr>
        <p:txBody>
          <a:bodyPr wrap="square" lIns="0" rIns="0" tIns="0" bIns="0" anchor="ctr">
            <a:spAutoFit/>
          </a:bodyPr>
          <a:lstStyle/>
          <a:p>
            <a:pPr algn="ctr"/>
            <a:r>
              <a:rPr sz="1600" b="1">
                <a:solidFill>
                  <a:srgbClr val="4D730E"/>
                </a:solidFill>
                <a:latin typeface="Trade Gothic Next"/>
              </a:rPr>
              <a:t>One 4s electron moves into 3d</a:t>
            </a:r>
          </a:p>
        </p:txBody>
      </p:sp>
      <p:sp>
        <p:nvSpPr>
          <p:cNvPr id="34" name="BUILD state"/>
          <p:cNvSpPr txBox="1"/>
          <p:nvPr/>
        </p:nvSpPr>
        <p:spPr>
          <a:xfrm>
            <a:off x="1024128" y="4920234"/>
            <a:ext cx="4398264" cy="292608"/>
          </a:xfrm>
          <a:prstGeom prst="rect">
            <a:avLst/>
          </a:prstGeom>
          <a:noFill/>
        </p:spPr>
        <p:txBody>
          <a:bodyPr wrap="square" lIns="0" rIns="0" tIns="0" bIns="0" anchor="ctr">
            <a:spAutoFit/>
          </a:bodyPr>
          <a:lstStyle/>
          <a:p>
            <a:pPr algn="ctr"/>
            <a:r>
              <a:rPr sz="1800" b="1">
                <a:solidFill>
                  <a:srgbClr val="14161B"/>
                </a:solidFill>
                <a:latin typeface="Trade Gothic Next"/>
              </a:rPr>
              <a:t>Actual: [Ar] 4s</a:t>
            </a:r>
            <a:r>
              <a:rPr sz="1800" b="1" baseline="30000">
                <a:solidFill>
                  <a:srgbClr val="14161B"/>
                </a:solidFill>
                <a:latin typeface="Trade Gothic Next"/>
              </a:rPr>
              <a:t>1</a:t>
            </a:r>
            <a:r>
              <a:rPr sz="1800" b="1">
                <a:solidFill>
                  <a:srgbClr val="14161B"/>
                </a:solidFill>
                <a:latin typeface="Trade Gothic Next"/>
              </a:rPr>
              <a:t> 3d</a:t>
            </a:r>
            <a:r>
              <a:rPr sz="1800" b="1" baseline="30000">
                <a:solidFill>
                  <a:srgbClr val="14161B"/>
                </a:solidFill>
                <a:latin typeface="Trade Gothic Next"/>
              </a:rPr>
              <a:t>5</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4"/>
                                        </p:tgtEl>
                                        <p:attrNameLst>
                                          <p:attrName>style.visibility</p:attrName>
                                        </p:attrNameLst>
                                      </p:cBhvr>
                                      <p:to>
                                        <p:strVal val="visible"/>
                                      </p:to>
                                    </p:set>
                                    <p:anim calcmode="lin" valueType="num">
                                      <p:cBhvr additive="base">
                                        <p:cTn id="11" dur="500" fill="hold"/>
                                        <p:tgtEl>
                                          <p:spTgt spid="24"/>
                                        </p:tgtEl>
                                        <p:attrNameLst>
                                          <p:attrName>ppt_x</p:attrName>
                                        </p:attrNameLst>
                                      </p:cBhvr>
                                      <p:tavLst>
                                        <p:tav tm="0">
                                          <p:val>
                                            <p:strVal val="#ppt_x"/>
                                          </p:val>
                                        </p:tav>
                                        <p:tav tm="100000">
                                          <p:val>
                                            <p:strVal val="#ppt_x"/>
                                          </p:val>
                                        </p:tav>
                                      </p:tavLst>
                                    </p:anim>
                                    <p:anim calcmode="lin" valueType="num">
                                      <p:cBhvr additive="base">
                                        <p:cTn id="12" dur="500" fill="hold"/>
                                        <p:tgtEl>
                                          <p:spTgt spid="24"/>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25"/>
                                        </p:tgtEl>
                                        <p:attrNameLst>
                                          <p:attrName>style.visibility</p:attrName>
                                        </p:attrNameLst>
                                      </p:cBhvr>
                                      <p:to>
                                        <p:strVal val="visible"/>
                                      </p:to>
                                    </p:set>
                                    <p:anim calcmode="lin" valueType="num">
                                      <p:cBhvr additive="base">
                                        <p:cTn id="15" dur="500" fill="hold"/>
                                        <p:tgtEl>
                                          <p:spTgt spid="25"/>
                                        </p:tgtEl>
                                        <p:attrNameLst>
                                          <p:attrName>ppt_x</p:attrName>
                                        </p:attrNameLst>
                                      </p:cBhvr>
                                      <p:tavLst>
                                        <p:tav tm="0">
                                          <p:val>
                                            <p:strVal val="#ppt_x"/>
                                          </p:val>
                                        </p:tav>
                                        <p:tav tm="100000">
                                          <p:val>
                                            <p:strVal val="#ppt_x"/>
                                          </p:val>
                                        </p:tav>
                                      </p:tavLst>
                                    </p:anim>
                                    <p:anim calcmode="lin" valueType="num">
                                      <p:cBhvr additive="base">
                                        <p:cTn id="16" dur="500" fill="hold"/>
                                        <p:tgtEl>
                                          <p:spTgt spid="25"/>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26"/>
                                        </p:tgtEl>
                                        <p:attrNameLst>
                                          <p:attrName>style.visibility</p:attrName>
                                        </p:attrNameLst>
                                      </p:cBhvr>
                                      <p:to>
                                        <p:strVal val="visible"/>
                                      </p:to>
                                    </p:set>
                                    <p:anim calcmode="lin" valueType="num">
                                      <p:cBhvr additive="base">
                                        <p:cTn id="19" dur="500" fill="hold"/>
                                        <p:tgtEl>
                                          <p:spTgt spid="26"/>
                                        </p:tgtEl>
                                        <p:attrNameLst>
                                          <p:attrName>ppt_x</p:attrName>
                                        </p:attrNameLst>
                                      </p:cBhvr>
                                      <p:tavLst>
                                        <p:tav tm="0">
                                          <p:val>
                                            <p:strVal val="#ppt_x"/>
                                          </p:val>
                                        </p:tav>
                                        <p:tav tm="100000">
                                          <p:val>
                                            <p:strVal val="#ppt_x"/>
                                          </p:val>
                                        </p:tav>
                                      </p:tavLst>
                                    </p:anim>
                                    <p:anim calcmode="lin" valueType="num">
                                      <p:cBhvr additive="base">
                                        <p:cTn id="20" dur="500" fill="hold"/>
                                        <p:tgtEl>
                                          <p:spTgt spid="26"/>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27"/>
                                        </p:tgtEl>
                                        <p:attrNameLst>
                                          <p:attrName>style.visibility</p:attrName>
                                        </p:attrNameLst>
                                      </p:cBhvr>
                                      <p:to>
                                        <p:strVal val="visible"/>
                                      </p:to>
                                    </p:set>
                                    <p:anim calcmode="lin" valueType="num">
                                      <p:cBhvr additive="base">
                                        <p:cTn id="23" dur="500" fill="hold"/>
                                        <p:tgtEl>
                                          <p:spTgt spid="27"/>
                                        </p:tgtEl>
                                        <p:attrNameLst>
                                          <p:attrName>ppt_x</p:attrName>
                                        </p:attrNameLst>
                                      </p:cBhvr>
                                      <p:tavLst>
                                        <p:tav tm="0">
                                          <p:val>
                                            <p:strVal val="#ppt_x"/>
                                          </p:val>
                                        </p:tav>
                                        <p:tav tm="100000">
                                          <p:val>
                                            <p:strVal val="#ppt_x"/>
                                          </p:val>
                                        </p:tav>
                                      </p:tavLst>
                                    </p:anim>
                                    <p:anim calcmode="lin" valueType="num">
                                      <p:cBhvr additive="base">
                                        <p:cTn id="24" dur="500" fill="hold"/>
                                        <p:tgtEl>
                                          <p:spTgt spid="27"/>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28"/>
                                        </p:tgtEl>
                                        <p:attrNameLst>
                                          <p:attrName>style.visibility</p:attrName>
                                        </p:attrNameLst>
                                      </p:cBhvr>
                                      <p:to>
                                        <p:strVal val="visible"/>
                                      </p:to>
                                    </p:set>
                                    <p:anim calcmode="lin" valueType="num">
                                      <p:cBhvr additive="base">
                                        <p:cTn id="27" dur="500" fill="hold"/>
                                        <p:tgtEl>
                                          <p:spTgt spid="28"/>
                                        </p:tgtEl>
                                        <p:attrNameLst>
                                          <p:attrName>ppt_x</p:attrName>
                                        </p:attrNameLst>
                                      </p:cBhvr>
                                      <p:tavLst>
                                        <p:tav tm="0">
                                          <p:val>
                                            <p:strVal val="#ppt_x"/>
                                          </p:val>
                                        </p:tav>
                                        <p:tav tm="100000">
                                          <p:val>
                                            <p:strVal val="#ppt_x"/>
                                          </p:val>
                                        </p:tav>
                                      </p:tavLst>
                                    </p:anim>
                                    <p:anim calcmode="lin" valueType="num">
                                      <p:cBhvr additive="base">
                                        <p:cTn id="28" dur="500" fill="hold"/>
                                        <p:tgtEl>
                                          <p:spTgt spid="28"/>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29"/>
                                        </p:tgtEl>
                                        <p:attrNameLst>
                                          <p:attrName>style.visibility</p:attrName>
                                        </p:attrNameLst>
                                      </p:cBhvr>
                                      <p:to>
                                        <p:strVal val="visible"/>
                                      </p:to>
                                    </p:set>
                                    <p:anim calcmode="lin" valueType="num">
                                      <p:cBhvr additive="base">
                                        <p:cTn id="31" dur="500" fill="hold"/>
                                        <p:tgtEl>
                                          <p:spTgt spid="29"/>
                                        </p:tgtEl>
                                        <p:attrNameLst>
                                          <p:attrName>ppt_x</p:attrName>
                                        </p:attrNameLst>
                                      </p:cBhvr>
                                      <p:tavLst>
                                        <p:tav tm="0">
                                          <p:val>
                                            <p:strVal val="#ppt_x"/>
                                          </p:val>
                                        </p:tav>
                                        <p:tav tm="100000">
                                          <p:val>
                                            <p:strVal val="#ppt_x"/>
                                          </p:val>
                                        </p:tav>
                                      </p:tavLst>
                                    </p:anim>
                                    <p:anim calcmode="lin" valueType="num">
                                      <p:cBhvr additive="base">
                                        <p:cTn id="32" dur="500" fill="hold"/>
                                        <p:tgtEl>
                                          <p:spTgt spid="29"/>
                                        </p:tgtEl>
                                        <p:attrNameLst>
                                          <p:attrName>ppt_y</p:attrName>
                                        </p:attrNameLst>
                                      </p:cBhvr>
                                      <p:tavLst>
                                        <p:tav tm="0">
                                          <p:val>
                                            <p:strVal val="1+#ppt_h/2"/>
                                          </p:val>
                                        </p:tav>
                                        <p:tav tm="100000">
                                          <p:val>
                                            <p:strVal val="#ppt_y"/>
                                          </p:val>
                                        </p:tav>
                                      </p:tavLst>
                                    </p:anim>
                                  </p:childTnLst>
                                </p:cTn>
                              </p:par>
                              <p:par>
                                <p:cTn id="33" presetID="10" presetClass="entr" presetSubtype="0" fill="hold" grpId="0" nodeType="withEffect">
                                  <p:stCondLst>
                                    <p:cond delay="0"/>
                                  </p:stCondLst>
                                  <p:childTnLst>
                                    <p:set>
                                      <p:cBhvr>
                                        <p:cTn id="34" dur="1" fill="hold">
                                          <p:stCondLst>
                                            <p:cond delay="0"/>
                                          </p:stCondLst>
                                        </p:cTn>
                                        <p:tgtEl>
                                          <p:spTgt spid="32"/>
                                        </p:tgtEl>
                                        <p:attrNameLst>
                                          <p:attrName>style.visibility</p:attrName>
                                        </p:attrNameLst>
                                      </p:cBhvr>
                                      <p:to>
                                        <p:strVal val="visible"/>
                                      </p:to>
                                    </p:set>
                                    <p:animEffect transition="in" filter="fade">
                                      <p:cBhvr>
                                        <p:cTn id="35" dur="400"/>
                                        <p:tgtEl>
                                          <p:spTgt spid="32"/>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31"/>
                                        </p:tgtEl>
                                        <p:attrNameLst>
                                          <p:attrName>style.visibility</p:attrName>
                                        </p:attrNameLst>
                                      </p:cBhvr>
                                      <p:to>
                                        <p:strVal val="visible"/>
                                      </p:to>
                                    </p:set>
                                    <p:animEffect transition="in" filter="fade">
                                      <p:cBhvr>
                                        <p:cTn id="38" dur="400"/>
                                        <p:tgtEl>
                                          <p:spTgt spid="31"/>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xit" presetSubtype="0" fill="hold" grpId="0" nodeType="clickEffect">
                                  <p:stCondLst>
                                    <p:cond delay="0"/>
                                  </p:stCondLst>
                                  <p:childTnLst>
                                    <p:animEffect transition="out" filter="fade">
                                      <p:cBhvr>
                                        <p:cTn id="42" dur="400"/>
                                        <p:tgtEl>
                                          <p:spTgt spid="25"/>
                                        </p:tgtEl>
                                      </p:cBhvr>
                                    </p:animEffect>
                                    <p:set>
                                      <p:cBhvr>
                                        <p:cTn id="43" dur="1" fill="hold">
                                          <p:stCondLst>
                                            <p:cond delay="399"/>
                                          </p:stCondLst>
                                        </p:cTn>
                                        <p:tgtEl>
                                          <p:spTgt spid="25"/>
                                        </p:tgtEl>
                                        <p:attrNameLst>
                                          <p:attrName>style.visibility</p:attrName>
                                        </p:attrNameLst>
                                      </p:cBhvr>
                                      <p:to>
                                        <p:strVal val="hidden"/>
                                      </p:to>
                                    </p:set>
                                  </p:childTnLst>
                                </p:cTn>
                              </p:par>
                              <p:par>
                                <p:cTn id="44" presetID="10" presetClass="entr" presetSubtype="0" fill="hold" grpId="0" nodeType="withEffect">
                                  <p:stCondLst>
                                    <p:cond delay="0"/>
                                  </p:stCondLst>
                                  <p:childTnLst>
                                    <p:set>
                                      <p:cBhvr>
                                        <p:cTn id="45" dur="1" fill="hold">
                                          <p:stCondLst>
                                            <p:cond delay="0"/>
                                          </p:stCondLst>
                                        </p:cTn>
                                        <p:tgtEl>
                                          <p:spTgt spid="33"/>
                                        </p:tgtEl>
                                        <p:attrNameLst>
                                          <p:attrName>style.visibility</p:attrName>
                                        </p:attrNameLst>
                                      </p:cBhvr>
                                      <p:to>
                                        <p:strVal val="visible"/>
                                      </p:to>
                                    </p:set>
                                    <p:animEffect transition="in" filter="fade">
                                      <p:cBhvr>
                                        <p:cTn id="46" dur="400"/>
                                        <p:tgtEl>
                                          <p:spTgt spid="33"/>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30"/>
                                        </p:tgtEl>
                                        <p:attrNameLst>
                                          <p:attrName>style.visibility</p:attrName>
                                        </p:attrNameLst>
                                      </p:cBhvr>
                                      <p:to>
                                        <p:strVal val="visible"/>
                                      </p:to>
                                    </p:set>
                                    <p:animEffect transition="in" filter="fade">
                                      <p:cBhvr>
                                        <p:cTn id="51" dur="400"/>
                                        <p:tgtEl>
                                          <p:spTgt spid="30"/>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34"/>
                                        </p:tgtEl>
                                        <p:attrNameLst>
                                          <p:attrName>style.visibility</p:attrName>
                                        </p:attrNameLst>
                                      </p:cBhvr>
                                      <p:to>
                                        <p:strVal val="visible"/>
                                      </p:to>
                                    </p:set>
                                    <p:animEffect transition="in" filter="fade">
                                      <p:cBhvr>
                                        <p:cTn id="54" dur="4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5" grpId="0" animBg="1"/>
      <p:bldP spid="26" grpId="0" animBg="1"/>
      <p:bldP spid="27" grpId="0" animBg="1"/>
      <p:bldP spid="28" grpId="0" animBg="1"/>
      <p:bldP spid="29" grpId="0" animBg="1"/>
      <p:bldP spid="32" grpId="0"/>
      <p:bldP spid="31" grpId="0"/>
      <p:bldP spid="33" grpId="0"/>
      <p:bldP spid="30" grpId="0" animBg="1"/>
      <p:bldP spid="34" grpId="0"/>
    </p:bldLst>
  </p:timing>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2"/>
          <p:cNvSpPr txBox="1"/>
          <p:nvPr>
            <p:ph idx="103" type="title" hasCustomPrompt="1"/>
          </p:nvPr>
        </p:nvSpPr>
        <p:spPr>
          <a:xfrm>
            <a:off x="685800" y="932688"/>
            <a:ext cx="7360920" cy="868680"/>
          </a:xfrm>
          <a:prstGeom prst="rect">
            <a:avLst/>
          </a:prstGeom>
          <a:noFill/>
          <a:ln/>
        </p:spPr>
        <p:txBody>
          <a:bodyPr wrap="square" lIns="0" tIns="0" rIns="0" bIns="0" rtlCol="0" anchor="t"/>
          <a:lstStyle/>
          <a:p>
            <a:pPr algn="l" indent="0" marL="0">
              <a:buNone/>
            </a:pPr>
            <a:r>
              <a:rPr lang="en-US" sz="2800" b="1" dirty="0">
                <a:solidFill>
                  <a:srgbClr val="14161B"/>
                </a:solidFill>
                <a:latin typeface="Trade Gothic Next" pitchFamily="34" charset="0"/>
                <a:ea typeface="Trade Gothic Next" pitchFamily="34" charset="-122"/>
                <a:cs typeface="Trade Gothic Next" pitchFamily="34" charset="-120"/>
              </a:rPr>
              <a:t>Why Cr and Cu Break the Pattern</a:t>
            </a:r>
            <a:endParaRPr lang="en-US" sz="2800" dirty="0"/>
          </a:p>
        </p:txBody>
      </p:sp>
      <p:sp>
        <p:nvSpPr>
          <p:cNvPr id="3" name="Text 2"/>
          <p:cNvSpPr txBox="1"/>
          <p:nvPr>
            <p:ph idx="104" type="body" hasCustomPrompt="1"/>
          </p:nvPr>
        </p:nvSpPr>
        <p:spPr>
          <a:xfrm>
            <a:off x="685800" y="1847088"/>
            <a:ext cx="7360920" cy="384048"/>
          </a:xfrm>
          <a:prstGeom prst="rect">
            <a:avLst/>
          </a:prstGeom>
          <a:noFill/>
          <a:ln/>
        </p:spPr>
        <p:txBody>
          <a:bodyPr wrap="square" lIns="0" tIns="0" rIns="0" bIns="0" rtlCol="0"/>
          <a:lstStyle/>
          <a:p>
            <a:pPr indent="0" marL="0">
              <a:buNone/>
            </a:pPr>
            <a:r>
              <a:rPr lang="en-US" sz="1700" dirty="0">
                <a:solidFill>
                  <a:srgbClr val="2E3338"/>
                </a:solidFill>
                <a:latin typeface="Trade Gothic Next" pitchFamily="34" charset="0"/>
                <a:ea typeface="Trade Gothic Next" pitchFamily="34" charset="-122"/>
                <a:cs typeface="Trade Gothic Next" pitchFamily="34" charset="-120"/>
              </a:rPr>
              <a:t>A simplified reason, and where it stops working.</a:t>
            </a:r>
            <a:endParaRPr lang="en-US" sz="1700" dirty="0"/>
          </a:p>
        </p:txBody>
      </p:sp>
      <p:sp>
        <p:nvSpPr>
          <p:cNvPr id="4" name="Text 5"/>
          <p:cNvSpPr txBox="1"/>
          <p:nvPr>
            <p:ph idx="109" type="body" hasCustomPrompt="1"/>
          </p:nvPr>
        </p:nvSpPr>
        <p:spPr>
          <a:xfrm>
            <a:off x="886968" y="2953512"/>
            <a:ext cx="2999232" cy="219456"/>
          </a:xfrm>
          <a:prstGeom prst="rect">
            <a:avLst/>
          </a:prstGeom>
          <a:noFill/>
          <a:ln/>
        </p:spPr>
        <p:txBody>
          <a:bodyPr wrap="square" lIns="0" tIns="0" rIns="0" bIns="0" rtlCol="0"/>
          <a:lstStyle/>
          <a:p>
            <a:pPr indent="0" marL="0">
              <a:buNone/>
            </a:pPr>
            <a:r>
              <a:rPr lang="en-US" sz="1200" b="1" spc="120" kern="0" dirty="0">
                <a:solidFill>
                  <a:srgbClr val="2E3338"/>
                </a:solidFill>
                <a:latin typeface="Trade Gothic Next" pitchFamily="34" charset="0"/>
                <a:ea typeface="Trade Gothic Next" pitchFamily="34" charset="-122"/>
                <a:cs typeface="Trade Gothic Next" pitchFamily="34" charset="-120"/>
              </a:rPr>
              <a:t>THE ENERGIES ARE CLOSE</a:t>
            </a:r>
            <a:endParaRPr lang="en-US" sz="1200" dirty="0"/>
          </a:p>
        </p:txBody>
      </p:sp>
      <p:sp>
        <p:nvSpPr>
          <p:cNvPr id="5" name="Text 5"/>
          <p:cNvSpPr txBox="1"/>
          <p:nvPr>
            <p:ph idx="110" type="body" hasCustomPrompt="1"/>
          </p:nvPr>
        </p:nvSpPr>
        <p:spPr>
          <a:xfrm>
            <a:off x="886968" y="3246120"/>
            <a:ext cx="2999232" cy="1673352"/>
          </a:xfrm>
          <a:prstGeom prst="rect">
            <a:avLst/>
          </a:prstGeom>
          <a:noFill/>
          <a:ln/>
        </p:spPr>
        <p:txBody>
          <a:bodyPr wrap="square" lIns="0" tIns="0" rIns="0" bIns="0" rtlCol="0"/>
          <a:lstStyle/>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4s and 3d are almost the same energy, so a small change can tip the balance.</a:t>
            </a:r>
            <a:endParaRPr lang="en-US" sz="1600" dirty="0"/>
          </a:p>
        </p:txBody>
      </p:sp>
      <p:sp>
        <p:nvSpPr>
          <p:cNvPr id="6" name="Text 6"/>
          <p:cNvSpPr txBox="1"/>
          <p:nvPr>
            <p:ph idx="112" type="body" hasCustomPrompt="1"/>
          </p:nvPr>
        </p:nvSpPr>
        <p:spPr>
          <a:xfrm>
            <a:off x="4498848" y="2953512"/>
            <a:ext cx="2999232" cy="219456"/>
          </a:xfrm>
          <a:prstGeom prst="rect">
            <a:avLst/>
          </a:prstGeom>
          <a:noFill/>
          <a:ln/>
        </p:spPr>
        <p:txBody>
          <a:bodyPr wrap="square" lIns="0" tIns="0" rIns="0" bIns="0" rtlCol="0"/>
          <a:lstStyle/>
          <a:p>
            <a:pPr indent="0" marL="0">
              <a:buNone/>
            </a:pPr>
            <a:r>
              <a:rPr lang="en-US" sz="1200" b="1" spc="120" kern="0" dirty="0">
                <a:solidFill>
                  <a:srgbClr val="2E3338"/>
                </a:solidFill>
                <a:latin typeface="Trade Gothic Next" pitchFamily="34" charset="0"/>
                <a:ea typeface="Trade Gothic Next" pitchFamily="34" charset="-122"/>
                <a:cs typeface="Trade Gothic Next" pitchFamily="34" charset="-120"/>
              </a:rPr>
              <a:t>THE PAYOFF</a:t>
            </a:r>
            <a:endParaRPr lang="en-US" sz="1200" dirty="0"/>
          </a:p>
        </p:txBody>
      </p:sp>
      <p:sp>
        <p:nvSpPr>
          <p:cNvPr id="7" name="Text 6"/>
          <p:cNvSpPr txBox="1"/>
          <p:nvPr>
            <p:ph idx="113" type="body" hasCustomPrompt="1"/>
          </p:nvPr>
        </p:nvSpPr>
        <p:spPr>
          <a:xfrm>
            <a:off x="4498848" y="3246120"/>
            <a:ext cx="2999232" cy="1673352"/>
          </a:xfrm>
          <a:prstGeom prst="rect">
            <a:avLst/>
          </a:prstGeom>
          <a:noFill/>
          <a:ln/>
        </p:spPr>
        <p:txBody>
          <a:bodyPr wrap="square" lIns="0" tIns="0" rIns="0" bIns="0" rtlCol="0"/>
          <a:lstStyle/>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One 4s electron moves. 3d becomes completely full (Cu) or half full with parallel spins (Cr).</a:t>
            </a:r>
            <a:endParaRPr lang="en-US" sz="1600" dirty="0"/>
          </a:p>
        </p:txBody>
      </p:sp>
      <p:sp>
        <p:nvSpPr>
          <p:cNvPr id="8" name="Text 7"/>
          <p:cNvSpPr txBox="1"/>
          <p:nvPr>
            <p:ph idx="115" type="body" hasCustomPrompt="1"/>
          </p:nvPr>
        </p:nvSpPr>
        <p:spPr>
          <a:xfrm>
            <a:off x="8110728" y="2953512"/>
            <a:ext cx="2999232" cy="219456"/>
          </a:xfrm>
          <a:prstGeom prst="rect">
            <a:avLst/>
          </a:prstGeom>
          <a:noFill/>
          <a:ln/>
        </p:spPr>
        <p:txBody>
          <a:bodyPr wrap="square" lIns="0" tIns="0" rIns="0" bIns="0" rtlCol="0"/>
          <a:lstStyle/>
          <a:p>
            <a:pPr indent="0" marL="0">
              <a:buNone/>
            </a:pPr>
            <a:r>
              <a:rPr lang="en-US" sz="1200" b="1" spc="120" kern="0" dirty="0">
                <a:solidFill>
                  <a:srgbClr val="2E3338"/>
                </a:solidFill>
                <a:latin typeface="Trade Gothic Next" pitchFamily="34" charset="0"/>
                <a:ea typeface="Trade Gothic Next" pitchFamily="34" charset="-122"/>
                <a:cs typeface="Trade Gothic Next" pitchFamily="34" charset="-120"/>
              </a:rPr>
              <a:t>THE RESULT</a:t>
            </a:r>
            <a:endParaRPr lang="en-US" sz="1200" dirty="0"/>
          </a:p>
        </p:txBody>
      </p:sp>
      <p:sp>
        <p:nvSpPr>
          <p:cNvPr id="9" name="Text 7"/>
          <p:cNvSpPr txBox="1"/>
          <p:nvPr>
            <p:ph idx="116" type="body" hasCustomPrompt="1"/>
          </p:nvPr>
        </p:nvSpPr>
        <p:spPr>
          <a:xfrm>
            <a:off x="8110728" y="3246120"/>
            <a:ext cx="2999232" cy="1673352"/>
          </a:xfrm>
          <a:prstGeom prst="rect">
            <a:avLst/>
          </a:prstGeom>
          <a:noFill/>
          <a:ln/>
        </p:spPr>
        <p:txBody>
          <a:bodyPr wrap="square" lIns="0" tIns="0" rIns="0" bIns="0" rtlCol="0"/>
          <a:lstStyle/>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That lowers the atom's total energy slightly, so the real atom does it.</a:t>
            </a:r>
            <a:endParaRPr lang="en-US" sz="1600" dirty="0"/>
          </a:p>
        </p:txBody>
      </p:sp>
      <p:sp>
        <p:nvSpPr>
          <p:cNvPr id="10" name="Text 9"/>
          <p:cNvSpPr txBox="1"/>
          <p:nvPr>
            <p:ph idx="119" type="body" hasCustomPrompt="1"/>
          </p:nvPr>
        </p:nvSpPr>
        <p:spPr>
          <a:xfrm>
            <a:off x="2240280" y="5486400"/>
            <a:ext cx="8991295" cy="402336"/>
          </a:xfrm>
          <a:prstGeom prst="rect">
            <a:avLst/>
          </a:prstGeom>
          <a:noFill/>
          <a:ln/>
        </p:spPr>
        <p:txBody>
          <a:bodyPr wrap="square" lIns="0" tIns="0" rIns="0" bIns="0" rtlCol="0" anchor="ctr"/>
          <a:lstStyle/>
          <a:p>
            <a:pPr indent="0" marL="0">
              <a:buNone/>
            </a:pPr>
            <a:r>
              <a:rPr lang="en-US" sz="1600" b="1" dirty="0">
                <a:solidFill>
                  <a:srgbClr val="EDF0E5"/>
                </a:solidFill>
                <a:latin typeface="Trade Gothic Next" pitchFamily="34" charset="0"/>
                <a:ea typeface="Trade Gothic Next" pitchFamily="34" charset="-122"/>
                <a:cs typeface="Trade Gothic Next" pitchFamily="34" charset="-120"/>
              </a:rPr>
              <a:t>A simplification, not a rule: it misses other exceptions. Learn Cr and Cu; look the rest up.</a:t>
            </a:r>
            <a:endParaRPr lang="en-US" sz="1600" dirty="0"/>
          </a:p>
        </p:txBody>
      </p:sp>
      <p:sp>
        <p:nvSpPr>
          <p:cNvPr id="11" name="Text 1"/>
          <p:cNvSpPr txBox="1"/>
          <p:nvPr>
            <p:ph idx="101" type="body" hasCustomPrompt="1"/>
          </p:nvPr>
        </p:nvSpPr>
        <p:spPr>
          <a:xfrm>
            <a:off x="685800" y="384048"/>
            <a:ext cx="6400800" cy="237744"/>
          </a:xfrm>
          <a:prstGeom prst="rect">
            <a:avLst/>
          </a:prstGeom>
          <a:noFill/>
          <a:ln/>
        </p:spPr>
        <p:txBody>
          <a:bodyPr wrap="square" lIns="0" tIns="0" rIns="0" bIns="0" rtlCol="0" anchor="ctr"/>
          <a:lstStyle/>
          <a:p>
            <a:pPr indent="0" marL="0">
              <a:buNone/>
            </a:pPr>
            <a:r>
              <a:rPr lang="en-US" sz="1100" b="1" spc="160" kern="0" dirty="0">
                <a:solidFill>
                  <a:srgbClr val="14161B"/>
                </a:solidFill>
                <a:latin typeface="Trade Gothic Next" pitchFamily="34" charset="0"/>
                <a:ea typeface="Trade Gothic Next" pitchFamily="34" charset="-122"/>
                <a:cs typeface="Trade Gothic Next" pitchFamily="34" charset="-120"/>
              </a:rPr>
              <a:t>UNIT 02  •  CHEMISTRY</a:t>
            </a:r>
            <a:endParaRPr lang="en-US" sz="1100" dirty="0"/>
          </a:p>
        </p:txBody>
      </p:sp>
      <p:sp>
        <p:nvSpPr>
          <p:cNvPr id="12" name="Text 10"/>
          <p:cNvSpPr txBox="1"/>
          <p:nvPr>
            <p:ph idx="121" type="body" hasCustomPrompt="1"/>
          </p:nvPr>
        </p:nvSpPr>
        <p:spPr>
          <a:xfrm>
            <a:off x="8762695" y="6382512"/>
            <a:ext cx="2743200" cy="237744"/>
          </a:xfrm>
          <a:prstGeom prst="rect">
            <a:avLst/>
          </a:prstGeom>
          <a:noFill/>
          <a:ln/>
        </p:spPr>
        <p:txBody>
          <a:bodyPr wrap="square" lIns="0" tIns="0" rIns="0" bIns="0" rtlCol="0" anchor="ctr"/>
          <a:lstStyle/>
          <a:p>
            <a:pPr algn="r" indent="0" marL="0">
              <a:buNone/>
            </a:pPr>
            <a:r>
              <a:rPr lang="en-US" sz="1000" b="1" spc="140" kern="0" dirty="0">
                <a:solidFill>
                  <a:srgbClr val="2E3338"/>
                </a:solidFill>
                <a:latin typeface="Trade Gothic Next" pitchFamily="34" charset="0"/>
                <a:ea typeface="Trade Gothic Next" pitchFamily="34" charset="-122"/>
                <a:cs typeface="Trade Gothic Next" pitchFamily="34" charset="-120"/>
              </a:rPr>
              <a:t>U02 • S02.3</a:t>
            </a:r>
            <a:endParaRPr lang="en-US" sz="1000" dirty="0"/>
          </a:p>
        </p:txBody>
      </p:sp>
      <p:sp>
        <p:nvSpPr>
          <p:cNvPr id="14" name="Text 4"/>
          <p:cNvSpPr txBox="1"/>
          <p:nvPr>
            <p:ph idx="107" hasCustomPrompt="1"/>
          </p:nvPr>
        </p:nvSpPr>
        <p:spPr>
          <a:xfrm>
            <a:off x="8641080" y="1088136"/>
            <a:ext cx="2633472" cy="1481328"/>
          </a:xfrm>
          <a:prstGeom prst="rect">
            <a:avLst/>
          </a:prstGeom>
          <a:noFill/>
          <a:ln/>
        </p:spPr>
        <p:txBody>
          <a:bodyPr wrap="square" lIns="0" tIns="0" rIns="0" bIns="0" rtlCol="0" anchor="ctr"/>
          <a:lstStyle/>
          <a:p>
            <a:pPr algn="ctr" indent="0" marL="0">
              <a:buNone/>
            </a:pP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2"/>
          <p:cNvSpPr txBox="1"/>
          <p:nvPr>
            <p:ph idx="103" type="title" hasCustomPrompt="1"/>
          </p:nvPr>
        </p:nvSpPr>
        <p:spPr>
          <a:xfrm>
            <a:off x="685800" y="932688"/>
            <a:ext cx="10820095" cy="868680"/>
          </a:xfrm>
          <a:prstGeom prst="rect">
            <a:avLst/>
          </a:prstGeom>
          <a:noFill/>
          <a:ln/>
        </p:spPr>
        <p:txBody>
          <a:bodyPr wrap="square" lIns="0" tIns="0" rIns="0" bIns="0" rtlCol="0" anchor="t"/>
          <a:lstStyle/>
          <a:p>
            <a:pPr algn="l" indent="0" marL="0">
              <a:buNone/>
            </a:pPr>
            <a:r>
              <a:rPr lang="en-US" sz="2800" b="1" dirty="0">
                <a:solidFill>
                  <a:srgbClr val="14161B"/>
                </a:solidFill>
                <a:latin typeface="Trade Gothic Next" pitchFamily="34" charset="0"/>
                <a:ea typeface="Trade Gothic Next" pitchFamily="34" charset="-122"/>
                <a:cs typeface="Trade Gothic Next" pitchFamily="34" charset="-120"/>
              </a:rPr>
              <a:t>Checking a Configuration</a:t>
            </a:r>
            <a:endParaRPr lang="en-US" sz="2800" dirty="0"/>
          </a:p>
        </p:txBody>
      </p:sp>
      <p:sp>
        <p:nvSpPr>
          <p:cNvPr id="3" name="Text 2"/>
          <p:cNvSpPr txBox="1"/>
          <p:nvPr>
            <p:ph idx="104" type="body" hasCustomPrompt="1"/>
          </p:nvPr>
        </p:nvSpPr>
        <p:spPr>
          <a:xfrm>
            <a:off x="685800" y="1847088"/>
            <a:ext cx="10820095" cy="384048"/>
          </a:xfrm>
          <a:prstGeom prst="rect">
            <a:avLst/>
          </a:prstGeom>
          <a:noFill/>
          <a:ln/>
        </p:spPr>
        <p:txBody>
          <a:bodyPr wrap="square" lIns="0" tIns="0" rIns="0" bIns="0" rtlCol="0"/>
          <a:lstStyle/>
          <a:p>
            <a:pPr indent="0" marL="0">
              <a:buNone/>
            </a:pPr>
            <a:r>
              <a:rPr lang="en-US" sz="1700" dirty="0">
                <a:solidFill>
                  <a:srgbClr val="2E3338"/>
                </a:solidFill>
                <a:latin typeface="Trade Gothic Next" pitchFamily="34" charset="0"/>
                <a:ea typeface="Trade Gothic Next" pitchFamily="34" charset="-122"/>
                <a:cs typeface="Trade Gothic Next" pitchFamily="34" charset="-120"/>
              </a:rPr>
              <a:t>Run these four checks in order.</a:t>
            </a:r>
            <a:endParaRPr lang="en-US" sz="1700" dirty="0"/>
          </a:p>
        </p:txBody>
      </p:sp>
      <p:sp>
        <p:nvSpPr>
          <p:cNvPr id="4" name="Text 6"/>
          <p:cNvSpPr txBox="1"/>
          <p:nvPr>
            <p:ph idx="110" type="body" hasCustomPrompt="1"/>
          </p:nvPr>
        </p:nvSpPr>
        <p:spPr>
          <a:xfrm>
            <a:off x="1234440" y="4754880"/>
            <a:ext cx="1920240" cy="274320"/>
          </a:xfrm>
          <a:prstGeom prst="rect">
            <a:avLst/>
          </a:prstGeom>
          <a:noFill/>
          <a:ln/>
        </p:spPr>
        <p:txBody>
          <a:bodyPr wrap="square" lIns="0" tIns="0" rIns="0" bIns="0" rtlCol="0" anchor="ctr"/>
          <a:lstStyle/>
          <a:p>
            <a:pPr indent="0" marL="0">
              <a:buNone/>
            </a:pPr>
            <a:r>
              <a:rPr lang="en-US" sz="1200" b="1" dirty="0">
                <a:solidFill>
                  <a:srgbClr val="14161B"/>
                </a:solidFill>
                <a:latin typeface="Trade Gothic Next" pitchFamily="34" charset="0"/>
                <a:ea typeface="Trade Gothic Next" pitchFamily="34" charset="-122"/>
                <a:cs typeface="Trade Gothic Next" pitchFamily="34" charset="-120"/>
              </a:rPr>
              <a:t>Count</a:t>
            </a:r>
            <a:endParaRPr lang="en-US" sz="1200" dirty="0"/>
          </a:p>
        </p:txBody>
      </p:sp>
      <p:sp>
        <p:nvSpPr>
          <p:cNvPr id="5" name="Text 6"/>
          <p:cNvSpPr txBox="1"/>
          <p:nvPr>
            <p:ph idx="111" type="body" hasCustomPrompt="1"/>
          </p:nvPr>
        </p:nvSpPr>
        <p:spPr>
          <a:xfrm>
            <a:off x="832104" y="5120640"/>
            <a:ext cx="2322576" cy="566928"/>
          </a:xfrm>
          <a:prstGeom prst="rect">
            <a:avLst/>
          </a:prstGeom>
          <a:noFill/>
          <a:ln/>
        </p:spPr>
        <p:txBody>
          <a:bodyPr wrap="square" lIns="0" tIns="0" rIns="0" bIns="0" rtlCol="0"/>
          <a:lstStyle/>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Do the raised numbers add up to Z?</a:t>
            </a:r>
            <a:endParaRPr lang="en-US" sz="1600" dirty="0"/>
          </a:p>
        </p:txBody>
      </p:sp>
      <p:sp>
        <p:nvSpPr>
          <p:cNvPr id="6" name="Text 8"/>
          <p:cNvSpPr txBox="1"/>
          <p:nvPr>
            <p:ph idx="114" type="body" hasCustomPrompt="1"/>
          </p:nvPr>
        </p:nvSpPr>
        <p:spPr>
          <a:xfrm>
            <a:off x="3995928" y="4754880"/>
            <a:ext cx="1920240" cy="274320"/>
          </a:xfrm>
          <a:prstGeom prst="rect">
            <a:avLst/>
          </a:prstGeom>
          <a:noFill/>
          <a:ln/>
        </p:spPr>
        <p:txBody>
          <a:bodyPr wrap="square" lIns="0" tIns="0" rIns="0" bIns="0" rtlCol="0" anchor="ctr"/>
          <a:lstStyle/>
          <a:p>
            <a:pPr indent="0" marL="0">
              <a:buNone/>
            </a:pPr>
            <a:r>
              <a:rPr lang="en-US" sz="1200" b="1" dirty="0">
                <a:solidFill>
                  <a:srgbClr val="14161B"/>
                </a:solidFill>
                <a:latin typeface="Trade Gothic Next" pitchFamily="34" charset="0"/>
                <a:ea typeface="Trade Gothic Next" pitchFamily="34" charset="-122"/>
                <a:cs typeface="Trade Gothic Next" pitchFamily="34" charset="-120"/>
              </a:rPr>
              <a:t>Caps and order</a:t>
            </a:r>
            <a:endParaRPr lang="en-US" sz="1200" dirty="0"/>
          </a:p>
        </p:txBody>
      </p:sp>
      <p:sp>
        <p:nvSpPr>
          <p:cNvPr id="7" name="Text 8"/>
          <p:cNvSpPr txBox="1"/>
          <p:nvPr>
            <p:ph idx="115" type="body" hasCustomPrompt="1"/>
          </p:nvPr>
        </p:nvSpPr>
        <p:spPr>
          <a:xfrm>
            <a:off x="3593592" y="5120640"/>
            <a:ext cx="2322576" cy="566928"/>
          </a:xfrm>
          <a:prstGeom prst="rect">
            <a:avLst/>
          </a:prstGeom>
          <a:noFill/>
          <a:ln/>
        </p:spPr>
        <p:txBody>
          <a:bodyPr wrap="square" lIns="0" tIns="0" rIns="0" bIns="0" rtlCol="0"/>
          <a:lstStyle/>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Max 2, 6, 10, 14. Aufbau order.</a:t>
            </a:r>
            <a:endParaRPr lang="en-US" sz="1600" dirty="0"/>
          </a:p>
        </p:txBody>
      </p:sp>
      <p:sp>
        <p:nvSpPr>
          <p:cNvPr id="8" name="Text 10"/>
          <p:cNvSpPr txBox="1"/>
          <p:nvPr>
            <p:ph idx="118" type="body" hasCustomPrompt="1"/>
          </p:nvPr>
        </p:nvSpPr>
        <p:spPr>
          <a:xfrm>
            <a:off x="6757416" y="4754880"/>
            <a:ext cx="1920240" cy="274320"/>
          </a:xfrm>
          <a:prstGeom prst="rect">
            <a:avLst/>
          </a:prstGeom>
          <a:noFill/>
          <a:ln/>
        </p:spPr>
        <p:txBody>
          <a:bodyPr wrap="square" lIns="0" tIns="0" rIns="0" bIns="0" rtlCol="0" anchor="ctr"/>
          <a:lstStyle/>
          <a:p>
            <a:pPr indent="0" marL="0">
              <a:buNone/>
            </a:pPr>
            <a:r>
              <a:rPr lang="en-US" sz="1200" b="1" dirty="0">
                <a:solidFill>
                  <a:srgbClr val="14161B"/>
                </a:solidFill>
                <a:latin typeface="Trade Gothic Next" pitchFamily="34" charset="0"/>
                <a:ea typeface="Trade Gothic Next" pitchFamily="34" charset="-122"/>
                <a:cs typeface="Trade Gothic Next" pitchFamily="34" charset="-120"/>
              </a:rPr>
              <a:t>Hund and Pauli</a:t>
            </a:r>
            <a:endParaRPr lang="en-US" sz="1200" dirty="0"/>
          </a:p>
        </p:txBody>
      </p:sp>
      <p:sp>
        <p:nvSpPr>
          <p:cNvPr id="9" name="Text 10"/>
          <p:cNvSpPr txBox="1"/>
          <p:nvPr>
            <p:ph idx="119" type="body" hasCustomPrompt="1"/>
          </p:nvPr>
        </p:nvSpPr>
        <p:spPr>
          <a:xfrm>
            <a:off x="6355080" y="5120640"/>
            <a:ext cx="2322576" cy="566928"/>
          </a:xfrm>
          <a:prstGeom prst="rect">
            <a:avLst/>
          </a:prstGeom>
          <a:noFill/>
          <a:ln/>
        </p:spPr>
        <p:txBody>
          <a:bodyPr wrap="square" lIns="0" tIns="0" rIns="0" bIns="0" rtlCol="0"/>
          <a:lstStyle/>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Singles first. Pairs have opposite spins.</a:t>
            </a:r>
            <a:endParaRPr lang="en-US" sz="1600" dirty="0"/>
          </a:p>
        </p:txBody>
      </p:sp>
      <p:sp>
        <p:nvSpPr>
          <p:cNvPr id="10" name="Text 12"/>
          <p:cNvSpPr txBox="1"/>
          <p:nvPr>
            <p:ph idx="122" type="body" hasCustomPrompt="1"/>
          </p:nvPr>
        </p:nvSpPr>
        <p:spPr>
          <a:xfrm>
            <a:off x="9518904" y="4754880"/>
            <a:ext cx="1920240" cy="274320"/>
          </a:xfrm>
          <a:prstGeom prst="rect">
            <a:avLst/>
          </a:prstGeom>
          <a:noFill/>
          <a:ln/>
        </p:spPr>
        <p:txBody>
          <a:bodyPr wrap="square" lIns="0" tIns="0" rIns="0" bIns="0" rtlCol="0" anchor="ctr"/>
          <a:lstStyle/>
          <a:p>
            <a:pPr indent="0" marL="0">
              <a:buNone/>
            </a:pPr>
            <a:r>
              <a:rPr lang="en-US" sz="1200" b="1" dirty="0">
                <a:solidFill>
                  <a:srgbClr val="14161B"/>
                </a:solidFill>
                <a:latin typeface="Trade Gothic Next" pitchFamily="34" charset="0"/>
                <a:ea typeface="Trade Gothic Next" pitchFamily="34" charset="-122"/>
                <a:cs typeface="Trade Gothic Next" pitchFamily="34" charset="-120"/>
              </a:rPr>
              <a:t>Core, Cr, Cu</a:t>
            </a:r>
            <a:endParaRPr lang="en-US" sz="1200" dirty="0"/>
          </a:p>
        </p:txBody>
      </p:sp>
      <p:sp>
        <p:nvSpPr>
          <p:cNvPr id="11" name="Text 12"/>
          <p:cNvSpPr txBox="1"/>
          <p:nvPr>
            <p:ph idx="123" type="body" hasCustomPrompt="1"/>
          </p:nvPr>
        </p:nvSpPr>
        <p:spPr>
          <a:xfrm>
            <a:off x="9116568" y="5120640"/>
            <a:ext cx="2322576" cy="566928"/>
          </a:xfrm>
          <a:prstGeom prst="rect">
            <a:avLst/>
          </a:prstGeom>
          <a:noFill/>
          <a:ln/>
        </p:spPr>
        <p:txBody>
          <a:bodyPr wrap="square" lIns="0" tIns="0" rIns="0" bIns="0" rtlCol="0"/>
          <a:lstStyle/>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Previous noble gas? Is it Cr or Cu?</a:t>
            </a:r>
            <a:endParaRPr lang="en-US" sz="1600" dirty="0"/>
          </a:p>
        </p:txBody>
      </p:sp>
      <p:sp>
        <p:nvSpPr>
          <p:cNvPr id="12" name="Text 1"/>
          <p:cNvSpPr txBox="1"/>
          <p:nvPr>
            <p:ph idx="101" type="body" hasCustomPrompt="1"/>
          </p:nvPr>
        </p:nvSpPr>
        <p:spPr>
          <a:xfrm>
            <a:off x="685800" y="384048"/>
            <a:ext cx="6400800" cy="237744"/>
          </a:xfrm>
          <a:prstGeom prst="rect">
            <a:avLst/>
          </a:prstGeom>
          <a:noFill/>
          <a:ln/>
        </p:spPr>
        <p:txBody>
          <a:bodyPr wrap="square" lIns="0" tIns="0" rIns="0" bIns="0" rtlCol="0" anchor="ctr"/>
          <a:lstStyle/>
          <a:p>
            <a:pPr indent="0" marL="0">
              <a:buNone/>
            </a:pPr>
            <a:r>
              <a:rPr lang="en-US" sz="1100" b="1" spc="160" kern="0" dirty="0">
                <a:solidFill>
                  <a:srgbClr val="14161B"/>
                </a:solidFill>
                <a:latin typeface="Trade Gothic Next" pitchFamily="34" charset="0"/>
                <a:ea typeface="Trade Gothic Next" pitchFamily="34" charset="-122"/>
                <a:cs typeface="Trade Gothic Next" pitchFamily="34" charset="-120"/>
              </a:rPr>
              <a:t>UNIT 02  •  CHEMISTRY</a:t>
            </a:r>
            <a:endParaRPr lang="en-US" sz="1100" dirty="0"/>
          </a:p>
        </p:txBody>
      </p:sp>
      <p:sp>
        <p:nvSpPr>
          <p:cNvPr id="13" name="Text 13"/>
          <p:cNvSpPr txBox="1"/>
          <p:nvPr>
            <p:ph idx="125" type="body" hasCustomPrompt="1"/>
          </p:nvPr>
        </p:nvSpPr>
        <p:spPr>
          <a:xfrm>
            <a:off x="8762695" y="6382512"/>
            <a:ext cx="2743200" cy="237744"/>
          </a:xfrm>
          <a:prstGeom prst="rect">
            <a:avLst/>
          </a:prstGeom>
          <a:noFill/>
          <a:ln/>
        </p:spPr>
        <p:txBody>
          <a:bodyPr wrap="square" lIns="0" tIns="0" rIns="0" bIns="0" rtlCol="0" anchor="ctr"/>
          <a:lstStyle/>
          <a:p>
            <a:pPr algn="r" indent="0" marL="0">
              <a:buNone/>
            </a:pPr>
            <a:r>
              <a:rPr lang="en-US" sz="1000" b="1" spc="140" kern="0" dirty="0">
                <a:solidFill>
                  <a:srgbClr val="2E3338"/>
                </a:solidFill>
                <a:latin typeface="Trade Gothic Next" pitchFamily="34" charset="0"/>
                <a:ea typeface="Trade Gothic Next" pitchFamily="34" charset="-122"/>
                <a:cs typeface="Trade Gothic Next" pitchFamily="34" charset="-120"/>
              </a:rPr>
              <a:t>U02 • S02.3</a:t>
            </a:r>
            <a:endParaRPr lang="en-US" sz="1000" dirty="0"/>
          </a:p>
        </p:txBody>
      </p:sp>
      <p:sp>
        <p:nvSpPr>
          <p:cNvPr id="15" name="Text 4"/>
          <p:cNvSpPr txBox="1"/>
          <p:nvPr>
            <p:ph idx="107" hasCustomPrompt="1"/>
          </p:nvPr>
        </p:nvSpPr>
        <p:spPr>
          <a:xfrm>
            <a:off x="3246120" y="2487168"/>
            <a:ext cx="5669280" cy="1828800"/>
          </a:xfrm>
          <a:prstGeom prst="rect">
            <a:avLst/>
          </a:prstGeom>
          <a:noFill/>
          <a:ln/>
        </p:spPr>
        <p:txBody>
          <a:bodyPr wrap="square" lIns="0" tIns="0" rIns="0" bIns="0" rtlCol="0" anchor="ctr"/>
          <a:lstStyle/>
          <a:p>
            <a:pPr algn="ctr" indent="0" marL="0">
              <a:buNone/>
            </a:pP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2"/>
          <p:cNvSpPr txBox="1"/>
          <p:nvPr>
            <p:ph idx="103" type="title" hasCustomPrompt="1"/>
          </p:nvPr>
        </p:nvSpPr>
        <p:spPr>
          <a:xfrm>
            <a:off x="685800" y="932688"/>
            <a:ext cx="7863840" cy="868680"/>
          </a:xfrm>
          <a:prstGeom prst="rect">
            <a:avLst/>
          </a:prstGeom>
          <a:noFill/>
          <a:ln/>
        </p:spPr>
        <p:txBody>
          <a:bodyPr wrap="square" lIns="0" tIns="0" rIns="0" bIns="0" rtlCol="0" anchor="t"/>
          <a:lstStyle/>
          <a:p>
            <a:pPr algn="l" indent="0" marL="0">
              <a:buNone/>
            </a:pPr>
            <a:r>
              <a:rPr lang="en-US" sz="2800" b="1" dirty="0">
                <a:solidFill>
                  <a:srgbClr val="14161B"/>
                </a:solidFill>
                <a:latin typeface="Trade Gothic Next" pitchFamily="34" charset="0"/>
                <a:ea typeface="Trade Gothic Next" pitchFamily="34" charset="-122"/>
                <a:cs typeface="Trade Gothic Next" pitchFamily="34" charset="-120"/>
              </a:rPr>
              <a:t>Example: Spot the Mistake</a:t>
            </a:r>
            <a:endParaRPr lang="en-US" sz="2800" dirty="0"/>
          </a:p>
        </p:txBody>
      </p:sp>
      <p:sp>
        <p:nvSpPr>
          <p:cNvPr id="3" name="Text 2"/>
          <p:cNvSpPr txBox="1"/>
          <p:nvPr>
            <p:ph idx="104" type="body" hasCustomPrompt="1"/>
          </p:nvPr>
        </p:nvSpPr>
        <p:spPr>
          <a:xfrm>
            <a:off x="685800" y="1847088"/>
            <a:ext cx="7863840" cy="384048"/>
          </a:xfrm>
          <a:prstGeom prst="rect">
            <a:avLst/>
          </a:prstGeom>
          <a:noFill/>
          <a:ln/>
        </p:spPr>
        <p:txBody>
          <a:bodyPr wrap="square" lIns="0" tIns="0" rIns="0" bIns="0" rtlCol="0"/>
          <a:lstStyle/>
          <a:p>
            <a:pPr indent="0" marL="0">
              <a:buNone/>
            </a:pPr>
            <a:r>
              <a:rPr lang="en-US" sz="1700" dirty="0">
                <a:solidFill>
                  <a:srgbClr val="2E3338"/>
                </a:solidFill>
                <a:latin typeface="Trade Gothic Next" pitchFamily="34" charset="0"/>
                <a:ea typeface="Trade Gothic Next" pitchFamily="34" charset="-122"/>
                <a:cs typeface="Trade Gothic Next" pitchFamily="34" charset="-120"/>
              </a:rPr>
              <a:t>Each was written as a ground state.</a:t>
            </a:r>
            <a:endParaRPr lang="en-US" sz="1700" dirty="0"/>
          </a:p>
        </p:txBody>
      </p:sp>
      <p:sp>
        <p:nvSpPr>
          <p:cNvPr id="4" name="Text 6"/>
          <p:cNvSpPr txBox="1"/>
          <p:nvPr>
            <p:ph idx="110" type="body" hasCustomPrompt="1"/>
          </p:nvPr>
        </p:nvSpPr>
        <p:spPr>
          <a:xfrm>
            <a:off x="886968" y="2798064"/>
            <a:ext cx="4992624" cy="548640"/>
          </a:xfrm>
          <a:prstGeom prst="rect">
            <a:avLst/>
          </a:prstGeom>
          <a:noFill/>
          <a:ln/>
        </p:spPr>
        <p:txBody>
          <a:bodyPr wrap="square" lIns="0" tIns="0" rIns="0" bIns="0" rtlCol="0"/>
          <a:lstStyle/>
          <a:p>
            <a:pPr indent="0" marL="0">
              <a:buNone/>
            </a:pPr>
            <a:r>
              <a:rPr lang="en-US" sz="1600" dirty="0">
                <a:solidFill>
                  <a:srgbClr val="EDF0E5"/>
                </a:solidFill>
                <a:latin typeface="Trade Gothic Next" pitchFamily="34" charset="0"/>
                <a:ea typeface="Trade Gothic Next" pitchFamily="34" charset="-122"/>
                <a:cs typeface="Trade Gothic Next" pitchFamily="34" charset="-120"/>
              </a:rPr>
              <a:t>Each of these is wrong. Name the rule or fact it breaks.</a:t>
            </a:r>
            <a:endParaRPr lang="en-US" sz="1600" dirty="0"/>
          </a:p>
        </p:txBody>
      </p:sp>
      <p:sp>
        <p:nvSpPr>
          <p:cNvPr id="5" name="Text 7"/>
          <p:cNvSpPr txBox="1"/>
          <p:nvPr>
            <p:ph idx="112" type="body" hasCustomPrompt="1"/>
          </p:nvPr>
        </p:nvSpPr>
        <p:spPr>
          <a:xfrm>
            <a:off x="886968" y="3776472"/>
            <a:ext cx="2203704" cy="219456"/>
          </a:xfrm>
          <a:prstGeom prst="rect">
            <a:avLst/>
          </a:prstGeom>
          <a:noFill/>
          <a:ln/>
        </p:spPr>
        <p:txBody>
          <a:bodyPr wrap="square" lIns="0" tIns="0" rIns="0" bIns="0" rtlCol="0"/>
          <a:lstStyle/>
          <a:p>
            <a:pPr indent="0" marL="0">
              <a:buNone/>
            </a:pPr>
            <a:r>
              <a:rPr lang="en-US" sz="1200" b="1" spc="120" kern="0" dirty="0">
                <a:solidFill>
                  <a:srgbClr val="2E3338"/>
                </a:solidFill>
                <a:latin typeface="Trade Gothic Next" pitchFamily="34" charset="0"/>
                <a:ea typeface="Trade Gothic Next" pitchFamily="34" charset="-122"/>
                <a:cs typeface="Trade Gothic Next" pitchFamily="34" charset="-120"/>
              </a:rPr>
              <a:t>GIVEN (a), (b)</a:t>
            </a:r>
            <a:endParaRPr lang="en-US" sz="1200" dirty="0"/>
          </a:p>
        </p:txBody>
      </p:sp>
      <p:sp>
        <p:nvSpPr>
          <p:cNvPr id="6" name="Text 7"/>
          <p:cNvSpPr txBox="1"/>
          <p:nvPr>
            <p:ph idx="113" type="body" hasCustomPrompt="1"/>
          </p:nvPr>
        </p:nvSpPr>
        <p:spPr>
          <a:xfrm>
            <a:off x="886968" y="4069080"/>
            <a:ext cx="2203704" cy="1078992"/>
          </a:xfrm>
          <a:prstGeom prst="rect">
            <a:avLst/>
          </a:prstGeom>
          <a:noFill/>
          <a:ln/>
        </p:spPr>
        <p:txBody>
          <a:bodyPr wrap="square" lIns="0" tIns="0" rIns="0" bIns="0" rtlCol="0"/>
          <a:lstStyle/>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(a) O: 1s</a:t>
            </a:r>
            <a:pPr indent="0" marL="0">
              <a:buNone/>
            </a:pPr>
            <a:r>
              <a:rPr lang="en-US" sz="1600" baseline="30000" dirty="0">
                <a:solidFill>
                  <a:srgbClr val="14161B"/>
                </a:solidFill>
                <a:latin typeface="Trade Gothic Next" pitchFamily="34" charset="0"/>
                <a:ea typeface="Trade Gothic Next" pitchFamily="34" charset="-122"/>
                <a:cs typeface="Trade Gothic Next" pitchFamily="34" charset="-120"/>
              </a:rPr>
              <a:t>2</a:t>
            </a:r>
            <a:pPr indent="0" marL="0">
              <a:buNone/>
            </a:pPr>
            <a:r>
              <a:rPr lang="en-US" sz="1600" dirty="0">
                <a:solidFill>
                  <a:srgbClr val="14161B"/>
                </a:solidFill>
                <a:latin typeface="Trade Gothic Next" pitchFamily="34" charset="0"/>
                <a:ea typeface="Trade Gothic Next" pitchFamily="34" charset="-122"/>
                <a:cs typeface="Trade Gothic Next" pitchFamily="34" charset="-120"/>
              </a:rPr>
              <a:t> 2s</a:t>
            </a:r>
            <a:pPr indent="0" marL="0">
              <a:buNone/>
            </a:pPr>
            <a:r>
              <a:rPr lang="en-US" sz="1600" baseline="30000" dirty="0">
                <a:solidFill>
                  <a:srgbClr val="14161B"/>
                </a:solidFill>
                <a:latin typeface="Trade Gothic Next" pitchFamily="34" charset="0"/>
                <a:ea typeface="Trade Gothic Next" pitchFamily="34" charset="-122"/>
                <a:cs typeface="Trade Gothic Next" pitchFamily="34" charset="-120"/>
              </a:rPr>
              <a:t>2</a:t>
            </a:r>
            <a:pPr indent="0" marL="0">
              <a:buNone/>
            </a:pPr>
            <a:r>
              <a:rPr lang="en-US" sz="1600" dirty="0">
                <a:solidFill>
                  <a:srgbClr val="14161B"/>
                </a:solidFill>
                <a:latin typeface="Trade Gothic Next" pitchFamily="34" charset="0"/>
                <a:ea typeface="Trade Gothic Next" pitchFamily="34" charset="-122"/>
                <a:cs typeface="Trade Gothic Next" pitchFamily="34" charset="-120"/>
              </a:rPr>
              <a:t> 2p</a:t>
            </a:r>
            <a:pPr indent="0" marL="0">
              <a:buNone/>
            </a:pPr>
            <a:r>
              <a:rPr lang="en-US" sz="1600" baseline="30000" dirty="0">
                <a:solidFill>
                  <a:srgbClr val="14161B"/>
                </a:solidFill>
                <a:latin typeface="Trade Gothic Next" pitchFamily="34" charset="0"/>
                <a:ea typeface="Trade Gothic Next" pitchFamily="34" charset="-122"/>
                <a:cs typeface="Trade Gothic Next" pitchFamily="34" charset="-120"/>
              </a:rPr>
              <a:t>6</a:t>
            </a:r>
            <a:endParaRPr lang="en-US" sz="1600" dirty="0"/>
          </a:p>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(b) K: [Ar] 3d</a:t>
            </a:r>
            <a:pPr indent="0" marL="0">
              <a:buNone/>
            </a:pPr>
            <a:r>
              <a:rPr lang="en-US" sz="1600" baseline="30000" dirty="0">
                <a:solidFill>
                  <a:srgbClr val="14161B"/>
                </a:solidFill>
                <a:latin typeface="Trade Gothic Next" pitchFamily="34" charset="0"/>
                <a:ea typeface="Trade Gothic Next" pitchFamily="34" charset="-122"/>
                <a:cs typeface="Trade Gothic Next" pitchFamily="34" charset="-120"/>
              </a:rPr>
              <a:t>1</a:t>
            </a:r>
            <a:endParaRPr lang="en-US" sz="1600" dirty="0"/>
          </a:p>
        </p:txBody>
      </p:sp>
      <p:sp>
        <p:nvSpPr>
          <p:cNvPr id="7" name="Text 8"/>
          <p:cNvSpPr txBox="1"/>
          <p:nvPr>
            <p:ph idx="115" type="body" hasCustomPrompt="1"/>
          </p:nvPr>
        </p:nvSpPr>
        <p:spPr>
          <a:xfrm>
            <a:off x="3675888" y="3776472"/>
            <a:ext cx="2203704" cy="219456"/>
          </a:xfrm>
          <a:prstGeom prst="rect">
            <a:avLst/>
          </a:prstGeom>
          <a:noFill/>
          <a:ln/>
        </p:spPr>
        <p:txBody>
          <a:bodyPr wrap="square" lIns="0" tIns="0" rIns="0" bIns="0" rtlCol="0"/>
          <a:lstStyle/>
          <a:p>
            <a:pPr indent="0" marL="0">
              <a:buNone/>
            </a:pPr>
            <a:r>
              <a:rPr lang="en-US" sz="1200" b="1" spc="120" kern="0" dirty="0">
                <a:solidFill>
                  <a:srgbClr val="2E3338"/>
                </a:solidFill>
                <a:latin typeface="Trade Gothic Next" pitchFamily="34" charset="0"/>
                <a:ea typeface="Trade Gothic Next" pitchFamily="34" charset="-122"/>
                <a:cs typeface="Trade Gothic Next" pitchFamily="34" charset="-120"/>
              </a:rPr>
              <a:t>GIVEN (c), (d)</a:t>
            </a:r>
            <a:endParaRPr lang="en-US" sz="1200" dirty="0"/>
          </a:p>
        </p:txBody>
      </p:sp>
      <p:sp>
        <p:nvSpPr>
          <p:cNvPr id="8" name="Text 8"/>
          <p:cNvSpPr txBox="1"/>
          <p:nvPr>
            <p:ph idx="116" type="body" hasCustomPrompt="1"/>
          </p:nvPr>
        </p:nvSpPr>
        <p:spPr>
          <a:xfrm>
            <a:off x="3675888" y="4069080"/>
            <a:ext cx="2203704" cy="1078992"/>
          </a:xfrm>
          <a:prstGeom prst="rect">
            <a:avLst/>
          </a:prstGeom>
          <a:noFill/>
          <a:ln/>
        </p:spPr>
        <p:txBody>
          <a:bodyPr wrap="square" lIns="0" tIns="0" rIns="0" bIns="0" rtlCol="0"/>
          <a:lstStyle/>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(c) Ca: [Ne] 4s</a:t>
            </a:r>
            <a:pPr indent="0" marL="0">
              <a:buNone/>
            </a:pPr>
            <a:r>
              <a:rPr lang="en-US" sz="1600" baseline="30000" dirty="0">
                <a:solidFill>
                  <a:srgbClr val="14161B"/>
                </a:solidFill>
                <a:latin typeface="Trade Gothic Next" pitchFamily="34" charset="0"/>
                <a:ea typeface="Trade Gothic Next" pitchFamily="34" charset="-122"/>
                <a:cs typeface="Trade Gothic Next" pitchFamily="34" charset="-120"/>
              </a:rPr>
              <a:t>2</a:t>
            </a:r>
            <a:endParaRPr lang="en-US" sz="1600" dirty="0"/>
          </a:p>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(d) Cr: [Ar] 4s</a:t>
            </a:r>
            <a:pPr indent="0" marL="0">
              <a:buNone/>
            </a:pPr>
            <a:r>
              <a:rPr lang="en-US" sz="1600" baseline="30000" dirty="0">
                <a:solidFill>
                  <a:srgbClr val="14161B"/>
                </a:solidFill>
                <a:latin typeface="Trade Gothic Next" pitchFamily="34" charset="0"/>
                <a:ea typeface="Trade Gothic Next" pitchFamily="34" charset="-122"/>
                <a:cs typeface="Trade Gothic Next" pitchFamily="34" charset="-120"/>
              </a:rPr>
              <a:t>2</a:t>
            </a:r>
            <a:pPr indent="0" marL="0">
              <a:buNone/>
            </a:pPr>
            <a:r>
              <a:rPr lang="en-US" sz="1600" dirty="0">
                <a:solidFill>
                  <a:srgbClr val="14161B"/>
                </a:solidFill>
                <a:latin typeface="Trade Gothic Next" pitchFamily="34" charset="0"/>
                <a:ea typeface="Trade Gothic Next" pitchFamily="34" charset="-122"/>
                <a:cs typeface="Trade Gothic Next" pitchFamily="34" charset="-120"/>
              </a:rPr>
              <a:t> 3d</a:t>
            </a:r>
            <a:pPr indent="0" marL="0">
              <a:buNone/>
            </a:pPr>
            <a:r>
              <a:rPr lang="en-US" sz="1600" baseline="30000" dirty="0">
                <a:solidFill>
                  <a:srgbClr val="14161B"/>
                </a:solidFill>
                <a:latin typeface="Trade Gothic Next" pitchFamily="34" charset="0"/>
                <a:ea typeface="Trade Gothic Next" pitchFamily="34" charset="-122"/>
                <a:cs typeface="Trade Gothic Next" pitchFamily="34" charset="-120"/>
              </a:rPr>
              <a:t>4</a:t>
            </a:r>
            <a:endParaRPr lang="en-US" sz="1600" dirty="0"/>
          </a:p>
        </p:txBody>
      </p:sp>
      <p:sp>
        <p:nvSpPr>
          <p:cNvPr id="9" name="Text 10"/>
          <p:cNvSpPr txBox="1"/>
          <p:nvPr>
            <p:ph idx="119" type="body" hasCustomPrompt="1"/>
          </p:nvPr>
        </p:nvSpPr>
        <p:spPr>
          <a:xfrm>
            <a:off x="6464808" y="2880360"/>
            <a:ext cx="4837176" cy="2286000"/>
          </a:xfrm>
          <a:prstGeom prst="rect">
            <a:avLst/>
          </a:prstGeom>
          <a:noFill/>
          <a:ln/>
        </p:spPr>
        <p:txBody>
          <a:bodyPr wrap="square" lIns="0" tIns="0" rIns="0" bIns="0" rtlCol="0"/>
          <a:lstStyle/>
          <a:p>
            <a:pPr indent="0" marL="0">
              <a:buNone/>
            </a:pPr>
            <a:endParaRPr lang="en-US" sz="1900" dirty="0"/>
          </a:p>
        </p:txBody>
      </p:sp>
      <p:sp>
        <p:nvSpPr>
          <p:cNvPr id="10" name="Text 12"/>
          <p:cNvSpPr txBox="1"/>
          <p:nvPr>
            <p:ph idx="122" type="body" hasCustomPrompt="1"/>
          </p:nvPr>
        </p:nvSpPr>
        <p:spPr>
          <a:xfrm>
            <a:off x="2240280" y="5605272"/>
            <a:ext cx="8991295" cy="402336"/>
          </a:xfrm>
          <a:prstGeom prst="rect">
            <a:avLst/>
          </a:prstGeom>
          <a:noFill/>
          <a:ln/>
        </p:spPr>
        <p:txBody>
          <a:bodyPr wrap="square" lIns="0" tIns="0" rIns="0" bIns="0" rtlCol="0" anchor="ctr"/>
          <a:lstStyle/>
          <a:p>
            <a:pPr indent="0" marL="0">
              <a:buNone/>
            </a:pPr>
            <a:r>
              <a:rPr lang="en-US" sz="1600" b="1" dirty="0">
                <a:solidFill>
                  <a:srgbClr val="EDF0E5"/>
                </a:solidFill>
                <a:latin typeface="Trade Gothic Next" pitchFamily="34" charset="0"/>
                <a:ea typeface="Trade Gothic Next" pitchFamily="34" charset="-122"/>
                <a:cs typeface="Trade Gothic Next" pitchFamily="34" charset="-120"/>
              </a:rPr>
              <a:t>Add the electrons first. If the total is not Z, stop there.</a:t>
            </a:r>
            <a:endParaRPr lang="en-US" sz="1600" dirty="0"/>
          </a:p>
        </p:txBody>
      </p:sp>
      <p:sp>
        <p:nvSpPr>
          <p:cNvPr id="11" name="Text 1"/>
          <p:cNvSpPr txBox="1"/>
          <p:nvPr>
            <p:ph idx="101" type="body" hasCustomPrompt="1"/>
          </p:nvPr>
        </p:nvSpPr>
        <p:spPr>
          <a:xfrm>
            <a:off x="685800" y="384048"/>
            <a:ext cx="6400800" cy="237744"/>
          </a:xfrm>
          <a:prstGeom prst="rect">
            <a:avLst/>
          </a:prstGeom>
          <a:noFill/>
          <a:ln/>
        </p:spPr>
        <p:txBody>
          <a:bodyPr wrap="square" lIns="0" tIns="0" rIns="0" bIns="0" rtlCol="0" anchor="ctr"/>
          <a:lstStyle/>
          <a:p>
            <a:pPr indent="0" marL="0">
              <a:buNone/>
            </a:pPr>
            <a:r>
              <a:rPr lang="en-US" sz="1100" b="1" spc="160" kern="0" dirty="0">
                <a:solidFill>
                  <a:srgbClr val="14161B"/>
                </a:solidFill>
                <a:latin typeface="Trade Gothic Next" pitchFamily="34" charset="0"/>
                <a:ea typeface="Trade Gothic Next" pitchFamily="34" charset="-122"/>
                <a:cs typeface="Trade Gothic Next" pitchFamily="34" charset="-120"/>
              </a:rPr>
              <a:t>UNIT 02  •  CHEMISTRY</a:t>
            </a:r>
            <a:endParaRPr lang="en-US" sz="1100" dirty="0"/>
          </a:p>
        </p:txBody>
      </p:sp>
      <p:sp>
        <p:nvSpPr>
          <p:cNvPr id="12" name="Text 13"/>
          <p:cNvSpPr txBox="1"/>
          <p:nvPr>
            <p:ph idx="124" type="body" hasCustomPrompt="1"/>
          </p:nvPr>
        </p:nvSpPr>
        <p:spPr>
          <a:xfrm>
            <a:off x="8762695" y="6382512"/>
            <a:ext cx="2743200" cy="237744"/>
          </a:xfrm>
          <a:prstGeom prst="rect">
            <a:avLst/>
          </a:prstGeom>
          <a:noFill/>
          <a:ln/>
        </p:spPr>
        <p:txBody>
          <a:bodyPr wrap="square" lIns="0" tIns="0" rIns="0" bIns="0" rtlCol="0" anchor="ctr"/>
          <a:lstStyle/>
          <a:p>
            <a:pPr algn="r" indent="0" marL="0">
              <a:buNone/>
            </a:pPr>
            <a:r>
              <a:rPr lang="en-US" sz="1000" b="1" spc="140" kern="0" dirty="0">
                <a:solidFill>
                  <a:srgbClr val="2E3338"/>
                </a:solidFill>
                <a:latin typeface="Trade Gothic Next" pitchFamily="34" charset="0"/>
                <a:ea typeface="Trade Gothic Next" pitchFamily="34" charset="-122"/>
                <a:cs typeface="Trade Gothic Next" pitchFamily="34" charset="-120"/>
              </a:rPr>
              <a:t>U02 • S02.3</a:t>
            </a:r>
            <a:endParaRPr lang="en-US" sz="1000" dirty="0"/>
          </a:p>
        </p:txBody>
      </p:sp>
      <p:sp>
        <p:nvSpPr>
          <p:cNvPr id="14" name="Text 4"/>
          <p:cNvSpPr txBox="1"/>
          <p:nvPr>
            <p:ph idx="107" hasCustomPrompt="1"/>
          </p:nvPr>
        </p:nvSpPr>
        <p:spPr>
          <a:xfrm>
            <a:off x="9262872" y="1088136"/>
            <a:ext cx="1901952" cy="1069848"/>
          </a:xfrm>
          <a:prstGeom prst="rect">
            <a:avLst/>
          </a:prstGeom>
          <a:noFill/>
          <a:ln/>
        </p:spPr>
        <p:txBody>
          <a:bodyPr wrap="square" lIns="0" tIns="0" rIns="0" bIns="0" rtlCol="0" anchor="ctr"/>
          <a:lstStyle/>
          <a:p>
            <a:pPr algn="ctr" indent="0" marL="0">
              <a:buNone/>
            </a:pP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2"/>
          <p:cNvSpPr txBox="1"/>
          <p:nvPr>
            <p:ph idx="103" type="title" hasCustomPrompt="1"/>
          </p:nvPr>
        </p:nvSpPr>
        <p:spPr>
          <a:xfrm>
            <a:off x="685800" y="932688"/>
            <a:ext cx="10820095" cy="868680"/>
          </a:xfrm>
          <a:prstGeom prst="rect">
            <a:avLst/>
          </a:prstGeom>
          <a:noFill/>
          <a:ln/>
        </p:spPr>
        <p:txBody>
          <a:bodyPr wrap="square" lIns="0" tIns="0" rIns="0" bIns="0" rtlCol="0" anchor="t"/>
          <a:lstStyle/>
          <a:p>
            <a:pPr algn="l" indent="0" marL="0">
              <a:buNone/>
            </a:pPr>
            <a:r>
              <a:rPr lang="en-US" sz="2800" b="1" dirty="0">
                <a:solidFill>
                  <a:srgbClr val="14161B"/>
                </a:solidFill>
                <a:latin typeface="Trade Gothic Next" pitchFamily="34" charset="0"/>
                <a:ea typeface="Trade Gothic Next" pitchFamily="34" charset="-122"/>
                <a:cs typeface="Trade Gothic Next" pitchFamily="34" charset="-120"/>
              </a:rPr>
              <a:t>Spot the Mistake, Worked</a:t>
            </a:r>
            <a:endParaRPr lang="en-US" sz="2800" dirty="0"/>
          </a:p>
        </p:txBody>
      </p:sp>
      <p:sp>
        <p:nvSpPr>
          <p:cNvPr id="3" name="Text 2"/>
          <p:cNvSpPr txBox="1"/>
          <p:nvPr>
            <p:ph idx="104" type="body" hasCustomPrompt="1"/>
          </p:nvPr>
        </p:nvSpPr>
        <p:spPr>
          <a:xfrm>
            <a:off x="685800" y="1847088"/>
            <a:ext cx="10820095" cy="384048"/>
          </a:xfrm>
          <a:prstGeom prst="rect">
            <a:avLst/>
          </a:prstGeom>
          <a:noFill/>
          <a:ln/>
        </p:spPr>
        <p:txBody>
          <a:bodyPr wrap="square" lIns="0" tIns="0" rIns="0" bIns="0" rtlCol="0"/>
          <a:lstStyle/>
          <a:p>
            <a:pPr indent="0" marL="0">
              <a:buNone/>
            </a:pPr>
            <a:r>
              <a:rPr lang="en-US" sz="1700" dirty="0">
                <a:solidFill>
                  <a:srgbClr val="2E3338"/>
                </a:solidFill>
                <a:latin typeface="Trade Gothic Next" pitchFamily="34" charset="0"/>
                <a:ea typeface="Trade Gothic Next" pitchFamily="34" charset="-122"/>
                <a:cs typeface="Trade Gothic Next" pitchFamily="34" charset="-120"/>
              </a:rPr>
              <a:t>Four problems, four different checks. Each fix is on the right.</a:t>
            </a:r>
            <a:endParaRPr lang="en-US" sz="1700" dirty="0"/>
          </a:p>
        </p:txBody>
      </p:sp>
      <p:sp>
        <p:nvSpPr>
          <p:cNvPr id="4" name="Text 5"/>
          <p:cNvSpPr txBox="1"/>
          <p:nvPr>
            <p:ph idx="109" type="body" hasCustomPrompt="1"/>
          </p:nvPr>
        </p:nvSpPr>
        <p:spPr>
          <a:xfrm>
            <a:off x="5276088" y="2560320"/>
            <a:ext cx="2752344" cy="219456"/>
          </a:xfrm>
          <a:prstGeom prst="rect">
            <a:avLst/>
          </a:prstGeom>
          <a:noFill/>
          <a:ln/>
        </p:spPr>
        <p:txBody>
          <a:bodyPr wrap="square" lIns="0" tIns="0" rIns="0" bIns="0" rtlCol="0"/>
          <a:lstStyle/>
          <a:p>
            <a:pPr indent="0" marL="0">
              <a:buNone/>
            </a:pPr>
            <a:r>
              <a:rPr lang="en-US" sz="1200" b="1" spc="120" kern="0" dirty="0">
                <a:solidFill>
                  <a:srgbClr val="2E3338"/>
                </a:solidFill>
                <a:latin typeface="Trade Gothic Next" pitchFamily="34" charset="0"/>
                <a:ea typeface="Trade Gothic Next" pitchFamily="34" charset="-122"/>
                <a:cs typeface="Trade Gothic Next" pitchFamily="34" charset="-120"/>
              </a:rPr>
              <a:t>WHAT IS WRONG</a:t>
            </a:r>
            <a:endParaRPr lang="en-US" sz="1200" dirty="0"/>
          </a:p>
        </p:txBody>
      </p:sp>
      <p:sp>
        <p:nvSpPr>
          <p:cNvPr id="5" name="Text 5"/>
          <p:cNvSpPr txBox="1"/>
          <p:nvPr>
            <p:ph idx="110" type="body" hasCustomPrompt="1"/>
          </p:nvPr>
        </p:nvSpPr>
        <p:spPr>
          <a:xfrm>
            <a:off x="5276088" y="2852928"/>
            <a:ext cx="2752344" cy="1901952"/>
          </a:xfrm>
          <a:prstGeom prst="rect">
            <a:avLst/>
          </a:prstGeom>
          <a:noFill/>
          <a:ln/>
        </p:spPr>
        <p:txBody>
          <a:bodyPr wrap="square" lIns="0" tIns="0" rIns="0" bIns="0" rtlCol="0"/>
          <a:lstStyle/>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(a) Count: 10, not 8</a:t>
            </a:r>
            <a:endParaRPr lang="en-US" sz="1600" dirty="0"/>
          </a:p>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(b) Aufbau: 4s first</a:t>
            </a:r>
            <a:endParaRPr lang="en-US" sz="1600" dirty="0"/>
          </a:p>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(c) Core: needs [Ar]</a:t>
            </a:r>
            <a:endParaRPr lang="en-US" sz="1600" dirty="0"/>
          </a:p>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(d) Real Cr differs</a:t>
            </a:r>
            <a:endParaRPr lang="en-US" sz="1600" dirty="0"/>
          </a:p>
        </p:txBody>
      </p:sp>
      <p:sp>
        <p:nvSpPr>
          <p:cNvPr id="6" name="Text 7"/>
          <p:cNvSpPr txBox="1"/>
          <p:nvPr>
            <p:ph idx="113" type="body" hasCustomPrompt="1"/>
          </p:nvPr>
        </p:nvSpPr>
        <p:spPr>
          <a:xfrm>
            <a:off x="8613648" y="2871216"/>
            <a:ext cx="2688336" cy="1920240"/>
          </a:xfrm>
          <a:prstGeom prst="rect">
            <a:avLst/>
          </a:prstGeom>
          <a:noFill/>
          <a:ln/>
        </p:spPr>
        <p:txBody>
          <a:bodyPr wrap="square" lIns="0" tIns="0" rIns="0" bIns="0" rtlCol="0"/>
          <a:lstStyle/>
          <a:p>
            <a:pPr indent="0" marL="0">
              <a:buNone/>
            </a:pPr>
            <a:r>
              <a:rPr lang="en-US" sz="1900" dirty="0">
                <a:solidFill>
                  <a:srgbClr val="14161B"/>
                </a:solidFill>
                <a:latin typeface="Trade Gothic Next" pitchFamily="34" charset="0"/>
                <a:ea typeface="Trade Gothic Next" pitchFamily="34" charset="-122"/>
                <a:cs typeface="Trade Gothic Next" pitchFamily="34" charset="-120"/>
              </a:rPr>
              <a:t>Corrected:</a:t>
            </a:r>
            <a:endParaRPr lang="en-US" sz="1900" dirty="0"/>
          </a:p>
          <a:p>
            <a:pPr indent="0" marL="0">
              <a:buNone/>
            </a:pPr>
            <a:r>
              <a:rPr lang="en-US" sz="1900" dirty="0">
                <a:solidFill>
                  <a:srgbClr val="14161B"/>
                </a:solidFill>
                <a:latin typeface="Trade Gothic Next" pitchFamily="34" charset="0"/>
                <a:ea typeface="Trade Gothic Next" pitchFamily="34" charset="-122"/>
                <a:cs typeface="Trade Gothic Next" pitchFamily="34" charset="-120"/>
              </a:rPr>
              <a:t>(a) 1s</a:t>
            </a:r>
            <a:pPr indent="0" marL="0">
              <a:buNone/>
            </a:pPr>
            <a:r>
              <a:rPr lang="en-US" sz="1900" baseline="30000" dirty="0">
                <a:solidFill>
                  <a:srgbClr val="14161B"/>
                </a:solidFill>
                <a:latin typeface="Trade Gothic Next" pitchFamily="34" charset="0"/>
                <a:ea typeface="Trade Gothic Next" pitchFamily="34" charset="-122"/>
                <a:cs typeface="Trade Gothic Next" pitchFamily="34" charset="-120"/>
              </a:rPr>
              <a:t>2</a:t>
            </a:r>
            <a:pPr indent="0" marL="0">
              <a:buNone/>
            </a:pPr>
            <a:r>
              <a:rPr lang="en-US" sz="1900" dirty="0">
                <a:solidFill>
                  <a:srgbClr val="14161B"/>
                </a:solidFill>
                <a:latin typeface="Trade Gothic Next" pitchFamily="34" charset="0"/>
                <a:ea typeface="Trade Gothic Next" pitchFamily="34" charset="-122"/>
                <a:cs typeface="Trade Gothic Next" pitchFamily="34" charset="-120"/>
              </a:rPr>
              <a:t> 2s</a:t>
            </a:r>
            <a:pPr indent="0" marL="0">
              <a:buNone/>
            </a:pPr>
            <a:r>
              <a:rPr lang="en-US" sz="1900" baseline="30000" dirty="0">
                <a:solidFill>
                  <a:srgbClr val="14161B"/>
                </a:solidFill>
                <a:latin typeface="Trade Gothic Next" pitchFamily="34" charset="0"/>
                <a:ea typeface="Trade Gothic Next" pitchFamily="34" charset="-122"/>
                <a:cs typeface="Trade Gothic Next" pitchFamily="34" charset="-120"/>
              </a:rPr>
              <a:t>2</a:t>
            </a:r>
            <a:pPr indent="0" marL="0">
              <a:buNone/>
            </a:pPr>
            <a:r>
              <a:rPr lang="en-US" sz="1900" dirty="0">
                <a:solidFill>
                  <a:srgbClr val="14161B"/>
                </a:solidFill>
                <a:latin typeface="Trade Gothic Next" pitchFamily="34" charset="0"/>
                <a:ea typeface="Trade Gothic Next" pitchFamily="34" charset="-122"/>
                <a:cs typeface="Trade Gothic Next" pitchFamily="34" charset="-120"/>
              </a:rPr>
              <a:t> 2p</a:t>
            </a:r>
            <a:pPr indent="0" marL="0">
              <a:buNone/>
            </a:pPr>
            <a:r>
              <a:rPr lang="en-US" sz="1900" baseline="30000" dirty="0">
                <a:solidFill>
                  <a:srgbClr val="14161B"/>
                </a:solidFill>
                <a:latin typeface="Trade Gothic Next" pitchFamily="34" charset="0"/>
                <a:ea typeface="Trade Gothic Next" pitchFamily="34" charset="-122"/>
                <a:cs typeface="Trade Gothic Next" pitchFamily="34" charset="-120"/>
              </a:rPr>
              <a:t>4</a:t>
            </a:r>
            <a:endParaRPr lang="en-US" sz="1900" dirty="0"/>
          </a:p>
          <a:p>
            <a:pPr indent="0" marL="0">
              <a:buNone/>
            </a:pPr>
            <a:r>
              <a:rPr lang="en-US" sz="1900" dirty="0">
                <a:solidFill>
                  <a:srgbClr val="14161B"/>
                </a:solidFill>
                <a:latin typeface="Trade Gothic Next" pitchFamily="34" charset="0"/>
                <a:ea typeface="Trade Gothic Next" pitchFamily="34" charset="-122"/>
                <a:cs typeface="Trade Gothic Next" pitchFamily="34" charset="-120"/>
              </a:rPr>
              <a:t>(b) [Ar] 4s</a:t>
            </a:r>
            <a:pPr indent="0" marL="0">
              <a:buNone/>
            </a:pPr>
            <a:r>
              <a:rPr lang="en-US" sz="1900" baseline="30000" dirty="0">
                <a:solidFill>
                  <a:srgbClr val="14161B"/>
                </a:solidFill>
                <a:latin typeface="Trade Gothic Next" pitchFamily="34" charset="0"/>
                <a:ea typeface="Trade Gothic Next" pitchFamily="34" charset="-122"/>
                <a:cs typeface="Trade Gothic Next" pitchFamily="34" charset="-120"/>
              </a:rPr>
              <a:t>1</a:t>
            </a:r>
            <a:endParaRPr lang="en-US" sz="1900" dirty="0"/>
          </a:p>
          <a:p>
            <a:pPr indent="0" marL="0">
              <a:buNone/>
            </a:pPr>
            <a:r>
              <a:rPr lang="en-US" sz="1900" dirty="0">
                <a:solidFill>
                  <a:srgbClr val="14161B"/>
                </a:solidFill>
                <a:latin typeface="Trade Gothic Next" pitchFamily="34" charset="0"/>
                <a:ea typeface="Trade Gothic Next" pitchFamily="34" charset="-122"/>
                <a:cs typeface="Trade Gothic Next" pitchFamily="34" charset="-120"/>
              </a:rPr>
              <a:t>(c) [Ar] 4s</a:t>
            </a:r>
            <a:pPr indent="0" marL="0">
              <a:buNone/>
            </a:pPr>
            <a:r>
              <a:rPr lang="en-US" sz="1900" baseline="30000" dirty="0">
                <a:solidFill>
                  <a:srgbClr val="14161B"/>
                </a:solidFill>
                <a:latin typeface="Trade Gothic Next" pitchFamily="34" charset="0"/>
                <a:ea typeface="Trade Gothic Next" pitchFamily="34" charset="-122"/>
                <a:cs typeface="Trade Gothic Next" pitchFamily="34" charset="-120"/>
              </a:rPr>
              <a:t>2</a:t>
            </a:r>
            <a:endParaRPr lang="en-US" sz="1900" dirty="0"/>
          </a:p>
          <a:p>
            <a:pPr indent="0" marL="0">
              <a:buNone/>
            </a:pPr>
            <a:r>
              <a:rPr lang="en-US" sz="1900" dirty="0">
                <a:solidFill>
                  <a:srgbClr val="14161B"/>
                </a:solidFill>
                <a:latin typeface="Trade Gothic Next" pitchFamily="34" charset="0"/>
                <a:ea typeface="Trade Gothic Next" pitchFamily="34" charset="-122"/>
                <a:cs typeface="Trade Gothic Next" pitchFamily="34" charset="-120"/>
              </a:rPr>
              <a:t>(d) [Ar] 4s</a:t>
            </a:r>
            <a:pPr indent="0" marL="0">
              <a:buNone/>
            </a:pPr>
            <a:r>
              <a:rPr lang="en-US" sz="1900" baseline="30000" dirty="0">
                <a:solidFill>
                  <a:srgbClr val="14161B"/>
                </a:solidFill>
                <a:latin typeface="Trade Gothic Next" pitchFamily="34" charset="0"/>
                <a:ea typeface="Trade Gothic Next" pitchFamily="34" charset="-122"/>
                <a:cs typeface="Trade Gothic Next" pitchFamily="34" charset="-120"/>
              </a:rPr>
              <a:t>1</a:t>
            </a:r>
            <a:pPr indent="0" marL="0">
              <a:buNone/>
            </a:pPr>
            <a:r>
              <a:rPr lang="en-US" sz="1900" dirty="0">
                <a:solidFill>
                  <a:srgbClr val="14161B"/>
                </a:solidFill>
                <a:latin typeface="Trade Gothic Next" pitchFamily="34" charset="0"/>
                <a:ea typeface="Trade Gothic Next" pitchFamily="34" charset="-122"/>
                <a:cs typeface="Trade Gothic Next" pitchFamily="34" charset="-120"/>
              </a:rPr>
              <a:t> 3d</a:t>
            </a:r>
            <a:pPr indent="0" marL="0">
              <a:buNone/>
            </a:pPr>
            <a:r>
              <a:rPr lang="en-US" sz="1900" baseline="30000" dirty="0">
                <a:solidFill>
                  <a:srgbClr val="14161B"/>
                </a:solidFill>
                <a:latin typeface="Trade Gothic Next" pitchFamily="34" charset="0"/>
                <a:ea typeface="Trade Gothic Next" pitchFamily="34" charset="-122"/>
                <a:cs typeface="Trade Gothic Next" pitchFamily="34" charset="-120"/>
              </a:rPr>
              <a:t>5</a:t>
            </a:r>
            <a:endParaRPr lang="en-US" sz="1900" dirty="0"/>
          </a:p>
        </p:txBody>
      </p:sp>
      <p:sp>
        <p:nvSpPr>
          <p:cNvPr id="7" name="Text 9"/>
          <p:cNvSpPr txBox="1"/>
          <p:nvPr>
            <p:ph idx="116" type="body" hasCustomPrompt="1"/>
          </p:nvPr>
        </p:nvSpPr>
        <p:spPr>
          <a:xfrm>
            <a:off x="2240280" y="5212080"/>
            <a:ext cx="8991295" cy="402336"/>
          </a:xfrm>
          <a:prstGeom prst="rect">
            <a:avLst/>
          </a:prstGeom>
          <a:noFill/>
          <a:ln/>
        </p:spPr>
        <p:txBody>
          <a:bodyPr wrap="square" lIns="0" tIns="0" rIns="0" bIns="0" rtlCol="0" anchor="ctr"/>
          <a:lstStyle/>
          <a:p>
            <a:pPr indent="0" marL="0">
              <a:buNone/>
            </a:pPr>
            <a:r>
              <a:rPr lang="en-US" sz="1600" b="1" dirty="0">
                <a:solidFill>
                  <a:srgbClr val="EDF0E5"/>
                </a:solidFill>
                <a:latin typeface="Trade Gothic Next" pitchFamily="34" charset="0"/>
                <a:ea typeface="Trade Gothic Next" pitchFamily="34" charset="-122"/>
                <a:cs typeface="Trade Gothic Next" pitchFamily="34" charset="-120"/>
              </a:rPr>
              <a:t>Cr follows the rules on paper, but the measured ground state is [Ar] 4s</a:t>
            </a:r>
            <a:pPr indent="0" marL="0">
              <a:buNone/>
            </a:pPr>
            <a:r>
              <a:rPr lang="en-US" sz="1600" b="1" baseline="30000" dirty="0">
                <a:solidFill>
                  <a:srgbClr val="EDF0E5"/>
                </a:solidFill>
                <a:latin typeface="Trade Gothic Next" pitchFamily="34" charset="0"/>
                <a:ea typeface="Trade Gothic Next" pitchFamily="34" charset="-122"/>
                <a:cs typeface="Trade Gothic Next" pitchFamily="34" charset="-120"/>
              </a:rPr>
              <a:t>1</a:t>
            </a:r>
            <a:pPr indent="0" marL="0">
              <a:buNone/>
            </a:pPr>
            <a:r>
              <a:rPr lang="en-US" sz="1600" b="1" dirty="0">
                <a:solidFill>
                  <a:srgbClr val="EDF0E5"/>
                </a:solidFill>
                <a:latin typeface="Trade Gothic Next" pitchFamily="34" charset="0"/>
                <a:ea typeface="Trade Gothic Next" pitchFamily="34" charset="-122"/>
                <a:cs typeface="Trade Gothic Next" pitchFamily="34" charset="-120"/>
              </a:rPr>
              <a:t> 3d</a:t>
            </a:r>
            <a:pPr indent="0" marL="0">
              <a:buNone/>
            </a:pPr>
            <a:r>
              <a:rPr lang="en-US" sz="1600" b="1" baseline="30000" dirty="0">
                <a:solidFill>
                  <a:srgbClr val="EDF0E5"/>
                </a:solidFill>
                <a:latin typeface="Trade Gothic Next" pitchFamily="34" charset="0"/>
                <a:ea typeface="Trade Gothic Next" pitchFamily="34" charset="-122"/>
                <a:cs typeface="Trade Gothic Next" pitchFamily="34" charset="-120"/>
              </a:rPr>
              <a:t>5</a:t>
            </a:r>
            <a:pPr indent="0" marL="0">
              <a:buNone/>
            </a:pPr>
            <a:r>
              <a:rPr lang="en-US" sz="1600" b="1" dirty="0">
                <a:solidFill>
                  <a:srgbClr val="EDF0E5"/>
                </a:solidFill>
                <a:latin typeface="Trade Gothic Next" pitchFamily="34" charset="0"/>
                <a:ea typeface="Trade Gothic Next" pitchFamily="34" charset="-122"/>
                <a:cs typeface="Trade Gothic Next" pitchFamily="34" charset="-120"/>
              </a:rPr>
              <a:t>.</a:t>
            </a:r>
            <a:endParaRPr lang="en-US" sz="1600" dirty="0"/>
          </a:p>
        </p:txBody>
      </p:sp>
      <p:sp>
        <p:nvSpPr>
          <p:cNvPr id="8" name="Text 1"/>
          <p:cNvSpPr txBox="1"/>
          <p:nvPr>
            <p:ph idx="101" type="body" hasCustomPrompt="1"/>
          </p:nvPr>
        </p:nvSpPr>
        <p:spPr>
          <a:xfrm>
            <a:off x="685800" y="384048"/>
            <a:ext cx="6400800" cy="237744"/>
          </a:xfrm>
          <a:prstGeom prst="rect">
            <a:avLst/>
          </a:prstGeom>
          <a:noFill/>
          <a:ln/>
        </p:spPr>
        <p:txBody>
          <a:bodyPr wrap="square" lIns="0" tIns="0" rIns="0" bIns="0" rtlCol="0" anchor="ctr"/>
          <a:lstStyle/>
          <a:p>
            <a:pPr indent="0" marL="0">
              <a:buNone/>
            </a:pPr>
            <a:r>
              <a:rPr lang="en-US" sz="1100" b="1" spc="160" kern="0" dirty="0">
                <a:solidFill>
                  <a:srgbClr val="14161B"/>
                </a:solidFill>
                <a:latin typeface="Trade Gothic Next" pitchFamily="34" charset="0"/>
                <a:ea typeface="Trade Gothic Next" pitchFamily="34" charset="-122"/>
                <a:cs typeface="Trade Gothic Next" pitchFamily="34" charset="-120"/>
              </a:rPr>
              <a:t>UNIT 02  •  CHEMISTRY</a:t>
            </a:r>
            <a:endParaRPr lang="en-US" sz="1100" dirty="0"/>
          </a:p>
        </p:txBody>
      </p:sp>
      <p:sp>
        <p:nvSpPr>
          <p:cNvPr id="9" name="Text 10"/>
          <p:cNvSpPr txBox="1"/>
          <p:nvPr>
            <p:ph idx="118" type="body" hasCustomPrompt="1"/>
          </p:nvPr>
        </p:nvSpPr>
        <p:spPr>
          <a:xfrm>
            <a:off x="8762695" y="6382512"/>
            <a:ext cx="2743200" cy="237744"/>
          </a:xfrm>
          <a:prstGeom prst="rect">
            <a:avLst/>
          </a:prstGeom>
          <a:noFill/>
          <a:ln/>
        </p:spPr>
        <p:txBody>
          <a:bodyPr wrap="square" lIns="0" tIns="0" rIns="0" bIns="0" rtlCol="0" anchor="ctr"/>
          <a:lstStyle/>
          <a:p>
            <a:pPr algn="r" indent="0" marL="0">
              <a:buNone/>
            </a:pPr>
            <a:r>
              <a:rPr lang="en-US" sz="1000" b="1" spc="140" kern="0" dirty="0">
                <a:solidFill>
                  <a:srgbClr val="2E3338"/>
                </a:solidFill>
                <a:latin typeface="Trade Gothic Next" pitchFamily="34" charset="0"/>
                <a:ea typeface="Trade Gothic Next" pitchFamily="34" charset="-122"/>
                <a:cs typeface="Trade Gothic Next" pitchFamily="34" charset="-120"/>
              </a:rPr>
              <a:t>U02 • S02.3</a:t>
            </a:r>
            <a:endParaRPr lang="en-US" sz="1000" dirty="0"/>
          </a:p>
        </p:txBody>
      </p:sp>
      <p:sp>
        <p:nvSpPr>
          <p:cNvPr id="11" name="Text 4"/>
          <p:cNvSpPr txBox="1"/>
          <p:nvPr>
            <p:ph idx="107" hasCustomPrompt="1"/>
          </p:nvPr>
        </p:nvSpPr>
        <p:spPr>
          <a:xfrm>
            <a:off x="832104" y="2542032"/>
            <a:ext cx="3867912" cy="2267712"/>
          </a:xfrm>
          <a:prstGeom prst="rect">
            <a:avLst/>
          </a:prstGeom>
          <a:noFill/>
          <a:ln/>
        </p:spPr>
        <p:txBody>
          <a:bodyPr wrap="square" lIns="0" tIns="0" rIns="0" bIns="0" rtlCol="0" anchor="ctr"/>
          <a:lstStyle/>
          <a:p>
            <a:pPr algn="ctr" indent="0" marL="0">
              <a:buNone/>
            </a:pP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pic>
        <p:nvPicPr>
          <p:cNvPr id="2" name="Image 0" descr="Two wrong orbital diagrams. (e) Nitrogen 2p: up, down, up, three single arrows whose spins are not all the same. (f) Neon 2s: one box holding two up arrows.">    </p:cNvPr>
          <p:cNvPicPr>
            <a:picLocks noChangeAspect="1"/>
          </p:cNvPicPr>
          <p:nvPr/>
        </p:nvPicPr>
        <p:blipFill>
          <a:blip r:embed="rId1"/>
          <a:stretch>
            <a:fillRect/>
          </a:stretch>
        </p:blipFill>
        <p:spPr>
          <a:xfrm>
            <a:off x="914400" y="2651760"/>
            <a:ext cx="4617720" cy="2743200"/>
          </a:xfrm>
          <a:prstGeom prst="rect">
            <a:avLst/>
          </a:prstGeom>
        </p:spPr>
      </p:pic>
      <p:sp>
        <p:nvSpPr>
          <p:cNvPr id="3" name="Text 2"/>
          <p:cNvSpPr txBox="1"/>
          <p:nvPr>
            <p:ph idx="103" type="title" hasCustomPrompt="1"/>
          </p:nvPr>
        </p:nvSpPr>
        <p:spPr>
          <a:xfrm>
            <a:off x="685800" y="932688"/>
            <a:ext cx="10820095" cy="868680"/>
          </a:xfrm>
          <a:prstGeom prst="rect">
            <a:avLst/>
          </a:prstGeom>
          <a:noFill/>
          <a:ln/>
        </p:spPr>
        <p:txBody>
          <a:bodyPr wrap="square" lIns="0" tIns="0" rIns="0" bIns="0" rtlCol="0" anchor="t"/>
          <a:lstStyle/>
          <a:p>
            <a:pPr algn="l" indent="0" marL="0">
              <a:buNone/>
            </a:pPr>
            <a:r>
              <a:rPr lang="en-US" sz="2800" b="1" dirty="0">
                <a:solidFill>
                  <a:srgbClr val="14161B"/>
                </a:solidFill>
                <a:latin typeface="Trade Gothic Next" pitchFamily="34" charset="0"/>
                <a:ea typeface="Trade Gothic Next" pitchFamily="34" charset="-122"/>
                <a:cs typeface="Trade Gothic Next" pitchFamily="34" charset="-120"/>
              </a:rPr>
              <a:t>Example: Spot the Mistake, Diagrams</a:t>
            </a:r>
            <a:endParaRPr lang="en-US" sz="2800" dirty="0"/>
          </a:p>
        </p:txBody>
      </p:sp>
      <p:sp>
        <p:nvSpPr>
          <p:cNvPr id="4" name="Text 2"/>
          <p:cNvSpPr txBox="1"/>
          <p:nvPr>
            <p:ph idx="104" type="body" hasCustomPrompt="1"/>
          </p:nvPr>
        </p:nvSpPr>
        <p:spPr>
          <a:xfrm>
            <a:off x="685800" y="1847088"/>
            <a:ext cx="10820095" cy="384048"/>
          </a:xfrm>
          <a:prstGeom prst="rect">
            <a:avLst/>
          </a:prstGeom>
          <a:noFill/>
          <a:ln/>
        </p:spPr>
        <p:txBody>
          <a:bodyPr wrap="square" lIns="0" tIns="0" rIns="0" bIns="0" rtlCol="0"/>
          <a:lstStyle/>
          <a:p>
            <a:pPr indent="0" marL="0">
              <a:buNone/>
            </a:pPr>
            <a:r>
              <a:rPr lang="en-US" sz="1700" dirty="0">
                <a:solidFill>
                  <a:srgbClr val="2E3338"/>
                </a:solidFill>
                <a:latin typeface="Trade Gothic Next" pitchFamily="34" charset="0"/>
                <a:ea typeface="Trade Gothic Next" pitchFamily="34" charset="-122"/>
                <a:cs typeface="Trade Gothic Next" pitchFamily="34" charset="-120"/>
              </a:rPr>
              <a:t>Two orbital diagrams. Each breaks a different rule.</a:t>
            </a:r>
            <a:endParaRPr lang="en-US" sz="1700" dirty="0"/>
          </a:p>
        </p:txBody>
      </p:sp>
      <p:sp>
        <p:nvSpPr>
          <p:cNvPr id="5" name="Text 4"/>
          <p:cNvSpPr txBox="1"/>
          <p:nvPr>
            <p:ph idx="108" type="body" hasCustomPrompt="1"/>
          </p:nvPr>
        </p:nvSpPr>
        <p:spPr>
          <a:xfrm>
            <a:off x="6327648" y="2560320"/>
            <a:ext cx="5129784" cy="219456"/>
          </a:xfrm>
          <a:prstGeom prst="rect">
            <a:avLst/>
          </a:prstGeom>
          <a:noFill/>
          <a:ln/>
        </p:spPr>
        <p:txBody>
          <a:bodyPr wrap="square" lIns="0" tIns="0" rIns="0" bIns="0" rtlCol="0"/>
          <a:lstStyle/>
          <a:p>
            <a:pPr indent="0" marL="0">
              <a:buNone/>
            </a:pPr>
            <a:r>
              <a:rPr lang="en-US" sz="1200" b="1" spc="120" kern="0" dirty="0">
                <a:solidFill>
                  <a:srgbClr val="2E3338"/>
                </a:solidFill>
                <a:latin typeface="Trade Gothic Next" pitchFamily="34" charset="0"/>
                <a:ea typeface="Trade Gothic Next" pitchFamily="34" charset="-122"/>
                <a:cs typeface="Trade Gothic Next" pitchFamily="34" charset="-120"/>
              </a:rPr>
              <a:t>(E) NITROGEN, Z = 7</a:t>
            </a:r>
            <a:endParaRPr lang="en-US" sz="1200" dirty="0"/>
          </a:p>
        </p:txBody>
      </p:sp>
      <p:sp>
        <p:nvSpPr>
          <p:cNvPr id="6" name="Text 4"/>
          <p:cNvSpPr txBox="1"/>
          <p:nvPr>
            <p:ph idx="109" type="body" hasCustomPrompt="1"/>
          </p:nvPr>
        </p:nvSpPr>
        <p:spPr>
          <a:xfrm>
            <a:off x="6327648" y="2852928"/>
            <a:ext cx="5129784" cy="329184"/>
          </a:xfrm>
          <a:prstGeom prst="rect">
            <a:avLst/>
          </a:prstGeom>
          <a:noFill/>
          <a:ln/>
        </p:spPr>
        <p:txBody>
          <a:bodyPr wrap="square" lIns="0" tIns="0" rIns="0" bIns="0" rtlCol="0"/>
          <a:lstStyle/>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Only the three 2p boxes are drawn.</a:t>
            </a:r>
            <a:endParaRPr lang="en-US" sz="1600" dirty="0"/>
          </a:p>
        </p:txBody>
      </p:sp>
      <p:sp>
        <p:nvSpPr>
          <p:cNvPr id="7" name="Text 5"/>
          <p:cNvSpPr txBox="1"/>
          <p:nvPr>
            <p:ph idx="111" type="body" hasCustomPrompt="1"/>
          </p:nvPr>
        </p:nvSpPr>
        <p:spPr>
          <a:xfrm>
            <a:off x="6327648" y="3694176"/>
            <a:ext cx="5129784" cy="219456"/>
          </a:xfrm>
          <a:prstGeom prst="rect">
            <a:avLst/>
          </a:prstGeom>
          <a:noFill/>
          <a:ln/>
        </p:spPr>
        <p:txBody>
          <a:bodyPr wrap="square" lIns="0" tIns="0" rIns="0" bIns="0" rtlCol="0"/>
          <a:lstStyle/>
          <a:p>
            <a:pPr indent="0" marL="0">
              <a:buNone/>
            </a:pPr>
            <a:r>
              <a:rPr lang="en-US" sz="1200" b="1" spc="120" kern="0" dirty="0">
                <a:solidFill>
                  <a:srgbClr val="2E3338"/>
                </a:solidFill>
                <a:latin typeface="Trade Gothic Next" pitchFamily="34" charset="0"/>
                <a:ea typeface="Trade Gothic Next" pitchFamily="34" charset="-122"/>
                <a:cs typeface="Trade Gothic Next" pitchFamily="34" charset="-120"/>
              </a:rPr>
              <a:t>(F) NEON, Z = 10</a:t>
            </a:r>
            <a:endParaRPr lang="en-US" sz="1200" dirty="0"/>
          </a:p>
        </p:txBody>
      </p:sp>
      <p:sp>
        <p:nvSpPr>
          <p:cNvPr id="8" name="Text 5"/>
          <p:cNvSpPr txBox="1"/>
          <p:nvPr>
            <p:ph idx="112" type="body" hasCustomPrompt="1"/>
          </p:nvPr>
        </p:nvSpPr>
        <p:spPr>
          <a:xfrm>
            <a:off x="6327648" y="3986784"/>
            <a:ext cx="5129784" cy="329184"/>
          </a:xfrm>
          <a:prstGeom prst="rect">
            <a:avLst/>
          </a:prstGeom>
          <a:noFill/>
          <a:ln/>
        </p:spPr>
        <p:txBody>
          <a:bodyPr wrap="square" lIns="0" tIns="0" rIns="0" bIns="0" rtlCol="0"/>
          <a:lstStyle/>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Only the 2s box is drawn.</a:t>
            </a:r>
            <a:endParaRPr lang="en-US" sz="1600" dirty="0"/>
          </a:p>
        </p:txBody>
      </p:sp>
      <p:sp>
        <p:nvSpPr>
          <p:cNvPr id="9" name="Text 6"/>
          <p:cNvSpPr txBox="1"/>
          <p:nvPr>
            <p:ph idx="114" type="body" hasCustomPrompt="1"/>
          </p:nvPr>
        </p:nvSpPr>
        <p:spPr>
          <a:xfrm>
            <a:off x="6327648" y="4828032"/>
            <a:ext cx="5129784" cy="219456"/>
          </a:xfrm>
          <a:prstGeom prst="rect">
            <a:avLst/>
          </a:prstGeom>
          <a:noFill/>
          <a:ln/>
        </p:spPr>
        <p:txBody>
          <a:bodyPr wrap="square" lIns="0" tIns="0" rIns="0" bIns="0" rtlCol="0"/>
          <a:lstStyle/>
          <a:p>
            <a:pPr indent="0" marL="0">
              <a:buNone/>
            </a:pPr>
            <a:r>
              <a:rPr lang="en-US" sz="1200" b="1" spc="120" kern="0" dirty="0">
                <a:solidFill>
                  <a:srgbClr val="2E3338"/>
                </a:solidFill>
                <a:latin typeface="Trade Gothic Next" pitchFamily="34" charset="0"/>
                <a:ea typeface="Trade Gothic Next" pitchFamily="34" charset="-122"/>
                <a:cs typeface="Trade Gothic Next" pitchFamily="34" charset="-120"/>
              </a:rPr>
              <a:t>YOUR JOB</a:t>
            </a:r>
            <a:endParaRPr lang="en-US" sz="1200" dirty="0"/>
          </a:p>
        </p:txBody>
      </p:sp>
      <p:sp>
        <p:nvSpPr>
          <p:cNvPr id="10" name="Text 6"/>
          <p:cNvSpPr txBox="1"/>
          <p:nvPr>
            <p:ph idx="115" type="body" hasCustomPrompt="1"/>
          </p:nvPr>
        </p:nvSpPr>
        <p:spPr>
          <a:xfrm>
            <a:off x="6327648" y="5120640"/>
            <a:ext cx="5129784" cy="320040"/>
          </a:xfrm>
          <a:prstGeom prst="rect">
            <a:avLst/>
          </a:prstGeom>
          <a:noFill/>
          <a:ln/>
        </p:spPr>
        <p:txBody>
          <a:bodyPr wrap="square" lIns="0" tIns="0" rIns="0" bIns="0" rtlCol="0"/>
          <a:lstStyle/>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Name the broken rule. Redraw it correctly.</a:t>
            </a:r>
            <a:endParaRPr lang="en-US" sz="1600" dirty="0"/>
          </a:p>
        </p:txBody>
      </p:sp>
      <p:sp>
        <p:nvSpPr>
          <p:cNvPr id="11" name="Text 1"/>
          <p:cNvSpPr txBox="1"/>
          <p:nvPr>
            <p:ph idx="101" type="body" hasCustomPrompt="1"/>
          </p:nvPr>
        </p:nvSpPr>
        <p:spPr>
          <a:xfrm>
            <a:off x="685800" y="384048"/>
            <a:ext cx="6400800" cy="237744"/>
          </a:xfrm>
          <a:prstGeom prst="rect">
            <a:avLst/>
          </a:prstGeom>
          <a:noFill/>
          <a:ln/>
        </p:spPr>
        <p:txBody>
          <a:bodyPr wrap="square" lIns="0" tIns="0" rIns="0" bIns="0" rtlCol="0" anchor="ctr"/>
          <a:lstStyle/>
          <a:p>
            <a:pPr indent="0" marL="0">
              <a:buNone/>
            </a:pPr>
            <a:r>
              <a:rPr lang="en-US" sz="1100" b="1" spc="160" kern="0" dirty="0">
                <a:solidFill>
                  <a:srgbClr val="14161B"/>
                </a:solidFill>
                <a:latin typeface="Trade Gothic Next" pitchFamily="34" charset="0"/>
                <a:ea typeface="Trade Gothic Next" pitchFamily="34" charset="-122"/>
                <a:cs typeface="Trade Gothic Next" pitchFamily="34" charset="-120"/>
              </a:rPr>
              <a:t>UNIT 02  •  CHEMISTRY</a:t>
            </a:r>
            <a:endParaRPr lang="en-US" sz="1100" dirty="0"/>
          </a:p>
        </p:txBody>
      </p:sp>
      <p:sp>
        <p:nvSpPr>
          <p:cNvPr id="12" name="Text 7"/>
          <p:cNvSpPr txBox="1"/>
          <p:nvPr>
            <p:ph idx="117" type="body" hasCustomPrompt="1"/>
          </p:nvPr>
        </p:nvSpPr>
        <p:spPr>
          <a:xfrm>
            <a:off x="8762695" y="6382512"/>
            <a:ext cx="2743200" cy="237744"/>
          </a:xfrm>
          <a:prstGeom prst="rect">
            <a:avLst/>
          </a:prstGeom>
          <a:noFill/>
          <a:ln/>
        </p:spPr>
        <p:txBody>
          <a:bodyPr wrap="square" lIns="0" tIns="0" rIns="0" bIns="0" rtlCol="0" anchor="ctr"/>
          <a:lstStyle/>
          <a:p>
            <a:pPr algn="r" indent="0" marL="0">
              <a:buNone/>
            </a:pPr>
            <a:r>
              <a:rPr lang="en-US" sz="1000" b="1" spc="140" kern="0" dirty="0">
                <a:solidFill>
                  <a:srgbClr val="2E3338"/>
                </a:solidFill>
                <a:latin typeface="Trade Gothic Next" pitchFamily="34" charset="0"/>
                <a:ea typeface="Trade Gothic Next" pitchFamily="34" charset="-122"/>
                <a:cs typeface="Trade Gothic Next" pitchFamily="34" charset="-120"/>
              </a:rPr>
              <a:t>U02 • S02.3</a:t>
            </a:r>
            <a:endParaRPr lang="en-US" sz="1000" dirty="0"/>
          </a:p>
        </p:txBody>
      </p:sp>
      <p:sp>
        <p:nvSpPr>
          <p:cNvPr id="14" name="Text 3"/>
          <p:cNvSpPr txBox="1"/>
          <p:nvPr>
            <p:ph idx="106" type="body" hasCustomPrompt="1"/>
          </p:nvPr>
        </p:nvSpPr>
        <p:spPr>
          <a:xfrm>
            <a:off x="914400" y="2651760"/>
            <a:ext cx="4617720" cy="2743200"/>
          </a:xfrm>
          <a:prstGeom prst="rect">
            <a:avLst/>
          </a:prstGeom>
          <a:noFill/>
          <a:ln/>
        </p:spPr>
        <p:txBody>
          <a:bodyPr wrap="square" lIns="0" tIns="0" rIns="0" bIns="0" rtlCol="0" anchor="ctr"/>
          <a:lstStyle/>
          <a:p>
            <a:pPr algn="ctr" indent="0" marL="0">
              <a:buNone/>
            </a:pPr>
            <a:endParaRPr lang="en-US" sz="2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pic>
        <p:nvPicPr>
          <p:cNvPr id="2" name="Image 0" descr="The corrected diagrams. (e) Nitrogen 2p: up, up, up, ticked as Hund. (f) Neon 2s: one up and one down arrow, ticked as Pauli.">    </p:cNvPr>
          <p:cNvPicPr>
            <a:picLocks noChangeAspect="1"/>
          </p:cNvPicPr>
          <p:nvPr/>
        </p:nvPicPr>
        <p:blipFill>
          <a:blip r:embed="rId1"/>
          <a:stretch>
            <a:fillRect/>
          </a:stretch>
        </p:blipFill>
        <p:spPr>
          <a:xfrm>
            <a:off x="832104" y="2542032"/>
            <a:ext cx="3867912" cy="2267712"/>
          </a:xfrm>
          <a:prstGeom prst="rect">
            <a:avLst/>
          </a:prstGeom>
        </p:spPr>
      </p:pic>
      <p:sp>
        <p:nvSpPr>
          <p:cNvPr id="3" name="Text 2"/>
          <p:cNvSpPr txBox="1"/>
          <p:nvPr>
            <p:ph idx="103" type="title" hasCustomPrompt="1"/>
          </p:nvPr>
        </p:nvSpPr>
        <p:spPr>
          <a:xfrm>
            <a:off x="685800" y="932688"/>
            <a:ext cx="10820095" cy="868680"/>
          </a:xfrm>
          <a:prstGeom prst="rect">
            <a:avLst/>
          </a:prstGeom>
          <a:noFill/>
          <a:ln/>
        </p:spPr>
        <p:txBody>
          <a:bodyPr wrap="square" lIns="0" tIns="0" rIns="0" bIns="0" rtlCol="0" anchor="t"/>
          <a:lstStyle/>
          <a:p>
            <a:pPr algn="l" indent="0" marL="0">
              <a:buNone/>
            </a:pPr>
            <a:r>
              <a:rPr lang="en-US" sz="2800" b="1" dirty="0">
                <a:solidFill>
                  <a:srgbClr val="14161B"/>
                </a:solidFill>
                <a:latin typeface="Trade Gothic Next" pitchFamily="34" charset="0"/>
                <a:ea typeface="Trade Gothic Next" pitchFamily="34" charset="-122"/>
                <a:cs typeface="Trade Gothic Next" pitchFamily="34" charset="-120"/>
              </a:rPr>
              <a:t>Spot the Mistake, Diagrams, Worked</a:t>
            </a:r>
            <a:endParaRPr lang="en-US" sz="2800" dirty="0"/>
          </a:p>
        </p:txBody>
      </p:sp>
      <p:sp>
        <p:nvSpPr>
          <p:cNvPr id="4" name="Text 2"/>
          <p:cNvSpPr txBox="1"/>
          <p:nvPr>
            <p:ph idx="104" type="body" hasCustomPrompt="1"/>
          </p:nvPr>
        </p:nvSpPr>
        <p:spPr>
          <a:xfrm>
            <a:off x="685800" y="1847088"/>
            <a:ext cx="10820095" cy="384048"/>
          </a:xfrm>
          <a:prstGeom prst="rect">
            <a:avLst/>
          </a:prstGeom>
          <a:noFill/>
          <a:ln/>
        </p:spPr>
        <p:txBody>
          <a:bodyPr wrap="square" lIns="0" tIns="0" rIns="0" bIns="0" rtlCol="0"/>
          <a:lstStyle/>
          <a:p>
            <a:pPr indent="0" marL="0">
              <a:buNone/>
            </a:pPr>
            <a:r>
              <a:rPr lang="en-US" sz="1700" dirty="0">
                <a:solidFill>
                  <a:srgbClr val="2E3338"/>
                </a:solidFill>
                <a:latin typeface="Trade Gothic Next" pitchFamily="34" charset="0"/>
                <a:ea typeface="Trade Gothic Next" pitchFamily="34" charset="-122"/>
                <a:cs typeface="Trade Gothic Next" pitchFamily="34" charset="-120"/>
              </a:rPr>
              <a:t>One Hund error and one Pauli error. The fixes are drawn at left.</a:t>
            </a:r>
            <a:endParaRPr lang="en-US" sz="1700" dirty="0"/>
          </a:p>
        </p:txBody>
      </p:sp>
      <p:sp>
        <p:nvSpPr>
          <p:cNvPr id="5" name="Text 5"/>
          <p:cNvSpPr txBox="1"/>
          <p:nvPr>
            <p:ph idx="109" type="body" hasCustomPrompt="1"/>
          </p:nvPr>
        </p:nvSpPr>
        <p:spPr>
          <a:xfrm>
            <a:off x="5276088" y="2560320"/>
            <a:ext cx="2752344" cy="219456"/>
          </a:xfrm>
          <a:prstGeom prst="rect">
            <a:avLst/>
          </a:prstGeom>
          <a:noFill/>
          <a:ln/>
        </p:spPr>
        <p:txBody>
          <a:bodyPr wrap="square" lIns="0" tIns="0" rIns="0" bIns="0" rtlCol="0"/>
          <a:lstStyle/>
          <a:p>
            <a:pPr indent="0" marL="0">
              <a:buNone/>
            </a:pPr>
            <a:r>
              <a:rPr lang="en-US" sz="1200" b="1" spc="120" kern="0" dirty="0">
                <a:solidFill>
                  <a:srgbClr val="2E3338"/>
                </a:solidFill>
                <a:latin typeface="Trade Gothic Next" pitchFamily="34" charset="0"/>
                <a:ea typeface="Trade Gothic Next" pitchFamily="34" charset="-122"/>
                <a:cs typeface="Trade Gothic Next" pitchFamily="34" charset="-120"/>
              </a:rPr>
              <a:t>WHAT IS WRONG</a:t>
            </a:r>
            <a:endParaRPr lang="en-US" sz="1200" dirty="0"/>
          </a:p>
        </p:txBody>
      </p:sp>
      <p:sp>
        <p:nvSpPr>
          <p:cNvPr id="6" name="Text 5"/>
          <p:cNvSpPr txBox="1"/>
          <p:nvPr>
            <p:ph idx="110" type="body" hasCustomPrompt="1"/>
          </p:nvPr>
        </p:nvSpPr>
        <p:spPr>
          <a:xfrm>
            <a:off x="5276088" y="2852928"/>
            <a:ext cx="2752344" cy="1901952"/>
          </a:xfrm>
          <a:prstGeom prst="rect">
            <a:avLst/>
          </a:prstGeom>
          <a:noFill/>
          <a:ln/>
        </p:spPr>
        <p:txBody>
          <a:bodyPr wrap="square" lIns="0" tIns="0" rIns="0" bIns="0" rtlCol="0"/>
          <a:lstStyle/>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(e) Hund: spins differ</a:t>
            </a:r>
            <a:endParaRPr lang="en-US" sz="1600" dirty="0"/>
          </a:p>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(f) Pauli: same spin</a:t>
            </a:r>
            <a:endParaRPr lang="en-US" sz="1600" dirty="0"/>
          </a:p>
        </p:txBody>
      </p:sp>
      <p:sp>
        <p:nvSpPr>
          <p:cNvPr id="7" name="Text 7"/>
          <p:cNvSpPr txBox="1"/>
          <p:nvPr>
            <p:ph idx="113" type="body" hasCustomPrompt="1"/>
          </p:nvPr>
        </p:nvSpPr>
        <p:spPr>
          <a:xfrm>
            <a:off x="8613648" y="2871216"/>
            <a:ext cx="2688336" cy="1920240"/>
          </a:xfrm>
          <a:prstGeom prst="rect">
            <a:avLst/>
          </a:prstGeom>
          <a:noFill/>
          <a:ln/>
        </p:spPr>
        <p:txBody>
          <a:bodyPr wrap="square" lIns="0" tIns="0" rIns="0" bIns="0" rtlCol="0"/>
          <a:lstStyle/>
          <a:p>
            <a:pPr indent="0" marL="0">
              <a:buNone/>
            </a:pPr>
            <a:r>
              <a:rPr lang="en-US" sz="1900" dirty="0">
                <a:solidFill>
                  <a:srgbClr val="14161B"/>
                </a:solidFill>
                <a:latin typeface="Trade Gothic Next" pitchFamily="34" charset="0"/>
                <a:ea typeface="Trade Gothic Next" pitchFamily="34" charset="-122"/>
                <a:cs typeface="Trade Gothic Next" pitchFamily="34" charset="-120"/>
              </a:rPr>
              <a:t>Fixed:</a:t>
            </a:r>
            <a:endParaRPr lang="en-US" sz="1900" dirty="0"/>
          </a:p>
          <a:p>
            <a:pPr indent="0" marL="0">
              <a:buNone/>
            </a:pPr>
            <a:r>
              <a:rPr lang="en-US" sz="1900" dirty="0">
                <a:solidFill>
                  <a:srgbClr val="14161B"/>
                </a:solidFill>
                <a:latin typeface="Trade Gothic Next" pitchFamily="34" charset="0"/>
                <a:ea typeface="Trade Gothic Next" pitchFamily="34" charset="-122"/>
                <a:cs typeface="Trade Gothic Next" pitchFamily="34" charset="-120"/>
              </a:rPr>
              <a:t>(e) 2p: up, up, up</a:t>
            </a:r>
            <a:endParaRPr lang="en-US" sz="1900" dirty="0"/>
          </a:p>
          <a:p>
            <a:pPr indent="0" marL="0">
              <a:buNone/>
            </a:pPr>
            <a:r>
              <a:rPr lang="en-US" sz="1900" dirty="0">
                <a:solidFill>
                  <a:srgbClr val="14161B"/>
                </a:solidFill>
                <a:latin typeface="Trade Gothic Next" pitchFamily="34" charset="0"/>
                <a:ea typeface="Trade Gothic Next" pitchFamily="34" charset="-122"/>
                <a:cs typeface="Trade Gothic Next" pitchFamily="34" charset="-120"/>
              </a:rPr>
              <a:t>(f) 2s: up, down</a:t>
            </a:r>
            <a:endParaRPr lang="en-US" sz="1900" dirty="0"/>
          </a:p>
        </p:txBody>
      </p:sp>
      <p:sp>
        <p:nvSpPr>
          <p:cNvPr id="8" name="Text 9"/>
          <p:cNvSpPr txBox="1"/>
          <p:nvPr>
            <p:ph idx="116" type="body" hasCustomPrompt="1"/>
          </p:nvPr>
        </p:nvSpPr>
        <p:spPr>
          <a:xfrm>
            <a:off x="2240280" y="5212080"/>
            <a:ext cx="8991295" cy="402336"/>
          </a:xfrm>
          <a:prstGeom prst="rect">
            <a:avLst/>
          </a:prstGeom>
          <a:noFill/>
          <a:ln/>
        </p:spPr>
        <p:txBody>
          <a:bodyPr wrap="square" lIns="0" tIns="0" rIns="0" bIns="0" rtlCol="0" anchor="ctr"/>
          <a:lstStyle/>
          <a:p>
            <a:pPr indent="0" marL="0">
              <a:buNone/>
            </a:pPr>
            <a:r>
              <a:rPr lang="en-US" sz="1600" b="1" dirty="0">
                <a:solidFill>
                  <a:srgbClr val="EDF0E5"/>
                </a:solidFill>
                <a:latin typeface="Trade Gothic Next" pitchFamily="34" charset="0"/>
                <a:ea typeface="Trade Gothic Next" pitchFamily="34" charset="-122"/>
                <a:cs typeface="Trade Gothic Next" pitchFamily="34" charset="-120"/>
              </a:rPr>
              <a:t>Hund: singles first, all spins the same. Pauli: two in one orbital must be opposite.</a:t>
            </a:r>
            <a:endParaRPr lang="en-US" sz="1600" dirty="0"/>
          </a:p>
        </p:txBody>
      </p:sp>
      <p:sp>
        <p:nvSpPr>
          <p:cNvPr id="9" name="Text 1"/>
          <p:cNvSpPr txBox="1"/>
          <p:nvPr>
            <p:ph idx="101" type="body" hasCustomPrompt="1"/>
          </p:nvPr>
        </p:nvSpPr>
        <p:spPr>
          <a:xfrm>
            <a:off x="685800" y="384048"/>
            <a:ext cx="6400800" cy="237744"/>
          </a:xfrm>
          <a:prstGeom prst="rect">
            <a:avLst/>
          </a:prstGeom>
          <a:noFill/>
          <a:ln/>
        </p:spPr>
        <p:txBody>
          <a:bodyPr wrap="square" lIns="0" tIns="0" rIns="0" bIns="0" rtlCol="0" anchor="ctr"/>
          <a:lstStyle/>
          <a:p>
            <a:pPr indent="0" marL="0">
              <a:buNone/>
            </a:pPr>
            <a:r>
              <a:rPr lang="en-US" sz="1100" b="1" spc="160" kern="0" dirty="0">
                <a:solidFill>
                  <a:srgbClr val="14161B"/>
                </a:solidFill>
                <a:latin typeface="Trade Gothic Next" pitchFamily="34" charset="0"/>
                <a:ea typeface="Trade Gothic Next" pitchFamily="34" charset="-122"/>
                <a:cs typeface="Trade Gothic Next" pitchFamily="34" charset="-120"/>
              </a:rPr>
              <a:t>UNIT 02  •  CHEMISTRY</a:t>
            </a:r>
            <a:endParaRPr lang="en-US" sz="1100" dirty="0"/>
          </a:p>
        </p:txBody>
      </p:sp>
      <p:sp>
        <p:nvSpPr>
          <p:cNvPr id="10" name="Text 10"/>
          <p:cNvSpPr txBox="1"/>
          <p:nvPr>
            <p:ph idx="118" type="body" hasCustomPrompt="1"/>
          </p:nvPr>
        </p:nvSpPr>
        <p:spPr>
          <a:xfrm>
            <a:off x="8762695" y="6382512"/>
            <a:ext cx="2743200" cy="237744"/>
          </a:xfrm>
          <a:prstGeom prst="rect">
            <a:avLst/>
          </a:prstGeom>
          <a:noFill/>
          <a:ln/>
        </p:spPr>
        <p:txBody>
          <a:bodyPr wrap="square" lIns="0" tIns="0" rIns="0" bIns="0" rtlCol="0" anchor="ctr"/>
          <a:lstStyle/>
          <a:p>
            <a:pPr algn="r" indent="0" marL="0">
              <a:buNone/>
            </a:pPr>
            <a:r>
              <a:rPr lang="en-US" sz="1000" b="1" spc="140" kern="0" dirty="0">
                <a:solidFill>
                  <a:srgbClr val="2E3338"/>
                </a:solidFill>
                <a:latin typeface="Trade Gothic Next" pitchFamily="34" charset="0"/>
                <a:ea typeface="Trade Gothic Next" pitchFamily="34" charset="-122"/>
                <a:cs typeface="Trade Gothic Next" pitchFamily="34" charset="-120"/>
              </a:rPr>
              <a:t>U02 • S02.3</a:t>
            </a:r>
            <a:endParaRPr lang="en-US" sz="1000" dirty="0"/>
          </a:p>
        </p:txBody>
      </p:sp>
      <p:sp>
        <p:nvSpPr>
          <p:cNvPr id="12" name="Text 4"/>
          <p:cNvSpPr txBox="1"/>
          <p:nvPr>
            <p:ph idx="107" hasCustomPrompt="1"/>
          </p:nvPr>
        </p:nvSpPr>
        <p:spPr>
          <a:xfrm>
            <a:off x="832104" y="2542032"/>
            <a:ext cx="3867912" cy="2267712"/>
          </a:xfrm>
          <a:prstGeom prst="rect">
            <a:avLst/>
          </a:prstGeom>
          <a:noFill/>
          <a:ln/>
        </p:spPr>
        <p:txBody>
          <a:bodyPr wrap="square" lIns="0" tIns="0" rIns="0" bIns="0" rtlCol="0" anchor="ctr"/>
          <a:lstStyle/>
          <a:p>
            <a:pPr algn="ctr" indent="0" marL="0">
              <a:buNone/>
            </a:pP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2"/>
          <p:cNvSpPr txBox="1"/>
          <p:nvPr>
            <p:ph idx="103" type="title" hasCustomPrompt="1"/>
          </p:nvPr>
        </p:nvSpPr>
        <p:spPr>
          <a:xfrm>
            <a:off x="685800" y="932688"/>
            <a:ext cx="7360920" cy="868680"/>
          </a:xfrm>
          <a:prstGeom prst="rect">
            <a:avLst/>
          </a:prstGeom>
          <a:noFill/>
          <a:ln/>
        </p:spPr>
        <p:txBody>
          <a:bodyPr wrap="square" lIns="0" tIns="0" rIns="0" bIns="0" rtlCol="0" anchor="t"/>
          <a:lstStyle/>
          <a:p>
            <a:pPr algn="l" indent="0" marL="0">
              <a:buNone/>
            </a:pPr>
            <a:r>
              <a:rPr lang="en-US" sz="2800" b="1" dirty="0">
                <a:solidFill>
                  <a:srgbClr val="14161B"/>
                </a:solidFill>
                <a:latin typeface="Trade Gothic Next" pitchFamily="34" charset="0"/>
                <a:ea typeface="Trade Gothic Next" pitchFamily="34" charset="-122"/>
                <a:cs typeface="Trade Gothic Next" pitchFamily="34" charset="-120"/>
              </a:rPr>
              <a:t>Check Yourself</a:t>
            </a:r>
            <a:endParaRPr lang="en-US" sz="2800" dirty="0"/>
          </a:p>
        </p:txBody>
      </p:sp>
      <p:sp>
        <p:nvSpPr>
          <p:cNvPr id="3" name="Text 2"/>
          <p:cNvSpPr txBox="1"/>
          <p:nvPr>
            <p:ph idx="104" type="body" hasCustomPrompt="1"/>
          </p:nvPr>
        </p:nvSpPr>
        <p:spPr>
          <a:xfrm>
            <a:off x="685800" y="1847088"/>
            <a:ext cx="7360920" cy="384048"/>
          </a:xfrm>
          <a:prstGeom prst="rect">
            <a:avLst/>
          </a:prstGeom>
          <a:noFill/>
          <a:ln/>
        </p:spPr>
        <p:txBody>
          <a:bodyPr wrap="square" lIns="0" tIns="0" rIns="0" bIns="0" rtlCol="0"/>
          <a:lstStyle/>
          <a:p>
            <a:pPr indent="0" marL="0">
              <a:buNone/>
            </a:pPr>
            <a:r>
              <a:rPr lang="en-US" sz="1700" dirty="0">
                <a:solidFill>
                  <a:srgbClr val="2E3338"/>
                </a:solidFill>
                <a:latin typeface="Trade Gothic Next" pitchFamily="34" charset="0"/>
                <a:ea typeface="Trade Gothic Next" pitchFamily="34" charset="-122"/>
                <a:cs typeface="Trade Gothic Next" pitchFamily="34" charset="-120"/>
              </a:rPr>
              <a:t>Work all three in your notes before we compare.</a:t>
            </a:r>
            <a:endParaRPr lang="en-US" sz="1700" dirty="0"/>
          </a:p>
        </p:txBody>
      </p:sp>
      <p:sp>
        <p:nvSpPr>
          <p:cNvPr id="4" name="Text 5"/>
          <p:cNvSpPr txBox="1"/>
          <p:nvPr>
            <p:ph idx="109" type="body" hasCustomPrompt="1"/>
          </p:nvPr>
        </p:nvSpPr>
        <p:spPr>
          <a:xfrm>
            <a:off x="886968" y="2953512"/>
            <a:ext cx="2999232" cy="219456"/>
          </a:xfrm>
          <a:prstGeom prst="rect">
            <a:avLst/>
          </a:prstGeom>
          <a:noFill/>
          <a:ln/>
        </p:spPr>
        <p:txBody>
          <a:bodyPr wrap="square" lIns="0" tIns="0" rIns="0" bIns="0" rtlCol="0"/>
          <a:lstStyle/>
          <a:p>
            <a:pPr indent="0" marL="0">
              <a:buNone/>
            </a:pPr>
            <a:r>
              <a:rPr lang="en-US" sz="1200" b="1" spc="120" kern="0" dirty="0">
                <a:solidFill>
                  <a:srgbClr val="2E3338"/>
                </a:solidFill>
                <a:latin typeface="Trade Gothic Next" pitchFamily="34" charset="0"/>
                <a:ea typeface="Trade Gothic Next" pitchFamily="34" charset="-122"/>
                <a:cs typeface="Trade Gothic Next" pitchFamily="34" charset="-120"/>
              </a:rPr>
              <a:t>PHOSPHORUS, Z = 15</a:t>
            </a:r>
            <a:endParaRPr lang="en-US" sz="1200" dirty="0"/>
          </a:p>
        </p:txBody>
      </p:sp>
      <p:sp>
        <p:nvSpPr>
          <p:cNvPr id="5" name="Text 5"/>
          <p:cNvSpPr txBox="1"/>
          <p:nvPr>
            <p:ph idx="110" type="body" hasCustomPrompt="1"/>
          </p:nvPr>
        </p:nvSpPr>
        <p:spPr>
          <a:xfrm>
            <a:off x="886968" y="3246120"/>
            <a:ext cx="2999232" cy="1673352"/>
          </a:xfrm>
          <a:prstGeom prst="rect">
            <a:avLst/>
          </a:prstGeom>
          <a:noFill/>
          <a:ln/>
        </p:spPr>
        <p:txBody>
          <a:bodyPr wrap="square" lIns="0" tIns="0" rIns="0" bIns="0" rtlCol="0"/>
          <a:lstStyle/>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Write the longhand configuration.</a:t>
            </a:r>
            <a:endParaRPr lang="en-US" sz="1600" dirty="0"/>
          </a:p>
        </p:txBody>
      </p:sp>
      <p:sp>
        <p:nvSpPr>
          <p:cNvPr id="6" name="Text 6"/>
          <p:cNvSpPr txBox="1"/>
          <p:nvPr>
            <p:ph idx="112" type="body" hasCustomPrompt="1"/>
          </p:nvPr>
        </p:nvSpPr>
        <p:spPr>
          <a:xfrm>
            <a:off x="4498848" y="2953512"/>
            <a:ext cx="2999232" cy="219456"/>
          </a:xfrm>
          <a:prstGeom prst="rect">
            <a:avLst/>
          </a:prstGeom>
          <a:noFill/>
          <a:ln/>
        </p:spPr>
        <p:txBody>
          <a:bodyPr wrap="square" lIns="0" tIns="0" rIns="0" bIns="0" rtlCol="0"/>
          <a:lstStyle/>
          <a:p>
            <a:pPr indent="0" marL="0">
              <a:buNone/>
            </a:pPr>
            <a:r>
              <a:rPr lang="en-US" sz="1200" b="1" spc="120" kern="0" dirty="0">
                <a:solidFill>
                  <a:srgbClr val="2E3338"/>
                </a:solidFill>
                <a:latin typeface="Trade Gothic Next" pitchFamily="34" charset="0"/>
                <a:ea typeface="Trade Gothic Next" pitchFamily="34" charset="-122"/>
                <a:cs typeface="Trade Gothic Next" pitchFamily="34" charset="-120"/>
              </a:rPr>
              <a:t>SULFUR, Z = 16</a:t>
            </a:r>
            <a:endParaRPr lang="en-US" sz="1200" dirty="0"/>
          </a:p>
        </p:txBody>
      </p:sp>
      <p:sp>
        <p:nvSpPr>
          <p:cNvPr id="7" name="Text 6"/>
          <p:cNvSpPr txBox="1"/>
          <p:nvPr>
            <p:ph idx="113" type="body" hasCustomPrompt="1"/>
          </p:nvPr>
        </p:nvSpPr>
        <p:spPr>
          <a:xfrm>
            <a:off x="4498848" y="3246120"/>
            <a:ext cx="2999232" cy="1673352"/>
          </a:xfrm>
          <a:prstGeom prst="rect">
            <a:avLst/>
          </a:prstGeom>
          <a:noFill/>
          <a:ln/>
        </p:spPr>
        <p:txBody>
          <a:bodyPr wrap="square" lIns="0" tIns="0" rIns="0" bIns="0" rtlCol="0"/>
          <a:lstStyle/>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Write the shorthand and sketch the 3p boxes.</a:t>
            </a:r>
            <a:endParaRPr lang="en-US" sz="1600" dirty="0"/>
          </a:p>
        </p:txBody>
      </p:sp>
      <p:sp>
        <p:nvSpPr>
          <p:cNvPr id="8" name="Text 7"/>
          <p:cNvSpPr txBox="1"/>
          <p:nvPr>
            <p:ph idx="115" type="body" hasCustomPrompt="1"/>
          </p:nvPr>
        </p:nvSpPr>
        <p:spPr>
          <a:xfrm>
            <a:off x="8110728" y="2953512"/>
            <a:ext cx="2999232" cy="219456"/>
          </a:xfrm>
          <a:prstGeom prst="rect">
            <a:avLst/>
          </a:prstGeom>
          <a:noFill/>
          <a:ln/>
        </p:spPr>
        <p:txBody>
          <a:bodyPr wrap="square" lIns="0" tIns="0" rIns="0" bIns="0" rtlCol="0"/>
          <a:lstStyle/>
          <a:p>
            <a:pPr indent="0" marL="0">
              <a:buNone/>
            </a:pPr>
            <a:r>
              <a:rPr lang="en-US" sz="1200" b="1" spc="120" kern="0" dirty="0">
                <a:solidFill>
                  <a:srgbClr val="2E3338"/>
                </a:solidFill>
                <a:latin typeface="Trade Gothic Next" pitchFamily="34" charset="0"/>
                <a:ea typeface="Trade Gothic Next" pitchFamily="34" charset="-122"/>
                <a:cs typeface="Trade Gothic Next" pitchFamily="34" charset="-120"/>
              </a:rPr>
              <a:t>COPPER, Z = 29</a:t>
            </a:r>
            <a:endParaRPr lang="en-US" sz="1200" dirty="0"/>
          </a:p>
        </p:txBody>
      </p:sp>
      <p:sp>
        <p:nvSpPr>
          <p:cNvPr id="9" name="Text 7"/>
          <p:cNvSpPr txBox="1"/>
          <p:nvPr>
            <p:ph idx="116" type="body" hasCustomPrompt="1"/>
          </p:nvPr>
        </p:nvSpPr>
        <p:spPr>
          <a:xfrm>
            <a:off x="8110728" y="3246120"/>
            <a:ext cx="2999232" cy="1673352"/>
          </a:xfrm>
          <a:prstGeom prst="rect">
            <a:avLst/>
          </a:prstGeom>
          <a:noFill/>
          <a:ln/>
        </p:spPr>
        <p:txBody>
          <a:bodyPr wrap="square" lIns="0" tIns="0" rIns="0" bIns="0" rtlCol="0"/>
          <a:lstStyle/>
          <a:p>
            <a:pPr indent="0" marL="0">
              <a:buNone/>
            </a:pPr>
            <a:r>
              <a:rPr lang="en-US" sz="1600" dirty="0">
                <a:solidFill>
                  <a:srgbClr val="14161B"/>
                </a:solidFill>
                <a:latin typeface="Trade Gothic Next" pitchFamily="34" charset="0"/>
                <a:ea typeface="Trade Gothic Next" pitchFamily="34" charset="-122"/>
                <a:cs typeface="Trade Gothic Next" pitchFamily="34" charset="-120"/>
              </a:rPr>
              <a:t>Write the actual shorthand. Say why it is an exception.</a:t>
            </a:r>
            <a:endParaRPr lang="en-US" sz="1600" dirty="0"/>
          </a:p>
        </p:txBody>
      </p:sp>
      <p:sp>
        <p:nvSpPr>
          <p:cNvPr id="10" name="Text 9"/>
          <p:cNvSpPr txBox="1"/>
          <p:nvPr>
            <p:ph idx="119" type="body" hasCustomPrompt="1"/>
          </p:nvPr>
        </p:nvSpPr>
        <p:spPr>
          <a:xfrm>
            <a:off x="2240280" y="5486400"/>
            <a:ext cx="8991295" cy="402336"/>
          </a:xfrm>
          <a:prstGeom prst="rect">
            <a:avLst/>
          </a:prstGeom>
          <a:noFill/>
          <a:ln/>
        </p:spPr>
        <p:txBody>
          <a:bodyPr wrap="square" lIns="0" tIns="0" rIns="0" bIns="0" rtlCol="0" anchor="ctr"/>
          <a:lstStyle/>
          <a:p>
            <a:pPr indent="0" marL="0">
              <a:buNone/>
            </a:pPr>
            <a:r>
              <a:rPr lang="en-US" sz="1600" b="1" dirty="0">
                <a:solidFill>
                  <a:srgbClr val="EDF0E5"/>
                </a:solidFill>
                <a:latin typeface="Trade Gothic Next" pitchFamily="34" charset="0"/>
                <a:ea typeface="Trade Gothic Next" pitchFamily="34" charset="-122"/>
                <a:cs typeface="Trade Gothic Next" pitchFamily="34" charset="-120"/>
              </a:rPr>
              <a:t>Show the electron sum for each one. If it is not Z, find the error.</a:t>
            </a:r>
            <a:endParaRPr lang="en-US" sz="1600" dirty="0"/>
          </a:p>
        </p:txBody>
      </p:sp>
      <p:sp>
        <p:nvSpPr>
          <p:cNvPr id="11" name="Text 1"/>
          <p:cNvSpPr txBox="1"/>
          <p:nvPr>
            <p:ph idx="101" type="body" hasCustomPrompt="1"/>
          </p:nvPr>
        </p:nvSpPr>
        <p:spPr>
          <a:xfrm>
            <a:off x="685800" y="384048"/>
            <a:ext cx="6400800" cy="237744"/>
          </a:xfrm>
          <a:prstGeom prst="rect">
            <a:avLst/>
          </a:prstGeom>
          <a:noFill/>
          <a:ln/>
        </p:spPr>
        <p:txBody>
          <a:bodyPr wrap="square" lIns="0" tIns="0" rIns="0" bIns="0" rtlCol="0" anchor="ctr"/>
          <a:lstStyle/>
          <a:p>
            <a:pPr indent="0" marL="0">
              <a:buNone/>
            </a:pPr>
            <a:r>
              <a:rPr lang="en-US" sz="1100" b="1" spc="160" kern="0" dirty="0">
                <a:solidFill>
                  <a:srgbClr val="14161B"/>
                </a:solidFill>
                <a:latin typeface="Trade Gothic Next" pitchFamily="34" charset="0"/>
                <a:ea typeface="Trade Gothic Next" pitchFamily="34" charset="-122"/>
                <a:cs typeface="Trade Gothic Next" pitchFamily="34" charset="-120"/>
              </a:rPr>
              <a:t>UNIT 02  •  CHEMISTRY</a:t>
            </a:r>
            <a:endParaRPr lang="en-US" sz="1100" dirty="0"/>
          </a:p>
        </p:txBody>
      </p:sp>
      <p:sp>
        <p:nvSpPr>
          <p:cNvPr id="12" name="Text 10"/>
          <p:cNvSpPr txBox="1"/>
          <p:nvPr>
            <p:ph idx="121" type="body" hasCustomPrompt="1"/>
          </p:nvPr>
        </p:nvSpPr>
        <p:spPr>
          <a:xfrm>
            <a:off x="8762695" y="6382512"/>
            <a:ext cx="2743200" cy="237744"/>
          </a:xfrm>
          <a:prstGeom prst="rect">
            <a:avLst/>
          </a:prstGeom>
          <a:noFill/>
          <a:ln/>
        </p:spPr>
        <p:txBody>
          <a:bodyPr wrap="square" lIns="0" tIns="0" rIns="0" bIns="0" rtlCol="0" anchor="ctr"/>
          <a:lstStyle/>
          <a:p>
            <a:pPr algn="r" indent="0" marL="0">
              <a:buNone/>
            </a:pPr>
            <a:r>
              <a:rPr lang="en-US" sz="1000" b="1" spc="140" kern="0" dirty="0">
                <a:solidFill>
                  <a:srgbClr val="2E3338"/>
                </a:solidFill>
                <a:latin typeface="Trade Gothic Next" pitchFamily="34" charset="0"/>
                <a:ea typeface="Trade Gothic Next" pitchFamily="34" charset="-122"/>
                <a:cs typeface="Trade Gothic Next" pitchFamily="34" charset="-120"/>
              </a:rPr>
              <a:t>U02 • S02.3</a:t>
            </a:r>
            <a:endParaRPr lang="en-US" sz="1000" dirty="0"/>
          </a:p>
        </p:txBody>
      </p:sp>
      <p:sp>
        <p:nvSpPr>
          <p:cNvPr id="14" name="Text 4"/>
          <p:cNvSpPr txBox="1"/>
          <p:nvPr>
            <p:ph idx="107" hasCustomPrompt="1"/>
          </p:nvPr>
        </p:nvSpPr>
        <p:spPr>
          <a:xfrm>
            <a:off x="8641080" y="1088136"/>
            <a:ext cx="2633472" cy="1481328"/>
          </a:xfrm>
          <a:prstGeom prst="rect">
            <a:avLst/>
          </a:prstGeom>
          <a:noFill/>
          <a:ln/>
        </p:spPr>
        <p:txBody>
          <a:bodyPr wrap="square" lIns="0" tIns="0" rIns="0" bIns="0" rtlCol="0" anchor="ctr"/>
          <a:lstStyle/>
          <a:p>
            <a:pPr algn="ctr" indent="0" marL="0">
              <a:buNone/>
            </a:pP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5"/>
          <p:cNvSpPr txBox="1"/>
          <p:nvPr>
            <p:ph idx="106" type="body" hasCustomPrompt="1"/>
          </p:nvPr>
        </p:nvSpPr>
        <p:spPr>
          <a:xfrm>
            <a:off x="841248" y="1755648"/>
            <a:ext cx="3154680" cy="457200"/>
          </a:xfrm>
          <a:prstGeom prst="rect">
            <a:avLst/>
          </a:prstGeom>
          <a:noFill/>
          <a:ln/>
        </p:spPr>
        <p:txBody>
          <a:bodyPr wrap="square" lIns="0" tIns="0" rIns="0" bIns="0" rtlCol="0"/>
          <a:lstStyle/>
          <a:p>
            <a:pPr indent="0" marL="0">
              <a:buNone/>
            </a:pPr>
            <a:r>
              <a:rPr lang="en-US" sz="1100" b="1" spc="150" kern="0" dirty="0">
                <a:solidFill>
                  <a:srgbClr val="A3E635"/>
                </a:solidFill>
                <a:latin typeface="Trade Gothic Next" pitchFamily="34" charset="0"/>
                <a:ea typeface="Trade Gothic Next" pitchFamily="34" charset="-122"/>
                <a:cs typeface="Trade Gothic Next" pitchFamily="34" charset="-120"/>
              </a:rPr>
              <a:t>LOOKING AHEAD</a:t>
            </a:r>
            <a:endParaRPr lang="en-US" sz="1100" dirty="0"/>
          </a:p>
        </p:txBody>
      </p:sp>
      <p:sp>
        <p:nvSpPr>
          <p:cNvPr id="3" name="Text 5"/>
          <p:cNvSpPr txBox="1"/>
          <p:nvPr>
            <p:ph idx="107" type="title" hasCustomPrompt="1"/>
          </p:nvPr>
        </p:nvSpPr>
        <p:spPr>
          <a:xfrm>
            <a:off x="841248" y="2304288"/>
            <a:ext cx="3154680" cy="1417320"/>
          </a:xfrm>
          <a:prstGeom prst="rect">
            <a:avLst/>
          </a:prstGeom>
          <a:noFill/>
          <a:ln/>
        </p:spPr>
        <p:txBody>
          <a:bodyPr wrap="square" lIns="0" tIns="0" rIns="0" bIns="0" rtlCol="0"/>
          <a:lstStyle/>
          <a:p>
            <a:pPr algn="l" indent="0" marL="0">
              <a:lnSpc>
                <a:spcPct val="108000"/>
              </a:lnSpc>
              <a:buNone/>
            </a:pPr>
            <a:r>
              <a:rPr lang="en-US" sz="2600" b="1" dirty="0">
                <a:solidFill>
                  <a:srgbClr val="EDF0E5"/>
                </a:solidFill>
                <a:latin typeface="Trade Gothic Next" pitchFamily="34" charset="0"/>
                <a:ea typeface="Trade Gothic Next" pitchFamily="34" charset="-122"/>
                <a:cs typeface="Trade Gothic Next" pitchFamily="34" charset="-120"/>
              </a:rPr>
              <a:t>Where This</a:t>
            </a:r>
            <a:endParaRPr lang="en-US" sz="2600" dirty="0"/>
          </a:p>
          <a:p>
            <a:pPr algn="l" indent="0" marL="0">
              <a:lnSpc>
                <a:spcPct val="108000"/>
              </a:lnSpc>
              <a:buNone/>
            </a:pPr>
            <a:r>
              <a:rPr lang="en-US" sz="2600" b="1" dirty="0">
                <a:solidFill>
                  <a:srgbClr val="EDF0E5"/>
                </a:solidFill>
                <a:latin typeface="Trade Gothic Next" pitchFamily="34" charset="0"/>
                <a:ea typeface="Trade Gothic Next" pitchFamily="34" charset="-122"/>
                <a:cs typeface="Trade Gothic Next" pitchFamily="34" charset="-120"/>
              </a:rPr>
              <a:t>Goes Next</a:t>
            </a:r>
            <a:endParaRPr lang="en-US" sz="2600" dirty="0"/>
          </a:p>
        </p:txBody>
      </p:sp>
      <p:sp>
        <p:nvSpPr>
          <p:cNvPr id="4" name="Text 5"/>
          <p:cNvSpPr txBox="1"/>
          <p:nvPr>
            <p:ph idx="108" type="body" hasCustomPrompt="1"/>
          </p:nvPr>
        </p:nvSpPr>
        <p:spPr>
          <a:xfrm>
            <a:off x="841248" y="3858768"/>
            <a:ext cx="3154680" cy="1097280"/>
          </a:xfrm>
          <a:prstGeom prst="rect">
            <a:avLst/>
          </a:prstGeom>
          <a:noFill/>
          <a:ln/>
        </p:spPr>
        <p:txBody>
          <a:bodyPr wrap="square" lIns="0" tIns="0" rIns="0" bIns="0" rtlCol="0"/>
          <a:lstStyle/>
          <a:p>
            <a:pPr indent="0" marL="0">
              <a:buNone/>
            </a:pPr>
            <a:r>
              <a:rPr lang="en-US" sz="1600" dirty="0">
                <a:solidFill>
                  <a:srgbClr val="BDB6AA"/>
                </a:solidFill>
                <a:latin typeface="Trade Gothic Next" pitchFamily="34" charset="0"/>
                <a:ea typeface="Trade Gothic Next" pitchFamily="34" charset="-122"/>
                <a:cs typeface="Trade Gothic Next" pitchFamily="34" charset="-120"/>
              </a:rPr>
              <a:t>Next: valence electrons, and the configurations of ions.</a:t>
            </a:r>
            <a:endParaRPr lang="en-US" sz="1600" dirty="0"/>
          </a:p>
        </p:txBody>
      </p:sp>
      <p:sp>
        <p:nvSpPr>
          <p:cNvPr id="5" name="Text 6"/>
          <p:cNvSpPr txBox="1"/>
          <p:nvPr>
            <p:ph idx="110" type="body" hasCustomPrompt="1"/>
          </p:nvPr>
        </p:nvSpPr>
        <p:spPr>
          <a:xfrm>
            <a:off x="8762695" y="6382512"/>
            <a:ext cx="2743200" cy="237744"/>
          </a:xfrm>
          <a:prstGeom prst="rect">
            <a:avLst/>
          </a:prstGeom>
          <a:noFill/>
          <a:ln/>
        </p:spPr>
        <p:txBody>
          <a:bodyPr wrap="square" lIns="0" tIns="0" rIns="0" bIns="0" rtlCol="0" anchor="ctr"/>
          <a:lstStyle/>
          <a:p>
            <a:pPr algn="r" indent="0" marL="0">
              <a:buNone/>
            </a:pPr>
            <a:r>
              <a:rPr lang="en-US" sz="1000" b="1" spc="140" kern="0" dirty="0">
                <a:solidFill>
                  <a:srgbClr val="BDB6AA"/>
                </a:solidFill>
                <a:latin typeface="Trade Gothic Next" pitchFamily="34" charset="0"/>
                <a:ea typeface="Trade Gothic Next" pitchFamily="34" charset="-122"/>
                <a:cs typeface="Trade Gothic Next" pitchFamily="34" charset="-120"/>
              </a:rPr>
              <a:t>U02 • S02.3</a:t>
            </a:r>
            <a:endParaRPr lang="en-US" sz="1000" dirty="0"/>
          </a:p>
        </p:txBody>
      </p:sp>
      <p:sp>
        <p:nvSpPr>
          <p:cNvPr id="7" name="Text 2"/>
          <p:cNvSpPr txBox="1"/>
          <p:nvPr>
            <p:ph idx="102" hasCustomPrompt="1"/>
          </p:nvPr>
        </p:nvSpPr>
        <p:spPr>
          <a:xfrm>
            <a:off x="2926080" y="0"/>
            <a:ext cx="9262872" cy="6858000"/>
          </a:xfrm>
          <a:prstGeom prst="rect">
            <a:avLst/>
          </a:prstGeom>
          <a:noFill/>
          <a:ln/>
        </p:spPr>
        <p:txBody>
          <a:bodyPr wrap="square" lIns="0" tIns="0" rIns="0" bIns="0" rtlCol="0" anchor="ctr"/>
          <a:lstStyle/>
          <a:p>
            <a:pPr algn="ctr" indent="0" marL="0">
              <a:buNone/>
            </a:pP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SHULL Science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SHULL Science — Slide Template (CHEMISTRY)</dc:title>
  <dc:subject>PptxGenJS Presentation</dc:subject>
  <dc:creator>Matthew Shull</dc:creator>
  <cp:lastModifiedBy>Matthew Shull</cp:lastModifiedBy>
  <cp:revision>1</cp:revision>
  <dcterms:created xsi:type="dcterms:W3CDTF">2026-10-04T20:52:52Z</dcterms:created>
  <dcterms:modified xsi:type="dcterms:W3CDTF">2026-10-04T20:52:52Z</dcterms:modified>
</cp:coreProperties>
</file>