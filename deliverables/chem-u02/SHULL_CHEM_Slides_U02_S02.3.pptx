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CLICK BUILD: 8 clicks: 1 boxes and labels fly in; 2 1s up arrow; 3 1s down arrow; 4 2s up arrow; 5 2s down arrow; 6 2p up arrow; 7 2p up arrow; 8 2p up arrow.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build (see scripts/add_click_builds.py): the three 2p boxes fly in, then one arrow per click: up, up, up (Hund: singles first), then down in box 1 (Pauli: a pair has opposite spins). Result: 2p^4 with one pair and two singles, so 2 unpaired electrons. Have students draw each arrow in their notes at the same click. Same filling as the oxygen example later in this deck.</a:t>
            </a:r>
          </a:p>
          <a:p>
            <a:r>
              <a:t>CLICK BUILD: 5 clicks: 1 boxes and labels fly in; 2 2p up arrow; 3 2p up arrow; 4 2p up arrow; 5 2p down arrow.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CLICK BUILD: 9 clicks: 1 boxes and labels fly in; 2 1s up arrow; 3 1s down arrow; 4 2s up arrow; 5 2s down arrow; 6 2p up arrow; 7 2p up arrow; 8 2p up arrow; 9 2p down arrow.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built one click at a time (the longhand first, then the noble gas before it in brackets).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build for germanium (Z = 32), on text boxes, one per segment. The CLICK BUILD line at the end says exactly what each click does. Teach it in this order: write the longhand first; find the noble gas that comes BEFORE germanium and highlight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[Ar] sits against the remaining segments, in the space the highlighted block occupied, so the line reads [Ar] 4s^2 3d^10 4p^2 after click 3; click 4 writes the finished line as the answer to copy. Cl stays on the previous slide as the static example. A static export or print of this slide shows every shape at once (the highlight, the replaced segments and [Ar] overlap); for a handout use the --preview export of scripts/add_click_builds.py.</a:t>
            </a:r>
          </a:p>
          <a:p>
            <a:r>
              <a:t>CLICK BUILD: 4 clicks: 1 Ge: the longhand line, one text box per segment, and its sum (2+2+6+2+6+2+10+2 = 32) appear; 2 Ge: the first 5 segments (the Ar part, 18 electrons) are highlighted: These 18 electrons are exactly argon's configuration; 3 Ge: the highlighted segments leave and [Ar] appears in their place: The noble gas BEFORE germanium stands in for them, like a substitution in math; 4 Ge: the finished line appears: [Ar] 4s2 3d10 4p2.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then work it. Answer on the next slide. Fe, Z = 26. Fill 4s before 3d, and we write 4s ahead of 3d (filling-order notation, PROVISIONAL convention).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[Ar] 4s^2 3d^6, 18 + 2 + 6 = 26. The 3d boxes hold one pair and four singles, so 4 unpaired. Longhand: 1s^2 2s^2 2p^6 3s^2 3p^6 4s^2 3d^6.</a:t>
            </a:r>
          </a:p>
          <a:p>
            <a:r>
              <a:t>CLICK BUILD: 9 clicks: 1 boxes and labels fly in; 2 4s up arrow; 3 4s down arrow; 4 3d up arrow; 5 3d up arrow; 6 3d up arrow; 7 3d up arrow; 8 3d up arrow; 9 3d down arrow.</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click build (the CLICK BUILD line at the end gives the clicks). Boxes for 4s and 3d only; the [Ar] core (18 electrons) is not drawn. Click 1: the atom as the rules predict, [Ar] 4s^2 3d^9 (4s before 3d; 18 + 2 + 9 = 29). Click 2: one 4s arrow leaves. Click 3: a 3d down arrow arrives in the fifth box. End: [Ar] 4s^1 3d^10, 18 + 1 + 10 = 29, one unpaired electron (the 4s). Same electron count before and after: an electron MOVES,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CLICK BUILD: 3 clicks: 1 Cu: boxes, labels and every electron arrow fly in; 2 Cu: remove 4s down arrow; 3 Cu: add 3d down arrow.</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click build. Click 1: predicted [Ar] 4s^2 3d^4 (18 + 2 + 4 = 24): four up arrows in 3d and one empty box. Click 2: one 4s arrow leaves. Click 3: an up arrow arrives in the fifth 3d box. End: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CLICK BUILD: 3 clicks: 1 Cr: boxes, labels and every electron arrow fly in; 2 Cr: remove 4s down arrow; 3 Cr: add 3d up arrow.</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(PROVISIONAL: the script checks only that the electron totals are 41 and 74; confirm the configurations against a source before quoting or testing):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Replay the Chromium click build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click build: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replay the Copper click build (slide 'Exception: Copper'):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9.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Up arrow in 1s box 1"/>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Down arrow in 1s box 1"/>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Up arrow in 2s box 1"/>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Down arrow in 2s box 1"/>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Up arrow in 2p box 1"/>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Up arrow in 2p box 2"/>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Up arrow in 2p box 3"/>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400"/>
                                        <p:tgtEl>
                                          <p:spTgt spid="3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00"/>
                                        <p:tgtEl>
                                          <p:spTgt spid="35"/>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31" grpId="0"/>
      <p:bldP spid="34" grpId="0"/>
      <p:bldP spid="26" grpId="0" animBg="1"/>
      <p:bldP spid="27" grpId="0" animBg="1"/>
      <p:bldP spid="32" grpId="0"/>
      <p:bldP spid="28" grpId="0" animBg="1"/>
      <p:bldP spid="35" grpId="0"/>
      <p:bldP spid="29" grpId="0" animBg="1"/>
      <p:bldP spid="30" grpId="0" animBg="1"/>
      <p:bldP spid="33"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Up arrow in 2p box 1"/>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Up arrow in 2p box 2"/>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Up arrow in 2p box 3"/>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Down arrow in 2p box 1"/>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5" grpId="0"/>
      <p:bldP spid="21" grpId="0" animBg="1"/>
      <p:bldP spid="22" grpId="0" animBg="1"/>
      <p:bldP spid="23" grpId="0" animBg="1"/>
      <p:bldP spid="24" grpId="0"/>
      <p:bldP spid="26" grpId="0"/>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Up arrow in 1s box 1"/>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Down arrow in 1s box 1"/>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Up arrow in 2s box 1"/>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Down arrow in 2s box 1"/>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Up arrow in 2p box 1"/>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Up arrow in 2p box 2"/>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Up arrow in 2p box 3"/>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Down arrow in 2p box 1"/>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fade">
                                      <p:cBhvr>
                                        <p:cTn id="24" dur="400"/>
                                        <p:tgtEl>
                                          <p:spTgt spid="3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30" grpId="0"/>
      <p:bldP spid="33" grpId="0"/>
      <p:bldP spid="24" grpId="0" animBg="1"/>
      <p:bldP spid="25" grpId="0" animBg="1"/>
      <p:bldP spid="31" grpId="0"/>
      <p:bldP spid="26" grpId="0" animBg="1"/>
      <p:bldP spid="34" grpId="0"/>
      <p:bldP spid="27" grpId="0" animBg="1"/>
      <p:bldP spid="28" grpId="0" animBg="1"/>
      <p:bldP spid="29" grpId="0" animBg="1"/>
      <p:bldP spid="32" grpId="0"/>
      <p:bldP spid="35"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whose first 5 segments (18 electrons) equal Ar, then Ar in brackets standing in for them, then the finished shorthand [Ar] 4s2 3d10 4p2."/>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98063"/>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highlight core"/>
          <p:cNvSpPr/>
          <p:nvPr/>
        </p:nvSpPr>
        <p:spPr>
          <a:xfrm>
            <a:off x="1139430" y="3090671"/>
            <a:ext cx="2549281" cy="438912"/>
          </a:xfrm>
          <a:prstGeom prst="rect">
            <a:avLst/>
          </a:prstGeom>
          <a:solidFill>
            <a:srgbClr val="A3E635"/>
          </a:solidFill>
          <a:ln w="19050">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segment 1s"/>
          <p:cNvSpPr txBox="1"/>
          <p:nvPr/>
        </p:nvSpPr>
        <p:spPr>
          <a:xfrm>
            <a:off x="1176006"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p>
        </p:txBody>
      </p:sp>
      <p:sp>
        <p:nvSpPr>
          <p:cNvPr id="18" name="BUILD segment 2s"/>
          <p:cNvSpPr txBox="1"/>
          <p:nvPr/>
        </p:nvSpPr>
        <p:spPr>
          <a:xfrm>
            <a:off x="1679283"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2s</a:t>
            </a:r>
            <a:r>
              <a:rPr sz="1800" b="1" baseline="30000">
                <a:solidFill>
                  <a:srgbClr val="14161B"/>
                </a:solidFill>
                <a:latin typeface="Trade Gothic Next"/>
              </a:rPr>
              <a:t>2</a:t>
            </a:r>
          </a:p>
        </p:txBody>
      </p:sp>
      <p:sp>
        <p:nvSpPr>
          <p:cNvPr id="19" name="BUILD segment 2p"/>
          <p:cNvSpPr txBox="1"/>
          <p:nvPr/>
        </p:nvSpPr>
        <p:spPr>
          <a:xfrm>
            <a:off x="2182559" y="3108959"/>
            <a:ext cx="451145" cy="402336"/>
          </a:xfrm>
          <a:prstGeom prst="rect">
            <a:avLst/>
          </a:prstGeom>
          <a:noFill/>
        </p:spPr>
        <p:txBody>
          <a:bodyPr wrap="none" lIns="0" rIns="0" tIns="0" bIns="0" anchor="ctr">
            <a:spAutoFit/>
          </a:bodyPr>
          <a:lstStyle/>
          <a:p>
            <a:pPr algn="ctr"/>
            <a:r>
              <a:rPr sz="1800" b="1">
                <a:solidFill>
                  <a:srgbClr val="14161B"/>
                </a:solidFill>
                <a:latin typeface="Trade Gothic Next"/>
              </a:rPr>
              <a:t>2p</a:t>
            </a:r>
            <a:r>
              <a:rPr sz="1800" b="1" baseline="30000">
                <a:solidFill>
                  <a:srgbClr val="14161B"/>
                </a:solidFill>
                <a:latin typeface="Trade Gothic Next"/>
              </a:rPr>
              <a:t>6</a:t>
            </a:r>
          </a:p>
        </p:txBody>
      </p:sp>
      <p:sp>
        <p:nvSpPr>
          <p:cNvPr id="20" name="BUILD segment 3s"/>
          <p:cNvSpPr txBox="1"/>
          <p:nvPr/>
        </p:nvSpPr>
        <p:spPr>
          <a:xfrm>
            <a:off x="2697713"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3s</a:t>
            </a:r>
            <a:r>
              <a:rPr sz="1800" b="1" baseline="30000">
                <a:solidFill>
                  <a:srgbClr val="14161B"/>
                </a:solidFill>
                <a:latin typeface="Trade Gothic Next"/>
              </a:rPr>
              <a:t>2</a:t>
            </a:r>
          </a:p>
        </p:txBody>
      </p:sp>
      <p:sp>
        <p:nvSpPr>
          <p:cNvPr id="21" name="BUILD segment 3p"/>
          <p:cNvSpPr txBox="1"/>
          <p:nvPr/>
        </p:nvSpPr>
        <p:spPr>
          <a:xfrm>
            <a:off x="3200990" y="3108959"/>
            <a:ext cx="451145" cy="402336"/>
          </a:xfrm>
          <a:prstGeom prst="rect">
            <a:avLst/>
          </a:prstGeom>
          <a:noFill/>
        </p:spPr>
        <p:txBody>
          <a:bodyPr wrap="none" lIns="0" rIns="0" tIns="0" bIns="0" anchor="ctr">
            <a:spAutoFit/>
          </a:bodyPr>
          <a:lstStyle/>
          <a:p>
            <a:pPr algn="ctr"/>
            <a:r>
              <a:rPr sz="1800" b="1">
                <a:solidFill>
                  <a:srgbClr val="14161B"/>
                </a:solidFill>
                <a:latin typeface="Trade Gothic Next"/>
              </a:rPr>
              <a:t>3p</a:t>
            </a:r>
            <a:r>
              <a:rPr sz="1800" b="1" baseline="30000">
                <a:solidFill>
                  <a:srgbClr val="14161B"/>
                </a:solidFill>
                <a:latin typeface="Trade Gothic Next"/>
              </a:rPr>
              <a:t>6</a:t>
            </a:r>
          </a:p>
        </p:txBody>
      </p:sp>
      <p:sp>
        <p:nvSpPr>
          <p:cNvPr id="22" name="BUILD segment 4s"/>
          <p:cNvSpPr txBox="1"/>
          <p:nvPr/>
        </p:nvSpPr>
        <p:spPr>
          <a:xfrm>
            <a:off x="3716143" y="3108959"/>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3" name="BUILD segment 3d"/>
          <p:cNvSpPr txBox="1"/>
          <p:nvPr/>
        </p:nvSpPr>
        <p:spPr>
          <a:xfrm>
            <a:off x="4219652" y="3108959"/>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4" name="BUILD segment 4p"/>
          <p:cNvSpPr txBox="1"/>
          <p:nvPr/>
        </p:nvSpPr>
        <p:spPr>
          <a:xfrm>
            <a:off x="4819136" y="3108959"/>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5" name="BUILD sum"/>
          <p:cNvSpPr txBox="1"/>
          <p:nvPr/>
        </p:nvSpPr>
        <p:spPr>
          <a:xfrm>
            <a:off x="1024128" y="3547871"/>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2+2+6+2+6+2+10+2 = 32</a:t>
            </a:r>
          </a:p>
        </p:txBody>
      </p:sp>
      <p:sp>
        <p:nvSpPr>
          <p:cNvPr id="26" name="BUILD caption"/>
          <p:cNvSpPr txBox="1"/>
          <p:nvPr/>
        </p:nvSpPr>
        <p:spPr>
          <a:xfrm>
            <a:off x="1024128" y="3858768"/>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These 18 electrons are exactly argon's configuration</a:t>
            </a:r>
          </a:p>
        </p:txBody>
      </p:sp>
      <p:sp>
        <p:nvSpPr>
          <p:cNvPr id="27" name="BUILD caption"/>
          <p:cNvSpPr txBox="1"/>
          <p:nvPr/>
        </p:nvSpPr>
        <p:spPr>
          <a:xfrm>
            <a:off x="1024128" y="4370831"/>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The noble gas BEFORE germanium stands in for them, like a substitution in math</a:t>
            </a:r>
          </a:p>
        </p:txBody>
      </p:sp>
      <p:sp>
        <p:nvSpPr>
          <p:cNvPr id="28" name="BUILD result"/>
          <p:cNvSpPr txBox="1"/>
          <p:nvPr/>
        </p:nvSpPr>
        <p:spPr>
          <a:xfrm>
            <a:off x="1024128" y="4919472"/>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29" name="BUILD Ar bracket"/>
          <p:cNvSpPr txBox="1"/>
          <p:nvPr/>
        </p:nvSpPr>
        <p:spPr>
          <a:xfrm>
            <a:off x="3111728" y="3127247"/>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xit" presetSubtype="0" fill="hold" grpId="0" nodeType="clickEffect">
                                  <p:stCondLst>
                                    <p:cond delay="0"/>
                                  </p:stCondLst>
                                  <p:childTnLst>
                                    <p:animEffect transition="out" filter="fade">
                                      <p:cBhvr>
                                        <p:cTn id="46" dur="400"/>
                                        <p:tgtEl>
                                          <p:spTgt spid="16"/>
                                        </p:tgtEl>
                                      </p:cBhvr>
                                    </p:animEffect>
                                    <p:set>
                                      <p:cBhvr>
                                        <p:cTn id="47" dur="1" fill="hold">
                                          <p:stCondLst>
                                            <p:cond delay="399"/>
                                          </p:stCondLst>
                                        </p:cTn>
                                        <p:tgtEl>
                                          <p:spTgt spid="16"/>
                                        </p:tgtEl>
                                        <p:attrNameLst>
                                          <p:attrName>style.visibility</p:attrName>
                                        </p:attrNameLst>
                                      </p:cBhvr>
                                      <p:to>
                                        <p:strVal val="hidden"/>
                                      </p:to>
                                    </p:set>
                                  </p:childTnLst>
                                </p:cTn>
                              </p:par>
                              <p:par>
                                <p:cTn id="48" presetID="10" presetClass="exit" presetSubtype="0" fill="hold" grpId="0" nodeType="withEffect">
                                  <p:stCondLst>
                                    <p:cond delay="0"/>
                                  </p:stCondLst>
                                  <p:childTnLst>
                                    <p:animEffect transition="out" filter="fade">
                                      <p:cBhvr>
                                        <p:cTn id="49" dur="400"/>
                                        <p:tgtEl>
                                          <p:spTgt spid="17"/>
                                        </p:tgtEl>
                                      </p:cBhvr>
                                    </p:animEffect>
                                    <p:set>
                                      <p:cBhvr>
                                        <p:cTn id="50" dur="1" fill="hold">
                                          <p:stCondLst>
                                            <p:cond delay="399"/>
                                          </p:stCondLst>
                                        </p:cTn>
                                        <p:tgtEl>
                                          <p:spTgt spid="17"/>
                                        </p:tgtEl>
                                        <p:attrNameLst>
                                          <p:attrName>style.visibility</p:attrName>
                                        </p:attrNameLst>
                                      </p:cBhvr>
                                      <p:to>
                                        <p:strVal val="hidden"/>
                                      </p:to>
                                    </p:set>
                                  </p:childTnLst>
                                </p:cTn>
                              </p:par>
                              <p:par>
                                <p:cTn id="51" presetID="10" presetClass="exit" presetSubtype="0" fill="hold" grpId="0" nodeType="withEffect">
                                  <p:stCondLst>
                                    <p:cond delay="0"/>
                                  </p:stCondLst>
                                  <p:childTnLst>
                                    <p:animEffect transition="out" filter="fade">
                                      <p:cBhvr>
                                        <p:cTn id="52" dur="400"/>
                                        <p:tgtEl>
                                          <p:spTgt spid="18"/>
                                        </p:tgtEl>
                                      </p:cBhvr>
                                    </p:animEffect>
                                    <p:set>
                                      <p:cBhvr>
                                        <p:cTn id="53" dur="1" fill="hold">
                                          <p:stCondLst>
                                            <p:cond delay="399"/>
                                          </p:stCondLst>
                                        </p:cTn>
                                        <p:tgtEl>
                                          <p:spTgt spid="18"/>
                                        </p:tgtEl>
                                        <p:attrNameLst>
                                          <p:attrName>style.visibility</p:attrName>
                                        </p:attrNameLst>
                                      </p:cBhvr>
                                      <p:to>
                                        <p:strVal val="hidden"/>
                                      </p:to>
                                    </p:set>
                                  </p:childTnLst>
                                </p:cTn>
                              </p:par>
                              <p:par>
                                <p:cTn id="54" presetID="10" presetClass="exit" presetSubtype="0" fill="hold" grpId="0" nodeType="withEffect">
                                  <p:stCondLst>
                                    <p:cond delay="0"/>
                                  </p:stCondLst>
                                  <p:childTnLst>
                                    <p:animEffect transition="out" filter="fade">
                                      <p:cBhvr>
                                        <p:cTn id="55" dur="400"/>
                                        <p:tgtEl>
                                          <p:spTgt spid="19"/>
                                        </p:tgtEl>
                                      </p:cBhvr>
                                    </p:animEffect>
                                    <p:set>
                                      <p:cBhvr>
                                        <p:cTn id="56" dur="1" fill="hold">
                                          <p:stCondLst>
                                            <p:cond delay="399"/>
                                          </p:stCondLst>
                                        </p:cTn>
                                        <p:tgtEl>
                                          <p:spTgt spid="19"/>
                                        </p:tgtEl>
                                        <p:attrNameLst>
                                          <p:attrName>style.visibility</p:attrName>
                                        </p:attrNameLst>
                                      </p:cBhvr>
                                      <p:to>
                                        <p:strVal val="hidden"/>
                                      </p:to>
                                    </p:set>
                                  </p:childTnLst>
                                </p:cTn>
                              </p:par>
                              <p:par>
                                <p:cTn id="57" presetID="10" presetClass="exit" presetSubtype="0" fill="hold" grpId="0" nodeType="withEffect">
                                  <p:stCondLst>
                                    <p:cond delay="0"/>
                                  </p:stCondLst>
                                  <p:childTnLst>
                                    <p:animEffect transition="out" filter="fade">
                                      <p:cBhvr>
                                        <p:cTn id="58" dur="400"/>
                                        <p:tgtEl>
                                          <p:spTgt spid="20"/>
                                        </p:tgtEl>
                                      </p:cBhvr>
                                    </p:animEffect>
                                    <p:set>
                                      <p:cBhvr>
                                        <p:cTn id="59" dur="1" fill="hold">
                                          <p:stCondLst>
                                            <p:cond delay="399"/>
                                          </p:stCondLst>
                                        </p:cTn>
                                        <p:tgtEl>
                                          <p:spTgt spid="20"/>
                                        </p:tgtEl>
                                        <p:attrNameLst>
                                          <p:attrName>style.visibility</p:attrName>
                                        </p:attrNameLst>
                                      </p:cBhvr>
                                      <p:to>
                                        <p:strVal val="hidden"/>
                                      </p:to>
                                    </p:set>
                                  </p:childTnLst>
                                </p:cTn>
                              </p:par>
                              <p:par>
                                <p:cTn id="60" presetID="10" presetClass="exit" presetSubtype="0" fill="hold" grpId="0" nodeType="withEffect">
                                  <p:stCondLst>
                                    <p:cond delay="0"/>
                                  </p:stCondLst>
                                  <p:childTnLst>
                                    <p:animEffect transition="out" filter="fade">
                                      <p:cBhvr>
                                        <p:cTn id="61" dur="400"/>
                                        <p:tgtEl>
                                          <p:spTgt spid="21"/>
                                        </p:tgtEl>
                                      </p:cBhvr>
                                    </p:animEffect>
                                    <p:set>
                                      <p:cBhvr>
                                        <p:cTn id="62" dur="1" fill="hold">
                                          <p:stCondLst>
                                            <p:cond delay="39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400"/>
                                        <p:tgtEl>
                                          <p:spTgt spid="2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00"/>
                                        <p:tgtEl>
                                          <p:spTgt spid="27"/>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8" grpId="0"/>
      <p:bldP spid="19" grpId="0"/>
      <p:bldP spid="20" grpId="0"/>
      <p:bldP spid="21" grpId="0"/>
      <p:bldP spid="22" grpId="0"/>
      <p:bldP spid="23" grpId="0"/>
      <p:bldP spid="24" grpId="0"/>
      <p:bldP spid="25" grpId="0"/>
      <p:bldP spid="16" grpId="0" animBg="1"/>
      <p:bldP spid="26" grpId="0"/>
      <p:bldP spid="29" grpId="0" animBg="1"/>
      <p:bldP spid="27"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shorthand,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longhand and shorthand for iron.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Argon is the core.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Up arrow in 4s box 1"/>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Down arrow in 4s box 1"/>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Up arrow in 3d box 1"/>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Up arrow in 3d box 2"/>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Up arrow in 3d box 3"/>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Up arrow in 3d box 4"/>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Up arrow in 3d box 5"/>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Down arrow in 3d box 1"/>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[Ar] 18 + 2 + 6 = 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400"/>
                                        <p:tgtEl>
                                          <p:spTgt spid="3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400"/>
                                        <p:tgtEl>
                                          <p:spTgt spid="2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00"/>
                                        <p:tgtEl>
                                          <p:spTgt spid="3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30" grpId="0"/>
      <p:bldP spid="32" grpId="0"/>
      <p:bldP spid="24" grpId="0" animBg="1"/>
      <p:bldP spid="33" grpId="0"/>
      <p:bldP spid="25" grpId="0" animBg="1"/>
      <p:bldP spid="26" grpId="0" animBg="1"/>
      <p:bldP spid="27" grpId="0" animBg="1"/>
      <p:bldP spid="28" grpId="0" animBg="1"/>
      <p:bldP spid="29" grpId="0" animBg="1"/>
      <p:bldP spid="31"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Watch what the real atom does.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p>
          </p:txBody>
        </p:sp>
      </p:grpSp>
      <p:sp>
        <p:nvSpPr>
          <p:cNvPr id="24" name="BUILD arrow 4s box1 up" descr="Up arrow in 4s box 1"/>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4s box1 down" descr="Down arrow in 4s box 1"/>
          <p:cNvSpPr/>
          <p:nvPr/>
        </p:nvSpPr>
        <p:spPr>
          <a:xfrm>
            <a:off x="140356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Up arrow in 3d box 1"/>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Up arrow in 3d box 2"/>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Up arrow in 3d box 3"/>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Up arrow in 3d box 4"/>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Up arrow in 3d box 5"/>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Down arrow in 3d box 1"/>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Down arrow in 3d box 2"/>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Down arrow in 3d box 3"/>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Down arrow in 3d box 4"/>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Down arrow in 3d box 5"/>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ppt_x"/>
                                          </p:val>
                                        </p:tav>
                                        <p:tav tm="100000">
                                          <p:val>
                                            <p:strVal val="#ppt_x"/>
                                          </p:val>
                                        </p:tav>
                                      </p:tavLst>
                                    </p:anim>
                                    <p:anim calcmode="lin" valueType="num">
                                      <p:cBhvr additive="base">
                                        <p:cTn id="16" dur="5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ppt_x"/>
                                          </p:val>
                                        </p:tav>
                                        <p:tav tm="100000">
                                          <p:val>
                                            <p:strVal val="#ppt_x"/>
                                          </p:val>
                                        </p:tav>
                                      </p:tavLst>
                                    </p:anim>
                                    <p:anim calcmode="lin" valueType="num">
                                      <p:cBhvr additive="base">
                                        <p:cTn id="20" dur="500" fill="hold"/>
                                        <p:tgtEl>
                                          <p:spTgt spid="2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 calcmode="lin" valueType="num">
                                      <p:cBhvr additive="base">
                                        <p:cTn id="23" dur="500" fill="hold"/>
                                        <p:tgtEl>
                                          <p:spTgt spid="27"/>
                                        </p:tgtEl>
                                        <p:attrNameLst>
                                          <p:attrName>ppt_x</p:attrName>
                                        </p:attrNameLst>
                                      </p:cBhvr>
                                      <p:tavLst>
                                        <p:tav tm="0">
                                          <p:val>
                                            <p:strVal val="#ppt_x"/>
                                          </p:val>
                                        </p:tav>
                                        <p:tav tm="100000">
                                          <p:val>
                                            <p:strVal val="#ppt_x"/>
                                          </p:val>
                                        </p:tav>
                                      </p:tavLst>
                                    </p:anim>
                                    <p:anim calcmode="lin" valueType="num">
                                      <p:cBhvr additive="base">
                                        <p:cTn id="24" dur="500" fill="hold"/>
                                        <p:tgtEl>
                                          <p:spTgt spid="2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500" fill="hold"/>
                                        <p:tgtEl>
                                          <p:spTgt spid="28"/>
                                        </p:tgtEl>
                                        <p:attrNameLst>
                                          <p:attrName>ppt_x</p:attrName>
                                        </p:attrNameLst>
                                      </p:cBhvr>
                                      <p:tavLst>
                                        <p:tav tm="0">
                                          <p:val>
                                            <p:strVal val="#ppt_x"/>
                                          </p:val>
                                        </p:tav>
                                        <p:tav tm="100000">
                                          <p:val>
                                            <p:strVal val="#ppt_x"/>
                                          </p:val>
                                        </p:tav>
                                      </p:tavLst>
                                    </p:anim>
                                    <p:anim calcmode="lin" valueType="num">
                                      <p:cBhvr additive="base">
                                        <p:cTn id="28" dur="500" fill="hold"/>
                                        <p:tgtEl>
                                          <p:spTgt spid="28"/>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anim calcmode="lin" valueType="num">
                                      <p:cBhvr additive="base">
                                        <p:cTn id="35" dur="500" fill="hold"/>
                                        <p:tgtEl>
                                          <p:spTgt spid="30"/>
                                        </p:tgtEl>
                                        <p:attrNameLst>
                                          <p:attrName>ppt_x</p:attrName>
                                        </p:attrNameLst>
                                      </p:cBhvr>
                                      <p:tavLst>
                                        <p:tav tm="0">
                                          <p:val>
                                            <p:strVal val="#ppt_x"/>
                                          </p:val>
                                        </p:tav>
                                        <p:tav tm="100000">
                                          <p:val>
                                            <p:strVal val="#ppt_x"/>
                                          </p:val>
                                        </p:tav>
                                      </p:tavLst>
                                    </p:anim>
                                    <p:anim calcmode="lin" valueType="num">
                                      <p:cBhvr additive="base">
                                        <p:cTn id="36" dur="500" fill="hold"/>
                                        <p:tgtEl>
                                          <p:spTgt spid="30"/>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1"/>
                                        </p:tgtEl>
                                        <p:attrNameLst>
                                          <p:attrName>style.visibility</p:attrName>
                                        </p:attrNameLst>
                                      </p:cBhvr>
                                      <p:to>
                                        <p:strVal val="visible"/>
                                      </p:to>
                                    </p:set>
                                    <p:anim calcmode="lin" valueType="num">
                                      <p:cBhvr additive="base">
                                        <p:cTn id="39" dur="500" fill="hold"/>
                                        <p:tgtEl>
                                          <p:spTgt spid="31"/>
                                        </p:tgtEl>
                                        <p:attrNameLst>
                                          <p:attrName>ppt_x</p:attrName>
                                        </p:attrNameLst>
                                      </p:cBhvr>
                                      <p:tavLst>
                                        <p:tav tm="0">
                                          <p:val>
                                            <p:strVal val="#ppt_x"/>
                                          </p:val>
                                        </p:tav>
                                        <p:tav tm="100000">
                                          <p:val>
                                            <p:strVal val="#ppt_x"/>
                                          </p:val>
                                        </p:tav>
                                      </p:tavLst>
                                    </p:anim>
                                    <p:anim calcmode="lin" valueType="num">
                                      <p:cBhvr additive="base">
                                        <p:cTn id="40" dur="500" fill="hold"/>
                                        <p:tgtEl>
                                          <p:spTgt spid="31"/>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fill="hold"/>
                                        <p:tgtEl>
                                          <p:spTgt spid="32"/>
                                        </p:tgtEl>
                                        <p:attrNameLst>
                                          <p:attrName>ppt_x</p:attrName>
                                        </p:attrNameLst>
                                      </p:cBhvr>
                                      <p:tavLst>
                                        <p:tav tm="0">
                                          <p:val>
                                            <p:strVal val="#ppt_x"/>
                                          </p:val>
                                        </p:tav>
                                        <p:tav tm="100000">
                                          <p:val>
                                            <p:strVal val="#ppt_x"/>
                                          </p:val>
                                        </p:tav>
                                      </p:tavLst>
                                    </p:anim>
                                    <p:anim calcmode="lin" valueType="num">
                                      <p:cBhvr additive="base">
                                        <p:cTn id="44" dur="500" fill="hold"/>
                                        <p:tgtEl>
                                          <p:spTgt spid="32"/>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 calcmode="lin" valueType="num">
                                      <p:cBhvr additive="base">
                                        <p:cTn id="47" dur="500" fill="hold"/>
                                        <p:tgtEl>
                                          <p:spTgt spid="33"/>
                                        </p:tgtEl>
                                        <p:attrNameLst>
                                          <p:attrName>ppt_x</p:attrName>
                                        </p:attrNameLst>
                                      </p:cBhvr>
                                      <p:tavLst>
                                        <p:tav tm="0">
                                          <p:val>
                                            <p:strVal val="#ppt_x"/>
                                          </p:val>
                                        </p:tav>
                                        <p:tav tm="100000">
                                          <p:val>
                                            <p:strVal val="#ppt_x"/>
                                          </p:val>
                                        </p:tav>
                                      </p:tavLst>
                                    </p:anim>
                                    <p:anim calcmode="lin" valueType="num">
                                      <p:cBhvr additive="base">
                                        <p:cTn id="48" dur="500" fill="hold"/>
                                        <p:tgtEl>
                                          <p:spTgt spid="33"/>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additive="base">
                                        <p:cTn id="51" dur="500" fill="hold"/>
                                        <p:tgtEl>
                                          <p:spTgt spid="34"/>
                                        </p:tgtEl>
                                        <p:attrNameLst>
                                          <p:attrName>ppt_x</p:attrName>
                                        </p:attrNameLst>
                                      </p:cBhvr>
                                      <p:tavLst>
                                        <p:tav tm="0">
                                          <p:val>
                                            <p:strVal val="#ppt_x"/>
                                          </p:val>
                                        </p:tav>
                                        <p:tav tm="100000">
                                          <p:val>
                                            <p:strVal val="#ppt_x"/>
                                          </p:val>
                                        </p:tav>
                                      </p:tavLst>
                                    </p:anim>
                                    <p:anim calcmode="lin" valueType="num">
                                      <p:cBhvr additive="base">
                                        <p:cTn id="52" dur="500" fill="hold"/>
                                        <p:tgtEl>
                                          <p:spTgt spid="34"/>
                                        </p:tgtEl>
                                        <p:attrNameLst>
                                          <p:attrName>ppt_y</p:attrName>
                                        </p:attrNameLst>
                                      </p:cBhvr>
                                      <p:tavLst>
                                        <p:tav tm="0">
                                          <p:val>
                                            <p:strVal val="1+#ppt_h/2"/>
                                          </p:val>
                                        </p:tav>
                                        <p:tav tm="100000">
                                          <p:val>
                                            <p:strVal val="#ppt_y"/>
                                          </p:val>
                                        </p:tav>
                                      </p:tavLst>
                                    </p:anim>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xit" presetSubtype="0" fill="hold" grpId="0" nodeType="clickEffect">
                                  <p:stCondLst>
                                    <p:cond delay="0"/>
                                  </p:stCondLst>
                                  <p:childTnLst>
                                    <p:animEffect transition="out" filter="fade">
                                      <p:cBhvr>
                                        <p:cTn id="62" dur="400"/>
                                        <p:tgtEl>
                                          <p:spTgt spid="25"/>
                                        </p:tgtEl>
                                      </p:cBhvr>
                                    </p:animEffect>
                                    <p:set>
                                      <p:cBhvr>
                                        <p:cTn id="63" dur="1" fill="hold">
                                          <p:stCondLst>
                                            <p:cond delay="399"/>
                                          </p:stCondLst>
                                        </p:cTn>
                                        <p:tgtEl>
                                          <p:spTgt spid="25"/>
                                        </p:tgtEl>
                                        <p:attrNameLst>
                                          <p:attrName>style.visibility</p:attrName>
                                        </p:attrNameLst>
                                      </p:cBhvr>
                                      <p:to>
                                        <p:strVal val="hidden"/>
                                      </p:to>
                                    </p:se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400"/>
                                        <p:tgtEl>
                                          <p:spTgt spid="3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7" grpId="0"/>
      <p:bldP spid="36" grpId="0"/>
      <p:bldP spid="38" grpId="0"/>
      <p:bldP spid="35" grpId="0" animBg="1"/>
      <p:bldP spid="39"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before and after.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p>
          </p:txBody>
        </p:sp>
      </p:grpSp>
      <p:sp>
        <p:nvSpPr>
          <p:cNvPr id="24" name="BUILD arrow 4s box1 up" descr="Up arrow in 4s box 1"/>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4s box1 down" descr="Down arrow in 4s box 1"/>
          <p:cNvSpPr/>
          <p:nvPr/>
        </p:nvSpPr>
        <p:spPr>
          <a:xfrm>
            <a:off x="140356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Up arrow in 3d box 1"/>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Up arrow in 3d box 2"/>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Up arrow in 3d box 3"/>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Up arrow in 3d box 4"/>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Up arrow in 3d box 5"/>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ppt_x"/>
                                          </p:val>
                                        </p:tav>
                                        <p:tav tm="100000">
                                          <p:val>
                                            <p:strVal val="#ppt_x"/>
                                          </p:val>
                                        </p:tav>
                                      </p:tavLst>
                                    </p:anim>
                                    <p:anim calcmode="lin" valueType="num">
                                      <p:cBhvr additive="base">
                                        <p:cTn id="16" dur="5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ppt_x"/>
                                          </p:val>
                                        </p:tav>
                                        <p:tav tm="100000">
                                          <p:val>
                                            <p:strVal val="#ppt_x"/>
                                          </p:val>
                                        </p:tav>
                                      </p:tavLst>
                                    </p:anim>
                                    <p:anim calcmode="lin" valueType="num">
                                      <p:cBhvr additive="base">
                                        <p:cTn id="20" dur="500" fill="hold"/>
                                        <p:tgtEl>
                                          <p:spTgt spid="2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 calcmode="lin" valueType="num">
                                      <p:cBhvr additive="base">
                                        <p:cTn id="23" dur="500" fill="hold"/>
                                        <p:tgtEl>
                                          <p:spTgt spid="27"/>
                                        </p:tgtEl>
                                        <p:attrNameLst>
                                          <p:attrName>ppt_x</p:attrName>
                                        </p:attrNameLst>
                                      </p:cBhvr>
                                      <p:tavLst>
                                        <p:tav tm="0">
                                          <p:val>
                                            <p:strVal val="#ppt_x"/>
                                          </p:val>
                                        </p:tav>
                                        <p:tav tm="100000">
                                          <p:val>
                                            <p:strVal val="#ppt_x"/>
                                          </p:val>
                                        </p:tav>
                                      </p:tavLst>
                                    </p:anim>
                                    <p:anim calcmode="lin" valueType="num">
                                      <p:cBhvr additive="base">
                                        <p:cTn id="24" dur="500" fill="hold"/>
                                        <p:tgtEl>
                                          <p:spTgt spid="2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500" fill="hold"/>
                                        <p:tgtEl>
                                          <p:spTgt spid="28"/>
                                        </p:tgtEl>
                                        <p:attrNameLst>
                                          <p:attrName>ppt_x</p:attrName>
                                        </p:attrNameLst>
                                      </p:cBhvr>
                                      <p:tavLst>
                                        <p:tav tm="0">
                                          <p:val>
                                            <p:strVal val="#ppt_x"/>
                                          </p:val>
                                        </p:tav>
                                        <p:tav tm="100000">
                                          <p:val>
                                            <p:strVal val="#ppt_x"/>
                                          </p:val>
                                        </p:tav>
                                      </p:tavLst>
                                    </p:anim>
                                    <p:anim calcmode="lin" valueType="num">
                                      <p:cBhvr additive="base">
                                        <p:cTn id="28" dur="500" fill="hold"/>
                                        <p:tgtEl>
                                          <p:spTgt spid="28"/>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00"/>
                                        <p:tgtEl>
                                          <p:spTgt spid="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xit" presetSubtype="0" fill="hold" grpId="0" nodeType="clickEffect">
                                  <p:stCondLst>
                                    <p:cond delay="0"/>
                                  </p:stCondLst>
                                  <p:childTnLst>
                                    <p:animEffect transition="out" filter="fade">
                                      <p:cBhvr>
                                        <p:cTn id="42" dur="400"/>
                                        <p:tgtEl>
                                          <p:spTgt spid="25"/>
                                        </p:tgtEl>
                                      </p:cBhvr>
                                    </p:animEffect>
                                    <p:set>
                                      <p:cBhvr>
                                        <p:cTn id="43" dur="1" fill="hold">
                                          <p:stCondLst>
                                            <p:cond delay="399"/>
                                          </p:stCondLst>
                                        </p:cTn>
                                        <p:tgtEl>
                                          <p:spTgt spid="25"/>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2" grpId="0"/>
      <p:bldP spid="31" grpId="0"/>
      <p:bldP spid="33" grpId="0"/>
      <p:bldP spid="30" grpId="0" animBg="1"/>
      <p:bldP spid="34"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2026-10-04T19:52:46Z</dcterms:created>
  <dcterms:modified xsi:type="dcterms:W3CDTF">2026-10-04T19:52:46Z</dcterms:modified>
</cp:coreProperties>
</file>