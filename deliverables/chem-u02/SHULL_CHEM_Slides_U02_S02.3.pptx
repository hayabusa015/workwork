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scope: required through Kr (Z = 36), per the content brief; Matt to confirm. Period 5 and beyond (Mo, Ag, Au) are not taught on these slides and are not checked in the build script. PROVISIONAL notation: configurations are written in filling order, e.g. [Ar] 4s^2 3d^6, not energy order. Image prompt (section slot): a long row of numbered wooden mail slots in a dim hallway, a few holding envelopes.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do all 8 electrons have the same energy? Let them guess; the slides answer it (no). Z = 8 comes from the periodic table. Image prompt (concept slot): an apartment building at dusk with a few lit windows on different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aloud: two-p-four. Level 2, p sublevel, 4 electrons. Ground state = lowest-energy arrangement; every configuration today is a ground state unless the slide says otherwise. Image prompt (aside slot): a printed periodic table with oxygen's cell circled in pencil.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arrow top right to bottom left. We need the order through 5p: 1s 2s 2p 3s 3p 4s 3d 4p 5s 4d 5p. Say it as: 4s fills before 3d in neutral K and Ca. Do not say 4s is always lower than 3d (once 3d holds electrons it sits lower; that is S2.4,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up and down are labels, not literal rotation. Common mix-up: two per orbital, not two per sublevel (a p sublevel has 3 orbitals and holds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N in 2p. Correct = three singles, spins parallel. Wrong = one pair, one single, one empty box. Equal-energy orbitals are called degenerate. Electrons spread out first because sharing an orbital costs repulsion.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 has 7 electrons so 7 arrows: 2 + 2 + 3. Convention: draw the up arrow first in every box, and the label's raised number counts the arrows.</a:t>
            </a:r>
          </a:p>
          <a:p>
            <a:r>
              <a:t>CLICK BUILD: 8 clicks: 1 boxes and labels fly in; 2 1s up arrow; 3 1s down arrow; 4 2s up arrow; 5 2s down arrow; 6 2p up arrow; 7 2p up arrow; 8 2p up arrow.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build (see scripts/add_click_builds.py): the three 2p boxes fly in, then one arrow per click: up, up, up (Hund: singles first), then down in box 1 (Pauli: a pair has opposite spins). Result: 2p^4 with one pair and two singles, so 2 unpaired electrons. Have students draw each arrow in their notes at the same click. Same filling as the oxygen example later in this deck.</a:t>
            </a:r>
          </a:p>
          <a:p>
            <a:r>
              <a:t>CLICK BUILD: 5 clicks: 1 boxes and labels fly in; 2 2p up arrow; 3 2p up arrow; 4 2p up arrow; 5 2p down arrow.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every element. Caps: s 2, p 6, d 10, f 14. Always check that the sum equals Z. Image prompt (band slot): a periodic table wall chart photographed at a shallow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 work area stays empty on purpose and is filled live on the board. Answer on the next slide: 1s^2 2s^2 2p^4, 2 unpaired. Image prompt (aside slot): a small cylinder of oxygen gas with a regulator, on a lab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Oxygen: 1s^2 2s^2 2p^4, 2 + 2 + 4 = 8. The 2p boxes hold one pair and two singles, so 2 unpaired.</a:t>
            </a:r>
          </a:p>
          <a:p>
            <a:r>
              <a:t>CLICK BUILD: 9 clicks: 1 boxes and labels fly in; 2 1s up arrow; 3 1s down arrow; 4 2s up arrow; 5 2s down arrow; 6 2p up arrow; 7 2p up arrow; 8 2p up arrow; 9 2p down arrow.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orbital-diagram example, after oxygen. Students copy the setup, then work it; answer on the next slide. Fe, Z = 26. Fill 4s before 3d, and we write 4s ahead of 3d (filling-order notation, PROVISIONAL convention). Only the 4s and 3d boxes are drawn; the first 18 electrons (through 3p) are just counted. The next slide counts them as 'the first 18 electrons'; the noble-gas shorthand has not been taught yet at this point, so do not name it and let the shorthand slides do that. Image prompt (aside slot): a rusted iron nail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 1s^2 2s^2 2p^6 3s^2 3p^6 4s^2 3d^6, 2+2+6+2+6+2+6 = 26. The diagram draws only 4s and 3d; the first 18 electrons (through 3p) are counted, not drawn, so its sum reads first 18 + 2 + 6 = 26. The 3d boxes hold one pair and four singles, so 4 unpaired. The 4s pair is drawn first, then the 3d boxes (Hund: one up arrow in each box, then pair). No [Ar] appears on this slide: the noble-gas shorthand is taught two slides later (slide 15), so say 'the first 18 electrons' here.</a:t>
            </a:r>
          </a:p>
          <a:p>
            <a:r>
              <a:t>CLICK BUILD: 9 clicks: 1 boxes and labels fly in; 2 4s up arrow; 3 4s down arrow; 4 3d up arrow; 5 3d up arrow; 6 3d up arrow; 7 3d up arrow; 8 3d up arrow; 9 3d down arrow.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1s^2 2s^2 2p^3, 3 unpaired. Cl: 1s^2 2s^2 2p^6 3s^2 3p^5, 1 unpaired. Ca: 1s^2 2s^2 2p^6 3s^2 3p^6 4s^2, 0 unpaired. 3d stays empty until scandium. Image prompt (aside slot): period 3 of a periodic table wall chart, lit from the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(brief): using the noble gas of the same period, or the element's own. Cl is period 3, so the core is [Ne], not [Ar]; the core is the previous period's noble gas. Shorthand: [Ne] 3s^2 3p^5, which equals the longhand 1s^2 2s^2 2p^6 3s^2 3p^5. Next slide: the same idea for germanium (the longhand first, then the noble gas before it in brackets); in the animated deck that slide is built one click at a time, in the static deck it shows the finished line. Image prompt (concept slot): a neon sign tube glowing orange-red in a dark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Shorthand build for germanium (Z = 32), on text boxes, one per segment. The CLICK BUILD line at the end says exactly what each click does. Teach it in this order: write the longhand first; find the noble gas that comes BEFORE germanium and highlight those electrons; put that noble gas in brackets; finish the line. Longhand: 1s^2 2s^2 2p^6 3s^2 3p^6 4s^2 3d^10 4p^2, 2+2+6+2+6+2+10+2 = 32. The first five segments total 18 and are exactly argon's configuration, so [Ar] is a placeholder, a substitution like writing one symbol for a long repeated expression in math. Shorthand: [Ar] 4s^2 3d^10 4p^2, 18 + 2 + 10 + 2 = 32, with 2 unpaired electrons (the two 4p singles). Common error (brief): using the noble gas of the element's own period. Krypton ends germanium's period and comes AFTER it (Z = 36 &gt; 32), so [Kr] would claim 36 electrons; the next slide shows the table strip. [Ar] sits against the remaining segments, in the space the highlighted block occupied, so the line reads [Ar] 4s^2 3d^10 4p^2 after click 3; click 4 writes the finished line as the answer to copy. Cl stays on the previous slide as the static example. A static export or print of this slide shows every shape at once (the highlight, the replaced segments and [Ar] overlap); for a handout use the --preview export of scripts/add_click_builds.py.</a:t>
            </a:r>
          </a:p>
          <a:p>
            <a:r>
              <a:t>CLICK BUILD: 4 clicks: 1 Ge: the longhand line, one text box per segment, and its sum (2+2+6+2+6+2+10+2 = 32) appear; 2 Ge: the first 5 segments (the Ar part, 18 electrons) are highlighted: These 18 electrons are exactly argon's configuration; 3 Ge: the highlighted segments and the longhand sum leave and [Ar] appears in their place: The noble gas BEFORE germanium stands in for them, like a substitution in math; 4 Ge: the finished line appears: [Ar] 4s2 3d10 4p2, with its own sum (18 + 2 + 10 + 2 = 32).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strip, periods 3 and 4 (groups 1-2, 3-12 as spans, then 13-18). Argon (Z = 18) is the last element of period 3: the noble gas BEFORE germanium. Germanium (Z = 32) is period 4, group 14. Krypton (Z = 36) ends period 4: it comes AFTER germanium, so it cannot be a core for a 32-electron atom. Rule restated: the core is the previous period's noble gas. Positions are asserted from the atomic numbers in scripts/build_diagram_u02_s02.3_configurations.py. The marks use a tick, a cross and words as well as colour. Alt text on the picture describes the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Notation-only example: no orbital diagram. Students copy the setup, then work it. Answer on the next slide: Al, Z = 13, 1s^2 2s^2 2p^6 3s^2 3p^1, 2+2+6+2+1 = 13; shorthand [Ne] 3s^2 3p^1, 10+2+1 = 13. Common error: [Ar] as the core. Argon (Z = 18) is bigger than aluminum's 13 electrons, so it cannot be a core. The core is the noble gas that ends the previous period (neon, period 2). Image prompt (aside slot): a roll of aluminum foil partly unrolled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longhand 1s^2 2s^2 2p^6 3s^2 3p^1, 2+2+6+2+1 = 13. Shorthand [Ne] 3s^2 3p^1: [Ne] stands for the first 10 (1s^2 2s^2 2p^6), then 10+2+1 = 13. Notation only; no diagram is drawn. If students use [Ar] as the core, have them add it: 18 + 2 + 1 = 21, not 13. Image prompt (data slot): the aluminum square of a periodic table wall chart, photographed close and slightly off-axis.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Notation-only example: no orbital diagram. Answers on the next slide. (a) Br, Z = 35: [Ar] 4s^2 3d^10 4p^5, 18+2+10+5 = 35. (b) Ni, Z = 28: [Ar] 4s^2 3d^8, 18+2+8 = 28. Common error: [Kr] because krypton is 'close' (Kr is Z = 36, one more than bromine, so [Kr] would already hold 36 electrons). Both are period 4, so the core is the noble gas that ends period 3, argon. Nickel follows the rules; the only exceptions taught are Cr and Cu. Image prompt (aside slot): a nickel-plated metal bar and a sealed amber ampoule of bromine on a white tray.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 Z = 35: [Ar] 4s^2 3d^10 4p^5, 18+2+10+5 = 35. (b) Ni, Z = 28: [Ar] 4s^2 3d^8, 18+2+8 = 28. Notation only; no diagram is drawn. Fill 4s before 3d, and write 4s ahead of 3d (filling-order notation, PROVISIONAL convention). Ni is not an exception. A student who writes [Kr] for either one has counted 36 electrons before writing anything else. Image prompt (data slot): the period 4 row of a periodic table wall chart, photographed close and slightly off-axis.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Copper click build (the CLICK BUILD line at the end gives the clicks). Boxes for 4s and 3d only; the [Ar] core (18 electrons) is not drawn. Click 1: the atom as the rules predict, [Ar] 4s^2 3d^9 (4s before 3d; 18 + 2 + 9 = 29). Click 2: one 4s arrow leaves. Click 3: a 3d down arrow arrives in the fifth box. End: [Ar] 4s^1 3d^10, 18 + 1 + 10 = 29, one unpaired electron (the 4s). Same electron count before and after: an electron MOVES, none is gained. Say 'measured ground state', not 'textbook error'. The arrows are bookkeeping for the end state; the diagram does not track one electron's journey. Forward pointer to S2.4: the 4s^1 electron leaves first, so Cu^+ = [Ar] 3d^10 and Cu^2+ = [Ar] 3d^9 (both checked by the figure script). The reason follows on the Why slide. Do not extend this to Ag or Au: not taught, not checked (look it up).</a:t>
            </a:r>
          </a:p>
          <a:p>
            <a:r>
              <a:t>CLICK BUILD: 3 clicks: 1 Cu: boxes, labels and every electron arrow fly in; 2 Cu: remove 4s down arrow; 3 Cu: add 3d down arrow.</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Chromium click build. Click 1: predicted [Ar] 4s^2 3d^4 (18 + 2 + 4 = 24): four up arrows in 3d and one empty box. Click 2: one 4s arrow leaves. Click 3: an up arrow arrives in the fifth 3d box. End: [Ar] 4s^1 3d^5, 18 + 1 + 5 = 24; every box in 4s and 3d holds exactly one up arrow, all spins parallel (Hund), so 6 unpaired electrons, more than iron's 4. The arrows are bookkeeping for the end state: the arrow that leaves 4s is the down one and the arrow that arrives in 3d is an up one, so do not present it as one electron keeping its spin; the point is the final arrangement. Answer to the unpaired question: 6. Same teaching label as Cu: measured ground state. Mo (same group, one period down) is an exception too, and W is not; not taught, not checked here.</a:t>
            </a:r>
          </a:p>
          <a:p>
            <a:r>
              <a:t>CLICK BUILD: 3 clicks: 1 Cr: boxes, labels and every electron arrow fly in; 2 Cr: remove 4s down arrow; 3 Cr: add 3d up arrow.</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LEVEL (simplified; say so out loud): 4s and 3d are very close in energy here. Moving one 4s electron gives a completely filled 3d (Cu) or a half-filled 3d with all five spins parallel (Cr). That lowers the atom's total energy slightly, so the real atom does that. This explains Cr and Cu; it does not predict every exception, and in this course students learn Cr and Cu and look the rest up. Do NOT say that half-full and full are always more stable. TEACHER LEVEL: the near-degeneracy of 4s and 3d is what lets a small energy change decide the arrangement. Textbook accounts cite exchange stabilization (same-spin electrons in different orbitals lower the energy; Cr has six parallel spins) and reduced electron-electron repulsion. PROVISIONAL: the textbook story is simpler than the real energy accounting, which needs electron-correlation calculations; that is why the heuristic fails. COUNTEREXAMPLES (checked against a secondary dataset, the mendeleev PyPI package, for Cr, Cu, Nb, Mo, W, Ag and Au; NIST was not reachable from here; still PROVISIONAL until Matt or a source confirms. The script itself checks only that the electron totals are 41 and 74): Nb is [Kr] 5s^1 4d^4, an exception that is not half-full or full; W is the regular [Xe] 6s^2 4f^14 5d^4 although Cr and Mo, in the same group, are exceptions. So the heuristic is not a predictor. Mo, Ag and Au (one period down) are not taught and not checked here. Forward pointer to S2.4: the 4s^1 electron leaves first, so Cu^+ = [Ar] 3d^10 and Cu^2+ = [Ar] 3d^9. Image prompt (aside slot): a coil of copper wire beside a chromium-plated tap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in order: count, caps and order, Hund and Pauli, then core / Cr / Cu. Stop at the first failure. Image prompt (band slot): a teacher's red pen resting on a page of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Each was written as a ground state. (a) O: 1s^2 2s^2 2p^6 is 10 electrons, O has 8. (b) K: [Ar] 3d^1 puts 3d before 4s. (c) Ca: [Ne] 4s^2 is 12 electrons, wrong core. (d) Cr: [Ar] 4s^2 3d^4 obeys the rules but is not the real ground state. Revisit the Chromium exception slide if students are unsure. Image prompt (aside slot): a page of student work with a few lines circled in 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(a) O 1s^2 2s^2 2p^4. (b) K [Ar] 4s^1. (c) Ca [Ar] 4s^2. (d) Cr [Ar] 4s^1 3d^5. (d) is the Chromium exception slide: predicted [Ar] 4s^2 3d^4, actual [Ar] 4s^1 3d^5. Teach 'rules-consistent' versus 'observed': (d) passes every rule on paper and is still not the real atom. Image prompt (data slot): a pencil resting on a page of crossed-out electron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Orbital-diagram errors (brief items c, d), labelled (e) and (f) here. (e) N 2p drawn up, down, up: three singles but not parallel. (f) Ne 2s drawn up, up in one box: Pauli. Ask which rule each breaks and what the fix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Hund: unpaired electrons need parallel spins. Correct N 2p: up, up, up. (f) Pauli: two electrons in one orbital must have opposite spins. Correct Ne 2s: up, down. The brief's other Hund error (pair, single, empty) is the WRONG row on the Hund slide earlier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(re-derived). P, Z = 15: 1s^2 2s^2 2p^6 3s^2 3p^3, 2+2+6+2+3 = 15, 3 unpaired. S, Z = 16: [Ne] 3s^2 3p^4, 10+2+4 = 16; 3p boxes: one pair and two singles, 2 unpaired. Cu, Z = 29: [Ar] 4s^1 3d^10, 18+1+10 = 29. Exception: go back to the Copper exception slide ('Exception: Copper', a click build in the animated deck): the rules predict [Ar] 4s^2 3d^9, one 4s electron moves into 3d, and the filled 3d lowers the atom's total energy slightly. That is the simplified reason from the Why slide (4s and 3d are close in energy); it does not predict every exception, so do not accept 'full is always more stable'. Image prompt (aside slot): a pencil and a blank sheet of lined paper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is valence electrons and ion configurations (S2.4). Image prompt (divider slot): an empty lab stool at a long bench, window light across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9.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9.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03</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2.3</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Configurations</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configurations and orbital diagrams through krypton, and catch mistakes in them.</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Are Oxygen's Electrons?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The periodic table gives you the count: 8. Today you write where each one sits.</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has 8 electrons. Do all 8 have the same energy?</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Electron Configuration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Take 2p</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apart one piece at a time.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big number in front is the level: 2.</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SUBLEVEL</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letter is the sublevel: p.</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ELECTRONS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is the electron count: 4.</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configuration lists where the electrons sit. Ground state means the lowest-energy arrangement.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illing-order chart: sublevels 1s through 7p in rows by level, with diagonal arrows linking them in the order 1s 2s 2p 3s 3p 4s 3d 4p 5s 4d 5p; 4s and 3d are outlined because 4s fills before 3d.">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Order Electrons Fill In</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each arrow from top right to bottom left, then start the next arrow.</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AUFBAU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lowest-energy open orbital fills first.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ORDER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2s 2p 3s 3p 4s 3d 4p 5s 4d 5p</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HEAVY BOXES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fills before 3d, in K and Ca.</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auli exclusion principle: one orbital box with an up arrow and a down arrow is correct; a box with two up arrows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Pauli: Two per Orbital, Opposite Spins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Up and down arrows are spin labels, not electrons orbiting opposite ways.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orbital holds at most 2 electrons.</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SPINS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If there are two, their spins are opposite.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COMMON MIX-UP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Two per orbital, not two per sublevel.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und's rule with nitrogen's 2p boxes: up, up, up in three boxes is correct; one pair, one single and one empty box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Hund's Rule: Singles Before Pairs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Equal-energy orbitals, like the three 2p boxes, each get one electron first.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all pointing the same way.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three single electrons: 3 unpaired.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TERM</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Equal-energy orbitals are called degenerate.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Orbital Diagram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box per orbital. Nitrogen has 7 electrons, so 7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and 2s have 1 box each. 2p has 3.</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ARROWS</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Draw the up arrow first in every box.</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LABEL UNDER EACH GROUP</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counts the arrows.</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nitrogen. 1s: one box, one pair. 2s: one box, one pair. 2p: three boxes, three single up arrows."/>
          <p:cNvGrpSpPr/>
          <p:nvPr/>
        </p:nvGrpSpPr>
        <p:grpSpPr>
          <a:xfrm>
            <a:off x="1024127" y="2894076"/>
            <a:ext cx="4398265" cy="1380744"/>
            <a:chOff x="1024127" y="2894076"/>
            <a:chExt cx="4398265" cy="1380744"/>
          </a:xfrm>
        </p:grpSpPr>
        <p:sp>
          <p:nvSpPr>
            <p:cNvPr id="15" name="BUILD title"/>
            <p:cNvSpPr txBox="1"/>
            <p:nvPr/>
          </p:nvSpPr>
          <p:spPr>
            <a:xfrm>
              <a:off x="1024128" y="2894076"/>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NITROGEN  Z = 7</a:t>
              </a:r>
            </a:p>
          </p:txBody>
        </p:sp>
        <p:sp>
          <p:nvSpPr>
            <p:cNvPr id="16" name="BUILD box 1s 1"/>
            <p:cNvSpPr/>
            <p:nvPr/>
          </p:nvSpPr>
          <p:spPr>
            <a:xfrm>
              <a:off x="1024127"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1s"/>
            <p:cNvSpPr txBox="1"/>
            <p:nvPr/>
          </p:nvSpPr>
          <p:spPr>
            <a:xfrm>
              <a:off x="1229689"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8" name="BUILD box 2s 1"/>
            <p:cNvSpPr/>
            <p:nvPr/>
          </p:nvSpPr>
          <p:spPr>
            <a:xfrm>
              <a:off x="2039111"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s"/>
            <p:cNvSpPr txBox="1"/>
            <p:nvPr/>
          </p:nvSpPr>
          <p:spPr>
            <a:xfrm>
              <a:off x="2244673"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20" name="BUILD box 2p 1"/>
            <p:cNvSpPr/>
            <p:nvPr/>
          </p:nvSpPr>
          <p:spPr>
            <a:xfrm>
              <a:off x="3054096"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2p 2"/>
            <p:cNvSpPr/>
            <p:nvPr/>
          </p:nvSpPr>
          <p:spPr>
            <a:xfrm>
              <a:off x="3858768"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2p 3"/>
            <p:cNvSpPr/>
            <p:nvPr/>
          </p:nvSpPr>
          <p:spPr>
            <a:xfrm>
              <a:off x="4663440"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2p"/>
            <p:cNvSpPr txBox="1"/>
            <p:nvPr/>
          </p:nvSpPr>
          <p:spPr>
            <a:xfrm>
              <a:off x="4058391" y="4000500"/>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4" name="BUILD arrow 1s box1 up" descr="">
            <a:extLst>
              <a:ext uri="{C183D7F6-B498-43B3-948B-1728B52AA6E4}">
                <adec:decorative xmlns:adec="http://schemas.microsoft.com/office/drawing/2017/decorative" val="1"/>
              </a:ext>
            </a:extLst>
          </p:cNvPr>
          <p:cNvSpPr/>
          <p:nvPr/>
        </p:nvSpPr>
        <p:spPr>
          <a:xfrm>
            <a:off x="115694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1s box1 down" descr="">
            <a:extLst>
              <a:ext uri="{C183D7F6-B498-43B3-948B-1728B52AA6E4}">
                <adec:decorative xmlns:adec="http://schemas.microsoft.com/office/drawing/2017/decorative" val="1"/>
              </a:ext>
            </a:extLst>
          </p:cNvPr>
          <p:cNvSpPr/>
          <p:nvPr/>
        </p:nvSpPr>
        <p:spPr>
          <a:xfrm>
            <a:off x="1460525"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s box1 up" descr="">
            <a:extLst>
              <a:ext uri="{C183D7F6-B498-43B3-948B-1728B52AA6E4}">
                <adec:decorative xmlns:adec="http://schemas.microsoft.com/office/drawing/2017/decorative" val="1"/>
              </a:ext>
            </a:extLst>
          </p:cNvPr>
          <p:cNvSpPr/>
          <p:nvPr/>
        </p:nvSpPr>
        <p:spPr>
          <a:xfrm>
            <a:off x="2171928"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s box1 down" descr="">
            <a:extLst>
              <a:ext uri="{C183D7F6-B498-43B3-948B-1728B52AA6E4}">
                <adec:decorative xmlns:adec="http://schemas.microsoft.com/office/drawing/2017/decorative" val="1"/>
              </a:ext>
            </a:extLst>
          </p:cNvPr>
          <p:cNvSpPr/>
          <p:nvPr/>
        </p:nvSpPr>
        <p:spPr>
          <a:xfrm>
            <a:off x="2475509"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1 up" descr="">
            <a:extLst>
              <a:ext uri="{C183D7F6-B498-43B3-948B-1728B52AA6E4}">
                <adec:decorative xmlns:adec="http://schemas.microsoft.com/office/drawing/2017/decorative" val="1"/>
              </a:ext>
            </a:extLst>
          </p:cNvPr>
          <p:cNvSpPr/>
          <p:nvPr/>
        </p:nvSpPr>
        <p:spPr>
          <a:xfrm>
            <a:off x="3186912"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2 up" descr="">
            <a:extLst>
              <a:ext uri="{C183D7F6-B498-43B3-948B-1728B52AA6E4}">
                <adec:decorative xmlns:adec="http://schemas.microsoft.com/office/drawing/2017/decorative" val="1"/>
              </a:ext>
            </a:extLst>
          </p:cNvPr>
          <p:cNvSpPr/>
          <p:nvPr/>
        </p:nvSpPr>
        <p:spPr>
          <a:xfrm>
            <a:off x="399158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2p box3 up" descr="">
            <a:extLst>
              <a:ext uri="{C183D7F6-B498-43B3-948B-1728B52AA6E4}">
                <adec:decorative xmlns:adec="http://schemas.microsoft.com/office/drawing/2017/decorative" val="1"/>
              </a:ext>
            </a:extLst>
          </p:cNvPr>
          <p:cNvSpPr/>
          <p:nvPr/>
        </p:nvSpPr>
        <p:spPr>
          <a:xfrm>
            <a:off x="4796256"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ount 1s"/>
          <p:cNvSpPr txBox="1"/>
          <p:nvPr/>
        </p:nvSpPr>
        <p:spPr>
          <a:xfrm>
            <a:off x="1456467"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s"/>
          <p:cNvSpPr txBox="1"/>
          <p:nvPr/>
        </p:nvSpPr>
        <p:spPr>
          <a:xfrm>
            <a:off x="2471451"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3" name="BUILD count 2p"/>
          <p:cNvSpPr txBox="1"/>
          <p:nvPr/>
        </p:nvSpPr>
        <p:spPr>
          <a:xfrm>
            <a:off x="4297046"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3</a:t>
            </a:r>
          </a:p>
        </p:txBody>
      </p:sp>
      <p:sp>
        <p:nvSpPr>
          <p:cNvPr id="34" name="BUILD caption"/>
          <p:cNvSpPr txBox="1"/>
          <p:nvPr/>
        </p:nvSpPr>
        <p:spPr>
          <a:xfrm>
            <a:off x="1024128" y="4311396"/>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35" name="BUILD caption"/>
          <p:cNvSpPr txBox="1"/>
          <p:nvPr/>
        </p:nvSpPr>
        <p:spPr>
          <a:xfrm>
            <a:off x="1024128" y="4567428"/>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36" name="BUILD sum"/>
          <p:cNvSpPr txBox="1"/>
          <p:nvPr/>
        </p:nvSpPr>
        <p:spPr>
          <a:xfrm>
            <a:off x="1024128" y="4860036"/>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2 + 2 + 3 = 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400"/>
                                        <p:tgtEl>
                                          <p:spTgt spid="3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00"/>
                                        <p:tgtEl>
                                          <p:spTgt spid="35"/>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31" grpId="0"/>
      <p:bldP spid="34" grpId="0"/>
      <p:bldP spid="26" grpId="0" animBg="1"/>
      <p:bldP spid="27" grpId="0" animBg="1"/>
      <p:bldP spid="32" grpId="0"/>
      <p:bldP spid="28" grpId="0" animBg="1"/>
      <p:bldP spid="35" grpId="0"/>
      <p:bldP spid="29" grpId="0" animBg="1"/>
      <p:bldP spid="30" grpId="0" animBg="1"/>
      <p:bldP spid="33"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Filling Oxygen's 2p Boxes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electrons, three boxes. Watch the order of the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2p sublevel has 3 boxes. Oxygen puts 4 electrons in them.</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up arrow in each box first.</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fourth arrow pairs up, pointing the opposite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oxygen. 2p: three boxes, one pair and two single up arrows."/>
          <p:cNvGrpSpPr/>
          <p:nvPr/>
        </p:nvGrpSpPr>
        <p:grpSpPr>
          <a:xfrm>
            <a:off x="1024128" y="2816352"/>
            <a:ext cx="4398264" cy="1536192"/>
            <a:chOff x="1024128" y="2816352"/>
            <a:chExt cx="4398264" cy="1536192"/>
          </a:xfrm>
        </p:grpSpPr>
        <p:sp>
          <p:nvSpPr>
            <p:cNvPr id="15" name="BUILD title"/>
            <p:cNvSpPr txBox="1"/>
            <p:nvPr/>
          </p:nvSpPr>
          <p:spPr>
            <a:xfrm>
              <a:off x="1024128" y="281635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OXYGEN  2p SUBLEVEL</a:t>
              </a:r>
            </a:p>
          </p:txBody>
        </p:sp>
        <p:sp>
          <p:nvSpPr>
            <p:cNvPr id="16" name="BUILD box 2p 1"/>
            <p:cNvSpPr/>
            <p:nvPr/>
          </p:nvSpPr>
          <p:spPr>
            <a:xfrm>
              <a:off x="1805939"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2p 2"/>
            <p:cNvSpPr/>
            <p:nvPr/>
          </p:nvSpPr>
          <p:spPr>
            <a:xfrm>
              <a:off x="276606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2p 3"/>
            <p:cNvSpPr/>
            <p:nvPr/>
          </p:nvSpPr>
          <p:spPr>
            <a:xfrm>
              <a:off x="372618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p"/>
            <p:cNvSpPr txBox="1"/>
            <p:nvPr/>
          </p:nvSpPr>
          <p:spPr>
            <a:xfrm>
              <a:off x="3043335" y="4078224"/>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0" name="BUILD arrow 2p box1 up" descr="">
            <a:extLst>
              <a:ext uri="{C183D7F6-B498-43B3-948B-1728B52AA6E4}">
                <adec:decorative xmlns:adec="http://schemas.microsoft.com/office/drawing/2017/decorative" val="1"/>
              </a:ext>
            </a:extLst>
          </p:cNvPr>
          <p:cNvSpPr/>
          <p:nvPr/>
        </p:nvSpPr>
        <p:spPr>
          <a:xfrm>
            <a:off x="196596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arrow 2p box2 up" descr="">
            <a:extLst>
              <a:ext uri="{C183D7F6-B498-43B3-948B-1728B52AA6E4}">
                <adec:decorative xmlns:adec="http://schemas.microsoft.com/office/drawing/2017/decorative" val="1"/>
              </a:ext>
            </a:extLst>
          </p:cNvPr>
          <p:cNvSpPr/>
          <p:nvPr/>
        </p:nvSpPr>
        <p:spPr>
          <a:xfrm>
            <a:off x="2926079"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arrow 2p box3 up" descr="">
            <a:extLst>
              <a:ext uri="{C183D7F6-B498-43B3-948B-1728B52AA6E4}">
                <adec:decorative xmlns:adec="http://schemas.microsoft.com/office/drawing/2017/decorative" val="1"/>
              </a:ext>
            </a:extLst>
          </p:cNvPr>
          <p:cNvSpPr/>
          <p:nvPr/>
        </p:nvSpPr>
        <p:spPr>
          <a:xfrm>
            <a:off x="388620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2p box1 down" descr="">
            <a:extLst>
              <a:ext uri="{C183D7F6-B498-43B3-948B-1728B52AA6E4}">
                <adec:decorative xmlns:adec="http://schemas.microsoft.com/office/drawing/2017/decorative" val="1"/>
              </a:ext>
            </a:extLst>
          </p:cNvPr>
          <p:cNvSpPr/>
          <p:nvPr/>
        </p:nvSpPr>
        <p:spPr>
          <a:xfrm>
            <a:off x="2331720" y="3300984"/>
            <a:ext cx="228600" cy="566928"/>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count 2p"/>
          <p:cNvSpPr txBox="1"/>
          <p:nvPr/>
        </p:nvSpPr>
        <p:spPr>
          <a:xfrm>
            <a:off x="3281990" y="4078224"/>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25" name="BUILD caption"/>
          <p:cNvSpPr txBox="1"/>
          <p:nvPr/>
        </p:nvSpPr>
        <p:spPr>
          <a:xfrm>
            <a:off x="1024128" y="4389120"/>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26" name="BUILD caption"/>
          <p:cNvSpPr txBox="1"/>
          <p:nvPr/>
        </p:nvSpPr>
        <p:spPr>
          <a:xfrm>
            <a:off x="1024128" y="464515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27" name="BUILD sum"/>
          <p:cNvSpPr txBox="1"/>
          <p:nvPr/>
        </p:nvSpPr>
        <p:spPr>
          <a:xfrm>
            <a:off x="1024128" y="4937759"/>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4 arrows = 4 electrons in 2p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00"/>
                                        <p:tgtEl>
                                          <p:spTgt spid="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5" grpId="0"/>
      <p:bldP spid="21" grpId="0" animBg="1"/>
      <p:bldP spid="22" grpId="0" animBg="1"/>
      <p:bldP spid="23" grpId="0" animBg="1"/>
      <p:bldP spid="24" grpId="0"/>
      <p:bldP spid="26" grpId="0"/>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Writing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same four steps, for every element.</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Find Z</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Atomic number is the electron count.</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Fill in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Follow the chart, lowest first.</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Respect the caps</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 holds 2, p 6, d 10, f 14.</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Add it up</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numbers must total Z.</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Oxygen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full configuration and the orbital diagram for oxygen.</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Oxygen, Z =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Full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Always check that the raised numbers add up to Z.</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Oxygen,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Order first. Then singles before pairs in the 2p boxes.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8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Fill 1s, then 2s, then 2p</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 + 2 + 4 = 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2</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is 1s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4</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with 2 unpaired electrons.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oxygen. 1s: one box, one pair. 2s: one box, one pair. 2p: three boxes, one pair and two single up arrows."/>
          <p:cNvGrpSpPr/>
          <p:nvPr/>
        </p:nvGrpSpPr>
        <p:grpSpPr>
          <a:xfrm>
            <a:off x="941832" y="2651759"/>
            <a:ext cx="3648456" cy="1170432"/>
            <a:chOff x="941832" y="2651759"/>
            <a:chExt cx="3648456" cy="1170432"/>
          </a:xfrm>
        </p:grpSpPr>
        <p:sp>
          <p:nvSpPr>
            <p:cNvPr id="13" name="BUILD title"/>
            <p:cNvSpPr txBox="1"/>
            <p:nvPr/>
          </p:nvSpPr>
          <p:spPr>
            <a:xfrm>
              <a:off x="941832" y="2651759"/>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OXYGEN  Z = 8</a:t>
              </a:r>
            </a:p>
          </p:txBody>
        </p:sp>
        <p:sp>
          <p:nvSpPr>
            <p:cNvPr id="14" name="BUILD box 1s 1"/>
            <p:cNvSpPr/>
            <p:nvPr/>
          </p:nvSpPr>
          <p:spPr>
            <a:xfrm>
              <a:off x="1092708"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1s"/>
            <p:cNvSpPr txBox="1"/>
            <p:nvPr/>
          </p:nvSpPr>
          <p:spPr>
            <a:xfrm>
              <a:off x="1193113"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6" name="BUILD box 2s 1"/>
            <p:cNvSpPr/>
            <p:nvPr/>
          </p:nvSpPr>
          <p:spPr>
            <a:xfrm>
              <a:off x="1897380"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2s"/>
            <p:cNvSpPr txBox="1"/>
            <p:nvPr/>
          </p:nvSpPr>
          <p:spPr>
            <a:xfrm>
              <a:off x="1997785"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18" name="BUILD box 2p 1"/>
            <p:cNvSpPr/>
            <p:nvPr/>
          </p:nvSpPr>
          <p:spPr>
            <a:xfrm>
              <a:off x="270205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2p 2"/>
            <p:cNvSpPr/>
            <p:nvPr/>
          </p:nvSpPr>
          <p:spPr>
            <a:xfrm>
              <a:off x="329641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2p 3"/>
            <p:cNvSpPr/>
            <p:nvPr/>
          </p:nvSpPr>
          <p:spPr>
            <a:xfrm>
              <a:off x="389077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2p"/>
            <p:cNvSpPr txBox="1"/>
            <p:nvPr/>
          </p:nvSpPr>
          <p:spPr>
            <a:xfrm>
              <a:off x="3390807" y="3547871"/>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2" name="BUILD arrow 1s box1 up" descr="">
            <a:extLst>
              <a:ext uri="{C183D7F6-B498-43B3-948B-1728B52AA6E4}">
                <adec:decorative xmlns:adec="http://schemas.microsoft.com/office/drawing/2017/decorative" val="1"/>
              </a:ext>
            </a:extLst>
          </p:cNvPr>
          <p:cNvSpPr/>
          <p:nvPr/>
        </p:nvSpPr>
        <p:spPr>
          <a:xfrm>
            <a:off x="1188720"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1s box1 down" descr="">
            <a:extLst>
              <a:ext uri="{C183D7F6-B498-43B3-948B-1728B52AA6E4}">
                <adec:decorative xmlns:adec="http://schemas.microsoft.com/office/drawing/2017/decorative" val="1"/>
              </a:ext>
            </a:extLst>
          </p:cNvPr>
          <p:cNvSpPr/>
          <p:nvPr/>
        </p:nvSpPr>
        <p:spPr>
          <a:xfrm>
            <a:off x="1408176"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2s box1 up" descr="">
            <a:extLst>
              <a:ext uri="{C183D7F6-B498-43B3-948B-1728B52AA6E4}">
                <adec:decorative xmlns:adec="http://schemas.microsoft.com/office/drawing/2017/decorative" val="1"/>
              </a:ext>
            </a:extLst>
          </p:cNvPr>
          <p:cNvSpPr/>
          <p:nvPr/>
        </p:nvSpPr>
        <p:spPr>
          <a:xfrm>
            <a:off x="1993392"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2s box1 down" descr="">
            <a:extLst>
              <a:ext uri="{C183D7F6-B498-43B3-948B-1728B52AA6E4}">
                <adec:decorative xmlns:adec="http://schemas.microsoft.com/office/drawing/2017/decorative" val="1"/>
              </a:ext>
            </a:extLst>
          </p:cNvPr>
          <p:cNvSpPr/>
          <p:nvPr/>
        </p:nvSpPr>
        <p:spPr>
          <a:xfrm>
            <a:off x="2212848"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p box1 up" descr="">
            <a:extLst>
              <a:ext uri="{C183D7F6-B498-43B3-948B-1728B52AA6E4}">
                <adec:decorative xmlns:adec="http://schemas.microsoft.com/office/drawing/2017/decorative" val="1"/>
              </a:ext>
            </a:extLst>
          </p:cNvPr>
          <p:cNvSpPr/>
          <p:nvPr/>
        </p:nvSpPr>
        <p:spPr>
          <a:xfrm>
            <a:off x="279806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p box2 up" descr="">
            <a:extLst>
              <a:ext uri="{C183D7F6-B498-43B3-948B-1728B52AA6E4}">
                <adec:decorative xmlns:adec="http://schemas.microsoft.com/office/drawing/2017/decorative" val="1"/>
              </a:ext>
            </a:extLst>
          </p:cNvPr>
          <p:cNvSpPr/>
          <p:nvPr/>
        </p:nvSpPr>
        <p:spPr>
          <a:xfrm>
            <a:off x="339242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3 up" descr="">
            <a:extLst>
              <a:ext uri="{C183D7F6-B498-43B3-948B-1728B52AA6E4}">
                <adec:decorative xmlns:adec="http://schemas.microsoft.com/office/drawing/2017/decorative" val="1"/>
              </a:ext>
            </a:extLst>
          </p:cNvPr>
          <p:cNvSpPr/>
          <p:nvPr/>
        </p:nvSpPr>
        <p:spPr>
          <a:xfrm>
            <a:off x="3986783"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1 down" descr="">
            <a:extLst>
              <a:ext uri="{C183D7F6-B498-43B3-948B-1728B52AA6E4}">
                <adec:decorative xmlns:adec="http://schemas.microsoft.com/office/drawing/2017/decorative" val="1"/>
              </a:ext>
            </a:extLst>
          </p:cNvPr>
          <p:cNvSpPr/>
          <p:nvPr/>
        </p:nvSpPr>
        <p:spPr>
          <a:xfrm>
            <a:off x="3017520"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1s"/>
          <p:cNvSpPr txBox="1"/>
          <p:nvPr/>
        </p:nvSpPr>
        <p:spPr>
          <a:xfrm>
            <a:off x="1419891"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2s"/>
          <p:cNvSpPr txBox="1"/>
          <p:nvPr/>
        </p:nvSpPr>
        <p:spPr>
          <a:xfrm>
            <a:off x="2224563"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p"/>
          <p:cNvSpPr txBox="1"/>
          <p:nvPr/>
        </p:nvSpPr>
        <p:spPr>
          <a:xfrm>
            <a:off x="3629462" y="3547871"/>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33" name="BUILD caption"/>
          <p:cNvSpPr txBox="1"/>
          <p:nvPr/>
        </p:nvSpPr>
        <p:spPr>
          <a:xfrm>
            <a:off x="941832" y="3858768"/>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4" name="BUILD caption"/>
          <p:cNvSpPr txBox="1"/>
          <p:nvPr/>
        </p:nvSpPr>
        <p:spPr>
          <a:xfrm>
            <a:off x="941832" y="4114800"/>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5" name="BUILD sum"/>
          <p:cNvSpPr txBox="1"/>
          <p:nvPr/>
        </p:nvSpPr>
        <p:spPr>
          <a:xfrm>
            <a:off x="941832" y="4407407"/>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2 + 2 + 4 = 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fade">
                                      <p:cBhvr>
                                        <p:cTn id="24" dur="400"/>
                                        <p:tgtEl>
                                          <p:spTgt spid="3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4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30" grpId="0"/>
      <p:bldP spid="33" grpId="0"/>
      <p:bldP spid="24" grpId="0" animBg="1"/>
      <p:bldP spid="25" grpId="0" animBg="1"/>
      <p:bldP spid="31" grpId="0"/>
      <p:bldP spid="26" grpId="0" animBg="1"/>
      <p:bldP spid="34" grpId="0"/>
      <p:bldP spid="27" grpId="0" animBg="1"/>
      <p:bldP spid="28" grpId="0" animBg="1"/>
      <p:bldP spid="29" grpId="0" animBg="1"/>
      <p:bldP spid="32" grpId="0"/>
      <p:bldP spid="35"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Configuration, orbital diagram, and the unpaired count.</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configuration for iron and draw its 4s and 3d orbital diagram. How many unpaired electrons?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Iron, Z = 26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Full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Fill 4s before 3d. We write 4s ahead of 3d.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Iron,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first 18 fill through 3p. Then 4s, then 3d.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FULL CONFIGURATION</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2+2+6+2+6+2+6 = 26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4</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Fe ends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one pair and 4 singles in the 3d boxes.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iron, [Ar] core not drawn. 4s: one box, one pair. 3d: five boxes, one pair and four single up arrows."/>
          <p:cNvGrpSpPr/>
          <p:nvPr/>
        </p:nvGrpSpPr>
        <p:grpSpPr>
          <a:xfrm>
            <a:off x="941832" y="2658618"/>
            <a:ext cx="3648456" cy="1156715"/>
            <a:chOff x="941832" y="2658618"/>
            <a:chExt cx="3648456" cy="1156715"/>
          </a:xfrm>
        </p:grpSpPr>
        <p:sp>
          <p:nvSpPr>
            <p:cNvPr id="13" name="BUILD title"/>
            <p:cNvSpPr txBox="1"/>
            <p:nvPr/>
          </p:nvSpPr>
          <p:spPr>
            <a:xfrm>
              <a:off x="941832" y="2658618"/>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IRON  Z = 26</a:t>
              </a:r>
            </a:p>
          </p:txBody>
        </p:sp>
        <p:sp>
          <p:nvSpPr>
            <p:cNvPr id="14" name="BUILD box 4s 1"/>
            <p:cNvSpPr/>
            <p:nvPr/>
          </p:nvSpPr>
          <p:spPr>
            <a:xfrm>
              <a:off x="9418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4s"/>
            <p:cNvSpPr txBox="1"/>
            <p:nvPr/>
          </p:nvSpPr>
          <p:spPr>
            <a:xfrm>
              <a:off x="1035263" y="3541013"/>
              <a:ext cx="281874" cy="274320"/>
            </a:xfrm>
            <a:prstGeom prst="rect">
              <a:avLst/>
            </a:prstGeom>
            <a:noFill/>
          </p:spPr>
          <p:txBody>
            <a:bodyPr wrap="none" lIns="0" rIns="0" tIns="0" bIns="0" anchor="ctr">
              <a:spAutoFit/>
            </a:bodyPr>
            <a:lstStyle/>
            <a:p>
              <a:pPr algn="l"/>
              <a:r>
                <a:rPr sz="1800" b="1">
                  <a:solidFill>
                    <a:srgbClr val="14161B"/>
                  </a:solidFill>
                  <a:latin typeface="Trade Gothic Next"/>
                </a:rPr>
                <a:t>4s</a:t>
              </a:r>
            </a:p>
          </p:txBody>
        </p:sp>
        <p:sp>
          <p:nvSpPr>
            <p:cNvPr id="16" name="BUILD box 3d 1"/>
            <p:cNvSpPr/>
            <p:nvPr/>
          </p:nvSpPr>
          <p:spPr>
            <a:xfrm>
              <a:off x="1732788"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3d 2"/>
            <p:cNvSpPr/>
            <p:nvPr/>
          </p:nvSpPr>
          <p:spPr>
            <a:xfrm>
              <a:off x="23134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3d 3"/>
            <p:cNvSpPr/>
            <p:nvPr/>
          </p:nvSpPr>
          <p:spPr>
            <a:xfrm>
              <a:off x="2894076"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4"/>
            <p:cNvSpPr/>
            <p:nvPr/>
          </p:nvSpPr>
          <p:spPr>
            <a:xfrm>
              <a:off x="3474720"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5"/>
            <p:cNvSpPr/>
            <p:nvPr/>
          </p:nvSpPr>
          <p:spPr>
            <a:xfrm>
              <a:off x="4055364"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3d"/>
            <p:cNvSpPr txBox="1"/>
            <p:nvPr/>
          </p:nvSpPr>
          <p:spPr>
            <a:xfrm>
              <a:off x="2981685" y="3541013"/>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3d</a:t>
              </a:r>
            </a:p>
          </p:txBody>
        </p:sp>
      </p:grpSp>
      <p:sp>
        <p:nvSpPr>
          <p:cNvPr id="22" name="BUILD arrow 4s box1 up" descr="">
            <a:extLst>
              <a:ext uri="{C183D7F6-B498-43B3-948B-1728B52AA6E4}">
                <adec:decorative xmlns:adec="http://schemas.microsoft.com/office/drawing/2017/decorative" val="1"/>
              </a:ext>
            </a:extLst>
          </p:cNvPr>
          <p:cNvSpPr/>
          <p:nvPr/>
        </p:nvSpPr>
        <p:spPr>
          <a:xfrm>
            <a:off x="10354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4s box1 down" descr="">
            <a:extLst>
              <a:ext uri="{C183D7F6-B498-43B3-948B-1728B52AA6E4}">
                <adec:decorative xmlns:adec="http://schemas.microsoft.com/office/drawing/2017/decorative" val="1"/>
              </a:ext>
            </a:extLst>
          </p:cNvPr>
          <p:cNvSpPr/>
          <p:nvPr/>
        </p:nvSpPr>
        <p:spPr>
          <a:xfrm>
            <a:off x="1249413"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3d box1 up" descr="">
            <a:extLst>
              <a:ext uri="{C183D7F6-B498-43B3-948B-1728B52AA6E4}">
                <adec:decorative xmlns:adec="http://schemas.microsoft.com/office/drawing/2017/decorative" val="1"/>
              </a:ext>
            </a:extLst>
          </p:cNvPr>
          <p:cNvSpPr/>
          <p:nvPr/>
        </p:nvSpPr>
        <p:spPr>
          <a:xfrm>
            <a:off x="1826399"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3d box2 up" descr="">
            <a:extLst>
              <a:ext uri="{C183D7F6-B498-43B3-948B-1728B52AA6E4}">
                <adec:decorative xmlns:adec="http://schemas.microsoft.com/office/drawing/2017/decorative" val="1"/>
              </a:ext>
            </a:extLst>
          </p:cNvPr>
          <p:cNvSpPr/>
          <p:nvPr/>
        </p:nvSpPr>
        <p:spPr>
          <a:xfrm>
            <a:off x="24070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3 up" descr="">
            <a:extLst>
              <a:ext uri="{C183D7F6-B498-43B3-948B-1728B52AA6E4}">
                <adec:decorative xmlns:adec="http://schemas.microsoft.com/office/drawing/2017/decorative" val="1"/>
              </a:ext>
            </a:extLst>
          </p:cNvPr>
          <p:cNvSpPr/>
          <p:nvPr/>
        </p:nvSpPr>
        <p:spPr>
          <a:xfrm>
            <a:off x="2987687"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4 up" descr="">
            <a:extLst>
              <a:ext uri="{C183D7F6-B498-43B3-948B-1728B52AA6E4}">
                <adec:decorative xmlns:adec="http://schemas.microsoft.com/office/drawing/2017/decorative" val="1"/>
              </a:ext>
            </a:extLst>
          </p:cNvPr>
          <p:cNvSpPr/>
          <p:nvPr/>
        </p:nvSpPr>
        <p:spPr>
          <a:xfrm>
            <a:off x="3568331"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5 up" descr="">
            <a:extLst>
              <a:ext uri="{C183D7F6-B498-43B3-948B-1728B52AA6E4}">
                <adec:decorative xmlns:adec="http://schemas.microsoft.com/office/drawing/2017/decorative" val="1"/>
              </a:ext>
            </a:extLst>
          </p:cNvPr>
          <p:cNvSpPr/>
          <p:nvPr/>
        </p:nvSpPr>
        <p:spPr>
          <a:xfrm>
            <a:off x="4148975"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1 down" descr="">
            <a:extLst>
              <a:ext uri="{C183D7F6-B498-43B3-948B-1728B52AA6E4}">
                <adec:decorative xmlns:adec="http://schemas.microsoft.com/office/drawing/2017/decorative" val="1"/>
              </a:ext>
            </a:extLst>
          </p:cNvPr>
          <p:cNvSpPr/>
          <p:nvPr/>
        </p:nvSpPr>
        <p:spPr>
          <a:xfrm>
            <a:off x="2040369"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4s"/>
          <p:cNvSpPr txBox="1"/>
          <p:nvPr/>
        </p:nvSpPr>
        <p:spPr>
          <a:xfrm>
            <a:off x="1262274"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3d"/>
          <p:cNvSpPr txBox="1"/>
          <p:nvPr/>
        </p:nvSpPr>
        <p:spPr>
          <a:xfrm>
            <a:off x="3220340"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6</a:t>
            </a:r>
          </a:p>
        </p:txBody>
      </p:sp>
      <p:sp>
        <p:nvSpPr>
          <p:cNvPr id="32" name="BUILD caption"/>
          <p:cNvSpPr txBox="1"/>
          <p:nvPr/>
        </p:nvSpPr>
        <p:spPr>
          <a:xfrm>
            <a:off x="941832" y="3851909"/>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3" name="BUILD caption"/>
          <p:cNvSpPr txBox="1"/>
          <p:nvPr/>
        </p:nvSpPr>
        <p:spPr>
          <a:xfrm>
            <a:off x="941832" y="4107941"/>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4" name="BUILD sum"/>
          <p:cNvSpPr txBox="1"/>
          <p:nvPr/>
        </p:nvSpPr>
        <p:spPr>
          <a:xfrm>
            <a:off x="941832" y="4400549"/>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first 18 + 2 + 6 = 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400"/>
                                        <p:tgtEl>
                                          <p:spTgt spid="3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400"/>
                                        <p:tgtEl>
                                          <p:spTgt spid="2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400"/>
                                        <p:tgtEl>
                                          <p:spTgt spid="3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30" grpId="0"/>
      <p:bldP spid="32" grpId="0"/>
      <p:bldP spid="24" grpId="0" animBg="1"/>
      <p:bldP spid="33" grpId="0"/>
      <p:bldP spid="25" grpId="0" animBg="1"/>
      <p:bldP spid="26" grpId="0" animBg="1"/>
      <p:bldP spid="27" grpId="0" animBg="1"/>
      <p:bldP spid="28" grpId="0" animBg="1"/>
      <p:bldP spid="29" grpId="0" animBg="1"/>
      <p:bldP spid="31" grpId="0"/>
      <p:bldP spid="34"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Longhand: N, Cl, and Ca</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Calcium stops at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The 3d sublevel stays empty until scandium.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 Z = 7</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2+2+3 = 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3</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CHLORINE, Z = 17</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2+2+6+2+5 = 17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1</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CALCIUM, Z = 20</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2+2+6+2+6+2 = 20</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0</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raised numbers add up to the atomic number, every time.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Noble-Gas Shorthand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Replace the filled inner core with a noble gas in brackets.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 Cl</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17 electrons written out.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SHORTHAND: Cl</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3s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stands for the first 10: 1s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previous period's noble gas. Cl is in period 3, so its core is [Ne], not [Ar].</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Shorthand: Germanium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it long first. Then swap the argon part for [Ar].</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1: LONGHAND</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32 electrons, in filling order.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2: THE SUBSTITUTE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[Ar] is a placeholder for argon's 18 electrons.</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3: FINISH</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Then write what is left, the usual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descr="Text build for germanium, Z = 32: the longhand 1s2 2s2 2p6 3s2 3p6 4s2 3d10 4p2, whose first 5 segments (18 electrons) equal Ar, then Ar in brackets standing in for them, then the finished shorthand [Ar] 4s2 3d10 4p2."/>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title"/>
          <p:cNvSpPr txBox="1"/>
          <p:nvPr/>
        </p:nvSpPr>
        <p:spPr>
          <a:xfrm>
            <a:off x="1024128" y="2798063"/>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GERMANIUM  Z = 32</a:t>
            </a:r>
          </a:p>
        </p:txBody>
      </p:sp>
      <p:sp>
        <p:nvSpPr>
          <p:cNvPr id="16" name="BUILD highlight core"/>
          <p:cNvSpPr/>
          <p:nvPr/>
        </p:nvSpPr>
        <p:spPr>
          <a:xfrm>
            <a:off x="1139430" y="3090671"/>
            <a:ext cx="2549281" cy="438912"/>
          </a:xfrm>
          <a:prstGeom prst="rect">
            <a:avLst/>
          </a:prstGeom>
          <a:solidFill>
            <a:srgbClr val="A3E635"/>
          </a:solidFill>
          <a:ln w="19050">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segment 1s"/>
          <p:cNvSpPr txBox="1"/>
          <p:nvPr/>
        </p:nvSpPr>
        <p:spPr>
          <a:xfrm>
            <a:off x="1176006"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1s</a:t>
            </a:r>
            <a:r>
              <a:rPr sz="1800" b="1" baseline="30000">
                <a:solidFill>
                  <a:srgbClr val="14161B"/>
                </a:solidFill>
                <a:latin typeface="Trade Gothic Next"/>
              </a:rPr>
              <a:t>2</a:t>
            </a:r>
          </a:p>
        </p:txBody>
      </p:sp>
      <p:sp>
        <p:nvSpPr>
          <p:cNvPr id="18" name="BUILD segment 2s"/>
          <p:cNvSpPr txBox="1"/>
          <p:nvPr/>
        </p:nvSpPr>
        <p:spPr>
          <a:xfrm>
            <a:off x="1679283"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2s</a:t>
            </a:r>
            <a:r>
              <a:rPr sz="1800" b="1" baseline="30000">
                <a:solidFill>
                  <a:srgbClr val="14161B"/>
                </a:solidFill>
                <a:latin typeface="Trade Gothic Next"/>
              </a:rPr>
              <a:t>2</a:t>
            </a:r>
          </a:p>
        </p:txBody>
      </p:sp>
      <p:sp>
        <p:nvSpPr>
          <p:cNvPr id="19" name="BUILD segment 2p"/>
          <p:cNvSpPr txBox="1"/>
          <p:nvPr/>
        </p:nvSpPr>
        <p:spPr>
          <a:xfrm>
            <a:off x="2182559" y="3108959"/>
            <a:ext cx="451145" cy="402336"/>
          </a:xfrm>
          <a:prstGeom prst="rect">
            <a:avLst/>
          </a:prstGeom>
          <a:noFill/>
        </p:spPr>
        <p:txBody>
          <a:bodyPr wrap="none" lIns="0" rIns="0" tIns="0" bIns="0" anchor="ctr">
            <a:spAutoFit/>
          </a:bodyPr>
          <a:lstStyle/>
          <a:p>
            <a:pPr algn="ctr"/>
            <a:r>
              <a:rPr sz="1800" b="1">
                <a:solidFill>
                  <a:srgbClr val="14161B"/>
                </a:solidFill>
                <a:latin typeface="Trade Gothic Next"/>
              </a:rPr>
              <a:t>2p</a:t>
            </a:r>
            <a:r>
              <a:rPr sz="1800" b="1" baseline="30000">
                <a:solidFill>
                  <a:srgbClr val="14161B"/>
                </a:solidFill>
                <a:latin typeface="Trade Gothic Next"/>
              </a:rPr>
              <a:t>6</a:t>
            </a:r>
          </a:p>
        </p:txBody>
      </p:sp>
      <p:sp>
        <p:nvSpPr>
          <p:cNvPr id="20" name="BUILD segment 3s"/>
          <p:cNvSpPr txBox="1"/>
          <p:nvPr/>
        </p:nvSpPr>
        <p:spPr>
          <a:xfrm>
            <a:off x="2697713"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3s</a:t>
            </a:r>
            <a:r>
              <a:rPr sz="1800" b="1" baseline="30000">
                <a:solidFill>
                  <a:srgbClr val="14161B"/>
                </a:solidFill>
                <a:latin typeface="Trade Gothic Next"/>
              </a:rPr>
              <a:t>2</a:t>
            </a:r>
          </a:p>
        </p:txBody>
      </p:sp>
      <p:sp>
        <p:nvSpPr>
          <p:cNvPr id="21" name="BUILD segment 3p"/>
          <p:cNvSpPr txBox="1"/>
          <p:nvPr/>
        </p:nvSpPr>
        <p:spPr>
          <a:xfrm>
            <a:off x="3200990" y="3108959"/>
            <a:ext cx="451145" cy="402336"/>
          </a:xfrm>
          <a:prstGeom prst="rect">
            <a:avLst/>
          </a:prstGeom>
          <a:noFill/>
        </p:spPr>
        <p:txBody>
          <a:bodyPr wrap="none" lIns="0" rIns="0" tIns="0" bIns="0" anchor="ctr">
            <a:spAutoFit/>
          </a:bodyPr>
          <a:lstStyle/>
          <a:p>
            <a:pPr algn="ctr"/>
            <a:r>
              <a:rPr sz="1800" b="1">
                <a:solidFill>
                  <a:srgbClr val="14161B"/>
                </a:solidFill>
                <a:latin typeface="Trade Gothic Next"/>
              </a:rPr>
              <a:t>3p</a:t>
            </a:r>
            <a:r>
              <a:rPr sz="1800" b="1" baseline="30000">
                <a:solidFill>
                  <a:srgbClr val="14161B"/>
                </a:solidFill>
                <a:latin typeface="Trade Gothic Next"/>
              </a:rPr>
              <a:t>6</a:t>
            </a:r>
          </a:p>
        </p:txBody>
      </p:sp>
      <p:sp>
        <p:nvSpPr>
          <p:cNvPr id="22" name="BUILD segment 4s"/>
          <p:cNvSpPr txBox="1"/>
          <p:nvPr/>
        </p:nvSpPr>
        <p:spPr>
          <a:xfrm>
            <a:off x="3716143" y="3108959"/>
            <a:ext cx="439501" cy="402336"/>
          </a:xfrm>
          <a:prstGeom prst="rect">
            <a:avLst/>
          </a:prstGeom>
          <a:noFill/>
        </p:spPr>
        <p:txBody>
          <a:bodyPr wrap="non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2</a:t>
            </a:r>
          </a:p>
        </p:txBody>
      </p:sp>
      <p:sp>
        <p:nvSpPr>
          <p:cNvPr id="23" name="BUILD segment 3d"/>
          <p:cNvSpPr txBox="1"/>
          <p:nvPr/>
        </p:nvSpPr>
        <p:spPr>
          <a:xfrm>
            <a:off x="4219652" y="3108959"/>
            <a:ext cx="535475" cy="402336"/>
          </a:xfrm>
          <a:prstGeom prst="rect">
            <a:avLst/>
          </a:prstGeom>
          <a:noFill/>
        </p:spPr>
        <p:txBody>
          <a:bodyPr wrap="non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sp>
        <p:nvSpPr>
          <p:cNvPr id="24" name="BUILD segment 4p"/>
          <p:cNvSpPr txBox="1"/>
          <p:nvPr/>
        </p:nvSpPr>
        <p:spPr>
          <a:xfrm>
            <a:off x="4819136" y="3108959"/>
            <a:ext cx="451377" cy="402336"/>
          </a:xfrm>
          <a:prstGeom prst="rect">
            <a:avLst/>
          </a:prstGeom>
          <a:noFill/>
        </p:spPr>
        <p:txBody>
          <a:bodyPr wrap="none" lIns="0" rIns="0" tIns="0" bIns="0" anchor="ctr">
            <a:spAutoFit/>
          </a:bodyPr>
          <a:lstStyle/>
          <a:p>
            <a:pPr algn="ctr"/>
            <a:r>
              <a:rPr sz="1800" b="1">
                <a:solidFill>
                  <a:srgbClr val="14161B"/>
                </a:solidFill>
                <a:latin typeface="Trade Gothic Next"/>
              </a:rPr>
              <a:t>4p</a:t>
            </a:r>
            <a:r>
              <a:rPr sz="1800" b="1" baseline="30000">
                <a:solidFill>
                  <a:srgbClr val="14161B"/>
                </a:solidFill>
                <a:latin typeface="Trade Gothic Next"/>
              </a:rPr>
              <a:t>2</a:t>
            </a:r>
          </a:p>
        </p:txBody>
      </p:sp>
      <p:sp>
        <p:nvSpPr>
          <p:cNvPr id="25" name="BUILD sum"/>
          <p:cNvSpPr txBox="1"/>
          <p:nvPr/>
        </p:nvSpPr>
        <p:spPr>
          <a:xfrm>
            <a:off x="1024128" y="3547871"/>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2+2+6+2+6+2+10+2 = 32</a:t>
            </a:r>
          </a:p>
        </p:txBody>
      </p:sp>
      <p:sp>
        <p:nvSpPr>
          <p:cNvPr id="26" name="BUILD sum shorthand"/>
          <p:cNvSpPr txBox="1"/>
          <p:nvPr/>
        </p:nvSpPr>
        <p:spPr>
          <a:xfrm>
            <a:off x="1024128" y="3547871"/>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18 + 2 + 10 + 2 = 32</a:t>
            </a:r>
          </a:p>
        </p:txBody>
      </p:sp>
      <p:sp>
        <p:nvSpPr>
          <p:cNvPr id="27" name="BUILD caption"/>
          <p:cNvSpPr txBox="1"/>
          <p:nvPr/>
        </p:nvSpPr>
        <p:spPr>
          <a:xfrm>
            <a:off x="1024128" y="3858768"/>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These 18 electrons are exactly argon's configuration</a:t>
            </a:r>
          </a:p>
        </p:txBody>
      </p:sp>
      <p:sp>
        <p:nvSpPr>
          <p:cNvPr id="28" name="BUILD caption"/>
          <p:cNvSpPr txBox="1"/>
          <p:nvPr/>
        </p:nvSpPr>
        <p:spPr>
          <a:xfrm>
            <a:off x="1024128" y="4370831"/>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The noble gas BEFORE germanium stands in for them, like a substitution in math</a:t>
            </a:r>
          </a:p>
        </p:txBody>
      </p:sp>
      <p:sp>
        <p:nvSpPr>
          <p:cNvPr id="29" name="BUILD result"/>
          <p:cNvSpPr txBox="1"/>
          <p:nvPr/>
        </p:nvSpPr>
        <p:spPr>
          <a:xfrm>
            <a:off x="1024128" y="4919472"/>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10</a:t>
            </a:r>
            <a:r>
              <a:rPr sz="1800" b="1">
                <a:solidFill>
                  <a:srgbClr val="14161B"/>
                </a:solidFill>
                <a:latin typeface="Trade Gothic Next"/>
              </a:rPr>
              <a:t> 4p</a:t>
            </a:r>
            <a:r>
              <a:rPr sz="1800" b="1" baseline="30000">
                <a:solidFill>
                  <a:srgbClr val="14161B"/>
                </a:solidFill>
                <a:latin typeface="Trade Gothic Next"/>
              </a:rPr>
              <a:t>2</a:t>
            </a:r>
          </a:p>
        </p:txBody>
      </p:sp>
      <p:sp>
        <p:nvSpPr>
          <p:cNvPr id="30" name="BUILD Ar bracket"/>
          <p:cNvSpPr txBox="1"/>
          <p:nvPr/>
        </p:nvSpPr>
        <p:spPr>
          <a:xfrm>
            <a:off x="3111728" y="3127247"/>
            <a:ext cx="540406" cy="365760"/>
          </a:xfrm>
          <a:prstGeom prst="rect">
            <a:avLst/>
          </a:prstGeom>
          <a:solidFill>
            <a:srgbClr val="A3E635"/>
          </a:solidFill>
          <a:ln w="19050">
            <a:solidFill>
              <a:srgbClr val="14161B"/>
            </a:solidFill>
          </a:ln>
        </p:spPr>
        <p:txBody>
          <a:bodyPr wrap="none" lIns="0" rIns="0" tIns="0" bIns="0" anchor="ctr">
            <a:spAutoFit/>
          </a:bodyPr>
          <a:lstStyle/>
          <a:p>
            <a:pPr algn="ctr"/>
            <a:r>
              <a:rPr sz="1800" b="1">
                <a:solidFill>
                  <a:srgbClr val="14161B"/>
                </a:solidFill>
                <a:latin typeface="Trade Gothic Next"/>
              </a:rPr>
              <a:t>[Ar]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xit" presetSubtype="0" fill="hold" grpId="0" nodeType="clickEffect">
                                  <p:stCondLst>
                                    <p:cond delay="0"/>
                                  </p:stCondLst>
                                  <p:childTnLst>
                                    <p:animEffect transition="out" filter="fade">
                                      <p:cBhvr>
                                        <p:cTn id="46" dur="400"/>
                                        <p:tgtEl>
                                          <p:spTgt spid="16"/>
                                        </p:tgtEl>
                                      </p:cBhvr>
                                    </p:animEffect>
                                    <p:set>
                                      <p:cBhvr>
                                        <p:cTn id="47" dur="1" fill="hold">
                                          <p:stCondLst>
                                            <p:cond delay="399"/>
                                          </p:stCondLst>
                                        </p:cTn>
                                        <p:tgtEl>
                                          <p:spTgt spid="16"/>
                                        </p:tgtEl>
                                        <p:attrNameLst>
                                          <p:attrName>style.visibility</p:attrName>
                                        </p:attrNameLst>
                                      </p:cBhvr>
                                      <p:to>
                                        <p:strVal val="hidden"/>
                                      </p:to>
                                    </p:set>
                                  </p:childTnLst>
                                </p:cTn>
                              </p:par>
                              <p:par>
                                <p:cTn id="48" presetID="10" presetClass="exit" presetSubtype="0" fill="hold" grpId="0" nodeType="withEffect">
                                  <p:stCondLst>
                                    <p:cond delay="0"/>
                                  </p:stCondLst>
                                  <p:childTnLst>
                                    <p:animEffect transition="out" filter="fade">
                                      <p:cBhvr>
                                        <p:cTn id="49" dur="400"/>
                                        <p:tgtEl>
                                          <p:spTgt spid="17"/>
                                        </p:tgtEl>
                                      </p:cBhvr>
                                    </p:animEffect>
                                    <p:set>
                                      <p:cBhvr>
                                        <p:cTn id="50" dur="1" fill="hold">
                                          <p:stCondLst>
                                            <p:cond delay="399"/>
                                          </p:stCondLst>
                                        </p:cTn>
                                        <p:tgtEl>
                                          <p:spTgt spid="17"/>
                                        </p:tgtEl>
                                        <p:attrNameLst>
                                          <p:attrName>style.visibility</p:attrName>
                                        </p:attrNameLst>
                                      </p:cBhvr>
                                      <p:to>
                                        <p:strVal val="hidden"/>
                                      </p:to>
                                    </p:set>
                                  </p:childTnLst>
                                </p:cTn>
                              </p:par>
                              <p:par>
                                <p:cTn id="51" presetID="10" presetClass="exit" presetSubtype="0" fill="hold" grpId="0" nodeType="withEffect">
                                  <p:stCondLst>
                                    <p:cond delay="0"/>
                                  </p:stCondLst>
                                  <p:childTnLst>
                                    <p:animEffect transition="out" filter="fade">
                                      <p:cBhvr>
                                        <p:cTn id="52" dur="400"/>
                                        <p:tgtEl>
                                          <p:spTgt spid="18"/>
                                        </p:tgtEl>
                                      </p:cBhvr>
                                    </p:animEffect>
                                    <p:set>
                                      <p:cBhvr>
                                        <p:cTn id="53" dur="1" fill="hold">
                                          <p:stCondLst>
                                            <p:cond delay="399"/>
                                          </p:stCondLst>
                                        </p:cTn>
                                        <p:tgtEl>
                                          <p:spTgt spid="18"/>
                                        </p:tgtEl>
                                        <p:attrNameLst>
                                          <p:attrName>style.visibility</p:attrName>
                                        </p:attrNameLst>
                                      </p:cBhvr>
                                      <p:to>
                                        <p:strVal val="hidden"/>
                                      </p:to>
                                    </p:set>
                                  </p:childTnLst>
                                </p:cTn>
                              </p:par>
                              <p:par>
                                <p:cTn id="54" presetID="10" presetClass="exit" presetSubtype="0" fill="hold" grpId="0" nodeType="withEffect">
                                  <p:stCondLst>
                                    <p:cond delay="0"/>
                                  </p:stCondLst>
                                  <p:childTnLst>
                                    <p:animEffect transition="out" filter="fade">
                                      <p:cBhvr>
                                        <p:cTn id="55" dur="400"/>
                                        <p:tgtEl>
                                          <p:spTgt spid="19"/>
                                        </p:tgtEl>
                                      </p:cBhvr>
                                    </p:animEffect>
                                    <p:set>
                                      <p:cBhvr>
                                        <p:cTn id="56" dur="1" fill="hold">
                                          <p:stCondLst>
                                            <p:cond delay="399"/>
                                          </p:stCondLst>
                                        </p:cTn>
                                        <p:tgtEl>
                                          <p:spTgt spid="19"/>
                                        </p:tgtEl>
                                        <p:attrNameLst>
                                          <p:attrName>style.visibility</p:attrName>
                                        </p:attrNameLst>
                                      </p:cBhvr>
                                      <p:to>
                                        <p:strVal val="hidden"/>
                                      </p:to>
                                    </p:set>
                                  </p:childTnLst>
                                </p:cTn>
                              </p:par>
                              <p:par>
                                <p:cTn id="57" presetID="10" presetClass="exit" presetSubtype="0" fill="hold" grpId="0" nodeType="withEffect">
                                  <p:stCondLst>
                                    <p:cond delay="0"/>
                                  </p:stCondLst>
                                  <p:childTnLst>
                                    <p:animEffect transition="out" filter="fade">
                                      <p:cBhvr>
                                        <p:cTn id="58" dur="400"/>
                                        <p:tgtEl>
                                          <p:spTgt spid="20"/>
                                        </p:tgtEl>
                                      </p:cBhvr>
                                    </p:animEffect>
                                    <p:set>
                                      <p:cBhvr>
                                        <p:cTn id="59" dur="1" fill="hold">
                                          <p:stCondLst>
                                            <p:cond delay="399"/>
                                          </p:stCondLst>
                                        </p:cTn>
                                        <p:tgtEl>
                                          <p:spTgt spid="20"/>
                                        </p:tgtEl>
                                        <p:attrNameLst>
                                          <p:attrName>style.visibility</p:attrName>
                                        </p:attrNameLst>
                                      </p:cBhvr>
                                      <p:to>
                                        <p:strVal val="hidden"/>
                                      </p:to>
                                    </p:set>
                                  </p:childTnLst>
                                </p:cTn>
                              </p:par>
                              <p:par>
                                <p:cTn id="60" presetID="10" presetClass="exit" presetSubtype="0" fill="hold" grpId="0" nodeType="withEffect">
                                  <p:stCondLst>
                                    <p:cond delay="0"/>
                                  </p:stCondLst>
                                  <p:childTnLst>
                                    <p:animEffect transition="out" filter="fade">
                                      <p:cBhvr>
                                        <p:cTn id="61" dur="400"/>
                                        <p:tgtEl>
                                          <p:spTgt spid="21"/>
                                        </p:tgtEl>
                                      </p:cBhvr>
                                    </p:animEffect>
                                    <p:set>
                                      <p:cBhvr>
                                        <p:cTn id="62" dur="1" fill="hold">
                                          <p:stCondLst>
                                            <p:cond delay="399"/>
                                          </p:stCondLst>
                                        </p:cTn>
                                        <p:tgtEl>
                                          <p:spTgt spid="21"/>
                                        </p:tgtEl>
                                        <p:attrNameLst>
                                          <p:attrName>style.visibility</p:attrName>
                                        </p:attrNameLst>
                                      </p:cBhvr>
                                      <p:to>
                                        <p:strVal val="hidden"/>
                                      </p:to>
                                    </p:set>
                                  </p:childTnLst>
                                </p:cTn>
                              </p:par>
                              <p:par>
                                <p:cTn id="63" presetID="10" presetClass="exit" presetSubtype="0" fill="hold" grpId="0" nodeType="withEffect">
                                  <p:stCondLst>
                                    <p:cond delay="0"/>
                                  </p:stCondLst>
                                  <p:childTnLst>
                                    <p:animEffect transition="out" filter="fade">
                                      <p:cBhvr>
                                        <p:cTn id="64" dur="400"/>
                                        <p:tgtEl>
                                          <p:spTgt spid="25"/>
                                        </p:tgtEl>
                                      </p:cBhvr>
                                    </p:animEffect>
                                    <p:set>
                                      <p:cBhvr>
                                        <p:cTn id="65" dur="1" fill="hold">
                                          <p:stCondLst>
                                            <p:cond delay="399"/>
                                          </p:stCondLst>
                                        </p:cTn>
                                        <p:tgtEl>
                                          <p:spTgt spid="25"/>
                                        </p:tgtEl>
                                        <p:attrNameLst>
                                          <p:attrName>style.visibility</p:attrName>
                                        </p:attrNameLst>
                                      </p:cBhvr>
                                      <p:to>
                                        <p:strVal val="hidden"/>
                                      </p:to>
                                    </p:set>
                                  </p:childTnLst>
                                </p:cTn>
                              </p:par>
                              <p:par>
                                <p:cTn id="66" presetID="10" presetClass="entr" presetSubtype="0" fill="hold" grpId="0"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400"/>
                                        <p:tgtEl>
                                          <p:spTgt spid="3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400"/>
                                        <p:tgtEl>
                                          <p:spTgt spid="28"/>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40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8" grpId="0"/>
      <p:bldP spid="19" grpId="0"/>
      <p:bldP spid="20" grpId="0"/>
      <p:bldP spid="21" grpId="0"/>
      <p:bldP spid="22" grpId="0"/>
      <p:bldP spid="23" grpId="0"/>
      <p:bldP spid="24" grpId="0"/>
      <p:bldP spid="25" grpId="0"/>
      <p:bldP spid="16" grpId="0" animBg="1"/>
      <p:bldP spid="27" grpId="0"/>
      <p:bldP spid="30" grpId="0" animBg="1"/>
      <p:bldP spid="28" grpId="0"/>
      <p:bldP spid="29" grpId="0"/>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eriodic-table strip of periods 3 and 4. Argon, at the end of period 3, is marked with a tick as the noble gas before germanium. Germanium is outlined in period 4, group 14. Krypton, at the end of period 4 and after germanium, is marked with a cross as the wrong choice.">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[Ar] and Not [Kr]?</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Germanium is in period 4. Its core is the noble gas that ends period 3.</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ARGON, Z = 18</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3. It comes BEFORE germanium.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GERMANIUM, Z = 32</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Period 4, group 14. Use the previous period's noble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KRYPTON, Z = 36</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4. It comes AFTER germanium, so it is the wrong core.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Aluminum</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Notation only. No diagram this time.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noble-gas shorthand for aluminum.</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Aluminum, Z = 13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 sum</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Aluminum is period 3, so its core is [Ne].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Aluminum,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Longhand first. Then swap the first 10 for [Ne].</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13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Core: [Ne] ends period 2</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[Ne]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10 + 2 + 1 = 13</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 is [Ne] 3s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the same 13 electrons as the longhand.</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Bromine and Nickel</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Notation only. Two elements, one core.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noble-gas shorthand for each element.</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BROMINE</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 Z = 35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 NICKEL</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Ni, Z = 28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Both are period 4, so the core is [Ar], never [Kr].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Bromine and Nickel,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[Ar] core. Then 4s, 3d, and 4p as needed.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CORE AND COUNT</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Both are period 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Core: [Ar] = 18 electrons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4p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+ 10 + 5 = 35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+ 8 = 28</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Br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10</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4p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Ni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8</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Copper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9</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Compare it with the real atom.</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COMPARE</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Predicted versus actual: which sublevel loses an electron, and which gains one?</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OF TWO</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Copper and chromium are the only exceptions we learn.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LOOKING AHEAD (S2.4)</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empties first in ions: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opper, [Ar] core not drawn. As first drawn: 4s: one box, one pair. 3d: five boxes, four pairs and one single up arrow. After the steps: 4s: one box, one single up arrow. 3d: five boxes, five pair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COPPER  Z = 29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4s box1 down" descr="">
            <a:extLst>
              <a:ext uri="{C183D7F6-B498-43B3-948B-1728B52AA6E4}">
                <adec:decorative xmlns:adec="http://schemas.microsoft.com/office/drawing/2017/decorative" val="1"/>
              </a:ext>
            </a:extLst>
          </p:cNvPr>
          <p:cNvSpPr/>
          <p:nvPr/>
        </p:nvSpPr>
        <p:spPr>
          <a:xfrm>
            <a:off x="140356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arrow 3d box1 down" descr="">
            <a:extLst>
              <a:ext uri="{C183D7F6-B498-43B3-948B-1728B52AA6E4}">
                <adec:decorative xmlns:adec="http://schemas.microsoft.com/office/drawing/2017/decorative" val="1"/>
              </a:ext>
            </a:extLst>
          </p:cNvPr>
          <p:cNvSpPr/>
          <p:nvPr/>
        </p:nvSpPr>
        <p:spPr>
          <a:xfrm>
            <a:off x="2319489"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D arrow 3d box2 down" descr="">
            <a:extLst>
              <a:ext uri="{C183D7F6-B498-43B3-948B-1728B52AA6E4}">
                <adec:decorative xmlns:adec="http://schemas.microsoft.com/office/drawing/2017/decorative" val="1"/>
              </a:ext>
            </a:extLst>
          </p:cNvPr>
          <p:cNvSpPr/>
          <p:nvPr/>
        </p:nvSpPr>
        <p:spPr>
          <a:xfrm>
            <a:off x="3025101"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UILD arrow 3d box3 down" descr="">
            <a:extLst>
              <a:ext uri="{C183D7F6-B498-43B3-948B-1728B52AA6E4}">
                <adec:decorative xmlns:adec="http://schemas.microsoft.com/office/drawing/2017/decorative" val="1"/>
              </a:ext>
            </a:extLst>
          </p:cNvPr>
          <p:cNvSpPr/>
          <p:nvPr/>
        </p:nvSpPr>
        <p:spPr>
          <a:xfrm>
            <a:off x="3730713"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ILD arrow 3d box4 down" descr="">
            <a:extLst>
              <a:ext uri="{C183D7F6-B498-43B3-948B-1728B52AA6E4}">
                <adec:decorative xmlns:adec="http://schemas.microsoft.com/office/drawing/2017/decorative" val="1"/>
              </a:ext>
            </a:extLst>
          </p:cNvPr>
          <p:cNvSpPr/>
          <p:nvPr/>
        </p:nvSpPr>
        <p:spPr>
          <a:xfrm>
            <a:off x="443632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UILD arrow 3d box5 down" descr="">
            <a:extLst>
              <a:ext uri="{C183D7F6-B498-43B3-948B-1728B52AA6E4}">
                <adec:decorative xmlns:adec="http://schemas.microsoft.com/office/drawing/2017/decorative" val="1"/>
              </a:ext>
            </a:extLst>
          </p:cNvPr>
          <p:cNvSpPr/>
          <p:nvPr/>
        </p:nvSpPr>
        <p:spPr>
          <a:xfrm>
            <a:off x="5141937"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7"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9</a:t>
            </a:r>
          </a:p>
        </p:txBody>
      </p:sp>
      <p:sp>
        <p:nvSpPr>
          <p:cNvPr id="38"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9"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fill="hold"/>
                                        <p:tgtEl>
                                          <p:spTgt spid="25"/>
                                        </p:tgtEl>
                                        <p:attrNameLst>
                                          <p:attrName>ppt_x</p:attrName>
                                        </p:attrNameLst>
                                      </p:cBhvr>
                                      <p:tavLst>
                                        <p:tav tm="0">
                                          <p:val>
                                            <p:strVal val="#ppt_x"/>
                                          </p:val>
                                        </p:tav>
                                        <p:tav tm="100000">
                                          <p:val>
                                            <p:strVal val="#ppt_x"/>
                                          </p:val>
                                        </p:tav>
                                      </p:tavLst>
                                    </p:anim>
                                    <p:anim calcmode="lin" valueType="num">
                                      <p:cBhvr additive="base">
                                        <p:cTn id="16" dur="5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 calcmode="lin" valueType="num">
                                      <p:cBhvr additive="base">
                                        <p:cTn id="19" dur="500" fill="hold"/>
                                        <p:tgtEl>
                                          <p:spTgt spid="26"/>
                                        </p:tgtEl>
                                        <p:attrNameLst>
                                          <p:attrName>ppt_x</p:attrName>
                                        </p:attrNameLst>
                                      </p:cBhvr>
                                      <p:tavLst>
                                        <p:tav tm="0">
                                          <p:val>
                                            <p:strVal val="#ppt_x"/>
                                          </p:val>
                                        </p:tav>
                                        <p:tav tm="100000">
                                          <p:val>
                                            <p:strVal val="#ppt_x"/>
                                          </p:val>
                                        </p:tav>
                                      </p:tavLst>
                                    </p:anim>
                                    <p:anim calcmode="lin" valueType="num">
                                      <p:cBhvr additive="base">
                                        <p:cTn id="20" dur="500" fill="hold"/>
                                        <p:tgtEl>
                                          <p:spTgt spid="2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 calcmode="lin" valueType="num">
                                      <p:cBhvr additive="base">
                                        <p:cTn id="23" dur="500" fill="hold"/>
                                        <p:tgtEl>
                                          <p:spTgt spid="27"/>
                                        </p:tgtEl>
                                        <p:attrNameLst>
                                          <p:attrName>ppt_x</p:attrName>
                                        </p:attrNameLst>
                                      </p:cBhvr>
                                      <p:tavLst>
                                        <p:tav tm="0">
                                          <p:val>
                                            <p:strVal val="#ppt_x"/>
                                          </p:val>
                                        </p:tav>
                                        <p:tav tm="100000">
                                          <p:val>
                                            <p:strVal val="#ppt_x"/>
                                          </p:val>
                                        </p:tav>
                                      </p:tavLst>
                                    </p:anim>
                                    <p:anim calcmode="lin" valueType="num">
                                      <p:cBhvr additive="base">
                                        <p:cTn id="24" dur="500" fill="hold"/>
                                        <p:tgtEl>
                                          <p:spTgt spid="2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500" fill="hold"/>
                                        <p:tgtEl>
                                          <p:spTgt spid="28"/>
                                        </p:tgtEl>
                                        <p:attrNameLst>
                                          <p:attrName>ppt_x</p:attrName>
                                        </p:attrNameLst>
                                      </p:cBhvr>
                                      <p:tavLst>
                                        <p:tav tm="0">
                                          <p:val>
                                            <p:strVal val="#ppt_x"/>
                                          </p:val>
                                        </p:tav>
                                        <p:tav tm="100000">
                                          <p:val>
                                            <p:strVal val="#ppt_x"/>
                                          </p:val>
                                        </p:tav>
                                      </p:tavLst>
                                    </p:anim>
                                    <p:anim calcmode="lin" valueType="num">
                                      <p:cBhvr additive="base">
                                        <p:cTn id="28" dur="500" fill="hold"/>
                                        <p:tgtEl>
                                          <p:spTgt spid="28"/>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500" fill="hold"/>
                                        <p:tgtEl>
                                          <p:spTgt spid="29"/>
                                        </p:tgtEl>
                                        <p:attrNameLst>
                                          <p:attrName>ppt_x</p:attrName>
                                        </p:attrNameLst>
                                      </p:cBhvr>
                                      <p:tavLst>
                                        <p:tav tm="0">
                                          <p:val>
                                            <p:strVal val="#ppt_x"/>
                                          </p:val>
                                        </p:tav>
                                        <p:tav tm="100000">
                                          <p:val>
                                            <p:strVal val="#ppt_x"/>
                                          </p:val>
                                        </p:tav>
                                      </p:tavLst>
                                    </p:anim>
                                    <p:anim calcmode="lin" valueType="num">
                                      <p:cBhvr additive="base">
                                        <p:cTn id="32" dur="500" fill="hold"/>
                                        <p:tgtEl>
                                          <p:spTgt spid="29"/>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anim calcmode="lin" valueType="num">
                                      <p:cBhvr additive="base">
                                        <p:cTn id="35" dur="500" fill="hold"/>
                                        <p:tgtEl>
                                          <p:spTgt spid="30"/>
                                        </p:tgtEl>
                                        <p:attrNameLst>
                                          <p:attrName>ppt_x</p:attrName>
                                        </p:attrNameLst>
                                      </p:cBhvr>
                                      <p:tavLst>
                                        <p:tav tm="0">
                                          <p:val>
                                            <p:strVal val="#ppt_x"/>
                                          </p:val>
                                        </p:tav>
                                        <p:tav tm="100000">
                                          <p:val>
                                            <p:strVal val="#ppt_x"/>
                                          </p:val>
                                        </p:tav>
                                      </p:tavLst>
                                    </p:anim>
                                    <p:anim calcmode="lin" valueType="num">
                                      <p:cBhvr additive="base">
                                        <p:cTn id="36" dur="500" fill="hold"/>
                                        <p:tgtEl>
                                          <p:spTgt spid="30"/>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1"/>
                                        </p:tgtEl>
                                        <p:attrNameLst>
                                          <p:attrName>style.visibility</p:attrName>
                                        </p:attrNameLst>
                                      </p:cBhvr>
                                      <p:to>
                                        <p:strVal val="visible"/>
                                      </p:to>
                                    </p:set>
                                    <p:anim calcmode="lin" valueType="num">
                                      <p:cBhvr additive="base">
                                        <p:cTn id="39" dur="500" fill="hold"/>
                                        <p:tgtEl>
                                          <p:spTgt spid="31"/>
                                        </p:tgtEl>
                                        <p:attrNameLst>
                                          <p:attrName>ppt_x</p:attrName>
                                        </p:attrNameLst>
                                      </p:cBhvr>
                                      <p:tavLst>
                                        <p:tav tm="0">
                                          <p:val>
                                            <p:strVal val="#ppt_x"/>
                                          </p:val>
                                        </p:tav>
                                        <p:tav tm="100000">
                                          <p:val>
                                            <p:strVal val="#ppt_x"/>
                                          </p:val>
                                        </p:tav>
                                      </p:tavLst>
                                    </p:anim>
                                    <p:anim calcmode="lin" valueType="num">
                                      <p:cBhvr additive="base">
                                        <p:cTn id="40" dur="500" fill="hold"/>
                                        <p:tgtEl>
                                          <p:spTgt spid="31"/>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fill="hold"/>
                                        <p:tgtEl>
                                          <p:spTgt spid="32"/>
                                        </p:tgtEl>
                                        <p:attrNameLst>
                                          <p:attrName>ppt_x</p:attrName>
                                        </p:attrNameLst>
                                      </p:cBhvr>
                                      <p:tavLst>
                                        <p:tav tm="0">
                                          <p:val>
                                            <p:strVal val="#ppt_x"/>
                                          </p:val>
                                        </p:tav>
                                        <p:tav tm="100000">
                                          <p:val>
                                            <p:strVal val="#ppt_x"/>
                                          </p:val>
                                        </p:tav>
                                      </p:tavLst>
                                    </p:anim>
                                    <p:anim calcmode="lin" valueType="num">
                                      <p:cBhvr additive="base">
                                        <p:cTn id="44" dur="500" fill="hold"/>
                                        <p:tgtEl>
                                          <p:spTgt spid="32"/>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 calcmode="lin" valueType="num">
                                      <p:cBhvr additive="base">
                                        <p:cTn id="47" dur="500" fill="hold"/>
                                        <p:tgtEl>
                                          <p:spTgt spid="33"/>
                                        </p:tgtEl>
                                        <p:attrNameLst>
                                          <p:attrName>ppt_x</p:attrName>
                                        </p:attrNameLst>
                                      </p:cBhvr>
                                      <p:tavLst>
                                        <p:tav tm="0">
                                          <p:val>
                                            <p:strVal val="#ppt_x"/>
                                          </p:val>
                                        </p:tav>
                                        <p:tav tm="100000">
                                          <p:val>
                                            <p:strVal val="#ppt_x"/>
                                          </p:val>
                                        </p:tav>
                                      </p:tavLst>
                                    </p:anim>
                                    <p:anim calcmode="lin" valueType="num">
                                      <p:cBhvr additive="base">
                                        <p:cTn id="48" dur="500" fill="hold"/>
                                        <p:tgtEl>
                                          <p:spTgt spid="33"/>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4"/>
                                        </p:tgtEl>
                                        <p:attrNameLst>
                                          <p:attrName>style.visibility</p:attrName>
                                        </p:attrNameLst>
                                      </p:cBhvr>
                                      <p:to>
                                        <p:strVal val="visible"/>
                                      </p:to>
                                    </p:set>
                                    <p:anim calcmode="lin" valueType="num">
                                      <p:cBhvr additive="base">
                                        <p:cTn id="51" dur="500" fill="hold"/>
                                        <p:tgtEl>
                                          <p:spTgt spid="34"/>
                                        </p:tgtEl>
                                        <p:attrNameLst>
                                          <p:attrName>ppt_x</p:attrName>
                                        </p:attrNameLst>
                                      </p:cBhvr>
                                      <p:tavLst>
                                        <p:tav tm="0">
                                          <p:val>
                                            <p:strVal val="#ppt_x"/>
                                          </p:val>
                                        </p:tav>
                                        <p:tav tm="100000">
                                          <p:val>
                                            <p:strVal val="#ppt_x"/>
                                          </p:val>
                                        </p:tav>
                                      </p:tavLst>
                                    </p:anim>
                                    <p:anim calcmode="lin" valueType="num">
                                      <p:cBhvr additive="base">
                                        <p:cTn id="52" dur="500" fill="hold"/>
                                        <p:tgtEl>
                                          <p:spTgt spid="34"/>
                                        </p:tgtEl>
                                        <p:attrNameLst>
                                          <p:attrName>ppt_y</p:attrName>
                                        </p:attrNameLst>
                                      </p:cBhvr>
                                      <p:tavLst>
                                        <p:tav tm="0">
                                          <p:val>
                                            <p:strVal val="1+#ppt_h/2"/>
                                          </p:val>
                                        </p:tav>
                                        <p:tav tm="100000">
                                          <p:val>
                                            <p:strVal val="#ppt_y"/>
                                          </p:val>
                                        </p:tav>
                                      </p:tavLst>
                                    </p:anim>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xit" presetSubtype="0" fill="hold" grpId="0" nodeType="clickEffect">
                                  <p:stCondLst>
                                    <p:cond delay="0"/>
                                  </p:stCondLst>
                                  <p:childTnLst>
                                    <p:animEffect transition="out" filter="fade">
                                      <p:cBhvr>
                                        <p:cTn id="62" dur="400"/>
                                        <p:tgtEl>
                                          <p:spTgt spid="25"/>
                                        </p:tgtEl>
                                      </p:cBhvr>
                                    </p:animEffect>
                                    <p:set>
                                      <p:cBhvr>
                                        <p:cTn id="63" dur="1" fill="hold">
                                          <p:stCondLst>
                                            <p:cond delay="399"/>
                                          </p:stCondLst>
                                        </p:cTn>
                                        <p:tgtEl>
                                          <p:spTgt spid="25"/>
                                        </p:tgtEl>
                                        <p:attrNameLst>
                                          <p:attrName>style.visibility</p:attrName>
                                        </p:attrNameLst>
                                      </p:cBhvr>
                                      <p:to>
                                        <p:strVal val="hidden"/>
                                      </p:to>
                                    </p:se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400"/>
                                        <p:tgtEl>
                                          <p:spTgt spid="3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7" grpId="0"/>
      <p:bldP spid="36" grpId="0"/>
      <p:bldP spid="38" grpId="0"/>
      <p:bldP spid="35" grpId="0" animBg="1"/>
      <p:bldP spid="39"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Chromium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move. 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COMPARE</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 arrows in 3d, predicted versus actual.</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TOTAL</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Cr still has 24 electrons. [Ar] is 18, so 6 are drawn.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UNPAIRED ELECTRONS</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them at the end. Is it more than iron's 4?</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hromium, [Ar] core not drawn. As first drawn: 4s: one box, one pair. 3d: five boxes, four single up arrows and one empty box. After the steps: 4s: one box, one single up arrow. 3d: five boxes, five single up arrow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CHROMIUM  Z = 24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4s box1 down" descr="">
            <a:extLst>
              <a:ext uri="{C183D7F6-B498-43B3-948B-1728B52AA6E4}">
                <adec:decorative xmlns:adec="http://schemas.microsoft.com/office/drawing/2017/decorative" val="1"/>
              </a:ext>
            </a:extLst>
          </p:cNvPr>
          <p:cNvSpPr/>
          <p:nvPr/>
        </p:nvSpPr>
        <p:spPr>
          <a:xfrm>
            <a:off x="140356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2"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4</a:t>
            </a:r>
          </a:p>
        </p:txBody>
      </p:sp>
      <p:sp>
        <p:nvSpPr>
          <p:cNvPr id="33"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4"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fill="hold"/>
                                        <p:tgtEl>
                                          <p:spTgt spid="25"/>
                                        </p:tgtEl>
                                        <p:attrNameLst>
                                          <p:attrName>ppt_x</p:attrName>
                                        </p:attrNameLst>
                                      </p:cBhvr>
                                      <p:tavLst>
                                        <p:tav tm="0">
                                          <p:val>
                                            <p:strVal val="#ppt_x"/>
                                          </p:val>
                                        </p:tav>
                                        <p:tav tm="100000">
                                          <p:val>
                                            <p:strVal val="#ppt_x"/>
                                          </p:val>
                                        </p:tav>
                                      </p:tavLst>
                                    </p:anim>
                                    <p:anim calcmode="lin" valueType="num">
                                      <p:cBhvr additive="base">
                                        <p:cTn id="16" dur="5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 calcmode="lin" valueType="num">
                                      <p:cBhvr additive="base">
                                        <p:cTn id="19" dur="500" fill="hold"/>
                                        <p:tgtEl>
                                          <p:spTgt spid="26"/>
                                        </p:tgtEl>
                                        <p:attrNameLst>
                                          <p:attrName>ppt_x</p:attrName>
                                        </p:attrNameLst>
                                      </p:cBhvr>
                                      <p:tavLst>
                                        <p:tav tm="0">
                                          <p:val>
                                            <p:strVal val="#ppt_x"/>
                                          </p:val>
                                        </p:tav>
                                        <p:tav tm="100000">
                                          <p:val>
                                            <p:strVal val="#ppt_x"/>
                                          </p:val>
                                        </p:tav>
                                      </p:tavLst>
                                    </p:anim>
                                    <p:anim calcmode="lin" valueType="num">
                                      <p:cBhvr additive="base">
                                        <p:cTn id="20" dur="500" fill="hold"/>
                                        <p:tgtEl>
                                          <p:spTgt spid="2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 calcmode="lin" valueType="num">
                                      <p:cBhvr additive="base">
                                        <p:cTn id="23" dur="500" fill="hold"/>
                                        <p:tgtEl>
                                          <p:spTgt spid="27"/>
                                        </p:tgtEl>
                                        <p:attrNameLst>
                                          <p:attrName>ppt_x</p:attrName>
                                        </p:attrNameLst>
                                      </p:cBhvr>
                                      <p:tavLst>
                                        <p:tav tm="0">
                                          <p:val>
                                            <p:strVal val="#ppt_x"/>
                                          </p:val>
                                        </p:tav>
                                        <p:tav tm="100000">
                                          <p:val>
                                            <p:strVal val="#ppt_x"/>
                                          </p:val>
                                        </p:tav>
                                      </p:tavLst>
                                    </p:anim>
                                    <p:anim calcmode="lin" valueType="num">
                                      <p:cBhvr additive="base">
                                        <p:cTn id="24" dur="500" fill="hold"/>
                                        <p:tgtEl>
                                          <p:spTgt spid="2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500" fill="hold"/>
                                        <p:tgtEl>
                                          <p:spTgt spid="28"/>
                                        </p:tgtEl>
                                        <p:attrNameLst>
                                          <p:attrName>ppt_x</p:attrName>
                                        </p:attrNameLst>
                                      </p:cBhvr>
                                      <p:tavLst>
                                        <p:tav tm="0">
                                          <p:val>
                                            <p:strVal val="#ppt_x"/>
                                          </p:val>
                                        </p:tav>
                                        <p:tav tm="100000">
                                          <p:val>
                                            <p:strVal val="#ppt_x"/>
                                          </p:val>
                                        </p:tav>
                                      </p:tavLst>
                                    </p:anim>
                                    <p:anim calcmode="lin" valueType="num">
                                      <p:cBhvr additive="base">
                                        <p:cTn id="28" dur="500" fill="hold"/>
                                        <p:tgtEl>
                                          <p:spTgt spid="28"/>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500" fill="hold"/>
                                        <p:tgtEl>
                                          <p:spTgt spid="29"/>
                                        </p:tgtEl>
                                        <p:attrNameLst>
                                          <p:attrName>ppt_x</p:attrName>
                                        </p:attrNameLst>
                                      </p:cBhvr>
                                      <p:tavLst>
                                        <p:tav tm="0">
                                          <p:val>
                                            <p:strVal val="#ppt_x"/>
                                          </p:val>
                                        </p:tav>
                                        <p:tav tm="100000">
                                          <p:val>
                                            <p:strVal val="#ppt_x"/>
                                          </p:val>
                                        </p:tav>
                                      </p:tavLst>
                                    </p:anim>
                                    <p:anim calcmode="lin" valueType="num">
                                      <p:cBhvr additive="base">
                                        <p:cTn id="32" dur="500" fill="hold"/>
                                        <p:tgtEl>
                                          <p:spTgt spid="29"/>
                                        </p:tgtEl>
                                        <p:attrNameLst>
                                          <p:attrName>ppt_y</p:attrName>
                                        </p:attrNameLst>
                                      </p:cBhvr>
                                      <p:tavLst>
                                        <p:tav tm="0">
                                          <p:val>
                                            <p:strVal val="1+#ppt_h/2"/>
                                          </p:val>
                                        </p:tav>
                                        <p:tav tm="100000">
                                          <p:val>
                                            <p:strVal val="#ppt_y"/>
                                          </p:val>
                                        </p:tav>
                                      </p:tavLst>
                                    </p:anim>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00"/>
                                        <p:tgtEl>
                                          <p:spTgt spid="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xit" presetSubtype="0" fill="hold" grpId="0" nodeType="clickEffect">
                                  <p:stCondLst>
                                    <p:cond delay="0"/>
                                  </p:stCondLst>
                                  <p:childTnLst>
                                    <p:animEffect transition="out" filter="fade">
                                      <p:cBhvr>
                                        <p:cTn id="42" dur="400"/>
                                        <p:tgtEl>
                                          <p:spTgt spid="25"/>
                                        </p:tgtEl>
                                      </p:cBhvr>
                                    </p:animEffect>
                                    <p:set>
                                      <p:cBhvr>
                                        <p:cTn id="43" dur="1" fill="hold">
                                          <p:stCondLst>
                                            <p:cond delay="399"/>
                                          </p:stCondLst>
                                        </p:cTn>
                                        <p:tgtEl>
                                          <p:spTgt spid="25"/>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2" grpId="0"/>
      <p:bldP spid="31" grpId="0"/>
      <p:bldP spid="33" grpId="0"/>
      <p:bldP spid="30" grpId="0" animBg="1"/>
      <p:bldP spid="34"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Cr and Cu Break the Pattern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simplified reason, and where it stops working.</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ENERGIES ARE CLOSE</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and 3d are almost the same energy, so a small change can tip the balance.</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PAYOFF</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4s electron moves. 3d becomes completely full (Cu) or half full with parallel spins (Cr).</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That lowers the atom's total energy slightly, so the real atom does it.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simplification, not a rule: it misses other exceptions. Learn Cr and Cu; look the rest up.</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Run these four checks in order.</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Count</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Do the raised numbers add up to Z?</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Caps and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Max 2, 6, 10, 14. Aufbau order.</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Hund and Pauli</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Pairs have opposite spins.</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Core, Cr, Cu</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Previous noble gas? Is it Cr or Cu?</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was written as a ground state.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Each of these is wrong. Name the rule or fact it breaks.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(a), (b)</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O: 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K: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(c), (d)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Ca: [Ne]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Cr: [Ar]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Add the electrons first. If the total is not Z, stop there.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problems, four different checks. Each fix is on the right.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Count: 10, not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Aufbau: 4s first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Core: needs [Ar]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Real Cr differs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Corrected: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(d)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Cr follows the rules on paper, but the measured ground state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Two wrong orbital diagrams. (e) Nitrogen 2p: up, down, up, three single arrows whose spins are not all the same. (f) Neon 2s: one box holding two up arrows.">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 Diagrams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Two orbital diagrams. Each breaks a different rule.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 NITROGEN, Z = 7</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three 2p boxes are drawn.</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 NEON, Z = 10</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2s box is drawn.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YOUR JOB</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Name the broken rule. Redraw it correctly.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The corrected diagrams. (e) Nitrogen 2p: up, up, up, ticked as Hund. (f) Neon 2s: one up and one down arrow, ticked as Pauli.">    </p:cNvPr>
          <p:cNvPicPr>
            <a:picLocks noChangeAspect="1"/>
          </p:cNvPicPr>
          <p:nvPr/>
        </p:nvPicPr>
        <p:blipFill>
          <a:blip r:embed="rId1"/>
          <a:stretch>
            <a:fillRect/>
          </a:stretch>
        </p:blipFill>
        <p:spPr>
          <a:xfrm>
            <a:off x="832104" y="2542032"/>
            <a:ext cx="3867912" cy="2267712"/>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Diagrams,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Hund error and one Pauli error. The fixes are drawn at left.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Hund: spins differ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 Pauli: same spin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Fixed: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 2p: up, up,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 2s: up, down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Hund: singles first, all spins the same. Pauli: two in one orbital must be opposite.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all three in your notes before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PHOSPHORUS, Z = 15</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longhand configuration.</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SULFUR, Z = 16</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shorthand and sketch the 3p boxes.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COPPER, Z = 29</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actual shorthand. Say why it is an exception.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Show the electron sum for each one. If it is not Z, find the error.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Goes 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Next: valence electrons, and the configurations of ions.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2026-10-04T22:09:46Z</dcterms:created>
  <dcterms:modified xsi:type="dcterms:W3CDTF">2026-10-04T22:09:46Z</dcterms:modified>
</cp:coreProperties>
</file>